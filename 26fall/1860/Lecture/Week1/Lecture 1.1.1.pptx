
<file path=[Content_Types].xml><?xml version="1.0" encoding="utf-8"?>
<Types xmlns="http://schemas.openxmlformats.org/package/2006/content-types">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3"/>
  </p:notesMasterIdLst>
  <p:sldIdLst>
    <p:sldId id="256" r:id="rId2"/>
    <p:sldId id="313" r:id="rId3"/>
    <p:sldId id="331" r:id="rId4"/>
    <p:sldId id="327" r:id="rId5"/>
    <p:sldId id="257" r:id="rId6"/>
    <p:sldId id="345" r:id="rId7"/>
    <p:sldId id="259" r:id="rId8"/>
    <p:sldId id="349" r:id="rId9"/>
    <p:sldId id="260" r:id="rId10"/>
    <p:sldId id="344" r:id="rId11"/>
    <p:sldId id="263" r:id="rId12"/>
    <p:sldId id="262" r:id="rId13"/>
    <p:sldId id="350" r:id="rId14"/>
    <p:sldId id="261" r:id="rId15"/>
    <p:sldId id="264" r:id="rId16"/>
    <p:sldId id="330" r:id="rId17"/>
    <p:sldId id="265" r:id="rId18"/>
    <p:sldId id="266" r:id="rId19"/>
    <p:sldId id="267" r:id="rId20"/>
    <p:sldId id="268" r:id="rId21"/>
    <p:sldId id="351" r:id="rId22"/>
    <p:sldId id="269" r:id="rId23"/>
    <p:sldId id="271" r:id="rId24"/>
    <p:sldId id="318" r:id="rId25"/>
    <p:sldId id="346" r:id="rId26"/>
    <p:sldId id="272" r:id="rId27"/>
    <p:sldId id="273" r:id="rId28"/>
    <p:sldId id="274" r:id="rId29"/>
    <p:sldId id="275" r:id="rId30"/>
    <p:sldId id="276" r:id="rId31"/>
    <p:sldId id="347" r:id="rId32"/>
    <p:sldId id="319" r:id="rId33"/>
    <p:sldId id="320" r:id="rId34"/>
    <p:sldId id="348" r:id="rId35"/>
    <p:sldId id="343" r:id="rId36"/>
    <p:sldId id="321" r:id="rId37"/>
    <p:sldId id="322" r:id="rId38"/>
    <p:sldId id="258" r:id="rId39"/>
    <p:sldId id="323" r:id="rId40"/>
    <p:sldId id="324" r:id="rId41"/>
    <p:sldId id="312" r:id="rId4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898" autoAdjust="0"/>
    <p:restoredTop sz="91219" autoAdjust="0"/>
  </p:normalViewPr>
  <p:slideViewPr>
    <p:cSldViewPr snapToGrid="0">
      <p:cViewPr varScale="1">
        <p:scale>
          <a:sx n="100" d="100"/>
          <a:sy n="100" d="100"/>
        </p:scale>
        <p:origin x="102"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48"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mes Dyer" userId="c78f284b-7e37-4191-b5a6-8e3806eb7037" providerId="ADAL" clId="{F60D56F0-411A-464A-9766-F9A63ABC936F}"/>
    <pc:docChg chg="custSel delSld modSld">
      <pc:chgData name="James Dyer" userId="c78f284b-7e37-4191-b5a6-8e3806eb7037" providerId="ADAL" clId="{F60D56F0-411A-464A-9766-F9A63ABC936F}" dt="2026-09-24T11:48:29.037" v="4416" actId="47"/>
      <pc:docMkLst>
        <pc:docMk/>
      </pc:docMkLst>
      <pc:sldChg chg="modSp del mod">
        <pc:chgData name="James Dyer" userId="c78f284b-7e37-4191-b5a6-8e3806eb7037" providerId="ADAL" clId="{F60D56F0-411A-464A-9766-F9A63ABC936F}" dt="2026-09-24T11:48:18.434" v="4414" actId="47"/>
        <pc:sldMkLst>
          <pc:docMk/>
          <pc:sldMk cId="1635377456" sldId="352"/>
        </pc:sldMkLst>
        <pc:spChg chg="mod">
          <ac:chgData name="James Dyer" userId="c78f284b-7e37-4191-b5a6-8e3806eb7037" providerId="ADAL" clId="{F60D56F0-411A-464A-9766-F9A63ABC936F}" dt="2026-09-24T11:47:57.810" v="4401"/>
          <ac:spMkLst>
            <pc:docMk/>
            <pc:sldMk cId="1635377456" sldId="352"/>
            <ac:spMk id="8" creationId="{B6E68AD4-885B-47CB-A00A-ED8ABA422FE8}"/>
          </ac:spMkLst>
        </pc:spChg>
        <pc:spChg chg="mod">
          <ac:chgData name="James Dyer" userId="c78f284b-7e37-4191-b5a6-8e3806eb7037" providerId="ADAL" clId="{F60D56F0-411A-464A-9766-F9A63ABC936F}" dt="2026-09-24T11:47:57.561" v="4367"/>
          <ac:spMkLst>
            <pc:docMk/>
            <pc:sldMk cId="1635377456" sldId="352"/>
            <ac:spMk id="12" creationId="{65910F2D-A274-40EF-9404-EE1FEDC1420C}"/>
          </ac:spMkLst>
        </pc:spChg>
        <pc:spChg chg="mod">
          <ac:chgData name="James Dyer" userId="c78f284b-7e37-4191-b5a6-8e3806eb7037" providerId="ADAL" clId="{F60D56F0-411A-464A-9766-F9A63ABC936F}" dt="2026-09-24T11:47:57.543" v="4364"/>
          <ac:spMkLst>
            <pc:docMk/>
            <pc:sldMk cId="1635377456" sldId="352"/>
            <ac:spMk id="14" creationId="{A9BB6DBE-290A-4063-96A4-38D32E682125}"/>
          </ac:spMkLst>
        </pc:spChg>
        <pc:spChg chg="mod">
          <ac:chgData name="James Dyer" userId="c78f284b-7e37-4191-b5a6-8e3806eb7037" providerId="ADAL" clId="{F60D56F0-411A-464A-9766-F9A63ABC936F}" dt="2026-09-24T11:47:57.563" v="4368"/>
          <ac:spMkLst>
            <pc:docMk/>
            <pc:sldMk cId="1635377456" sldId="352"/>
            <ac:spMk id="16" creationId="{278642AB-5E67-4AC8-9FFE-CFA01441101D}"/>
          </ac:spMkLst>
        </pc:spChg>
        <pc:spChg chg="mod">
          <ac:chgData name="James Dyer" userId="c78f284b-7e37-4191-b5a6-8e3806eb7037" providerId="ADAL" clId="{F60D56F0-411A-464A-9766-F9A63ABC936F}" dt="2026-09-24T11:47:57.548" v="4365"/>
          <ac:spMkLst>
            <pc:docMk/>
            <pc:sldMk cId="1635377456" sldId="352"/>
            <ac:spMk id="18" creationId="{610E8165-4E37-4941-BD4F-5DB0259E70FC}"/>
          </ac:spMkLst>
        </pc:spChg>
        <pc:spChg chg="mod">
          <ac:chgData name="James Dyer" userId="c78f284b-7e37-4191-b5a6-8e3806eb7037" providerId="ADAL" clId="{F60D56F0-411A-464A-9766-F9A63ABC936F}" dt="2026-09-24T11:47:57.563" v="4369"/>
          <ac:spMkLst>
            <pc:docMk/>
            <pc:sldMk cId="1635377456" sldId="352"/>
            <ac:spMk id="20" creationId="{2EC3A893-0B5B-4946-A189-DAE5B9C69F65}"/>
          </ac:spMkLst>
        </pc:spChg>
        <pc:spChg chg="mod">
          <ac:chgData name="James Dyer" userId="c78f284b-7e37-4191-b5a6-8e3806eb7037" providerId="ADAL" clId="{F60D56F0-411A-464A-9766-F9A63ABC936F}" dt="2026-09-24T11:47:57.550" v="4366"/>
          <ac:spMkLst>
            <pc:docMk/>
            <pc:sldMk cId="1635377456" sldId="352"/>
            <ac:spMk id="22" creationId="{DB86DCE9-3882-4F00-9A63-DFDE324E1675}"/>
          </ac:spMkLst>
        </pc:spChg>
      </pc:sldChg>
      <pc:sldChg chg="del">
        <pc:chgData name="James Dyer" userId="c78f284b-7e37-4191-b5a6-8e3806eb7037" providerId="ADAL" clId="{F60D56F0-411A-464A-9766-F9A63ABC936F}" dt="2026-09-24T11:48:18.434" v="4414" actId="47"/>
        <pc:sldMkLst>
          <pc:docMk/>
          <pc:sldMk cId="996819324" sldId="353"/>
        </pc:sldMkLst>
      </pc:sldChg>
      <pc:sldChg chg="modSp del mod">
        <pc:chgData name="James Dyer" userId="c78f284b-7e37-4191-b5a6-8e3806eb7037" providerId="ADAL" clId="{F60D56F0-411A-464A-9766-F9A63ABC936F}" dt="2026-09-24T11:48:18.434" v="4414" actId="47"/>
        <pc:sldMkLst>
          <pc:docMk/>
          <pc:sldMk cId="1208361179" sldId="354"/>
        </pc:sldMkLst>
        <pc:spChg chg="mod">
          <ac:chgData name="James Dyer" userId="c78f284b-7e37-4191-b5a6-8e3806eb7037" providerId="ADAL" clId="{F60D56F0-411A-464A-9766-F9A63ABC936F}" dt="2026-09-24T11:47:57.828" v="4405"/>
          <ac:spMkLst>
            <pc:docMk/>
            <pc:sldMk cId="1208361179" sldId="354"/>
            <ac:spMk id="8" creationId="{F1C7C950-D46F-49FE-9951-A59868D0E749}"/>
          </ac:spMkLst>
        </pc:spChg>
        <pc:spChg chg="mod">
          <ac:chgData name="James Dyer" userId="c78f284b-7e37-4191-b5a6-8e3806eb7037" providerId="ADAL" clId="{F60D56F0-411A-464A-9766-F9A63ABC936F}" dt="2026-09-24T11:47:57.675" v="4376"/>
          <ac:spMkLst>
            <pc:docMk/>
            <pc:sldMk cId="1208361179" sldId="354"/>
            <ac:spMk id="12" creationId="{8E2FCE9C-4381-4717-AAED-521CCB7C4084}"/>
          </ac:spMkLst>
        </pc:spChg>
        <pc:spChg chg="mod">
          <ac:chgData name="James Dyer" userId="c78f284b-7e37-4191-b5a6-8e3806eb7037" providerId="ADAL" clId="{F60D56F0-411A-464A-9766-F9A63ABC936F}" dt="2026-09-24T11:47:57.669" v="4372"/>
          <ac:spMkLst>
            <pc:docMk/>
            <pc:sldMk cId="1208361179" sldId="354"/>
            <ac:spMk id="14" creationId="{A32CEC50-B0F9-4064-AB58-6686F660C30A}"/>
          </ac:spMkLst>
        </pc:spChg>
        <pc:spChg chg="mod">
          <ac:chgData name="James Dyer" userId="c78f284b-7e37-4191-b5a6-8e3806eb7037" providerId="ADAL" clId="{F60D56F0-411A-464A-9766-F9A63ABC936F}" dt="2026-09-24T11:47:57.677" v="4377"/>
          <ac:spMkLst>
            <pc:docMk/>
            <pc:sldMk cId="1208361179" sldId="354"/>
            <ac:spMk id="16" creationId="{8FA549E2-2FFE-45A2-B72A-E93E6F06F22E}"/>
          </ac:spMkLst>
        </pc:spChg>
        <pc:spChg chg="mod">
          <ac:chgData name="James Dyer" userId="c78f284b-7e37-4191-b5a6-8e3806eb7037" providerId="ADAL" clId="{F60D56F0-411A-464A-9766-F9A63ABC936F}" dt="2026-09-24T11:47:57.671" v="4373"/>
          <ac:spMkLst>
            <pc:docMk/>
            <pc:sldMk cId="1208361179" sldId="354"/>
            <ac:spMk id="18" creationId="{772930E8-1696-44CC-9D9D-E1CB88E87B48}"/>
          </ac:spMkLst>
        </pc:spChg>
        <pc:spChg chg="mod">
          <ac:chgData name="James Dyer" userId="c78f284b-7e37-4191-b5a6-8e3806eb7037" providerId="ADAL" clId="{F60D56F0-411A-464A-9766-F9A63ABC936F}" dt="2026-09-24T11:47:57.679" v="4378"/>
          <ac:spMkLst>
            <pc:docMk/>
            <pc:sldMk cId="1208361179" sldId="354"/>
            <ac:spMk id="20" creationId="{2A90B976-7C57-4BE9-8E52-5ECF92E3A681}"/>
          </ac:spMkLst>
        </pc:spChg>
        <pc:spChg chg="mod">
          <ac:chgData name="James Dyer" userId="c78f284b-7e37-4191-b5a6-8e3806eb7037" providerId="ADAL" clId="{F60D56F0-411A-464A-9766-F9A63ABC936F}" dt="2026-09-24T11:47:57.671" v="4374"/>
          <ac:spMkLst>
            <pc:docMk/>
            <pc:sldMk cId="1208361179" sldId="354"/>
            <ac:spMk id="22" creationId="{221588B8-4B79-4BBA-83BB-C4986B24DBA9}"/>
          </ac:spMkLst>
        </pc:spChg>
        <pc:spChg chg="mod">
          <ac:chgData name="James Dyer" userId="c78f284b-7e37-4191-b5a6-8e3806eb7037" providerId="ADAL" clId="{F60D56F0-411A-464A-9766-F9A63ABC936F}" dt="2026-09-24T11:47:57.679" v="4379"/>
          <ac:spMkLst>
            <pc:docMk/>
            <pc:sldMk cId="1208361179" sldId="354"/>
            <ac:spMk id="24" creationId="{8B2ECDE3-253C-4556-95CA-464A93050934}"/>
          </ac:spMkLst>
        </pc:spChg>
        <pc:spChg chg="mod">
          <ac:chgData name="James Dyer" userId="c78f284b-7e37-4191-b5a6-8e3806eb7037" providerId="ADAL" clId="{F60D56F0-411A-464A-9766-F9A63ABC936F}" dt="2026-09-24T11:47:57.673" v="4375"/>
          <ac:spMkLst>
            <pc:docMk/>
            <pc:sldMk cId="1208361179" sldId="354"/>
            <ac:spMk id="26" creationId="{B4C05059-F995-43AC-9396-9E8323ADF150}"/>
          </ac:spMkLst>
        </pc:spChg>
      </pc:sldChg>
      <pc:sldChg chg="del">
        <pc:chgData name="James Dyer" userId="c78f284b-7e37-4191-b5a6-8e3806eb7037" providerId="ADAL" clId="{F60D56F0-411A-464A-9766-F9A63ABC936F}" dt="2026-09-24T11:48:18.434" v="4414" actId="47"/>
        <pc:sldMkLst>
          <pc:docMk/>
          <pc:sldMk cId="878955603" sldId="355"/>
        </pc:sldMkLst>
      </pc:sldChg>
      <pc:sldChg chg="del">
        <pc:chgData name="James Dyer" userId="c78f284b-7e37-4191-b5a6-8e3806eb7037" providerId="ADAL" clId="{F60D56F0-411A-464A-9766-F9A63ABC936F}" dt="2026-09-24T11:48:18.434" v="4414" actId="47"/>
        <pc:sldMkLst>
          <pc:docMk/>
          <pc:sldMk cId="3272900542" sldId="356"/>
        </pc:sldMkLst>
      </pc:sldChg>
      <pc:sldChg chg="modSp del mod">
        <pc:chgData name="James Dyer" userId="c78f284b-7e37-4191-b5a6-8e3806eb7037" providerId="ADAL" clId="{F60D56F0-411A-464A-9766-F9A63ABC936F}" dt="2026-09-24T11:48:27.537" v="4415" actId="47"/>
        <pc:sldMkLst>
          <pc:docMk/>
          <pc:sldMk cId="1580177990" sldId="357"/>
        </pc:sldMkLst>
        <pc:spChg chg="mod">
          <ac:chgData name="James Dyer" userId="c78f284b-7e37-4191-b5a6-8e3806eb7037" providerId="ADAL" clId="{F60D56F0-411A-464A-9766-F9A63ABC936F}" dt="2026-09-24T11:47:57.848" v="4409"/>
          <ac:spMkLst>
            <pc:docMk/>
            <pc:sldMk cId="1580177990" sldId="357"/>
            <ac:spMk id="8" creationId="{923664E3-86E9-4456-BC0F-922ABF54513C}"/>
          </ac:spMkLst>
        </pc:spChg>
        <pc:spChg chg="mod">
          <ac:chgData name="James Dyer" userId="c78f284b-7e37-4191-b5a6-8e3806eb7037" providerId="ADAL" clId="{F60D56F0-411A-464A-9766-F9A63ABC936F}" dt="2026-09-24T11:47:57.721" v="4385"/>
          <ac:spMkLst>
            <pc:docMk/>
            <pc:sldMk cId="1580177990" sldId="357"/>
            <ac:spMk id="12" creationId="{022BB7CE-FDEB-47B1-BD2D-14B938C22A57}"/>
          </ac:spMkLst>
        </pc:spChg>
        <pc:spChg chg="mod">
          <ac:chgData name="James Dyer" userId="c78f284b-7e37-4191-b5a6-8e3806eb7037" providerId="ADAL" clId="{F60D56F0-411A-464A-9766-F9A63ABC936F}" dt="2026-09-24T11:47:57.717" v="4382"/>
          <ac:spMkLst>
            <pc:docMk/>
            <pc:sldMk cId="1580177990" sldId="357"/>
            <ac:spMk id="14" creationId="{E650C25F-3A8D-4A04-800B-C2FFFF73C065}"/>
          </ac:spMkLst>
        </pc:spChg>
        <pc:spChg chg="mod">
          <ac:chgData name="James Dyer" userId="c78f284b-7e37-4191-b5a6-8e3806eb7037" providerId="ADAL" clId="{F60D56F0-411A-464A-9766-F9A63ABC936F}" dt="2026-09-24T11:47:57.723" v="4386"/>
          <ac:spMkLst>
            <pc:docMk/>
            <pc:sldMk cId="1580177990" sldId="357"/>
            <ac:spMk id="16" creationId="{8115CDF8-F290-4A11-A53B-C354FC309539}"/>
          </ac:spMkLst>
        </pc:spChg>
        <pc:spChg chg="mod">
          <ac:chgData name="James Dyer" userId="c78f284b-7e37-4191-b5a6-8e3806eb7037" providerId="ADAL" clId="{F60D56F0-411A-464A-9766-F9A63ABC936F}" dt="2026-09-24T11:47:57.719" v="4383"/>
          <ac:spMkLst>
            <pc:docMk/>
            <pc:sldMk cId="1580177990" sldId="357"/>
            <ac:spMk id="18" creationId="{5703FD3C-CAAA-4992-9B6A-DB8F035BB4F2}"/>
          </ac:spMkLst>
        </pc:spChg>
        <pc:spChg chg="mod">
          <ac:chgData name="James Dyer" userId="c78f284b-7e37-4191-b5a6-8e3806eb7037" providerId="ADAL" clId="{F60D56F0-411A-464A-9766-F9A63ABC936F}" dt="2026-09-24T11:47:57.726" v="4387"/>
          <ac:spMkLst>
            <pc:docMk/>
            <pc:sldMk cId="1580177990" sldId="357"/>
            <ac:spMk id="20" creationId="{C7786CF4-2A6D-4DE6-87E1-696B10B32710}"/>
          </ac:spMkLst>
        </pc:spChg>
        <pc:spChg chg="mod">
          <ac:chgData name="James Dyer" userId="c78f284b-7e37-4191-b5a6-8e3806eb7037" providerId="ADAL" clId="{F60D56F0-411A-464A-9766-F9A63ABC936F}" dt="2026-09-24T11:47:57.719" v="4384"/>
          <ac:spMkLst>
            <pc:docMk/>
            <pc:sldMk cId="1580177990" sldId="357"/>
            <ac:spMk id="22" creationId="{53C19CFB-E2DF-4BAA-A238-15C28DE02066}"/>
          </ac:spMkLst>
        </pc:spChg>
      </pc:sldChg>
      <pc:sldChg chg="del">
        <pc:chgData name="James Dyer" userId="c78f284b-7e37-4191-b5a6-8e3806eb7037" providerId="ADAL" clId="{F60D56F0-411A-464A-9766-F9A63ABC936F}" dt="2026-09-24T11:48:27.537" v="4415" actId="47"/>
        <pc:sldMkLst>
          <pc:docMk/>
          <pc:sldMk cId="1834228005" sldId="358"/>
        </pc:sldMkLst>
      </pc:sldChg>
      <pc:sldChg chg="modSp del mod">
        <pc:chgData name="James Dyer" userId="c78f284b-7e37-4191-b5a6-8e3806eb7037" providerId="ADAL" clId="{F60D56F0-411A-464A-9766-F9A63ABC936F}" dt="2026-09-24T11:48:27.537" v="4415" actId="47"/>
        <pc:sldMkLst>
          <pc:docMk/>
          <pc:sldMk cId="1133992017" sldId="359"/>
        </pc:sldMkLst>
        <pc:spChg chg="mod">
          <ac:chgData name="James Dyer" userId="c78f284b-7e37-4191-b5a6-8e3806eb7037" providerId="ADAL" clId="{F60D56F0-411A-464A-9766-F9A63ABC936F}" dt="2026-09-24T11:47:58.008" v="4413"/>
          <ac:spMkLst>
            <pc:docMk/>
            <pc:sldMk cId="1133992017" sldId="359"/>
            <ac:spMk id="8" creationId="{E0B8CAFA-DF1B-42FF-9E24-1D8FA55AACA1}"/>
          </ac:spMkLst>
        </pc:spChg>
        <pc:spChg chg="mod">
          <ac:chgData name="James Dyer" userId="c78f284b-7e37-4191-b5a6-8e3806eb7037" providerId="ADAL" clId="{F60D56F0-411A-464A-9766-F9A63ABC936F}" dt="2026-09-24T11:47:57.771" v="4393"/>
          <ac:spMkLst>
            <pc:docMk/>
            <pc:sldMk cId="1133992017" sldId="359"/>
            <ac:spMk id="12" creationId="{DA92459E-1E89-43EC-90F8-27E459918705}"/>
          </ac:spMkLst>
        </pc:spChg>
        <pc:spChg chg="mod">
          <ac:chgData name="James Dyer" userId="c78f284b-7e37-4191-b5a6-8e3806eb7037" providerId="ADAL" clId="{F60D56F0-411A-464A-9766-F9A63ABC936F}" dt="2026-09-24T11:47:57.766" v="4390"/>
          <ac:spMkLst>
            <pc:docMk/>
            <pc:sldMk cId="1133992017" sldId="359"/>
            <ac:spMk id="14" creationId="{D65353E9-9192-4B31-B8D2-7B97AD03D95E}"/>
          </ac:spMkLst>
        </pc:spChg>
        <pc:spChg chg="mod">
          <ac:chgData name="James Dyer" userId="c78f284b-7e37-4191-b5a6-8e3806eb7037" providerId="ADAL" clId="{F60D56F0-411A-464A-9766-F9A63ABC936F}" dt="2026-09-24T11:47:57.771" v="4394"/>
          <ac:spMkLst>
            <pc:docMk/>
            <pc:sldMk cId="1133992017" sldId="359"/>
            <ac:spMk id="16" creationId="{DEA42354-E20B-4EC3-84AB-B9FA271E215D}"/>
          </ac:spMkLst>
        </pc:spChg>
        <pc:spChg chg="mod">
          <ac:chgData name="James Dyer" userId="c78f284b-7e37-4191-b5a6-8e3806eb7037" providerId="ADAL" clId="{F60D56F0-411A-464A-9766-F9A63ABC936F}" dt="2026-09-24T11:47:57.767" v="4391"/>
          <ac:spMkLst>
            <pc:docMk/>
            <pc:sldMk cId="1133992017" sldId="359"/>
            <ac:spMk id="18" creationId="{013B0670-E5DD-41B7-9FAE-7CB5263EEC32}"/>
          </ac:spMkLst>
        </pc:spChg>
        <pc:spChg chg="mod">
          <ac:chgData name="James Dyer" userId="c78f284b-7e37-4191-b5a6-8e3806eb7037" providerId="ADAL" clId="{F60D56F0-411A-464A-9766-F9A63ABC936F}" dt="2026-09-24T11:47:57.773" v="4395"/>
          <ac:spMkLst>
            <pc:docMk/>
            <pc:sldMk cId="1133992017" sldId="359"/>
            <ac:spMk id="20" creationId="{1EC824C1-AC49-42E7-89E0-657F560FAB02}"/>
          </ac:spMkLst>
        </pc:spChg>
        <pc:spChg chg="mod">
          <ac:chgData name="James Dyer" userId="c78f284b-7e37-4191-b5a6-8e3806eb7037" providerId="ADAL" clId="{F60D56F0-411A-464A-9766-F9A63ABC936F}" dt="2026-09-24T11:47:57.767" v="4392"/>
          <ac:spMkLst>
            <pc:docMk/>
            <pc:sldMk cId="1133992017" sldId="359"/>
            <ac:spMk id="22" creationId="{F08F52A1-51F5-4940-BBDC-5103BF0BCADC}"/>
          </ac:spMkLst>
        </pc:spChg>
      </pc:sldChg>
      <pc:sldChg chg="del">
        <pc:chgData name="James Dyer" userId="c78f284b-7e37-4191-b5a6-8e3806eb7037" providerId="ADAL" clId="{F60D56F0-411A-464A-9766-F9A63ABC936F}" dt="2026-09-24T11:48:29.037" v="4416" actId="47"/>
        <pc:sldMkLst>
          <pc:docMk/>
          <pc:sldMk cId="2439348312" sldId="360"/>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B5575-5F23-4FAA-9D3A-4926B0CAE0AB}" type="datetimeFigureOut">
              <a:rPr lang="en-GB" smtClean="0"/>
              <a:t>24/09/2026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80B3F57-F9D0-45FD-B1FC-5AC474D9B6A1}" type="slidenum">
              <a:rPr lang="en-GB" smtClean="0"/>
              <a:t>‹#›</a:t>
            </a:fld>
            <a:endParaRPr lang="en-GB"/>
          </a:p>
        </p:txBody>
      </p:sp>
    </p:spTree>
    <p:extLst>
      <p:ext uri="{BB962C8B-B14F-4D97-AF65-F5344CB8AC3E}">
        <p14:creationId xmlns:p14="http://schemas.microsoft.com/office/powerpoint/2010/main" val="16929458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kumimoji="1" lang="en-US" sz="1200" kern="1200" baseline="0" dirty="0">
                <a:solidFill>
                  <a:schemeClr val="tx1"/>
                </a:solidFill>
                <a:latin typeface="Times New Roman" pitchFamily="-109" charset="0"/>
                <a:ea typeface="+mn-ea"/>
                <a:cs typeface="+mn-cs"/>
              </a:rPr>
              <a:t>In describing computers, a distinction is often made between </a:t>
            </a:r>
            <a:r>
              <a:rPr kumimoji="1" lang="en-US" sz="1200" i="1" kern="1200" baseline="0" dirty="0">
                <a:solidFill>
                  <a:schemeClr val="tx1"/>
                </a:solidFill>
                <a:latin typeface="Times New Roman" pitchFamily="-109" charset="0"/>
                <a:ea typeface="+mn-ea"/>
                <a:cs typeface="+mn-cs"/>
              </a:rPr>
              <a:t>computer architecture </a:t>
            </a:r>
            <a:r>
              <a:rPr kumimoji="1" lang="en-US" sz="1200" kern="1200" baseline="0" dirty="0">
                <a:solidFill>
                  <a:schemeClr val="tx1"/>
                </a:solidFill>
                <a:latin typeface="Times New Roman" pitchFamily="-109" charset="0"/>
                <a:ea typeface="+mn-ea"/>
                <a:cs typeface="+mn-cs"/>
              </a:rPr>
              <a:t>and </a:t>
            </a:r>
            <a:r>
              <a:rPr kumimoji="1" lang="en-US" sz="1200" i="1" kern="1200" baseline="0" dirty="0">
                <a:solidFill>
                  <a:schemeClr val="tx1"/>
                </a:solidFill>
                <a:latin typeface="Times New Roman" pitchFamily="-109" charset="0"/>
                <a:ea typeface="+mn-ea"/>
                <a:cs typeface="+mn-cs"/>
              </a:rPr>
              <a:t>computer organization.</a:t>
            </a:r>
            <a:endParaRPr kumimoji="1" lang="en-US" sz="1200" kern="1200" baseline="0" dirty="0">
              <a:solidFill>
                <a:schemeClr val="tx1"/>
              </a:solidFill>
              <a:latin typeface="Times New Roman" pitchFamily="-109" charset="0"/>
              <a:ea typeface="+mn-ea"/>
              <a:cs typeface="+mn-cs"/>
            </a:endParaRPr>
          </a:p>
          <a:p>
            <a:endParaRPr kumimoji="1" lang="en-US" sz="1200" b="1" kern="1200" baseline="0" dirty="0">
              <a:solidFill>
                <a:schemeClr val="tx1"/>
              </a:solidFill>
              <a:latin typeface="Times New Roman" pitchFamily="-109" charset="0"/>
              <a:ea typeface="+mn-ea"/>
              <a:cs typeface="+mn-cs"/>
            </a:endParaRPr>
          </a:p>
          <a:p>
            <a:r>
              <a:rPr kumimoji="1" lang="en-US" sz="1200" b="1" kern="1200" baseline="0" dirty="0">
                <a:solidFill>
                  <a:schemeClr val="tx1"/>
                </a:solidFill>
                <a:latin typeface="Times New Roman" pitchFamily="-109" charset="0"/>
                <a:ea typeface="+mn-ea"/>
                <a:cs typeface="+mn-cs"/>
              </a:rPr>
              <a:t>Computer architecture </a:t>
            </a:r>
            <a:r>
              <a:rPr kumimoji="1" lang="en-US" sz="1200" b="0" kern="1200" baseline="0" dirty="0">
                <a:solidFill>
                  <a:schemeClr val="tx1"/>
                </a:solidFill>
                <a:latin typeface="Times New Roman" pitchFamily="-109" charset="0"/>
                <a:ea typeface="+mn-ea"/>
                <a:cs typeface="+mn-cs"/>
              </a:rPr>
              <a:t>refers to those attributes of a system visible to a </a:t>
            </a:r>
            <a:r>
              <a:rPr kumimoji="1" lang="en-US" sz="1200" kern="1200" baseline="0" dirty="0">
                <a:solidFill>
                  <a:schemeClr val="tx1"/>
                </a:solidFill>
                <a:latin typeface="Times New Roman" pitchFamily="-109" charset="0"/>
                <a:ea typeface="+mn-ea"/>
                <a:cs typeface="+mn-cs"/>
              </a:rPr>
              <a:t>programmer or, put another way, those attributes that have a direct impact on</a:t>
            </a:r>
          </a:p>
          <a:p>
            <a:r>
              <a:rPr kumimoji="1" lang="en-US" sz="1200" kern="1200" baseline="0" dirty="0">
                <a:solidFill>
                  <a:schemeClr val="tx1"/>
                </a:solidFill>
                <a:latin typeface="Times New Roman" pitchFamily="-109" charset="0"/>
                <a:ea typeface="+mn-ea"/>
                <a:cs typeface="+mn-cs"/>
              </a:rPr>
              <a:t>the logical execution of a program. </a:t>
            </a:r>
            <a:r>
              <a:rPr kumimoji="1" lang="en-US" sz="1200" b="0" i="0" u="none" strike="noStrike" kern="1200" baseline="0" dirty="0">
                <a:solidFill>
                  <a:schemeClr val="tx1"/>
                </a:solidFill>
                <a:latin typeface="Times New Roman" pitchFamily="-109" charset="0"/>
                <a:ea typeface="+mn-ea"/>
                <a:cs typeface="+mn-cs"/>
              </a:rPr>
              <a:t>A term that is often used interchangeably with computer architecture is </a:t>
            </a:r>
            <a:r>
              <a:rPr kumimoji="1" lang="en-US" sz="1200" b="1" i="0" u="none" strike="noStrike" kern="1200" baseline="0" dirty="0">
                <a:solidFill>
                  <a:schemeClr val="tx1"/>
                </a:solidFill>
                <a:latin typeface="Times New Roman" pitchFamily="-109" charset="0"/>
                <a:ea typeface="+mn-ea"/>
                <a:cs typeface="+mn-cs"/>
              </a:rPr>
              <a:t>instruction set architecture (ISA)</a:t>
            </a:r>
            <a:r>
              <a:rPr kumimoji="1" lang="en-US" sz="1200" b="0" i="0" u="none" strike="noStrike" kern="1200" baseline="0" dirty="0">
                <a:solidFill>
                  <a:schemeClr val="tx1"/>
                </a:solidFill>
                <a:latin typeface="Times New Roman" pitchFamily="-109" charset="0"/>
                <a:ea typeface="+mn-ea"/>
                <a:cs typeface="+mn-cs"/>
              </a:rPr>
              <a:t> . The ISA defines instruction formats, instruction opcodes, registers, instruction and data memory; the effect of executed instructions on the registers and memory; and an algorithm for controlling instruction execution.</a:t>
            </a:r>
            <a:r>
              <a:rPr kumimoji="1" lang="en-US" sz="1200" kern="1200" baseline="0" dirty="0">
                <a:solidFill>
                  <a:schemeClr val="tx1"/>
                </a:solidFill>
                <a:latin typeface="Times New Roman" pitchFamily="-109" charset="0"/>
                <a:ea typeface="+mn-ea"/>
                <a:cs typeface="+mn-cs"/>
              </a:rPr>
              <a:t> </a:t>
            </a:r>
          </a:p>
          <a:p>
            <a:endParaRPr kumimoji="1" lang="en-US" sz="1200" b="1" kern="1200" baseline="0" dirty="0">
              <a:solidFill>
                <a:schemeClr val="tx1"/>
              </a:solidFill>
              <a:latin typeface="Times New Roman" pitchFamily="-109" charset="0"/>
              <a:ea typeface="+mn-ea"/>
              <a:cs typeface="+mn-cs"/>
            </a:endParaRPr>
          </a:p>
          <a:p>
            <a:r>
              <a:rPr kumimoji="1" lang="en-US" sz="1200" b="1" kern="1200" baseline="0" dirty="0">
                <a:solidFill>
                  <a:schemeClr val="tx1"/>
                </a:solidFill>
                <a:latin typeface="Times New Roman" pitchFamily="-109" charset="0"/>
                <a:ea typeface="+mn-ea"/>
                <a:cs typeface="+mn-cs"/>
              </a:rPr>
              <a:t>Computer organization </a:t>
            </a:r>
            <a:r>
              <a:rPr kumimoji="1" lang="en-US" sz="1200" b="0" kern="1200" baseline="0" dirty="0">
                <a:solidFill>
                  <a:schemeClr val="tx1"/>
                </a:solidFill>
                <a:latin typeface="Times New Roman" pitchFamily="-109" charset="0"/>
                <a:ea typeface="+mn-ea"/>
                <a:cs typeface="+mn-cs"/>
              </a:rPr>
              <a:t>refers to the operational </a:t>
            </a:r>
            <a:r>
              <a:rPr kumimoji="1" lang="en-US" sz="1200" kern="1200" baseline="0" dirty="0">
                <a:solidFill>
                  <a:schemeClr val="tx1"/>
                </a:solidFill>
                <a:latin typeface="Times New Roman" pitchFamily="-109" charset="0"/>
                <a:ea typeface="+mn-ea"/>
                <a:cs typeface="+mn-cs"/>
              </a:rPr>
              <a:t>units and their interconnections that realize the architectural specifications. Examples of architectural attributes include the instruction set, the number of bits used to represent various data types (e.g., numbers, characters), I/O mechanisms,</a:t>
            </a:r>
          </a:p>
          <a:p>
            <a:r>
              <a:rPr kumimoji="1" lang="en-US" sz="1200" kern="1200" baseline="0" dirty="0">
                <a:solidFill>
                  <a:schemeClr val="tx1"/>
                </a:solidFill>
                <a:latin typeface="Times New Roman" pitchFamily="-109" charset="0"/>
                <a:ea typeface="+mn-ea"/>
                <a:cs typeface="+mn-cs"/>
              </a:rPr>
              <a:t>and techniques for addressing memory. Organizational attributes include those hardware details transparent to the programmer, such as control signals; interfaces between the computer and peripherals; and the memory technology used.</a:t>
            </a:r>
            <a:endParaRPr kumimoji="1" lang="en-GB" sz="1200" kern="1200" baseline="0" dirty="0">
              <a:solidFill>
                <a:schemeClr val="tx1"/>
              </a:solidFill>
              <a:latin typeface="Times New Roman" pitchFamily="-109" charset="0"/>
              <a:ea typeface="+mn-ea"/>
              <a:cs typeface="+mn-cs"/>
            </a:endParaRPr>
          </a:p>
          <a:p>
            <a:endParaRPr kumimoji="1" lang="en-GB" sz="1200" kern="1200" baseline="0" dirty="0">
              <a:solidFill>
                <a:schemeClr val="tx1"/>
              </a:solidFill>
              <a:latin typeface="Times New Roman" pitchFamily="-109" charset="0"/>
              <a:ea typeface="+mn-ea"/>
              <a:cs typeface="+mn-cs"/>
            </a:endParaRPr>
          </a:p>
          <a:p>
            <a:r>
              <a:rPr kumimoji="1" lang="en-US" sz="1200" kern="1200" baseline="0" dirty="0">
                <a:solidFill>
                  <a:schemeClr val="tx1"/>
                </a:solidFill>
                <a:latin typeface="Times New Roman" pitchFamily="-109" charset="0"/>
                <a:ea typeface="+mn-ea"/>
                <a:cs typeface="+mn-cs"/>
              </a:rPr>
              <a:t>For example, it is an architectural design issue whether a computer will have a multiply instruction. It is an organizational issue whether that instruction will</a:t>
            </a:r>
          </a:p>
          <a:p>
            <a:r>
              <a:rPr kumimoji="1" lang="en-US" sz="1200" kern="1200" baseline="0" dirty="0">
                <a:solidFill>
                  <a:schemeClr val="tx1"/>
                </a:solidFill>
                <a:latin typeface="Times New Roman" pitchFamily="-109" charset="0"/>
                <a:ea typeface="+mn-ea"/>
                <a:cs typeface="+mn-cs"/>
              </a:rPr>
              <a:t>be implemented by a special multiply unit or by a mechanism that makes repeated use of the add unit of the system. The organizational decision may be based on the anticipated frequency of use of the multiply instruction, the relative speed of the two approaches, and the cost and physical size of a special multiply unit.</a:t>
            </a:r>
          </a:p>
          <a:p>
            <a:endParaRPr kumimoji="1" lang="en-US" sz="1200" kern="1200" baseline="0" dirty="0">
              <a:solidFill>
                <a:schemeClr val="tx1"/>
              </a:solidFill>
              <a:latin typeface="Times New Roman" pitchFamily="-109" charset="0"/>
              <a:ea typeface="+mn-ea"/>
              <a:cs typeface="+mn-cs"/>
            </a:endParaRPr>
          </a:p>
          <a:p>
            <a:r>
              <a:rPr kumimoji="1" lang="en-US" sz="1200" kern="1200" baseline="0" dirty="0">
                <a:solidFill>
                  <a:schemeClr val="tx1"/>
                </a:solidFill>
                <a:latin typeface="Times New Roman" pitchFamily="-109" charset="0"/>
                <a:ea typeface="+mn-ea"/>
                <a:cs typeface="+mn-cs"/>
              </a:rPr>
              <a:t>Historically, and still today, the distinction between architecture and organization has been an important one. Many computer manufacturers offer a family of</a:t>
            </a:r>
          </a:p>
          <a:p>
            <a:r>
              <a:rPr kumimoji="1" lang="en-US" sz="1200" kern="1200" baseline="0" dirty="0">
                <a:solidFill>
                  <a:schemeClr val="tx1"/>
                </a:solidFill>
                <a:latin typeface="Times New Roman" pitchFamily="-109" charset="0"/>
                <a:ea typeface="+mn-ea"/>
                <a:cs typeface="+mn-cs"/>
              </a:rPr>
              <a:t>computer models, all with the same architecture but with differences in organization. Consequently, the different models in the family have different price and performance characteristics. Furthermore, a particular architecture may span many years and encompass a number of different computer models, its organization changing with changing technology.</a:t>
            </a:r>
            <a:endParaRPr lang="en-GB" dirty="0"/>
          </a:p>
          <a:p>
            <a:endParaRPr lang="en-GB" dirty="0"/>
          </a:p>
        </p:txBody>
      </p:sp>
      <p:sp>
        <p:nvSpPr>
          <p:cNvPr id="4" name="Slide Number Placeholder 3"/>
          <p:cNvSpPr>
            <a:spLocks noGrp="1"/>
          </p:cNvSpPr>
          <p:nvPr>
            <p:ph type="sldNum" sz="quarter" idx="5"/>
          </p:nvPr>
        </p:nvSpPr>
        <p:spPr/>
        <p:txBody>
          <a:bodyPr/>
          <a:lstStyle/>
          <a:p>
            <a:fld id="{B80B3F57-F9D0-45FD-B1FC-5AC474D9B6A1}" type="slidenum">
              <a:rPr lang="en-GB" smtClean="0"/>
              <a:t>7</a:t>
            </a:fld>
            <a:endParaRPr lang="en-GB"/>
          </a:p>
        </p:txBody>
      </p:sp>
    </p:spTree>
    <p:extLst>
      <p:ext uri="{BB962C8B-B14F-4D97-AF65-F5344CB8AC3E}">
        <p14:creationId xmlns:p14="http://schemas.microsoft.com/office/powerpoint/2010/main" val="39636521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kumimoji="1" lang="en-US" sz="1200" kern="1200" baseline="0" dirty="0">
                <a:solidFill>
                  <a:schemeClr val="tx1"/>
                </a:solidFill>
                <a:latin typeface="Times New Roman" pitchFamily="-109" charset="0"/>
                <a:ea typeface="+mn-ea"/>
                <a:cs typeface="+mn-cs"/>
              </a:rPr>
              <a:t>A computer is a complex system; contemporary computers contain millions of elementary electronic components. How, then, can one clearly describe them?</a:t>
            </a:r>
          </a:p>
          <a:p>
            <a:r>
              <a:rPr kumimoji="1" lang="en-US" sz="1200" kern="1200" baseline="0" dirty="0">
                <a:solidFill>
                  <a:schemeClr val="tx1"/>
                </a:solidFill>
                <a:latin typeface="Times New Roman" pitchFamily="-109" charset="0"/>
                <a:ea typeface="+mn-ea"/>
                <a:cs typeface="+mn-cs"/>
              </a:rPr>
              <a:t>The key is to recognize the hierarchical nature of most complex systems, including the computer. A hierarchical system is a set of interrelated subsystems, each of the latter, in turn, hierarchical in structure until we reach some lowest level of elementary subsystem.</a:t>
            </a:r>
          </a:p>
          <a:p>
            <a:endParaRPr kumimoji="1" lang="en-US" sz="1200" kern="1200" baseline="0" dirty="0">
              <a:solidFill>
                <a:schemeClr val="tx1"/>
              </a:solidFill>
              <a:latin typeface="Times New Roman" pitchFamily="-109" charset="0"/>
              <a:ea typeface="+mn-ea"/>
              <a:cs typeface="+mn-cs"/>
            </a:endParaRPr>
          </a:p>
          <a:p>
            <a:r>
              <a:rPr kumimoji="1" lang="en-US" sz="1200" kern="1200" baseline="0" dirty="0">
                <a:solidFill>
                  <a:schemeClr val="tx1"/>
                </a:solidFill>
                <a:latin typeface="Times New Roman" pitchFamily="-109" charset="0"/>
                <a:ea typeface="+mn-ea"/>
                <a:cs typeface="+mn-cs"/>
              </a:rPr>
              <a:t>The hierarchical nature of complex systems is essential to both their design and their description. The designer need only deal with a particular level of the</a:t>
            </a:r>
          </a:p>
          <a:p>
            <a:r>
              <a:rPr kumimoji="1" lang="en-US" sz="1200" kern="1200" baseline="0" dirty="0">
                <a:solidFill>
                  <a:schemeClr val="tx1"/>
                </a:solidFill>
                <a:latin typeface="Times New Roman" pitchFamily="-109" charset="0"/>
                <a:ea typeface="+mn-ea"/>
                <a:cs typeface="+mn-cs"/>
              </a:rPr>
              <a:t>system at a time. At each level, the system consists of a set of components and their interrelationships. The behavior at each level depends only on a simplified,</a:t>
            </a:r>
          </a:p>
          <a:p>
            <a:r>
              <a:rPr kumimoji="1" lang="en-US" sz="1200" kern="1200" baseline="0" dirty="0">
                <a:solidFill>
                  <a:schemeClr val="tx1"/>
                </a:solidFill>
                <a:latin typeface="Times New Roman" pitchFamily="-109" charset="0"/>
                <a:ea typeface="+mn-ea"/>
                <a:cs typeface="+mn-cs"/>
              </a:rPr>
              <a:t>abstracted characterization of the system at the next lower level. At each level, the designer is concerned with structure and function:</a:t>
            </a:r>
          </a:p>
          <a:p>
            <a:endParaRPr lang="en-US" sz="4400" b="0" kern="1200" dirty="0">
              <a:solidFill>
                <a:schemeClr val="accent1"/>
              </a:solidFill>
              <a:latin typeface="+mj-lt"/>
              <a:ea typeface="+mj-ea"/>
              <a:cs typeface="+mj-cs"/>
            </a:endParaRPr>
          </a:p>
          <a:p>
            <a:r>
              <a:rPr kumimoji="1" lang="en-US" sz="1200" kern="1200" baseline="0" dirty="0">
                <a:solidFill>
                  <a:schemeClr val="tx1"/>
                </a:solidFill>
                <a:latin typeface="Times New Roman" pitchFamily="-109" charset="0"/>
                <a:ea typeface="+mn-ea"/>
                <a:cs typeface="+mn-cs"/>
              </a:rPr>
              <a:t>• </a:t>
            </a:r>
            <a:r>
              <a:rPr kumimoji="1" lang="en-US" sz="1200" b="1" kern="1200" baseline="0" dirty="0">
                <a:solidFill>
                  <a:schemeClr val="tx1"/>
                </a:solidFill>
                <a:latin typeface="Times New Roman" pitchFamily="-109" charset="0"/>
                <a:ea typeface="+mn-ea"/>
                <a:cs typeface="+mn-cs"/>
              </a:rPr>
              <a:t>Structure: </a:t>
            </a:r>
            <a:r>
              <a:rPr kumimoji="1" lang="en-US" sz="1200" b="0" kern="1200" baseline="0" dirty="0">
                <a:solidFill>
                  <a:schemeClr val="tx1"/>
                </a:solidFill>
                <a:latin typeface="Times New Roman" pitchFamily="-109" charset="0"/>
                <a:ea typeface="+mn-ea"/>
                <a:cs typeface="+mn-cs"/>
              </a:rPr>
              <a:t>The way in which the components are interrelated.</a:t>
            </a:r>
          </a:p>
          <a:p>
            <a:endParaRPr kumimoji="1" lang="en-US" sz="1200" kern="1200" baseline="0" dirty="0">
              <a:solidFill>
                <a:schemeClr val="tx1"/>
              </a:solidFill>
              <a:latin typeface="Times New Roman" pitchFamily="-109" charset="0"/>
              <a:ea typeface="+mn-ea"/>
              <a:cs typeface="+mn-cs"/>
            </a:endParaRPr>
          </a:p>
          <a:p>
            <a:r>
              <a:rPr kumimoji="1" lang="en-US" sz="1200" kern="1200" baseline="0" dirty="0">
                <a:solidFill>
                  <a:schemeClr val="tx1"/>
                </a:solidFill>
                <a:latin typeface="Times New Roman" pitchFamily="-109" charset="0"/>
                <a:ea typeface="+mn-ea"/>
                <a:cs typeface="+mn-cs"/>
              </a:rPr>
              <a:t>• </a:t>
            </a:r>
            <a:r>
              <a:rPr kumimoji="1" lang="en-US" sz="1200" b="1" kern="1200" baseline="0" dirty="0">
                <a:solidFill>
                  <a:schemeClr val="tx1"/>
                </a:solidFill>
                <a:latin typeface="Times New Roman" pitchFamily="-109" charset="0"/>
                <a:ea typeface="+mn-ea"/>
                <a:cs typeface="+mn-cs"/>
              </a:rPr>
              <a:t>Function: </a:t>
            </a:r>
            <a:r>
              <a:rPr kumimoji="1" lang="en-US" sz="1200" b="0" kern="1200" baseline="0" dirty="0">
                <a:solidFill>
                  <a:schemeClr val="tx1"/>
                </a:solidFill>
                <a:latin typeface="Times New Roman" pitchFamily="-109" charset="0"/>
                <a:ea typeface="+mn-ea"/>
                <a:cs typeface="+mn-cs"/>
              </a:rPr>
              <a:t>The operation of each individual component as part of the structure.</a:t>
            </a:r>
          </a:p>
          <a:p>
            <a:endParaRPr kumimoji="1" lang="en-US" sz="1200" kern="1200" baseline="0" dirty="0">
              <a:solidFill>
                <a:schemeClr val="tx1"/>
              </a:solidFill>
              <a:latin typeface="Times New Roman" pitchFamily="-109" charset="0"/>
              <a:ea typeface="+mn-ea"/>
              <a:cs typeface="+mn-cs"/>
            </a:endParaRPr>
          </a:p>
          <a:p>
            <a:r>
              <a:rPr kumimoji="1" lang="en-US" sz="1200" kern="1200" baseline="0" dirty="0">
                <a:solidFill>
                  <a:schemeClr val="tx1"/>
                </a:solidFill>
                <a:latin typeface="Times New Roman" pitchFamily="-109" charset="0"/>
                <a:ea typeface="+mn-ea"/>
                <a:cs typeface="+mn-cs"/>
              </a:rPr>
              <a:t>In terms of description, we have two choices: starting at the bottom and building up to a complete description, or beginning with a top view and decomposing the system into its subparts. Evidence from a number of fields suggests that the top-down approach is the clearest and most effective.</a:t>
            </a:r>
          </a:p>
          <a:p>
            <a:endParaRPr kumimoji="1" lang="en-US" sz="1200" kern="1200" baseline="0" dirty="0">
              <a:solidFill>
                <a:schemeClr val="tx1"/>
              </a:solidFill>
              <a:latin typeface="Times New Roman" pitchFamily="-109" charset="0"/>
              <a:ea typeface="+mn-ea"/>
              <a:cs typeface="+mn-cs"/>
            </a:endParaRPr>
          </a:p>
          <a:p>
            <a:endParaRPr lang="en-GB" dirty="0"/>
          </a:p>
        </p:txBody>
      </p:sp>
      <p:sp>
        <p:nvSpPr>
          <p:cNvPr id="4" name="Slide Number Placeholder 3"/>
          <p:cNvSpPr>
            <a:spLocks noGrp="1"/>
          </p:cNvSpPr>
          <p:nvPr>
            <p:ph type="sldNum" sz="quarter" idx="5"/>
          </p:nvPr>
        </p:nvSpPr>
        <p:spPr/>
        <p:txBody>
          <a:bodyPr/>
          <a:lstStyle/>
          <a:p>
            <a:fld id="{B80B3F57-F9D0-45FD-B1FC-5AC474D9B6A1}" type="slidenum">
              <a:rPr lang="en-GB" smtClean="0"/>
              <a:t>11</a:t>
            </a:fld>
            <a:endParaRPr lang="en-GB"/>
          </a:p>
        </p:txBody>
      </p:sp>
    </p:spTree>
    <p:extLst>
      <p:ext uri="{BB962C8B-B14F-4D97-AF65-F5344CB8AC3E}">
        <p14:creationId xmlns:p14="http://schemas.microsoft.com/office/powerpoint/2010/main" val="41271841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kumimoji="1" lang="en-US" sz="1200" kern="1200" baseline="0" dirty="0">
                <a:solidFill>
                  <a:schemeClr val="tx1"/>
                </a:solidFill>
                <a:latin typeface="Times New Roman" pitchFamily="-109" charset="0"/>
                <a:ea typeface="+mn-ea"/>
                <a:cs typeface="+mn-cs"/>
              </a:rPr>
              <a:t>Both the structure and functioning of a computer are, in essence, simple. In general terms, there are only four</a:t>
            </a:r>
            <a:r>
              <a:rPr kumimoji="1" lang="en-US" sz="1200" kern="1200" dirty="0">
                <a:solidFill>
                  <a:schemeClr val="tx1"/>
                </a:solidFill>
                <a:effectLst/>
                <a:latin typeface="Times New Roman" pitchFamily="-109" charset="0"/>
                <a:ea typeface="+mn-ea"/>
                <a:cs typeface="+mn-cs"/>
              </a:rPr>
              <a:t> basic functions that a computer can perform</a:t>
            </a:r>
            <a:r>
              <a:rPr kumimoji="1" lang="en-US" sz="1200" kern="1200" baseline="0" dirty="0">
                <a:solidFill>
                  <a:schemeClr val="tx1"/>
                </a:solidFill>
                <a:latin typeface="Times New Roman" pitchFamily="-109" charset="0"/>
                <a:ea typeface="+mn-ea"/>
                <a:cs typeface="+mn-cs"/>
              </a:rPr>
              <a:t>:</a:t>
            </a:r>
          </a:p>
          <a:p>
            <a:endParaRPr kumimoji="1" lang="en-US" sz="1200" kern="1200" baseline="0" dirty="0">
              <a:solidFill>
                <a:schemeClr val="tx1"/>
              </a:solidFill>
              <a:latin typeface="Times New Roman" pitchFamily="-109" charset="0"/>
              <a:ea typeface="+mn-ea"/>
              <a:cs typeface="+mn-cs"/>
            </a:endParaRPr>
          </a:p>
          <a:p>
            <a:r>
              <a:rPr kumimoji="1" lang="en-US" sz="1200" b="1" kern="1200" baseline="0" dirty="0">
                <a:solidFill>
                  <a:schemeClr val="tx1"/>
                </a:solidFill>
                <a:latin typeface="Times New Roman" pitchFamily="-109" charset="0"/>
                <a:ea typeface="+mn-ea"/>
                <a:cs typeface="+mn-cs"/>
              </a:rPr>
              <a:t>Data Processing. </a:t>
            </a:r>
            <a:r>
              <a:rPr kumimoji="1" lang="en-US" sz="1200" b="0" kern="1200" baseline="0" dirty="0">
                <a:solidFill>
                  <a:schemeClr val="tx1"/>
                </a:solidFill>
                <a:latin typeface="Times New Roman" pitchFamily="-109" charset="0"/>
                <a:ea typeface="+mn-ea"/>
                <a:cs typeface="+mn-cs"/>
              </a:rPr>
              <a:t>The data may take a wide </a:t>
            </a:r>
            <a:r>
              <a:rPr kumimoji="1" lang="en-US" sz="1200" kern="1200" baseline="0" dirty="0">
                <a:solidFill>
                  <a:schemeClr val="tx1"/>
                </a:solidFill>
                <a:latin typeface="Times New Roman" pitchFamily="-109" charset="0"/>
                <a:ea typeface="+mn-ea"/>
                <a:cs typeface="+mn-cs"/>
              </a:rPr>
              <a:t>variety of forms, and the range of processing requirements is broad. However, we</a:t>
            </a:r>
          </a:p>
          <a:p>
            <a:r>
              <a:rPr kumimoji="1" lang="en-US" sz="1200" kern="1200" baseline="0" dirty="0">
                <a:solidFill>
                  <a:schemeClr val="tx1"/>
                </a:solidFill>
                <a:latin typeface="Times New Roman" pitchFamily="-109" charset="0"/>
                <a:ea typeface="+mn-ea"/>
                <a:cs typeface="+mn-cs"/>
              </a:rPr>
              <a:t>shall see that there are only a few fundamental methods or types of data processing.</a:t>
            </a:r>
          </a:p>
          <a:p>
            <a:endParaRPr kumimoji="1" lang="en-US" sz="1200" kern="1200" baseline="0" dirty="0">
              <a:solidFill>
                <a:schemeClr val="tx1"/>
              </a:solidFill>
              <a:latin typeface="Times New Roman" pitchFamily="-109" charset="0"/>
              <a:ea typeface="+mn-ea"/>
              <a:cs typeface="+mn-cs"/>
            </a:endParaRPr>
          </a:p>
          <a:p>
            <a:r>
              <a:rPr kumimoji="1" lang="en-US" sz="1200" b="1" kern="1200" baseline="0" dirty="0">
                <a:solidFill>
                  <a:schemeClr val="tx1"/>
                </a:solidFill>
                <a:latin typeface="Times New Roman" pitchFamily="-109" charset="0"/>
                <a:ea typeface="+mn-ea"/>
                <a:cs typeface="+mn-cs"/>
              </a:rPr>
              <a:t>Data Storage. </a:t>
            </a:r>
            <a:r>
              <a:rPr kumimoji="1" lang="en-US" sz="1200" b="0" kern="1200" baseline="0" dirty="0">
                <a:solidFill>
                  <a:schemeClr val="tx1"/>
                </a:solidFill>
                <a:latin typeface="Times New Roman" pitchFamily="-109" charset="0"/>
                <a:ea typeface="+mn-ea"/>
                <a:cs typeface="+mn-cs"/>
              </a:rPr>
              <a:t>Even if the computer is processing </a:t>
            </a:r>
            <a:r>
              <a:rPr kumimoji="1" lang="en-US" sz="1200" kern="1200" baseline="0" dirty="0">
                <a:solidFill>
                  <a:schemeClr val="tx1"/>
                </a:solidFill>
                <a:latin typeface="Times New Roman" pitchFamily="-109" charset="0"/>
                <a:ea typeface="+mn-ea"/>
                <a:cs typeface="+mn-cs"/>
              </a:rPr>
              <a:t>data on the fly (i.e., data come in and get processed, and the results go out</a:t>
            </a:r>
          </a:p>
          <a:p>
            <a:r>
              <a:rPr kumimoji="1" lang="en-US" sz="1200" kern="1200" baseline="0" dirty="0">
                <a:solidFill>
                  <a:schemeClr val="tx1"/>
                </a:solidFill>
                <a:latin typeface="Times New Roman" pitchFamily="-109" charset="0"/>
                <a:ea typeface="+mn-ea"/>
                <a:cs typeface="+mn-cs"/>
              </a:rPr>
              <a:t>immediately), the computer must temporarily store at least those pieces of data that are being worked on at any given moment. Thus, there is at least a short-term data storage function. Equally important, the computer performs a long-term data storage function. Files of data are stored on the computer for subsequent retrieval and update.</a:t>
            </a:r>
          </a:p>
          <a:p>
            <a:endParaRPr kumimoji="1" lang="en-US" sz="1200" kern="1200" baseline="0" dirty="0">
              <a:solidFill>
                <a:schemeClr val="tx1"/>
              </a:solidFill>
              <a:latin typeface="Times New Roman" pitchFamily="-109" charset="0"/>
              <a:ea typeface="+mn-ea"/>
              <a:cs typeface="+mn-cs"/>
            </a:endParaRPr>
          </a:p>
          <a:p>
            <a:r>
              <a:rPr kumimoji="1" lang="en-US" sz="1200" b="1" kern="1200" baseline="0" dirty="0">
                <a:solidFill>
                  <a:schemeClr val="tx1"/>
                </a:solidFill>
                <a:latin typeface="Times New Roman" pitchFamily="-109" charset="0"/>
                <a:ea typeface="+mn-ea"/>
                <a:cs typeface="+mn-cs"/>
              </a:rPr>
              <a:t>Data Movement. </a:t>
            </a:r>
            <a:r>
              <a:rPr kumimoji="1" lang="en-US" sz="1200" kern="1200" baseline="0" dirty="0">
                <a:solidFill>
                  <a:schemeClr val="tx1"/>
                </a:solidFill>
                <a:latin typeface="Times New Roman" pitchFamily="-109" charset="0"/>
                <a:ea typeface="+mn-ea"/>
                <a:cs typeface="+mn-cs"/>
              </a:rPr>
              <a:t>The computer’s operating environment consists of devices that serve as either sources or destinations of data. When data are received from or delivered to a device that is directly connected to the computer, the process is known as </a:t>
            </a:r>
            <a:r>
              <a:rPr kumimoji="1" lang="en-US" sz="1200" i="1" kern="1200" baseline="0" dirty="0">
                <a:solidFill>
                  <a:schemeClr val="tx1"/>
                </a:solidFill>
                <a:latin typeface="Times New Roman" pitchFamily="-109" charset="0"/>
                <a:ea typeface="+mn-ea"/>
                <a:cs typeface="+mn-cs"/>
              </a:rPr>
              <a:t>input–output (I/O), and </a:t>
            </a:r>
            <a:r>
              <a:rPr kumimoji="1" lang="en-US" sz="1200" i="0" kern="1200" baseline="0" dirty="0">
                <a:solidFill>
                  <a:schemeClr val="tx1"/>
                </a:solidFill>
                <a:latin typeface="Times New Roman" pitchFamily="-109" charset="0"/>
                <a:ea typeface="+mn-ea"/>
                <a:cs typeface="+mn-cs"/>
              </a:rPr>
              <a:t>the device is referred to as a </a:t>
            </a:r>
            <a:r>
              <a:rPr kumimoji="1" lang="en-US" sz="1200" i="1" kern="1200" baseline="0" dirty="0">
                <a:solidFill>
                  <a:schemeClr val="tx1"/>
                </a:solidFill>
                <a:latin typeface="Times New Roman" pitchFamily="-109" charset="0"/>
                <a:ea typeface="+mn-ea"/>
                <a:cs typeface="+mn-cs"/>
              </a:rPr>
              <a:t>peripheral. </a:t>
            </a:r>
            <a:r>
              <a:rPr kumimoji="1" lang="en-US" sz="1200" i="0" kern="1200" baseline="0" dirty="0">
                <a:solidFill>
                  <a:schemeClr val="tx1"/>
                </a:solidFill>
                <a:latin typeface="Times New Roman" pitchFamily="-109" charset="0"/>
                <a:ea typeface="+mn-ea"/>
                <a:cs typeface="+mn-cs"/>
              </a:rPr>
              <a:t>When</a:t>
            </a:r>
            <a:r>
              <a:rPr kumimoji="1" lang="en-US" sz="1200" i="1" kern="1200" baseline="0" dirty="0">
                <a:solidFill>
                  <a:schemeClr val="tx1"/>
                </a:solidFill>
                <a:latin typeface="Times New Roman" pitchFamily="-109" charset="0"/>
                <a:ea typeface="+mn-ea"/>
                <a:cs typeface="+mn-cs"/>
              </a:rPr>
              <a:t> </a:t>
            </a:r>
            <a:r>
              <a:rPr kumimoji="1" lang="en-US" sz="1200" i="0" kern="1200" baseline="0" dirty="0">
                <a:solidFill>
                  <a:schemeClr val="tx1"/>
                </a:solidFill>
                <a:latin typeface="Times New Roman" pitchFamily="-109" charset="0"/>
                <a:ea typeface="+mn-ea"/>
                <a:cs typeface="+mn-cs"/>
              </a:rPr>
              <a:t>data are moved </a:t>
            </a:r>
            <a:r>
              <a:rPr kumimoji="1" lang="en-US" sz="1200" kern="1200" baseline="0" dirty="0">
                <a:solidFill>
                  <a:schemeClr val="tx1"/>
                </a:solidFill>
                <a:latin typeface="Times New Roman" pitchFamily="-109" charset="0"/>
                <a:ea typeface="+mn-ea"/>
                <a:cs typeface="+mn-cs"/>
              </a:rPr>
              <a:t>over longer distances, to or from a remote device, the process is known as </a:t>
            </a:r>
            <a:r>
              <a:rPr kumimoji="1" lang="en-US" sz="1200" i="1" kern="1200" baseline="0" dirty="0">
                <a:solidFill>
                  <a:schemeClr val="tx1"/>
                </a:solidFill>
                <a:latin typeface="Times New Roman" pitchFamily="-109" charset="0"/>
                <a:ea typeface="+mn-ea"/>
                <a:cs typeface="+mn-cs"/>
              </a:rPr>
              <a:t>data communications.</a:t>
            </a:r>
          </a:p>
          <a:p>
            <a:endParaRPr kumimoji="1" lang="en-US" sz="1200" kern="1200" baseline="0" dirty="0">
              <a:solidFill>
                <a:schemeClr val="tx1"/>
              </a:solidFill>
              <a:latin typeface="Times New Roman" pitchFamily="-109" charset="0"/>
              <a:ea typeface="+mn-ea"/>
              <a:cs typeface="+mn-cs"/>
            </a:endParaRPr>
          </a:p>
          <a:p>
            <a:r>
              <a:rPr kumimoji="1" lang="en-US" sz="1200" b="1" kern="1200" baseline="0" dirty="0">
                <a:solidFill>
                  <a:schemeClr val="tx1"/>
                </a:solidFill>
                <a:latin typeface="Times New Roman" pitchFamily="-109" charset="0"/>
                <a:ea typeface="+mn-ea"/>
                <a:cs typeface="+mn-cs"/>
              </a:rPr>
              <a:t>Control. </a:t>
            </a:r>
            <a:r>
              <a:rPr kumimoji="1" lang="en-US" sz="1200" kern="1200" baseline="0" dirty="0">
                <a:solidFill>
                  <a:schemeClr val="tx1"/>
                </a:solidFill>
                <a:latin typeface="Times New Roman" pitchFamily="-109" charset="0"/>
                <a:ea typeface="+mn-ea"/>
                <a:cs typeface="+mn-cs"/>
              </a:rPr>
              <a:t>Within the computer, a control unit manages the computer’s resources and orchestrates the performance of its functional parts in response to those instructions.</a:t>
            </a:r>
            <a:endParaRPr lang="en-GB" dirty="0"/>
          </a:p>
          <a:p>
            <a:endParaRPr lang="en-GB" dirty="0"/>
          </a:p>
        </p:txBody>
      </p:sp>
      <p:sp>
        <p:nvSpPr>
          <p:cNvPr id="4" name="Slide Number Placeholder 3"/>
          <p:cNvSpPr>
            <a:spLocks noGrp="1"/>
          </p:cNvSpPr>
          <p:nvPr>
            <p:ph type="sldNum" sz="quarter" idx="5"/>
          </p:nvPr>
        </p:nvSpPr>
        <p:spPr/>
        <p:txBody>
          <a:bodyPr/>
          <a:lstStyle/>
          <a:p>
            <a:fld id="{B80B3F57-F9D0-45FD-B1FC-5AC474D9B6A1}" type="slidenum">
              <a:rPr lang="en-GB" smtClean="0"/>
              <a:t>12</a:t>
            </a:fld>
            <a:endParaRPr lang="en-GB"/>
          </a:p>
        </p:txBody>
      </p:sp>
    </p:spTree>
    <p:extLst>
      <p:ext uri="{BB962C8B-B14F-4D97-AF65-F5344CB8AC3E}">
        <p14:creationId xmlns:p14="http://schemas.microsoft.com/office/powerpoint/2010/main" val="1049821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kumimoji="1" lang="en-US" sz="1200" b="0" i="0" u="none" strike="noStrike" kern="1200" baseline="0" dirty="0">
                <a:solidFill>
                  <a:schemeClr val="tx1"/>
                </a:solidFill>
                <a:latin typeface="Times New Roman" pitchFamily="-109" charset="0"/>
                <a:ea typeface="+mn-ea"/>
                <a:cs typeface="+mn-cs"/>
              </a:rPr>
              <a:t>Figure 1.2 is a simplified view of the principal components of a typical multicore computer. Most computers, including embedded computers in smartphones</a:t>
            </a:r>
          </a:p>
          <a:p>
            <a:r>
              <a:rPr kumimoji="1" lang="en-US" sz="1200" b="0" i="0" u="none" strike="noStrike" kern="1200" baseline="0" dirty="0">
                <a:solidFill>
                  <a:schemeClr val="tx1"/>
                </a:solidFill>
                <a:latin typeface="Times New Roman" pitchFamily="-109" charset="0"/>
                <a:ea typeface="+mn-ea"/>
                <a:cs typeface="+mn-cs"/>
              </a:rPr>
              <a:t>and tablets, plus personal computers, laptops, and workstations, are housed on a motherboard. Before describing this arrangement, we need to define some terms.</a:t>
            </a:r>
          </a:p>
          <a:p>
            <a:endParaRPr kumimoji="1" lang="en-US" sz="1200" b="0" i="0" u="none" strike="noStrike" kern="1200" baseline="0" dirty="0">
              <a:solidFill>
                <a:schemeClr val="tx1"/>
              </a:solidFill>
              <a:latin typeface="Times New Roman" pitchFamily="-109" charset="0"/>
              <a:ea typeface="+mn-ea"/>
              <a:cs typeface="+mn-cs"/>
            </a:endParaRPr>
          </a:p>
          <a:p>
            <a:r>
              <a:rPr kumimoji="1" lang="en-US" sz="1200" b="0" i="0" u="none" strike="noStrike" kern="1200" baseline="0" dirty="0">
                <a:solidFill>
                  <a:schemeClr val="tx1"/>
                </a:solidFill>
                <a:latin typeface="Times New Roman" pitchFamily="-109" charset="0"/>
                <a:ea typeface="+mn-ea"/>
                <a:cs typeface="+mn-cs"/>
              </a:rPr>
              <a:t>A </a:t>
            </a:r>
            <a:r>
              <a:rPr kumimoji="1" lang="en-US" sz="1200" b="1" i="0" u="none" strike="noStrike" kern="1200" baseline="0" dirty="0">
                <a:solidFill>
                  <a:schemeClr val="tx1"/>
                </a:solidFill>
                <a:latin typeface="Times New Roman" pitchFamily="-109" charset="0"/>
                <a:ea typeface="+mn-ea"/>
                <a:cs typeface="+mn-cs"/>
              </a:rPr>
              <a:t>printed circuit board (PCB)  </a:t>
            </a:r>
            <a:r>
              <a:rPr kumimoji="1" lang="en-US" sz="1200" b="0" i="0" u="none" strike="noStrike" kern="1200" baseline="0" dirty="0">
                <a:solidFill>
                  <a:schemeClr val="tx1"/>
                </a:solidFill>
                <a:latin typeface="Times New Roman" pitchFamily="-109" charset="0"/>
                <a:ea typeface="+mn-ea"/>
                <a:cs typeface="+mn-cs"/>
              </a:rPr>
              <a:t>is a rigid, flat board that holds and interconnects chips and other electronic components. The board is made of layers, typically two to ten, that interconnect components via copper pathways that are etched into the board. The main printed circuit board (PCB) in a computer is called a system board or </a:t>
            </a:r>
            <a:r>
              <a:rPr kumimoji="1" lang="en-US" sz="1200" b="1" i="0" u="none" strike="noStrike" kern="1200" baseline="0" dirty="0">
                <a:solidFill>
                  <a:schemeClr val="tx1"/>
                </a:solidFill>
                <a:latin typeface="Times New Roman" pitchFamily="-109" charset="0"/>
                <a:ea typeface="+mn-ea"/>
                <a:cs typeface="+mn-cs"/>
              </a:rPr>
              <a:t>motherboard</a:t>
            </a:r>
            <a:r>
              <a:rPr kumimoji="1" lang="en-US" sz="1200" b="0" i="0" u="none" strike="noStrike" kern="1200" baseline="0" dirty="0">
                <a:solidFill>
                  <a:schemeClr val="tx1"/>
                </a:solidFill>
                <a:latin typeface="Times New Roman" pitchFamily="-109" charset="0"/>
                <a:ea typeface="+mn-ea"/>
                <a:cs typeface="+mn-cs"/>
              </a:rPr>
              <a:t> , while smaller ones that plug into the slots in the main board are</a:t>
            </a:r>
          </a:p>
          <a:p>
            <a:r>
              <a:rPr kumimoji="1" lang="en-US" sz="1200" b="0" i="0" u="none" strike="noStrike" kern="1200" baseline="0" dirty="0">
                <a:solidFill>
                  <a:schemeClr val="tx1"/>
                </a:solidFill>
                <a:latin typeface="Times New Roman" pitchFamily="-109" charset="0"/>
                <a:ea typeface="+mn-ea"/>
                <a:cs typeface="+mn-cs"/>
              </a:rPr>
              <a:t>called expansion boards.</a:t>
            </a:r>
          </a:p>
          <a:p>
            <a:endParaRPr kumimoji="1" lang="en-US" sz="1200" b="0" i="0" u="none" strike="noStrike" kern="1200" baseline="0" dirty="0">
              <a:solidFill>
                <a:schemeClr val="tx1"/>
              </a:solidFill>
              <a:latin typeface="Times New Roman" pitchFamily="-109" charset="0"/>
              <a:ea typeface="+mn-ea"/>
              <a:cs typeface="+mn-cs"/>
            </a:endParaRPr>
          </a:p>
          <a:p>
            <a:r>
              <a:rPr kumimoji="1" lang="en-US" sz="1200" b="0" i="0" u="none" strike="noStrike" kern="1200" baseline="0" dirty="0">
                <a:solidFill>
                  <a:schemeClr val="tx1"/>
                </a:solidFill>
                <a:latin typeface="Times New Roman" pitchFamily="-109" charset="0"/>
                <a:ea typeface="+mn-ea"/>
                <a:cs typeface="+mn-cs"/>
              </a:rPr>
              <a:t>The most prominent elements on the motherboard are the chips. A </a:t>
            </a:r>
            <a:r>
              <a:rPr kumimoji="1" lang="en-US" sz="1200" b="1" i="0" u="none" strike="noStrike" kern="1200" baseline="0" dirty="0">
                <a:solidFill>
                  <a:schemeClr val="tx1"/>
                </a:solidFill>
                <a:latin typeface="Times New Roman" pitchFamily="-109" charset="0"/>
                <a:ea typeface="+mn-ea"/>
                <a:cs typeface="+mn-cs"/>
              </a:rPr>
              <a:t>chip</a:t>
            </a:r>
            <a:r>
              <a:rPr kumimoji="1" lang="en-US" sz="1200" b="0" i="0" u="none" strike="noStrike" kern="1200" baseline="0" dirty="0">
                <a:solidFill>
                  <a:schemeClr val="tx1"/>
                </a:solidFill>
                <a:latin typeface="Times New Roman" pitchFamily="-109" charset="0"/>
                <a:ea typeface="+mn-ea"/>
                <a:cs typeface="+mn-cs"/>
              </a:rPr>
              <a:t>  is a single piece of semiconducting material, typically silicon, upon which electronic</a:t>
            </a:r>
          </a:p>
          <a:p>
            <a:r>
              <a:rPr kumimoji="1" lang="en-US" sz="1200" b="0" i="0" u="none" strike="noStrike" kern="1200" baseline="0" dirty="0">
                <a:solidFill>
                  <a:schemeClr val="tx1"/>
                </a:solidFill>
                <a:latin typeface="Times New Roman" pitchFamily="-109" charset="0"/>
                <a:ea typeface="+mn-ea"/>
                <a:cs typeface="+mn-cs"/>
              </a:rPr>
              <a:t>circuits and logic gates are fabricated. The resulting product is referred to as an </a:t>
            </a:r>
            <a:r>
              <a:rPr kumimoji="1" lang="en-US" sz="1200" b="1" i="0" u="none" strike="noStrike" kern="1200" baseline="0" dirty="0">
                <a:solidFill>
                  <a:schemeClr val="tx1"/>
                </a:solidFill>
                <a:latin typeface="Times New Roman" pitchFamily="-109" charset="0"/>
                <a:ea typeface="+mn-ea"/>
                <a:cs typeface="+mn-cs"/>
              </a:rPr>
              <a:t>integrated circuit .</a:t>
            </a:r>
          </a:p>
          <a:p>
            <a:endParaRPr kumimoji="1" lang="en-US" sz="1200" b="0" i="0" u="none" strike="noStrike" kern="1200" baseline="0" dirty="0">
              <a:solidFill>
                <a:schemeClr val="tx1"/>
              </a:solidFill>
              <a:latin typeface="Times New Roman" pitchFamily="-109" charset="0"/>
              <a:ea typeface="+mn-ea"/>
              <a:cs typeface="+mn-cs"/>
            </a:endParaRPr>
          </a:p>
          <a:p>
            <a:r>
              <a:rPr kumimoji="1" lang="en-US" sz="1200" b="0" i="0" u="none" strike="noStrike" kern="1200" baseline="0" dirty="0">
                <a:solidFill>
                  <a:schemeClr val="tx1"/>
                </a:solidFill>
                <a:latin typeface="Times New Roman" pitchFamily="-109" charset="0"/>
                <a:ea typeface="+mn-ea"/>
                <a:cs typeface="+mn-cs"/>
              </a:rPr>
              <a:t> The motherboard contains a slot or socket for the processor chip, which typically contains multiple individual cores, in what is known as a multicore processor .</a:t>
            </a:r>
          </a:p>
          <a:p>
            <a:r>
              <a:rPr kumimoji="1" lang="en-US" sz="1200" b="0" i="0" u="none" strike="noStrike" kern="1200" baseline="0" dirty="0">
                <a:solidFill>
                  <a:schemeClr val="tx1"/>
                </a:solidFill>
                <a:latin typeface="Times New Roman" pitchFamily="-109" charset="0"/>
                <a:ea typeface="+mn-ea"/>
                <a:cs typeface="+mn-cs"/>
              </a:rPr>
              <a:t>There are also slots for memory chips, I/O controller chips, and other key computer components. For desktop computers, expansion slots enable the inclusion of more components on expansion boards. Thus, a modern motherboard connects only a few individual chip components, with each chip containing from a few thousand up to hundreds of millions of transistors.</a:t>
            </a:r>
          </a:p>
          <a:p>
            <a:endParaRPr kumimoji="1" lang="en-US" sz="1200" b="0" i="0" u="none" strike="noStrike" kern="1200" baseline="0" dirty="0">
              <a:solidFill>
                <a:schemeClr val="tx1"/>
              </a:solidFill>
              <a:latin typeface="Times New Roman" pitchFamily="-109" charset="0"/>
              <a:ea typeface="+mn-ea"/>
              <a:cs typeface="+mn-cs"/>
            </a:endParaRPr>
          </a:p>
          <a:p>
            <a:r>
              <a:rPr kumimoji="1" lang="en-US" sz="1200" b="0" i="0" u="none" strike="noStrike" kern="1200" baseline="0" dirty="0">
                <a:solidFill>
                  <a:schemeClr val="tx1"/>
                </a:solidFill>
                <a:latin typeface="Times New Roman" pitchFamily="-109" charset="0"/>
                <a:ea typeface="+mn-ea"/>
                <a:cs typeface="+mn-cs"/>
              </a:rPr>
              <a:t>Figure 1.2 shows a processor chip that contains eight cores and an L3 cache. Not shown is the logic required to control operations between the cores and the</a:t>
            </a:r>
          </a:p>
          <a:p>
            <a:r>
              <a:rPr kumimoji="1" lang="en-US" sz="1200" b="0" i="0" u="none" strike="noStrike" kern="1200" baseline="0" dirty="0">
                <a:solidFill>
                  <a:schemeClr val="tx1"/>
                </a:solidFill>
                <a:latin typeface="Times New Roman" pitchFamily="-109" charset="0"/>
                <a:ea typeface="+mn-ea"/>
                <a:cs typeface="+mn-cs"/>
              </a:rPr>
              <a:t>cache and between the cores and the external circuitry on the motherboard. The figure indicates that the L3 cache occupies two distinct portions of the chip surface. However, typically, all cores have access to the entire L3 cache via the aforementioned control circuits. The processor chip shown in Figure 1.2 does not represent any specific product, but provides a general idea of how such chips are laid out.</a:t>
            </a:r>
          </a:p>
          <a:p>
            <a:endParaRPr kumimoji="1" lang="en-US" sz="1200" b="0" i="0" u="none" strike="noStrike" kern="1200" baseline="0" dirty="0">
              <a:solidFill>
                <a:schemeClr val="tx1"/>
              </a:solidFill>
              <a:latin typeface="Times New Roman" pitchFamily="-109" charset="0"/>
              <a:ea typeface="+mn-ea"/>
              <a:cs typeface="+mn-cs"/>
            </a:endParaRPr>
          </a:p>
          <a:p>
            <a:r>
              <a:rPr kumimoji="1" lang="en-US" sz="1200" b="0" i="0" u="none" strike="noStrike" kern="1200" baseline="0" dirty="0">
                <a:solidFill>
                  <a:schemeClr val="tx1"/>
                </a:solidFill>
                <a:latin typeface="Times New Roman" pitchFamily="-109" charset="0"/>
                <a:ea typeface="+mn-ea"/>
                <a:cs typeface="+mn-cs"/>
              </a:rPr>
              <a:t>Next, we zoom in on the structure of a single core, which occupies a portion of the processor chip. In general terms, the functional elements of a core are:</a:t>
            </a:r>
          </a:p>
          <a:p>
            <a:endParaRPr kumimoji="1" lang="en-US" sz="1200" b="1" i="0" u="none" strike="noStrike" kern="1200" baseline="0" dirty="0">
              <a:solidFill>
                <a:schemeClr val="tx1"/>
              </a:solidFill>
              <a:latin typeface="Times New Roman" pitchFamily="-109" charset="0"/>
              <a:ea typeface="+mn-ea"/>
              <a:cs typeface="+mn-cs"/>
            </a:endParaRPr>
          </a:p>
          <a:p>
            <a:r>
              <a:rPr kumimoji="1" lang="en-US" sz="1200" b="1" i="0" u="none" strike="noStrike" kern="1200" baseline="0" dirty="0">
                <a:solidFill>
                  <a:schemeClr val="tx1"/>
                </a:solidFill>
                <a:latin typeface="Times New Roman" pitchFamily="-109" charset="0"/>
                <a:ea typeface="+mn-ea"/>
                <a:cs typeface="+mn-cs"/>
              </a:rPr>
              <a:t>■ Instruction logic</a:t>
            </a:r>
            <a:r>
              <a:rPr kumimoji="1" lang="en-US" sz="1200" b="0" i="0" u="none" strike="noStrike" kern="1200" baseline="0" dirty="0">
                <a:solidFill>
                  <a:schemeClr val="tx1"/>
                </a:solidFill>
                <a:latin typeface="Times New Roman" pitchFamily="-109" charset="0"/>
                <a:ea typeface="+mn-ea"/>
                <a:cs typeface="+mn-cs"/>
              </a:rPr>
              <a:t>:  This includes the tasks involved in fetching instructions and decoding each instruction to determine the instruction operation and the</a:t>
            </a:r>
          </a:p>
          <a:p>
            <a:r>
              <a:rPr kumimoji="1" lang="en-US" sz="1200" b="0" i="0" u="none" strike="noStrike" kern="1200" baseline="0" dirty="0">
                <a:solidFill>
                  <a:schemeClr val="tx1"/>
                </a:solidFill>
                <a:latin typeface="Times New Roman" pitchFamily="-109" charset="0"/>
                <a:ea typeface="+mn-ea"/>
                <a:cs typeface="+mn-cs"/>
              </a:rPr>
              <a:t>memory locations of any operands.</a:t>
            </a:r>
          </a:p>
          <a:p>
            <a:endParaRPr kumimoji="1" lang="en-US" sz="1200" b="1" i="0" u="none" strike="noStrike" kern="1200" baseline="0" dirty="0">
              <a:solidFill>
                <a:schemeClr val="tx1"/>
              </a:solidFill>
              <a:latin typeface="Times New Roman" pitchFamily="-109" charset="0"/>
              <a:ea typeface="+mn-ea"/>
              <a:cs typeface="+mn-cs"/>
            </a:endParaRPr>
          </a:p>
          <a:p>
            <a:r>
              <a:rPr kumimoji="1" lang="en-US" sz="1200" b="1" i="0" u="none" strike="noStrike" kern="1200" baseline="0" dirty="0">
                <a:solidFill>
                  <a:schemeClr val="tx1"/>
                </a:solidFill>
                <a:latin typeface="Times New Roman" pitchFamily="-109" charset="0"/>
                <a:ea typeface="+mn-ea"/>
                <a:cs typeface="+mn-cs"/>
              </a:rPr>
              <a:t>■ Arithmetic and logic unit (ALU</a:t>
            </a:r>
            <a:r>
              <a:rPr kumimoji="1" lang="en-US" sz="1200" b="0" i="0" u="none" strike="noStrike" kern="1200" baseline="0" dirty="0">
                <a:solidFill>
                  <a:schemeClr val="tx1"/>
                </a:solidFill>
                <a:latin typeface="Times New Roman" pitchFamily="-109" charset="0"/>
                <a:ea typeface="+mn-ea"/>
                <a:cs typeface="+mn-cs"/>
              </a:rPr>
              <a:t>):  Performs the operation specified by an instruction.</a:t>
            </a:r>
          </a:p>
          <a:p>
            <a:endParaRPr kumimoji="1" lang="en-US" sz="1200" b="1" i="0" u="none" strike="noStrike" kern="1200" baseline="0" dirty="0">
              <a:solidFill>
                <a:schemeClr val="tx1"/>
              </a:solidFill>
              <a:latin typeface="Times New Roman" pitchFamily="-109" charset="0"/>
              <a:ea typeface="+mn-ea"/>
              <a:cs typeface="+mn-cs"/>
            </a:endParaRPr>
          </a:p>
          <a:p>
            <a:r>
              <a:rPr kumimoji="1" lang="en-US" sz="1200" b="1" i="0" u="none" strike="noStrike" kern="1200" baseline="0" dirty="0">
                <a:solidFill>
                  <a:schemeClr val="tx1"/>
                </a:solidFill>
                <a:latin typeface="Times New Roman" pitchFamily="-109" charset="0"/>
                <a:ea typeface="+mn-ea"/>
                <a:cs typeface="+mn-cs"/>
              </a:rPr>
              <a:t>■ Load/store logic:  </a:t>
            </a:r>
            <a:r>
              <a:rPr kumimoji="1" lang="en-US" sz="1200" b="0" i="0" u="none" strike="noStrike" kern="1200" baseline="0" dirty="0">
                <a:solidFill>
                  <a:schemeClr val="tx1"/>
                </a:solidFill>
                <a:latin typeface="Times New Roman" pitchFamily="-109" charset="0"/>
                <a:ea typeface="+mn-ea"/>
                <a:cs typeface="+mn-cs"/>
              </a:rPr>
              <a:t>Manages the transfer of data to and from main memory via cache.</a:t>
            </a:r>
          </a:p>
          <a:p>
            <a:endParaRPr kumimoji="1" lang="en-US" sz="1200" b="0" i="0" u="none" strike="noStrike" kern="1200" baseline="0" dirty="0">
              <a:solidFill>
                <a:schemeClr val="tx1"/>
              </a:solidFill>
              <a:latin typeface="Times New Roman" pitchFamily="-109" charset="0"/>
              <a:ea typeface="+mn-ea"/>
              <a:cs typeface="+mn-cs"/>
            </a:endParaRPr>
          </a:p>
          <a:p>
            <a:r>
              <a:rPr kumimoji="1" lang="en-US" sz="1200" b="0" i="0" u="none" strike="noStrike" kern="1200" baseline="0" dirty="0">
                <a:solidFill>
                  <a:schemeClr val="tx1"/>
                </a:solidFill>
                <a:latin typeface="Times New Roman" pitchFamily="-109" charset="0"/>
                <a:ea typeface="+mn-ea"/>
                <a:cs typeface="+mn-cs"/>
              </a:rPr>
              <a:t>The core also contains an L1 cache, split between an instruction cache (I-cache) that is used for the transfer of instructions to and from main memory, and</a:t>
            </a:r>
          </a:p>
          <a:p>
            <a:r>
              <a:rPr kumimoji="1" lang="en-US" sz="1200" b="0" i="0" u="none" strike="noStrike" kern="1200" baseline="0" dirty="0">
                <a:solidFill>
                  <a:schemeClr val="tx1"/>
                </a:solidFill>
                <a:latin typeface="Times New Roman" pitchFamily="-109" charset="0"/>
                <a:ea typeface="+mn-ea"/>
                <a:cs typeface="+mn-cs"/>
              </a:rPr>
              <a:t>an L1 data cache, for the transfer of operands and results. Typically, today’s processor chips also include an L2 cache as part of the core. In many cases, this cache is also split between instruction and data caches, although a combined, single L2</a:t>
            </a:r>
          </a:p>
          <a:p>
            <a:r>
              <a:rPr kumimoji="1" lang="en-US" sz="1200" b="0" i="0" u="none" strike="noStrike" kern="1200" baseline="0" dirty="0">
                <a:solidFill>
                  <a:schemeClr val="tx1"/>
                </a:solidFill>
                <a:latin typeface="Times New Roman" pitchFamily="-109" charset="0"/>
                <a:ea typeface="+mn-ea"/>
                <a:cs typeface="+mn-cs"/>
              </a:rPr>
              <a:t>cache is also used.</a:t>
            </a:r>
          </a:p>
          <a:p>
            <a:endParaRPr kumimoji="1" lang="en-US" sz="1200" b="0" i="0" u="none" strike="noStrike" kern="1200" baseline="0" dirty="0">
              <a:solidFill>
                <a:schemeClr val="tx1"/>
              </a:solidFill>
              <a:latin typeface="Times New Roman" pitchFamily="-109" charset="0"/>
              <a:ea typeface="+mn-ea"/>
              <a:cs typeface="+mn-cs"/>
            </a:endParaRPr>
          </a:p>
          <a:p>
            <a:r>
              <a:rPr kumimoji="1" lang="en-US" sz="1200" b="0" i="0" u="none" strike="noStrike" kern="1200" baseline="0" dirty="0">
                <a:solidFill>
                  <a:schemeClr val="tx1"/>
                </a:solidFill>
                <a:latin typeface="Times New Roman" pitchFamily="-109" charset="0"/>
                <a:ea typeface="+mn-ea"/>
                <a:cs typeface="+mn-cs"/>
              </a:rPr>
              <a:t>Keep in mind that this representation of the layout of the core is only intended to give a general idea of internal core structure. In a given product, the functional</a:t>
            </a:r>
          </a:p>
          <a:p>
            <a:r>
              <a:rPr kumimoji="1" lang="en-US" sz="1200" b="0" i="0" u="none" strike="noStrike" kern="1200" baseline="0" dirty="0">
                <a:solidFill>
                  <a:schemeClr val="tx1"/>
                </a:solidFill>
                <a:latin typeface="Times New Roman" pitchFamily="-109" charset="0"/>
                <a:ea typeface="+mn-ea"/>
                <a:cs typeface="+mn-cs"/>
              </a:rPr>
              <a:t>elements may not be laid out as the three distinct elements shown in Figure 1.2, especially if some or all of these functions are implemented as part of a microprogrammed control unit.</a:t>
            </a:r>
            <a:endParaRPr lang="en-US" dirty="0"/>
          </a:p>
          <a:p>
            <a:endParaRPr lang="en-GB" dirty="0"/>
          </a:p>
        </p:txBody>
      </p:sp>
      <p:sp>
        <p:nvSpPr>
          <p:cNvPr id="4" name="Slide Number Placeholder 3"/>
          <p:cNvSpPr>
            <a:spLocks noGrp="1"/>
          </p:cNvSpPr>
          <p:nvPr>
            <p:ph type="sldNum" sz="quarter" idx="5"/>
          </p:nvPr>
        </p:nvSpPr>
        <p:spPr/>
        <p:txBody>
          <a:bodyPr/>
          <a:lstStyle/>
          <a:p>
            <a:fld id="{B80B3F57-F9D0-45FD-B1FC-5AC474D9B6A1}" type="slidenum">
              <a:rPr lang="en-GB" smtClean="0"/>
              <a:t>19</a:t>
            </a:fld>
            <a:endParaRPr lang="en-GB"/>
          </a:p>
        </p:txBody>
      </p:sp>
    </p:spTree>
    <p:extLst>
      <p:ext uri="{BB962C8B-B14F-4D97-AF65-F5344CB8AC3E}">
        <p14:creationId xmlns:p14="http://schemas.microsoft.com/office/powerpoint/2010/main" val="11610708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445A07-F422-0DAD-17D5-C82657BEA54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9EB9DAC4-1C85-C983-896A-ACD1783359D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F305CE92-39FC-970E-30CB-F9AF307F1FB5}"/>
              </a:ext>
            </a:extLst>
          </p:cNvPr>
          <p:cNvSpPr>
            <a:spLocks noGrp="1"/>
          </p:cNvSpPr>
          <p:nvPr>
            <p:ph type="dt" sz="half" idx="10"/>
          </p:nvPr>
        </p:nvSpPr>
        <p:spPr/>
        <p:txBody>
          <a:bodyPr/>
          <a:lstStyle/>
          <a:p>
            <a:fld id="{42FE2B4B-B721-4ABF-97EB-D721FA19D007}" type="datetimeFigureOut">
              <a:rPr lang="en-GB" smtClean="0"/>
              <a:t>24/09/2026</a:t>
            </a:fld>
            <a:endParaRPr lang="en-GB"/>
          </a:p>
        </p:txBody>
      </p:sp>
      <p:sp>
        <p:nvSpPr>
          <p:cNvPr id="5" name="Footer Placeholder 4">
            <a:extLst>
              <a:ext uri="{FF2B5EF4-FFF2-40B4-BE49-F238E27FC236}">
                <a16:creationId xmlns:a16="http://schemas.microsoft.com/office/drawing/2014/main" id="{65B7AF38-5AF3-CC7B-CE2D-7FF7D6F5E22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B262414-9C8B-D451-FC26-D944473F5F18}"/>
              </a:ext>
            </a:extLst>
          </p:cNvPr>
          <p:cNvSpPr>
            <a:spLocks noGrp="1"/>
          </p:cNvSpPr>
          <p:nvPr>
            <p:ph type="sldNum" sz="quarter" idx="12"/>
          </p:nvPr>
        </p:nvSpPr>
        <p:spPr/>
        <p:txBody>
          <a:bodyPr/>
          <a:lstStyle/>
          <a:p>
            <a:fld id="{22B1CA6A-6CA3-4D49-9C41-234C66781C3C}" type="slidenum">
              <a:rPr lang="en-GB" smtClean="0"/>
              <a:t>‹#›</a:t>
            </a:fld>
            <a:endParaRPr lang="en-GB"/>
          </a:p>
        </p:txBody>
      </p:sp>
    </p:spTree>
    <p:extLst>
      <p:ext uri="{BB962C8B-B14F-4D97-AF65-F5344CB8AC3E}">
        <p14:creationId xmlns:p14="http://schemas.microsoft.com/office/powerpoint/2010/main" val="1543097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B4C15F-AEF1-B842-75CD-32C491222E8F}"/>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4009D543-6FF1-28F2-2AE8-D2E8CB8366C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EA331017-7E37-B3E7-23A4-5616D6C86505}"/>
              </a:ext>
            </a:extLst>
          </p:cNvPr>
          <p:cNvSpPr>
            <a:spLocks noGrp="1"/>
          </p:cNvSpPr>
          <p:nvPr>
            <p:ph type="dt" sz="half" idx="10"/>
          </p:nvPr>
        </p:nvSpPr>
        <p:spPr/>
        <p:txBody>
          <a:bodyPr/>
          <a:lstStyle/>
          <a:p>
            <a:fld id="{42FE2B4B-B721-4ABF-97EB-D721FA19D007}" type="datetimeFigureOut">
              <a:rPr lang="en-GB" smtClean="0"/>
              <a:t>24/09/2026</a:t>
            </a:fld>
            <a:endParaRPr lang="en-GB"/>
          </a:p>
        </p:txBody>
      </p:sp>
      <p:sp>
        <p:nvSpPr>
          <p:cNvPr id="5" name="Footer Placeholder 4">
            <a:extLst>
              <a:ext uri="{FF2B5EF4-FFF2-40B4-BE49-F238E27FC236}">
                <a16:creationId xmlns:a16="http://schemas.microsoft.com/office/drawing/2014/main" id="{65F98FD8-B831-44B2-E9A3-49ACF5D0300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9465E23-6439-591D-DC49-4326F0BD00B0}"/>
              </a:ext>
            </a:extLst>
          </p:cNvPr>
          <p:cNvSpPr>
            <a:spLocks noGrp="1"/>
          </p:cNvSpPr>
          <p:nvPr>
            <p:ph type="sldNum" sz="quarter" idx="12"/>
          </p:nvPr>
        </p:nvSpPr>
        <p:spPr/>
        <p:txBody>
          <a:bodyPr/>
          <a:lstStyle/>
          <a:p>
            <a:fld id="{22B1CA6A-6CA3-4D49-9C41-234C66781C3C}" type="slidenum">
              <a:rPr lang="en-GB" smtClean="0"/>
              <a:t>‹#›</a:t>
            </a:fld>
            <a:endParaRPr lang="en-GB"/>
          </a:p>
        </p:txBody>
      </p:sp>
    </p:spTree>
    <p:extLst>
      <p:ext uri="{BB962C8B-B14F-4D97-AF65-F5344CB8AC3E}">
        <p14:creationId xmlns:p14="http://schemas.microsoft.com/office/powerpoint/2010/main" val="9560301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F21694-32CC-5826-6846-A2E3D73FC8B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DF040BC1-4D40-83B5-EDC8-C4B5D31CB45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1C7B599-DFBB-8AF0-5455-0D649C7B38BE}"/>
              </a:ext>
            </a:extLst>
          </p:cNvPr>
          <p:cNvSpPr>
            <a:spLocks noGrp="1"/>
          </p:cNvSpPr>
          <p:nvPr>
            <p:ph type="dt" sz="half" idx="10"/>
          </p:nvPr>
        </p:nvSpPr>
        <p:spPr/>
        <p:txBody>
          <a:bodyPr/>
          <a:lstStyle/>
          <a:p>
            <a:fld id="{42FE2B4B-B721-4ABF-97EB-D721FA19D007}" type="datetimeFigureOut">
              <a:rPr lang="en-GB" smtClean="0"/>
              <a:t>24/09/2026</a:t>
            </a:fld>
            <a:endParaRPr lang="en-GB"/>
          </a:p>
        </p:txBody>
      </p:sp>
      <p:sp>
        <p:nvSpPr>
          <p:cNvPr id="5" name="Footer Placeholder 4">
            <a:extLst>
              <a:ext uri="{FF2B5EF4-FFF2-40B4-BE49-F238E27FC236}">
                <a16:creationId xmlns:a16="http://schemas.microsoft.com/office/drawing/2014/main" id="{AC102972-7023-D813-5D7F-B83CA08DBA0F}"/>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89B4B19-8B4B-97E3-1D40-CC444B1357B5}"/>
              </a:ext>
            </a:extLst>
          </p:cNvPr>
          <p:cNvSpPr>
            <a:spLocks noGrp="1"/>
          </p:cNvSpPr>
          <p:nvPr>
            <p:ph type="sldNum" sz="quarter" idx="12"/>
          </p:nvPr>
        </p:nvSpPr>
        <p:spPr/>
        <p:txBody>
          <a:bodyPr/>
          <a:lstStyle/>
          <a:p>
            <a:fld id="{22B1CA6A-6CA3-4D49-9C41-234C66781C3C}" type="slidenum">
              <a:rPr lang="en-GB" smtClean="0"/>
              <a:t>‹#›</a:t>
            </a:fld>
            <a:endParaRPr lang="en-GB"/>
          </a:p>
        </p:txBody>
      </p:sp>
    </p:spTree>
    <p:extLst>
      <p:ext uri="{BB962C8B-B14F-4D97-AF65-F5344CB8AC3E}">
        <p14:creationId xmlns:p14="http://schemas.microsoft.com/office/powerpoint/2010/main" val="24713647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5A73C7-8EB2-B985-660A-60554BF03E21}"/>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0D18452-3126-75BF-9C1A-AA71F10F024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424AF474-4BA0-8789-D504-074B6857B34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3237391D-27D1-E095-4FFB-DB67CC09832B}"/>
              </a:ext>
            </a:extLst>
          </p:cNvPr>
          <p:cNvSpPr>
            <a:spLocks noGrp="1"/>
          </p:cNvSpPr>
          <p:nvPr>
            <p:ph type="dt" sz="half" idx="10"/>
          </p:nvPr>
        </p:nvSpPr>
        <p:spPr/>
        <p:txBody>
          <a:bodyPr/>
          <a:lstStyle/>
          <a:p>
            <a:fld id="{42FE2B4B-B721-4ABF-97EB-D721FA19D007}" type="datetimeFigureOut">
              <a:rPr lang="en-GB" smtClean="0"/>
              <a:t>24/09/2026</a:t>
            </a:fld>
            <a:endParaRPr lang="en-GB"/>
          </a:p>
        </p:txBody>
      </p:sp>
      <p:sp>
        <p:nvSpPr>
          <p:cNvPr id="6" name="Footer Placeholder 5">
            <a:extLst>
              <a:ext uri="{FF2B5EF4-FFF2-40B4-BE49-F238E27FC236}">
                <a16:creationId xmlns:a16="http://schemas.microsoft.com/office/drawing/2014/main" id="{01801113-A534-31C7-F40A-9AD305B4BAA1}"/>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E3AD87CC-708C-B636-A9E2-ACFE27AB3E47}"/>
              </a:ext>
            </a:extLst>
          </p:cNvPr>
          <p:cNvSpPr>
            <a:spLocks noGrp="1"/>
          </p:cNvSpPr>
          <p:nvPr>
            <p:ph type="sldNum" sz="quarter" idx="12"/>
          </p:nvPr>
        </p:nvSpPr>
        <p:spPr/>
        <p:txBody>
          <a:bodyPr/>
          <a:lstStyle/>
          <a:p>
            <a:fld id="{22B1CA6A-6CA3-4D49-9C41-234C66781C3C}" type="slidenum">
              <a:rPr lang="en-GB" smtClean="0"/>
              <a:t>‹#›</a:t>
            </a:fld>
            <a:endParaRPr lang="en-GB"/>
          </a:p>
        </p:txBody>
      </p:sp>
    </p:spTree>
    <p:extLst>
      <p:ext uri="{BB962C8B-B14F-4D97-AF65-F5344CB8AC3E}">
        <p14:creationId xmlns:p14="http://schemas.microsoft.com/office/powerpoint/2010/main" val="25628141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C5F08D-7765-24FA-0471-7085E37E57E3}"/>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4E2A2D75-2A67-A81C-78D8-821CFFCDEE4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D933C54-525C-6227-A02A-50989AA3F78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DDC3648E-67C8-A129-2734-3EEA56EF9A9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1FA7BFE-DD20-5F60-6D2D-4B0D9C8D2A0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1AEAFA52-970A-9FD4-C2BA-0F22459F838E}"/>
              </a:ext>
            </a:extLst>
          </p:cNvPr>
          <p:cNvSpPr>
            <a:spLocks noGrp="1"/>
          </p:cNvSpPr>
          <p:nvPr>
            <p:ph type="dt" sz="half" idx="10"/>
          </p:nvPr>
        </p:nvSpPr>
        <p:spPr/>
        <p:txBody>
          <a:bodyPr/>
          <a:lstStyle/>
          <a:p>
            <a:fld id="{42FE2B4B-B721-4ABF-97EB-D721FA19D007}" type="datetimeFigureOut">
              <a:rPr lang="en-GB" smtClean="0"/>
              <a:t>24/09/2026</a:t>
            </a:fld>
            <a:endParaRPr lang="en-GB"/>
          </a:p>
        </p:txBody>
      </p:sp>
      <p:sp>
        <p:nvSpPr>
          <p:cNvPr id="8" name="Footer Placeholder 7">
            <a:extLst>
              <a:ext uri="{FF2B5EF4-FFF2-40B4-BE49-F238E27FC236}">
                <a16:creationId xmlns:a16="http://schemas.microsoft.com/office/drawing/2014/main" id="{082C1CF2-0511-F25D-1BAF-9C71905DB7DF}"/>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66372A63-6055-FC59-2BBC-E367AF273D9B}"/>
              </a:ext>
            </a:extLst>
          </p:cNvPr>
          <p:cNvSpPr>
            <a:spLocks noGrp="1"/>
          </p:cNvSpPr>
          <p:nvPr>
            <p:ph type="sldNum" sz="quarter" idx="12"/>
          </p:nvPr>
        </p:nvSpPr>
        <p:spPr/>
        <p:txBody>
          <a:bodyPr/>
          <a:lstStyle/>
          <a:p>
            <a:fld id="{22B1CA6A-6CA3-4D49-9C41-234C66781C3C}" type="slidenum">
              <a:rPr lang="en-GB" smtClean="0"/>
              <a:t>‹#›</a:t>
            </a:fld>
            <a:endParaRPr lang="en-GB"/>
          </a:p>
        </p:txBody>
      </p:sp>
    </p:spTree>
    <p:extLst>
      <p:ext uri="{BB962C8B-B14F-4D97-AF65-F5344CB8AC3E}">
        <p14:creationId xmlns:p14="http://schemas.microsoft.com/office/powerpoint/2010/main" val="30581984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6D1966-0922-353E-5529-858126F40F42}"/>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AD33C294-2169-00C7-5278-9FA71D7B4F75}"/>
              </a:ext>
            </a:extLst>
          </p:cNvPr>
          <p:cNvSpPr>
            <a:spLocks noGrp="1"/>
          </p:cNvSpPr>
          <p:nvPr>
            <p:ph type="dt" sz="half" idx="10"/>
          </p:nvPr>
        </p:nvSpPr>
        <p:spPr/>
        <p:txBody>
          <a:bodyPr/>
          <a:lstStyle/>
          <a:p>
            <a:fld id="{42FE2B4B-B721-4ABF-97EB-D721FA19D007}" type="datetimeFigureOut">
              <a:rPr lang="en-GB" smtClean="0"/>
              <a:t>24/09/2026</a:t>
            </a:fld>
            <a:endParaRPr lang="en-GB"/>
          </a:p>
        </p:txBody>
      </p:sp>
      <p:sp>
        <p:nvSpPr>
          <p:cNvPr id="4" name="Footer Placeholder 3">
            <a:extLst>
              <a:ext uri="{FF2B5EF4-FFF2-40B4-BE49-F238E27FC236}">
                <a16:creationId xmlns:a16="http://schemas.microsoft.com/office/drawing/2014/main" id="{79286D65-A788-A94D-FC90-59C3B2A7E193}"/>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5F41ABF0-D38F-80CF-FDDC-1AAA1BF61C62}"/>
              </a:ext>
            </a:extLst>
          </p:cNvPr>
          <p:cNvSpPr>
            <a:spLocks noGrp="1"/>
          </p:cNvSpPr>
          <p:nvPr>
            <p:ph type="sldNum" sz="quarter" idx="12"/>
          </p:nvPr>
        </p:nvSpPr>
        <p:spPr/>
        <p:txBody>
          <a:bodyPr/>
          <a:lstStyle/>
          <a:p>
            <a:fld id="{22B1CA6A-6CA3-4D49-9C41-234C66781C3C}" type="slidenum">
              <a:rPr lang="en-GB" smtClean="0"/>
              <a:t>‹#›</a:t>
            </a:fld>
            <a:endParaRPr lang="en-GB"/>
          </a:p>
        </p:txBody>
      </p:sp>
    </p:spTree>
    <p:extLst>
      <p:ext uri="{BB962C8B-B14F-4D97-AF65-F5344CB8AC3E}">
        <p14:creationId xmlns:p14="http://schemas.microsoft.com/office/powerpoint/2010/main" val="19014446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96C0BE4-B19E-95F3-C5D5-40B6C1562BC6}"/>
              </a:ext>
            </a:extLst>
          </p:cNvPr>
          <p:cNvSpPr>
            <a:spLocks noGrp="1"/>
          </p:cNvSpPr>
          <p:nvPr>
            <p:ph type="dt" sz="half" idx="10"/>
          </p:nvPr>
        </p:nvSpPr>
        <p:spPr/>
        <p:txBody>
          <a:bodyPr/>
          <a:lstStyle/>
          <a:p>
            <a:fld id="{42FE2B4B-B721-4ABF-97EB-D721FA19D007}" type="datetimeFigureOut">
              <a:rPr lang="en-GB" smtClean="0"/>
              <a:t>24/09/2026</a:t>
            </a:fld>
            <a:endParaRPr lang="en-GB"/>
          </a:p>
        </p:txBody>
      </p:sp>
      <p:sp>
        <p:nvSpPr>
          <p:cNvPr id="3" name="Footer Placeholder 2">
            <a:extLst>
              <a:ext uri="{FF2B5EF4-FFF2-40B4-BE49-F238E27FC236}">
                <a16:creationId xmlns:a16="http://schemas.microsoft.com/office/drawing/2014/main" id="{9242E661-6D7F-A988-7B61-C65F725661C4}"/>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E33A99AB-60EF-0A99-C704-6ECEDEACEC97}"/>
              </a:ext>
            </a:extLst>
          </p:cNvPr>
          <p:cNvSpPr>
            <a:spLocks noGrp="1"/>
          </p:cNvSpPr>
          <p:nvPr>
            <p:ph type="sldNum" sz="quarter" idx="12"/>
          </p:nvPr>
        </p:nvSpPr>
        <p:spPr/>
        <p:txBody>
          <a:bodyPr/>
          <a:lstStyle/>
          <a:p>
            <a:fld id="{22B1CA6A-6CA3-4D49-9C41-234C66781C3C}" type="slidenum">
              <a:rPr lang="en-GB" smtClean="0"/>
              <a:t>‹#›</a:t>
            </a:fld>
            <a:endParaRPr lang="en-GB"/>
          </a:p>
        </p:txBody>
      </p:sp>
    </p:spTree>
    <p:extLst>
      <p:ext uri="{BB962C8B-B14F-4D97-AF65-F5344CB8AC3E}">
        <p14:creationId xmlns:p14="http://schemas.microsoft.com/office/powerpoint/2010/main" val="26889179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087D64-D563-B428-21F6-C3AFED344EB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656A3D6F-EB3F-EAD6-494E-08FB42AEF0E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D600B3F4-6C33-72A8-73C4-EAAFB59A0F1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1B3C600-0EA4-E1C7-9265-C00CAB5A063D}"/>
              </a:ext>
            </a:extLst>
          </p:cNvPr>
          <p:cNvSpPr>
            <a:spLocks noGrp="1"/>
          </p:cNvSpPr>
          <p:nvPr>
            <p:ph type="dt" sz="half" idx="10"/>
          </p:nvPr>
        </p:nvSpPr>
        <p:spPr/>
        <p:txBody>
          <a:bodyPr/>
          <a:lstStyle/>
          <a:p>
            <a:fld id="{42FE2B4B-B721-4ABF-97EB-D721FA19D007}" type="datetimeFigureOut">
              <a:rPr lang="en-GB" smtClean="0"/>
              <a:t>24/09/2026</a:t>
            </a:fld>
            <a:endParaRPr lang="en-GB"/>
          </a:p>
        </p:txBody>
      </p:sp>
      <p:sp>
        <p:nvSpPr>
          <p:cNvPr id="6" name="Footer Placeholder 5">
            <a:extLst>
              <a:ext uri="{FF2B5EF4-FFF2-40B4-BE49-F238E27FC236}">
                <a16:creationId xmlns:a16="http://schemas.microsoft.com/office/drawing/2014/main" id="{78B34603-E4CB-9F2E-FFCD-957C8A223E24}"/>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43E1BEE7-0582-0D1D-9016-DF2E499DD78E}"/>
              </a:ext>
            </a:extLst>
          </p:cNvPr>
          <p:cNvSpPr>
            <a:spLocks noGrp="1"/>
          </p:cNvSpPr>
          <p:nvPr>
            <p:ph type="sldNum" sz="quarter" idx="12"/>
          </p:nvPr>
        </p:nvSpPr>
        <p:spPr/>
        <p:txBody>
          <a:bodyPr/>
          <a:lstStyle/>
          <a:p>
            <a:fld id="{22B1CA6A-6CA3-4D49-9C41-234C66781C3C}" type="slidenum">
              <a:rPr lang="en-GB" smtClean="0"/>
              <a:t>‹#›</a:t>
            </a:fld>
            <a:endParaRPr lang="en-GB"/>
          </a:p>
        </p:txBody>
      </p:sp>
    </p:spTree>
    <p:extLst>
      <p:ext uri="{BB962C8B-B14F-4D97-AF65-F5344CB8AC3E}">
        <p14:creationId xmlns:p14="http://schemas.microsoft.com/office/powerpoint/2010/main" val="4070027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09AD2F-C1DA-C4C7-BD14-179AA96B061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F1F4CCB0-E6A8-E9B9-80E2-05DA3175CB0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33820AAA-D4AB-EB8C-109D-AE83BC50FF6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C104E3A-AEBD-F49D-B088-4016096A4D73}"/>
              </a:ext>
            </a:extLst>
          </p:cNvPr>
          <p:cNvSpPr>
            <a:spLocks noGrp="1"/>
          </p:cNvSpPr>
          <p:nvPr>
            <p:ph type="dt" sz="half" idx="10"/>
          </p:nvPr>
        </p:nvSpPr>
        <p:spPr/>
        <p:txBody>
          <a:bodyPr/>
          <a:lstStyle/>
          <a:p>
            <a:fld id="{42FE2B4B-B721-4ABF-97EB-D721FA19D007}" type="datetimeFigureOut">
              <a:rPr lang="en-GB" smtClean="0"/>
              <a:t>24/09/2026</a:t>
            </a:fld>
            <a:endParaRPr lang="en-GB"/>
          </a:p>
        </p:txBody>
      </p:sp>
      <p:sp>
        <p:nvSpPr>
          <p:cNvPr id="6" name="Footer Placeholder 5">
            <a:extLst>
              <a:ext uri="{FF2B5EF4-FFF2-40B4-BE49-F238E27FC236}">
                <a16:creationId xmlns:a16="http://schemas.microsoft.com/office/drawing/2014/main" id="{20365101-6335-FF65-EE09-5A15696D6E72}"/>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25639C90-C956-4D58-5310-8D4DC847DB50}"/>
              </a:ext>
            </a:extLst>
          </p:cNvPr>
          <p:cNvSpPr>
            <a:spLocks noGrp="1"/>
          </p:cNvSpPr>
          <p:nvPr>
            <p:ph type="sldNum" sz="quarter" idx="12"/>
          </p:nvPr>
        </p:nvSpPr>
        <p:spPr/>
        <p:txBody>
          <a:bodyPr/>
          <a:lstStyle/>
          <a:p>
            <a:fld id="{22B1CA6A-6CA3-4D49-9C41-234C66781C3C}" type="slidenum">
              <a:rPr lang="en-GB" smtClean="0"/>
              <a:t>‹#›</a:t>
            </a:fld>
            <a:endParaRPr lang="en-GB"/>
          </a:p>
        </p:txBody>
      </p:sp>
    </p:spTree>
    <p:extLst>
      <p:ext uri="{BB962C8B-B14F-4D97-AF65-F5344CB8AC3E}">
        <p14:creationId xmlns:p14="http://schemas.microsoft.com/office/powerpoint/2010/main" val="16817304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9D6F1E-5B13-C66F-E0C4-5CC805F57D89}"/>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91F21FCA-D568-93FC-0426-CFA8AA2100F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621603E2-8609-7A9D-FF67-EBF64B86A1A7}"/>
              </a:ext>
            </a:extLst>
          </p:cNvPr>
          <p:cNvSpPr>
            <a:spLocks noGrp="1"/>
          </p:cNvSpPr>
          <p:nvPr>
            <p:ph type="dt" sz="half" idx="10"/>
          </p:nvPr>
        </p:nvSpPr>
        <p:spPr/>
        <p:txBody>
          <a:bodyPr/>
          <a:lstStyle/>
          <a:p>
            <a:fld id="{42FE2B4B-B721-4ABF-97EB-D721FA19D007}" type="datetimeFigureOut">
              <a:rPr lang="en-GB" smtClean="0"/>
              <a:t>24/09/2026</a:t>
            </a:fld>
            <a:endParaRPr lang="en-GB"/>
          </a:p>
        </p:txBody>
      </p:sp>
      <p:sp>
        <p:nvSpPr>
          <p:cNvPr id="5" name="Footer Placeholder 4">
            <a:extLst>
              <a:ext uri="{FF2B5EF4-FFF2-40B4-BE49-F238E27FC236}">
                <a16:creationId xmlns:a16="http://schemas.microsoft.com/office/drawing/2014/main" id="{6BE9CE21-F591-3D2F-008C-C2F3E15D6BF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FD7D6EB1-9BE6-5744-F370-38F77EA3B2D0}"/>
              </a:ext>
            </a:extLst>
          </p:cNvPr>
          <p:cNvSpPr>
            <a:spLocks noGrp="1"/>
          </p:cNvSpPr>
          <p:nvPr>
            <p:ph type="sldNum" sz="quarter" idx="12"/>
          </p:nvPr>
        </p:nvSpPr>
        <p:spPr/>
        <p:txBody>
          <a:bodyPr/>
          <a:lstStyle/>
          <a:p>
            <a:fld id="{22B1CA6A-6CA3-4D49-9C41-234C66781C3C}" type="slidenum">
              <a:rPr lang="en-GB" smtClean="0"/>
              <a:t>‹#›</a:t>
            </a:fld>
            <a:endParaRPr lang="en-GB"/>
          </a:p>
        </p:txBody>
      </p:sp>
    </p:spTree>
    <p:extLst>
      <p:ext uri="{BB962C8B-B14F-4D97-AF65-F5344CB8AC3E}">
        <p14:creationId xmlns:p14="http://schemas.microsoft.com/office/powerpoint/2010/main" val="1265437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3BA496E-2C42-E473-8B19-D9878F89E9D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212C640E-A676-BB5F-89E9-C61D3D54ECB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305E1D49-6979-2F86-6C4E-D1473613D02C}"/>
              </a:ext>
            </a:extLst>
          </p:cNvPr>
          <p:cNvSpPr>
            <a:spLocks noGrp="1"/>
          </p:cNvSpPr>
          <p:nvPr>
            <p:ph type="dt" sz="half" idx="10"/>
          </p:nvPr>
        </p:nvSpPr>
        <p:spPr/>
        <p:txBody>
          <a:bodyPr/>
          <a:lstStyle/>
          <a:p>
            <a:fld id="{42FE2B4B-B721-4ABF-97EB-D721FA19D007}" type="datetimeFigureOut">
              <a:rPr lang="en-GB" smtClean="0"/>
              <a:t>24/09/2026</a:t>
            </a:fld>
            <a:endParaRPr lang="en-GB"/>
          </a:p>
        </p:txBody>
      </p:sp>
      <p:sp>
        <p:nvSpPr>
          <p:cNvPr id="5" name="Footer Placeholder 4">
            <a:extLst>
              <a:ext uri="{FF2B5EF4-FFF2-40B4-BE49-F238E27FC236}">
                <a16:creationId xmlns:a16="http://schemas.microsoft.com/office/drawing/2014/main" id="{CB53A7DB-257D-4AC0-45E3-4E8B813B247D}"/>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CFCCF38-AB71-5AB0-79D5-9DCD211B6398}"/>
              </a:ext>
            </a:extLst>
          </p:cNvPr>
          <p:cNvSpPr>
            <a:spLocks noGrp="1"/>
          </p:cNvSpPr>
          <p:nvPr>
            <p:ph type="sldNum" sz="quarter" idx="12"/>
          </p:nvPr>
        </p:nvSpPr>
        <p:spPr/>
        <p:txBody>
          <a:bodyPr/>
          <a:lstStyle/>
          <a:p>
            <a:fld id="{22B1CA6A-6CA3-4D49-9C41-234C66781C3C}" type="slidenum">
              <a:rPr lang="en-GB" smtClean="0"/>
              <a:t>‹#›</a:t>
            </a:fld>
            <a:endParaRPr lang="en-GB"/>
          </a:p>
        </p:txBody>
      </p:sp>
    </p:spTree>
    <p:extLst>
      <p:ext uri="{BB962C8B-B14F-4D97-AF65-F5344CB8AC3E}">
        <p14:creationId xmlns:p14="http://schemas.microsoft.com/office/powerpoint/2010/main" val="308330810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Vevox basic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872F2E-3F20-0DC0-CFA3-D11D49B01C69}"/>
              </a:ext>
            </a:extLst>
          </p:cNvPr>
          <p:cNvSpPr>
            <a:spLocks noGrp="1"/>
          </p:cNvSpPr>
          <p:nvPr>
            <p:ph type="title"/>
          </p:nvPr>
        </p:nvSpPr>
        <p:spPr/>
        <p:txBody>
          <a:bodyPr/>
          <a:lstStyle/>
          <a:p>
            <a:r>
              <a:rPr lang="en-US"/>
              <a:t>Click to edit Master title style</a:t>
            </a:r>
            <a:endParaRPr lang="en-FI"/>
          </a:p>
        </p:txBody>
      </p:sp>
      <p:sp>
        <p:nvSpPr>
          <p:cNvPr id="3" name="Date Placeholder 2">
            <a:extLst>
              <a:ext uri="{FF2B5EF4-FFF2-40B4-BE49-F238E27FC236}">
                <a16:creationId xmlns:a16="http://schemas.microsoft.com/office/drawing/2014/main" id="{33DD3D74-F972-E096-E828-44B6C11A314C}"/>
              </a:ext>
            </a:extLst>
          </p:cNvPr>
          <p:cNvSpPr>
            <a:spLocks noGrp="1"/>
          </p:cNvSpPr>
          <p:nvPr>
            <p:ph type="dt" sz="half" idx="10"/>
          </p:nvPr>
        </p:nvSpPr>
        <p:spPr/>
        <p:txBody>
          <a:bodyPr/>
          <a:lstStyle/>
          <a:p>
            <a:fld id="{1663657D-8E22-4681-BD7E-16E8F6F56673}" type="datetimeFigureOut">
              <a:rPr lang="en-FI" smtClean="0"/>
              <a:t>09/24/2026</a:t>
            </a:fld>
            <a:endParaRPr lang="en-FI"/>
          </a:p>
        </p:txBody>
      </p:sp>
      <p:sp>
        <p:nvSpPr>
          <p:cNvPr id="4" name="Footer Placeholder 3">
            <a:extLst>
              <a:ext uri="{FF2B5EF4-FFF2-40B4-BE49-F238E27FC236}">
                <a16:creationId xmlns:a16="http://schemas.microsoft.com/office/drawing/2014/main" id="{03087A18-8950-3A86-D6FB-14BF0F08BA1C}"/>
              </a:ext>
            </a:extLst>
          </p:cNvPr>
          <p:cNvSpPr>
            <a:spLocks noGrp="1"/>
          </p:cNvSpPr>
          <p:nvPr>
            <p:ph type="ftr" sz="quarter" idx="11"/>
          </p:nvPr>
        </p:nvSpPr>
        <p:spPr/>
        <p:txBody>
          <a:bodyPr/>
          <a:lstStyle/>
          <a:p>
            <a:endParaRPr lang="en-FI"/>
          </a:p>
        </p:txBody>
      </p:sp>
      <p:sp>
        <p:nvSpPr>
          <p:cNvPr id="5" name="Slide Number Placeholder 4">
            <a:extLst>
              <a:ext uri="{FF2B5EF4-FFF2-40B4-BE49-F238E27FC236}">
                <a16:creationId xmlns:a16="http://schemas.microsoft.com/office/drawing/2014/main" id="{AED9F6BC-1B26-1DC3-0C4B-4C12F07C71C1}"/>
              </a:ext>
            </a:extLst>
          </p:cNvPr>
          <p:cNvSpPr>
            <a:spLocks noGrp="1"/>
          </p:cNvSpPr>
          <p:nvPr>
            <p:ph type="sldNum" sz="quarter" idx="12"/>
          </p:nvPr>
        </p:nvSpPr>
        <p:spPr/>
        <p:txBody>
          <a:bodyPr/>
          <a:lstStyle/>
          <a:p>
            <a:fld id="{9D4AD3D6-B89C-4D82-B254-B84B3D342745}" type="slidenum">
              <a:rPr lang="en-FI" smtClean="0"/>
              <a:t>‹#›</a:t>
            </a:fld>
            <a:endParaRPr lang="en-FI"/>
          </a:p>
        </p:txBody>
      </p:sp>
      <p:sp>
        <p:nvSpPr>
          <p:cNvPr id="7" name="Content Placeholder 6">
            <a:extLst>
              <a:ext uri="{FF2B5EF4-FFF2-40B4-BE49-F238E27FC236}">
                <a16:creationId xmlns:a16="http://schemas.microsoft.com/office/drawing/2014/main" id="{1CADAFE8-3608-FDE7-C3ED-12BD6811F72B}"/>
              </a:ext>
            </a:extLst>
          </p:cNvPr>
          <p:cNvSpPr>
            <a:spLocks noGrp="1"/>
          </p:cNvSpPr>
          <p:nvPr>
            <p:ph sz="quarter" idx="13"/>
          </p:nvPr>
        </p:nvSpPr>
        <p:spPr>
          <a:xfrm>
            <a:off x="838200" y="1798320"/>
            <a:ext cx="10515600" cy="4429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FI"/>
          </a:p>
        </p:txBody>
      </p:sp>
    </p:spTree>
    <p:extLst>
      <p:ext uri="{BB962C8B-B14F-4D97-AF65-F5344CB8AC3E}">
        <p14:creationId xmlns:p14="http://schemas.microsoft.com/office/powerpoint/2010/main" val="38608450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665682A-CA03-3345-8F0F-A91B178FC35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33F6EEE7-7AE7-CB01-1F9D-4EB2A59634C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6337C5D1-8393-AABC-5EF7-BD22DB92521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2FE2B4B-B721-4ABF-97EB-D721FA19D007}" type="datetimeFigureOut">
              <a:rPr lang="en-GB" smtClean="0"/>
              <a:t>24/09/2026</a:t>
            </a:fld>
            <a:endParaRPr lang="en-GB"/>
          </a:p>
        </p:txBody>
      </p:sp>
      <p:sp>
        <p:nvSpPr>
          <p:cNvPr id="5" name="Footer Placeholder 4">
            <a:extLst>
              <a:ext uri="{FF2B5EF4-FFF2-40B4-BE49-F238E27FC236}">
                <a16:creationId xmlns:a16="http://schemas.microsoft.com/office/drawing/2014/main" id="{492000F0-1D8B-EF7D-C654-92E192A4160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34FA16C4-DF90-CD03-3AE2-27EDA8C0D3F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2B1CA6A-6CA3-4D49-9C41-234C66781C3C}" type="slidenum">
              <a:rPr lang="en-GB" smtClean="0"/>
              <a:t>‹#›</a:t>
            </a:fld>
            <a:endParaRPr lang="en-GB"/>
          </a:p>
        </p:txBody>
      </p:sp>
    </p:spTree>
    <p:extLst>
      <p:ext uri="{BB962C8B-B14F-4D97-AF65-F5344CB8AC3E}">
        <p14:creationId xmlns:p14="http://schemas.microsoft.com/office/powerpoint/2010/main" val="14938805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5.gif"/><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gif"/><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image" Target="../media/image13.gif"/><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jpeg"/><Relationship Id="rId1" Type="http://schemas.openxmlformats.org/officeDocument/2006/relationships/slideLayout" Target="../slideLayouts/slideLayout2.xml"/><Relationship Id="rId4" Type="http://schemas.openxmlformats.org/officeDocument/2006/relationships/image" Target="../media/image19.jpe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656C6D-2D68-11DE-66E8-A1FA28DD7466}"/>
              </a:ext>
            </a:extLst>
          </p:cNvPr>
          <p:cNvSpPr>
            <a:spLocks noGrp="1"/>
          </p:cNvSpPr>
          <p:nvPr>
            <p:ph type="ctrTitle"/>
          </p:nvPr>
        </p:nvSpPr>
        <p:spPr>
          <a:xfrm>
            <a:off x="1524000" y="1805536"/>
            <a:ext cx="9144000" cy="2387600"/>
          </a:xfrm>
        </p:spPr>
        <p:txBody>
          <a:bodyPr>
            <a:normAutofit fontScale="90000"/>
          </a:bodyPr>
          <a:lstStyle/>
          <a:p>
            <a:r>
              <a:rPr lang="en-GB" dirty="0"/>
              <a:t>COMP1860 Building our Digital World: Computer Systems &amp; Architecture</a:t>
            </a:r>
          </a:p>
        </p:txBody>
      </p:sp>
      <p:sp>
        <p:nvSpPr>
          <p:cNvPr id="3" name="Subtitle 2">
            <a:extLst>
              <a:ext uri="{FF2B5EF4-FFF2-40B4-BE49-F238E27FC236}">
                <a16:creationId xmlns:a16="http://schemas.microsoft.com/office/drawing/2014/main" id="{35EBD5DC-6246-3D5E-FF46-AD18DA940313}"/>
              </a:ext>
            </a:extLst>
          </p:cNvPr>
          <p:cNvSpPr>
            <a:spLocks noGrp="1"/>
          </p:cNvSpPr>
          <p:nvPr>
            <p:ph type="subTitle" idx="1"/>
          </p:nvPr>
        </p:nvSpPr>
        <p:spPr>
          <a:xfrm>
            <a:off x="1524000" y="4285211"/>
            <a:ext cx="9144000" cy="1655762"/>
          </a:xfrm>
        </p:spPr>
        <p:txBody>
          <a:bodyPr>
            <a:normAutofit/>
          </a:bodyPr>
          <a:lstStyle/>
          <a:p>
            <a:r>
              <a:rPr lang="en-GB" sz="3200"/>
              <a:t>S1.W1.L1: </a:t>
            </a:r>
            <a:r>
              <a:rPr lang="en-GB" sz="3200" dirty="0"/>
              <a:t>Computer Architecture &amp; History </a:t>
            </a:r>
            <a:r>
              <a:rPr lang="en-GB" sz="3200"/>
              <a:t>of Computing</a:t>
            </a:r>
            <a:endParaRPr lang="en-GB" sz="3200" dirty="0"/>
          </a:p>
          <a:p>
            <a:r>
              <a:rPr lang="en-GB" sz="3200" dirty="0"/>
              <a:t>Dr James Dyer</a:t>
            </a:r>
          </a:p>
        </p:txBody>
      </p:sp>
    </p:spTree>
    <p:extLst>
      <p:ext uri="{BB962C8B-B14F-4D97-AF65-F5344CB8AC3E}">
        <p14:creationId xmlns:p14="http://schemas.microsoft.com/office/powerpoint/2010/main" val="18906507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B3EC47-7FD1-0F50-8022-CA09332B5CA2}"/>
              </a:ext>
            </a:extLst>
          </p:cNvPr>
          <p:cNvSpPr>
            <a:spLocks noGrp="1"/>
          </p:cNvSpPr>
          <p:nvPr>
            <p:ph type="title"/>
          </p:nvPr>
        </p:nvSpPr>
        <p:spPr/>
        <p:txBody>
          <a:bodyPr/>
          <a:lstStyle/>
          <a:p>
            <a:r>
              <a:rPr lang="en-GB" dirty="0"/>
              <a:t>Learning Outcomes</a:t>
            </a:r>
          </a:p>
        </p:txBody>
      </p:sp>
      <p:sp>
        <p:nvSpPr>
          <p:cNvPr id="3" name="Content Placeholder 2">
            <a:extLst>
              <a:ext uri="{FF2B5EF4-FFF2-40B4-BE49-F238E27FC236}">
                <a16:creationId xmlns:a16="http://schemas.microsoft.com/office/drawing/2014/main" id="{EDE3E149-1FC2-64C2-CDA2-9BBE00EC451D}"/>
              </a:ext>
            </a:extLst>
          </p:cNvPr>
          <p:cNvSpPr>
            <a:spLocks noGrp="1"/>
          </p:cNvSpPr>
          <p:nvPr>
            <p:ph idx="1"/>
          </p:nvPr>
        </p:nvSpPr>
        <p:spPr/>
        <p:txBody>
          <a:bodyPr/>
          <a:lstStyle/>
          <a:p>
            <a:pPr marL="514350" indent="-514350">
              <a:buFont typeface="+mj-lt"/>
              <a:buAutoNum type="arabicPeriod"/>
            </a:pPr>
            <a:r>
              <a:rPr lang="en-GB" dirty="0"/>
              <a:t>Recognise the contributions of individuals and organisations in the computing field.</a:t>
            </a:r>
          </a:p>
          <a:p>
            <a:pPr marL="514350" indent="-514350">
              <a:buFont typeface="+mj-lt"/>
              <a:buAutoNum type="arabicPeriod"/>
            </a:pPr>
            <a:r>
              <a:rPr lang="en-GB" dirty="0"/>
              <a:t>Explain trends in the history of the computing field.</a:t>
            </a:r>
          </a:p>
          <a:p>
            <a:pPr marL="514350" indent="-514350">
              <a:buFont typeface="+mj-lt"/>
              <a:buAutoNum type="arabicPeriod"/>
            </a:pPr>
            <a:r>
              <a:rPr lang="en-GB" dirty="0"/>
              <a:t>Describe the basic building blocks of computers and their role in the historical development of computer architecture.</a:t>
            </a:r>
          </a:p>
        </p:txBody>
      </p:sp>
    </p:spTree>
    <p:extLst>
      <p:ext uri="{BB962C8B-B14F-4D97-AF65-F5344CB8AC3E}">
        <p14:creationId xmlns:p14="http://schemas.microsoft.com/office/powerpoint/2010/main" val="25342205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8734BF-5B5E-A2B5-5CB6-8B82589E2A20}"/>
              </a:ext>
            </a:extLst>
          </p:cNvPr>
          <p:cNvSpPr>
            <a:spLocks noGrp="1"/>
          </p:cNvSpPr>
          <p:nvPr>
            <p:ph type="title"/>
          </p:nvPr>
        </p:nvSpPr>
        <p:spPr/>
        <p:txBody>
          <a:bodyPr/>
          <a:lstStyle/>
          <a:p>
            <a:r>
              <a:rPr lang="en-GB" dirty="0"/>
              <a:t>Text Book</a:t>
            </a:r>
          </a:p>
        </p:txBody>
      </p:sp>
      <p:sp>
        <p:nvSpPr>
          <p:cNvPr id="3" name="Content Placeholder 2">
            <a:extLst>
              <a:ext uri="{FF2B5EF4-FFF2-40B4-BE49-F238E27FC236}">
                <a16:creationId xmlns:a16="http://schemas.microsoft.com/office/drawing/2014/main" id="{3ED8A4FA-D8C2-4296-96C7-6E814E00B44A}"/>
              </a:ext>
            </a:extLst>
          </p:cNvPr>
          <p:cNvSpPr>
            <a:spLocks noGrp="1"/>
          </p:cNvSpPr>
          <p:nvPr>
            <p:ph idx="1"/>
          </p:nvPr>
        </p:nvSpPr>
        <p:spPr/>
        <p:txBody>
          <a:bodyPr/>
          <a:lstStyle/>
          <a:p>
            <a:r>
              <a:rPr lang="en-GB" dirty="0"/>
              <a:t>This lecture is based on chapter 1 of </a:t>
            </a:r>
            <a:r>
              <a:rPr lang="en-US" sz="2800" b="1" dirty="0"/>
              <a:t>Stallings. </a:t>
            </a:r>
            <a:r>
              <a:rPr lang="en-US" sz="2800" b="1" i="1" dirty="0"/>
              <a:t>Computer </a:t>
            </a:r>
            <a:r>
              <a:rPr lang="en-US" sz="2800" b="1" i="1" dirty="0" err="1"/>
              <a:t>Organisation</a:t>
            </a:r>
            <a:r>
              <a:rPr lang="en-US" sz="2800" b="1" i="1" dirty="0"/>
              <a:t> &amp; Architecture</a:t>
            </a:r>
            <a:endParaRPr lang="en-GB" sz="2800" b="1" i="1" dirty="0"/>
          </a:p>
          <a:p>
            <a:pPr lvl="1"/>
            <a:r>
              <a:rPr lang="en-GB" dirty="0"/>
              <a:t>It covers sections 1.1, 1.2 and 1.3 up to Transistors</a:t>
            </a:r>
          </a:p>
        </p:txBody>
      </p:sp>
    </p:spTree>
    <p:extLst>
      <p:ext uri="{BB962C8B-B14F-4D97-AF65-F5344CB8AC3E}">
        <p14:creationId xmlns:p14="http://schemas.microsoft.com/office/powerpoint/2010/main" val="4308793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E039E5-60E6-9644-9EA9-7E5D4BDE4F1F}"/>
              </a:ext>
            </a:extLst>
          </p:cNvPr>
          <p:cNvSpPr>
            <a:spLocks noGrp="1"/>
          </p:cNvSpPr>
          <p:nvPr>
            <p:ph type="title"/>
          </p:nvPr>
        </p:nvSpPr>
        <p:spPr/>
        <p:txBody>
          <a:bodyPr/>
          <a:lstStyle/>
          <a:p>
            <a:r>
              <a:rPr lang="en-GB" dirty="0"/>
              <a:t>Overview</a:t>
            </a:r>
          </a:p>
        </p:txBody>
      </p:sp>
      <p:sp>
        <p:nvSpPr>
          <p:cNvPr id="3" name="Content Placeholder 2">
            <a:extLst>
              <a:ext uri="{FF2B5EF4-FFF2-40B4-BE49-F238E27FC236}">
                <a16:creationId xmlns:a16="http://schemas.microsoft.com/office/drawing/2014/main" id="{5C8C6BCD-8AFC-72AC-DB65-346C92381CED}"/>
              </a:ext>
            </a:extLst>
          </p:cNvPr>
          <p:cNvSpPr>
            <a:spLocks noGrp="1"/>
          </p:cNvSpPr>
          <p:nvPr>
            <p:ph idx="1"/>
          </p:nvPr>
        </p:nvSpPr>
        <p:spPr/>
        <p:txBody>
          <a:bodyPr/>
          <a:lstStyle/>
          <a:p>
            <a:r>
              <a:rPr lang="en-GB" dirty="0"/>
              <a:t>Architecture &amp; Organisation</a:t>
            </a:r>
          </a:p>
          <a:p>
            <a:r>
              <a:rPr lang="en-GB" dirty="0"/>
              <a:t>Computer Structure</a:t>
            </a:r>
          </a:p>
          <a:p>
            <a:r>
              <a:rPr lang="en-GB" dirty="0"/>
              <a:t>History of Computer Hardware</a:t>
            </a:r>
          </a:p>
          <a:p>
            <a:r>
              <a:rPr lang="en-GB"/>
              <a:t>Von </a:t>
            </a:r>
            <a:r>
              <a:rPr lang="en-GB" dirty="0"/>
              <a:t>Neumann Architecture</a:t>
            </a:r>
          </a:p>
        </p:txBody>
      </p:sp>
    </p:spTree>
    <p:extLst>
      <p:ext uri="{BB962C8B-B14F-4D97-AF65-F5344CB8AC3E}">
        <p14:creationId xmlns:p14="http://schemas.microsoft.com/office/powerpoint/2010/main" val="4744971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A30FD3-4493-4921-71BC-52DB7D116744}"/>
              </a:ext>
            </a:extLst>
          </p:cNvPr>
          <p:cNvSpPr>
            <a:spLocks noGrp="1"/>
          </p:cNvSpPr>
          <p:nvPr>
            <p:ph type="title"/>
          </p:nvPr>
        </p:nvSpPr>
        <p:spPr/>
        <p:txBody>
          <a:bodyPr/>
          <a:lstStyle/>
          <a:p>
            <a:r>
              <a:rPr lang="en-GB" dirty="0"/>
              <a:t>What is a computer?</a:t>
            </a:r>
          </a:p>
        </p:txBody>
      </p:sp>
      <p:sp>
        <p:nvSpPr>
          <p:cNvPr id="3" name="Content Placeholder 2">
            <a:extLst>
              <a:ext uri="{FF2B5EF4-FFF2-40B4-BE49-F238E27FC236}">
                <a16:creationId xmlns:a16="http://schemas.microsoft.com/office/drawing/2014/main" id="{5F7FE0B9-E034-BB50-BB5C-90C68C33D5F4}"/>
              </a:ext>
            </a:extLst>
          </p:cNvPr>
          <p:cNvSpPr>
            <a:spLocks noGrp="1"/>
          </p:cNvSpPr>
          <p:nvPr>
            <p:ph idx="1"/>
          </p:nvPr>
        </p:nvSpPr>
        <p:spPr/>
        <p:txBody>
          <a:bodyPr/>
          <a:lstStyle/>
          <a:p>
            <a:r>
              <a:rPr lang="en-GB" dirty="0"/>
              <a:t>A machine which can:</a:t>
            </a:r>
          </a:p>
          <a:p>
            <a:pPr lvl="1"/>
            <a:r>
              <a:rPr lang="en-GB" dirty="0"/>
              <a:t>Automatically carry out sequences of arithmetic or logical operations</a:t>
            </a:r>
          </a:p>
          <a:p>
            <a:pPr lvl="1"/>
            <a:r>
              <a:rPr lang="en-GB" dirty="0"/>
              <a:t>Can be programmed to do so</a:t>
            </a:r>
          </a:p>
          <a:p>
            <a:endParaRPr lang="en-GB" dirty="0"/>
          </a:p>
        </p:txBody>
      </p:sp>
    </p:spTree>
    <p:extLst>
      <p:ext uri="{BB962C8B-B14F-4D97-AF65-F5344CB8AC3E}">
        <p14:creationId xmlns:p14="http://schemas.microsoft.com/office/powerpoint/2010/main" val="41146530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EB72A03-7790-7715-6936-E4338316B4BD}"/>
              </a:ext>
            </a:extLst>
          </p:cNvPr>
          <p:cNvSpPr>
            <a:spLocks noGrp="1"/>
          </p:cNvSpPr>
          <p:nvPr>
            <p:ph type="title"/>
          </p:nvPr>
        </p:nvSpPr>
        <p:spPr/>
        <p:txBody>
          <a:bodyPr/>
          <a:lstStyle/>
          <a:p>
            <a:r>
              <a:rPr lang="en-GB" dirty="0"/>
              <a:t>Architecture &amp; Organisation</a:t>
            </a:r>
          </a:p>
        </p:txBody>
      </p:sp>
      <p:sp>
        <p:nvSpPr>
          <p:cNvPr id="5" name="Text Placeholder 4">
            <a:extLst>
              <a:ext uri="{FF2B5EF4-FFF2-40B4-BE49-F238E27FC236}">
                <a16:creationId xmlns:a16="http://schemas.microsoft.com/office/drawing/2014/main" id="{32AC7416-84B2-B3F3-12AF-94E79616DB1E}"/>
              </a:ext>
            </a:extLst>
          </p:cNvPr>
          <p:cNvSpPr>
            <a:spLocks noGrp="1"/>
          </p:cNvSpPr>
          <p:nvPr>
            <p:ph type="body" idx="1"/>
          </p:nvPr>
        </p:nvSpPr>
        <p:spPr/>
        <p:txBody>
          <a:bodyPr/>
          <a:lstStyle/>
          <a:p>
            <a:endParaRPr lang="en-GB"/>
          </a:p>
        </p:txBody>
      </p:sp>
    </p:spTree>
    <p:extLst>
      <p:ext uri="{BB962C8B-B14F-4D97-AF65-F5344CB8AC3E}">
        <p14:creationId xmlns:p14="http://schemas.microsoft.com/office/powerpoint/2010/main" val="20005629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9468445-99D6-3671-C256-FD219297D6A9}"/>
              </a:ext>
            </a:extLst>
          </p:cNvPr>
          <p:cNvSpPr>
            <a:spLocks noGrp="1"/>
          </p:cNvSpPr>
          <p:nvPr>
            <p:ph type="title"/>
          </p:nvPr>
        </p:nvSpPr>
        <p:spPr/>
        <p:txBody>
          <a:bodyPr/>
          <a:lstStyle/>
          <a:p>
            <a:r>
              <a:rPr lang="en-GB" dirty="0"/>
              <a:t>Architecture</a:t>
            </a:r>
          </a:p>
        </p:txBody>
      </p:sp>
      <p:sp>
        <p:nvSpPr>
          <p:cNvPr id="6" name="Content Placeholder 5">
            <a:extLst>
              <a:ext uri="{FF2B5EF4-FFF2-40B4-BE49-F238E27FC236}">
                <a16:creationId xmlns:a16="http://schemas.microsoft.com/office/drawing/2014/main" id="{60806EBE-8187-710A-BEEC-B3FBC995652E}"/>
              </a:ext>
            </a:extLst>
          </p:cNvPr>
          <p:cNvSpPr>
            <a:spLocks noGrp="1"/>
          </p:cNvSpPr>
          <p:nvPr>
            <p:ph idx="1"/>
          </p:nvPr>
        </p:nvSpPr>
        <p:spPr/>
        <p:txBody>
          <a:bodyPr>
            <a:normAutofit/>
          </a:bodyPr>
          <a:lstStyle/>
          <a:p>
            <a:r>
              <a:rPr lang="en-GB" dirty="0"/>
              <a:t>Architecture</a:t>
            </a:r>
          </a:p>
          <a:p>
            <a:pPr lvl="1"/>
            <a:r>
              <a:rPr lang="en-GB" b="1" dirty="0"/>
              <a:t>Logical</a:t>
            </a:r>
            <a:r>
              <a:rPr lang="en-GB" dirty="0"/>
              <a:t> </a:t>
            </a:r>
            <a:r>
              <a:rPr lang="en-GB" b="1" dirty="0"/>
              <a:t>design</a:t>
            </a:r>
            <a:r>
              <a:rPr lang="en-GB" dirty="0"/>
              <a:t> of the computer</a:t>
            </a:r>
          </a:p>
          <a:p>
            <a:pPr lvl="1"/>
            <a:r>
              <a:rPr lang="en-GB"/>
              <a:t>Defines the attributes </a:t>
            </a:r>
            <a:r>
              <a:rPr lang="en-GB" dirty="0"/>
              <a:t>of a system visible to the programmer</a:t>
            </a:r>
          </a:p>
          <a:p>
            <a:pPr lvl="2"/>
            <a:r>
              <a:rPr lang="en-GB" dirty="0"/>
              <a:t>Instruction set</a:t>
            </a:r>
          </a:p>
          <a:p>
            <a:pPr lvl="2"/>
            <a:r>
              <a:rPr lang="en-GB" dirty="0"/>
              <a:t>number of bits used to represent various data types</a:t>
            </a:r>
          </a:p>
          <a:p>
            <a:pPr lvl="2"/>
            <a:r>
              <a:rPr lang="en-GB" dirty="0"/>
              <a:t>I/O mechanisms</a:t>
            </a:r>
          </a:p>
          <a:p>
            <a:pPr lvl="2"/>
            <a:r>
              <a:rPr lang="en-GB" dirty="0"/>
              <a:t>techniques for addressing memory</a:t>
            </a:r>
          </a:p>
          <a:p>
            <a:pPr lvl="1"/>
            <a:r>
              <a:rPr lang="en-GB" dirty="0"/>
              <a:t>Have a direct impact on the logical execution of a program</a:t>
            </a:r>
          </a:p>
          <a:p>
            <a:pPr lvl="1"/>
            <a:r>
              <a:rPr lang="en-GB" dirty="0"/>
              <a:t>e.g., is there a multiply instruction?</a:t>
            </a:r>
          </a:p>
        </p:txBody>
      </p:sp>
    </p:spTree>
    <p:extLst>
      <p:ext uri="{BB962C8B-B14F-4D97-AF65-F5344CB8AC3E}">
        <p14:creationId xmlns:p14="http://schemas.microsoft.com/office/powerpoint/2010/main" val="21044421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375CA8-E18D-56B6-B8F4-FD11FBA38A21}"/>
              </a:ext>
            </a:extLst>
          </p:cNvPr>
          <p:cNvSpPr>
            <a:spLocks noGrp="1"/>
          </p:cNvSpPr>
          <p:nvPr>
            <p:ph type="title"/>
          </p:nvPr>
        </p:nvSpPr>
        <p:spPr/>
        <p:txBody>
          <a:bodyPr/>
          <a:lstStyle/>
          <a:p>
            <a:r>
              <a:rPr lang="en-GB" dirty="0"/>
              <a:t>Organisation</a:t>
            </a:r>
          </a:p>
        </p:txBody>
      </p:sp>
      <p:sp>
        <p:nvSpPr>
          <p:cNvPr id="3" name="Content Placeholder 2">
            <a:extLst>
              <a:ext uri="{FF2B5EF4-FFF2-40B4-BE49-F238E27FC236}">
                <a16:creationId xmlns:a16="http://schemas.microsoft.com/office/drawing/2014/main" id="{38DFDC3C-C983-7083-116D-CC70ABDE1CAB}"/>
              </a:ext>
            </a:extLst>
          </p:cNvPr>
          <p:cNvSpPr>
            <a:spLocks noGrp="1"/>
          </p:cNvSpPr>
          <p:nvPr>
            <p:ph idx="1"/>
          </p:nvPr>
        </p:nvSpPr>
        <p:spPr/>
        <p:txBody>
          <a:bodyPr/>
          <a:lstStyle/>
          <a:p>
            <a:r>
              <a:rPr lang="en-GB" dirty="0"/>
              <a:t>Organisation</a:t>
            </a:r>
          </a:p>
          <a:p>
            <a:pPr lvl="1"/>
            <a:r>
              <a:rPr lang="en-GB" b="1" dirty="0"/>
              <a:t>Physical</a:t>
            </a:r>
            <a:r>
              <a:rPr lang="en-GB" dirty="0"/>
              <a:t> </a:t>
            </a:r>
            <a:r>
              <a:rPr lang="en-GB" b="1" dirty="0"/>
              <a:t>implementation</a:t>
            </a:r>
            <a:r>
              <a:rPr lang="en-GB" dirty="0"/>
              <a:t> of the architecture</a:t>
            </a:r>
          </a:p>
          <a:p>
            <a:pPr lvl="1"/>
            <a:r>
              <a:rPr lang="en-GB" dirty="0"/>
              <a:t>Control signals, interfaces between the computer and peripherals, memory technology used</a:t>
            </a:r>
          </a:p>
          <a:p>
            <a:pPr lvl="1"/>
            <a:r>
              <a:rPr lang="en-GB" dirty="0"/>
              <a:t>How components are built using electronics</a:t>
            </a:r>
          </a:p>
          <a:p>
            <a:pPr lvl="1"/>
            <a:r>
              <a:rPr lang="en-GB" dirty="0"/>
              <a:t>How components are arranged and connected in a chip or on a circuit board </a:t>
            </a:r>
          </a:p>
          <a:p>
            <a:pPr lvl="1"/>
            <a:r>
              <a:rPr lang="en-GB" dirty="0"/>
              <a:t>e.g., is there a hardware multiply unit or is it done by repeated addition?</a:t>
            </a:r>
          </a:p>
          <a:p>
            <a:endParaRPr lang="en-GB" dirty="0"/>
          </a:p>
        </p:txBody>
      </p:sp>
    </p:spTree>
    <p:extLst>
      <p:ext uri="{BB962C8B-B14F-4D97-AF65-F5344CB8AC3E}">
        <p14:creationId xmlns:p14="http://schemas.microsoft.com/office/powerpoint/2010/main" val="14827354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F69AB8-3231-EBE0-FBAD-8A89BDCFC08F}"/>
              </a:ext>
            </a:extLst>
          </p:cNvPr>
          <p:cNvSpPr>
            <a:spLocks noGrp="1"/>
          </p:cNvSpPr>
          <p:nvPr>
            <p:ph type="title"/>
          </p:nvPr>
        </p:nvSpPr>
        <p:spPr/>
        <p:txBody>
          <a:bodyPr/>
          <a:lstStyle/>
          <a:p>
            <a:r>
              <a:rPr lang="en-GB" dirty="0"/>
              <a:t>Architecture &amp; Organisation</a:t>
            </a:r>
          </a:p>
        </p:txBody>
      </p:sp>
      <p:sp>
        <p:nvSpPr>
          <p:cNvPr id="3" name="Content Placeholder 2">
            <a:extLst>
              <a:ext uri="{FF2B5EF4-FFF2-40B4-BE49-F238E27FC236}">
                <a16:creationId xmlns:a16="http://schemas.microsoft.com/office/drawing/2014/main" id="{B688E56B-6737-036D-DCF0-280C6769204C}"/>
              </a:ext>
            </a:extLst>
          </p:cNvPr>
          <p:cNvSpPr>
            <a:spLocks noGrp="1"/>
          </p:cNvSpPr>
          <p:nvPr>
            <p:ph idx="1"/>
          </p:nvPr>
        </p:nvSpPr>
        <p:spPr/>
        <p:txBody>
          <a:bodyPr/>
          <a:lstStyle/>
          <a:p>
            <a:r>
              <a:rPr lang="en-GB" dirty="0"/>
              <a:t>Companies typically design families of computers which share the same basic architecture,</a:t>
            </a:r>
          </a:p>
          <a:p>
            <a:pPr lvl="1"/>
            <a:r>
              <a:rPr lang="en-GB" dirty="0"/>
              <a:t>e.g. Intel x86, ARM64</a:t>
            </a:r>
          </a:p>
          <a:p>
            <a:r>
              <a:rPr lang="en-GB" dirty="0"/>
              <a:t>This gives code compatibility.</a:t>
            </a:r>
          </a:p>
          <a:p>
            <a:pPr lvl="1"/>
            <a:r>
              <a:rPr lang="en-GB" dirty="0"/>
              <a:t>At least in a backwards sense (i.e. backwards compatibility).</a:t>
            </a:r>
          </a:p>
          <a:p>
            <a:pPr lvl="1"/>
            <a:r>
              <a:rPr lang="en-GB" dirty="0"/>
              <a:t>Organisation differs between different versions.</a:t>
            </a:r>
          </a:p>
        </p:txBody>
      </p:sp>
    </p:spTree>
    <p:extLst>
      <p:ext uri="{BB962C8B-B14F-4D97-AF65-F5344CB8AC3E}">
        <p14:creationId xmlns:p14="http://schemas.microsoft.com/office/powerpoint/2010/main" val="4862310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F6EC4F9-EC22-C379-840A-4896537EB63D}"/>
              </a:ext>
            </a:extLst>
          </p:cNvPr>
          <p:cNvSpPr>
            <a:spLocks noGrp="1"/>
          </p:cNvSpPr>
          <p:nvPr>
            <p:ph type="title"/>
          </p:nvPr>
        </p:nvSpPr>
        <p:spPr/>
        <p:txBody>
          <a:bodyPr/>
          <a:lstStyle/>
          <a:p>
            <a:r>
              <a:rPr lang="en-GB" dirty="0"/>
              <a:t>Computer Structure</a:t>
            </a:r>
          </a:p>
        </p:txBody>
      </p:sp>
      <p:sp>
        <p:nvSpPr>
          <p:cNvPr id="5" name="Text Placeholder 4">
            <a:extLst>
              <a:ext uri="{FF2B5EF4-FFF2-40B4-BE49-F238E27FC236}">
                <a16:creationId xmlns:a16="http://schemas.microsoft.com/office/drawing/2014/main" id="{D46DD5DE-4085-3416-76A3-B7EB3AD345DF}"/>
              </a:ext>
            </a:extLst>
          </p:cNvPr>
          <p:cNvSpPr>
            <a:spLocks noGrp="1"/>
          </p:cNvSpPr>
          <p:nvPr>
            <p:ph type="body" idx="1"/>
          </p:nvPr>
        </p:nvSpPr>
        <p:spPr/>
        <p:txBody>
          <a:bodyPr/>
          <a:lstStyle/>
          <a:p>
            <a:endParaRPr lang="en-GB"/>
          </a:p>
        </p:txBody>
      </p:sp>
    </p:spTree>
    <p:extLst>
      <p:ext uri="{BB962C8B-B14F-4D97-AF65-F5344CB8AC3E}">
        <p14:creationId xmlns:p14="http://schemas.microsoft.com/office/powerpoint/2010/main" val="24308082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74D16F-0F6F-3CCE-F709-FD0A7CCF12AF}"/>
              </a:ext>
            </a:extLst>
          </p:cNvPr>
          <p:cNvSpPr>
            <a:spLocks noGrp="1"/>
          </p:cNvSpPr>
          <p:nvPr>
            <p:ph type="title"/>
          </p:nvPr>
        </p:nvSpPr>
        <p:spPr/>
        <p:txBody>
          <a:bodyPr/>
          <a:lstStyle/>
          <a:p>
            <a:r>
              <a:rPr lang="en-GB" dirty="0"/>
              <a:t>Structure and Function</a:t>
            </a:r>
          </a:p>
        </p:txBody>
      </p:sp>
      <p:sp>
        <p:nvSpPr>
          <p:cNvPr id="3" name="Content Placeholder 2">
            <a:extLst>
              <a:ext uri="{FF2B5EF4-FFF2-40B4-BE49-F238E27FC236}">
                <a16:creationId xmlns:a16="http://schemas.microsoft.com/office/drawing/2014/main" id="{F8425DDA-F4B2-D487-0615-F99155CE711B}"/>
              </a:ext>
            </a:extLst>
          </p:cNvPr>
          <p:cNvSpPr>
            <a:spLocks noGrp="1"/>
          </p:cNvSpPr>
          <p:nvPr>
            <p:ph idx="1"/>
          </p:nvPr>
        </p:nvSpPr>
        <p:spPr/>
        <p:txBody>
          <a:bodyPr/>
          <a:lstStyle/>
          <a:p>
            <a:r>
              <a:rPr lang="en-GB" dirty="0"/>
              <a:t>Structure</a:t>
            </a:r>
          </a:p>
          <a:p>
            <a:pPr lvl="1"/>
            <a:r>
              <a:rPr lang="en-GB" dirty="0"/>
              <a:t>This is the way in which components relate to each other.</a:t>
            </a:r>
          </a:p>
          <a:p>
            <a:r>
              <a:rPr lang="en-GB" dirty="0"/>
              <a:t>Function</a:t>
            </a:r>
          </a:p>
          <a:p>
            <a:pPr lvl="1"/>
            <a:r>
              <a:rPr lang="en-GB" dirty="0"/>
              <a:t>This is the operation of individual components as part of the structure.</a:t>
            </a:r>
          </a:p>
        </p:txBody>
      </p:sp>
    </p:spTree>
    <p:extLst>
      <p:ext uri="{BB962C8B-B14F-4D97-AF65-F5344CB8AC3E}">
        <p14:creationId xmlns:p14="http://schemas.microsoft.com/office/powerpoint/2010/main" val="36258202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A1E833-5975-CFEE-1A92-EB43D9B7C9A4}"/>
              </a:ext>
            </a:extLst>
          </p:cNvPr>
          <p:cNvSpPr>
            <a:spLocks noGrp="1"/>
          </p:cNvSpPr>
          <p:nvPr>
            <p:ph type="title"/>
          </p:nvPr>
        </p:nvSpPr>
        <p:spPr/>
        <p:txBody>
          <a:bodyPr/>
          <a:lstStyle/>
          <a:p>
            <a:r>
              <a:rPr lang="en-GB" dirty="0"/>
              <a:t>Function</a:t>
            </a:r>
          </a:p>
        </p:txBody>
      </p:sp>
      <p:sp>
        <p:nvSpPr>
          <p:cNvPr id="3" name="Content Placeholder 2">
            <a:extLst>
              <a:ext uri="{FF2B5EF4-FFF2-40B4-BE49-F238E27FC236}">
                <a16:creationId xmlns:a16="http://schemas.microsoft.com/office/drawing/2014/main" id="{5C56991E-1153-7C08-A75E-340BFFF010B9}"/>
              </a:ext>
            </a:extLst>
          </p:cNvPr>
          <p:cNvSpPr>
            <a:spLocks noGrp="1"/>
          </p:cNvSpPr>
          <p:nvPr>
            <p:ph idx="1"/>
          </p:nvPr>
        </p:nvSpPr>
        <p:spPr/>
        <p:txBody>
          <a:bodyPr>
            <a:normAutofit/>
          </a:bodyPr>
          <a:lstStyle/>
          <a:p>
            <a:pPr marL="101600" indent="0">
              <a:buNone/>
            </a:pPr>
            <a:r>
              <a:rPr lang="en-US" dirty="0"/>
              <a:t>There are four basic functions that a computer can perform:</a:t>
            </a:r>
          </a:p>
          <a:p>
            <a:pPr marL="234950" indent="-249238"/>
            <a:r>
              <a:rPr lang="en-US" dirty="0"/>
              <a:t>Data processing</a:t>
            </a:r>
          </a:p>
          <a:p>
            <a:pPr marL="476250" lvl="1" indent="-241300"/>
            <a:r>
              <a:rPr lang="en-US" dirty="0"/>
              <a:t>Data may take a wide variety of forms, and the range of processing requirements is broad</a:t>
            </a:r>
          </a:p>
          <a:p>
            <a:pPr marL="234950" indent="-249238"/>
            <a:r>
              <a:rPr lang="en-US" dirty="0"/>
              <a:t>Data storage</a:t>
            </a:r>
          </a:p>
          <a:p>
            <a:pPr marL="476250" lvl="1" indent="-241300"/>
            <a:r>
              <a:rPr lang="en-US" dirty="0"/>
              <a:t>Short-term</a:t>
            </a:r>
          </a:p>
          <a:p>
            <a:pPr marL="476250" lvl="1" indent="-241300"/>
            <a:r>
              <a:rPr lang="en-US" dirty="0"/>
              <a:t>Long-term</a:t>
            </a:r>
          </a:p>
        </p:txBody>
      </p:sp>
    </p:spTree>
    <p:extLst>
      <p:ext uri="{BB962C8B-B14F-4D97-AF65-F5344CB8AC3E}">
        <p14:creationId xmlns:p14="http://schemas.microsoft.com/office/powerpoint/2010/main" val="24500480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786844-AFD9-7231-2088-3098F6B96005}"/>
              </a:ext>
            </a:extLst>
          </p:cNvPr>
          <p:cNvSpPr>
            <a:spLocks noGrp="1"/>
          </p:cNvSpPr>
          <p:nvPr>
            <p:ph type="title"/>
          </p:nvPr>
        </p:nvSpPr>
        <p:spPr/>
        <p:txBody>
          <a:bodyPr/>
          <a:lstStyle/>
          <a:p>
            <a:r>
              <a:rPr lang="en-GB" dirty="0"/>
              <a:t>Function</a:t>
            </a:r>
          </a:p>
        </p:txBody>
      </p:sp>
      <p:sp>
        <p:nvSpPr>
          <p:cNvPr id="3" name="Content Placeholder 2">
            <a:extLst>
              <a:ext uri="{FF2B5EF4-FFF2-40B4-BE49-F238E27FC236}">
                <a16:creationId xmlns:a16="http://schemas.microsoft.com/office/drawing/2014/main" id="{BA45F702-D967-AECF-7810-33257DAA01BA}"/>
              </a:ext>
            </a:extLst>
          </p:cNvPr>
          <p:cNvSpPr>
            <a:spLocks noGrp="1"/>
          </p:cNvSpPr>
          <p:nvPr>
            <p:ph idx="1"/>
          </p:nvPr>
        </p:nvSpPr>
        <p:spPr/>
        <p:txBody>
          <a:bodyPr/>
          <a:lstStyle/>
          <a:p>
            <a:pPr marL="234950" indent="-249238"/>
            <a:r>
              <a:rPr lang="en-US" dirty="0"/>
              <a:t>Data movement</a:t>
            </a:r>
          </a:p>
          <a:p>
            <a:pPr marL="476250" lvl="1" indent="-241300"/>
            <a:r>
              <a:rPr lang="en-US" dirty="0"/>
              <a:t>Input-output (I/O) - when data are received from or delivered to a device (peripheral) that is directly connected to the computer</a:t>
            </a:r>
          </a:p>
          <a:p>
            <a:pPr marL="476250" lvl="1" indent="-241300"/>
            <a:r>
              <a:rPr lang="en-US" dirty="0"/>
              <a:t>Data communications – when data are moved over longer distances, to or from a remote device</a:t>
            </a:r>
          </a:p>
          <a:p>
            <a:pPr marL="234950" indent="-249238"/>
            <a:r>
              <a:rPr lang="en-US" dirty="0"/>
              <a:t>Control</a:t>
            </a:r>
          </a:p>
          <a:p>
            <a:pPr marL="476250" lvl="1" indent="-241300"/>
            <a:r>
              <a:rPr lang="en-US" dirty="0"/>
              <a:t>A control unit manages the computer’s resources and orchestrates the performance of its functional parts in response to instructions</a:t>
            </a:r>
          </a:p>
          <a:p>
            <a:endParaRPr lang="en-GB" dirty="0"/>
          </a:p>
        </p:txBody>
      </p:sp>
    </p:spTree>
    <p:extLst>
      <p:ext uri="{BB962C8B-B14F-4D97-AF65-F5344CB8AC3E}">
        <p14:creationId xmlns:p14="http://schemas.microsoft.com/office/powerpoint/2010/main" val="31267954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421448-3A6F-42C8-50E6-9EFBCC8B0D80}"/>
              </a:ext>
            </a:extLst>
          </p:cNvPr>
          <p:cNvSpPr>
            <a:spLocks noGrp="1"/>
          </p:cNvSpPr>
          <p:nvPr>
            <p:ph type="title"/>
          </p:nvPr>
        </p:nvSpPr>
        <p:spPr/>
        <p:txBody>
          <a:bodyPr/>
          <a:lstStyle/>
          <a:p>
            <a:r>
              <a:rPr lang="en-GB" dirty="0"/>
              <a:t>Hierarchical Structure</a:t>
            </a:r>
          </a:p>
        </p:txBody>
      </p:sp>
      <p:sp>
        <p:nvSpPr>
          <p:cNvPr id="3" name="Content Placeholder 2">
            <a:extLst>
              <a:ext uri="{FF2B5EF4-FFF2-40B4-BE49-F238E27FC236}">
                <a16:creationId xmlns:a16="http://schemas.microsoft.com/office/drawing/2014/main" id="{C20FEB9C-5145-9074-74A1-7740763CFDFD}"/>
              </a:ext>
            </a:extLst>
          </p:cNvPr>
          <p:cNvSpPr>
            <a:spLocks noGrp="1"/>
          </p:cNvSpPr>
          <p:nvPr>
            <p:ph idx="1"/>
          </p:nvPr>
        </p:nvSpPr>
        <p:spPr/>
        <p:txBody>
          <a:bodyPr/>
          <a:lstStyle/>
          <a:p>
            <a:r>
              <a:rPr lang="en-GB" dirty="0"/>
              <a:t>A computer is a very complex system which is difficult to describe (e.g. x86 manual ∼ 5000 pages).</a:t>
            </a:r>
          </a:p>
          <a:p>
            <a:r>
              <a:rPr lang="en-GB" dirty="0"/>
              <a:t>This is simplified by considering a </a:t>
            </a:r>
            <a:r>
              <a:rPr lang="en-GB" dirty="0">
                <a:solidFill>
                  <a:srgbClr val="0070C0"/>
                </a:solidFill>
              </a:rPr>
              <a:t>hierarchical structure</a:t>
            </a:r>
            <a:r>
              <a:rPr lang="en-GB" dirty="0"/>
              <a:t>.</a:t>
            </a:r>
          </a:p>
          <a:p>
            <a:r>
              <a:rPr lang="en-GB" dirty="0"/>
              <a:t>At each level, the system consists of a set of components and their interrelationships.</a:t>
            </a:r>
          </a:p>
          <a:p>
            <a:r>
              <a:rPr lang="en-GB" dirty="0"/>
              <a:t>The behaviour at each level depends on a simplified, abstracted characterisation of the system at the next level down.</a:t>
            </a:r>
          </a:p>
        </p:txBody>
      </p:sp>
    </p:spTree>
    <p:extLst>
      <p:ext uri="{BB962C8B-B14F-4D97-AF65-F5344CB8AC3E}">
        <p14:creationId xmlns:p14="http://schemas.microsoft.com/office/powerpoint/2010/main" val="34532408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Content Placeholder 3" descr="The Computer at the top level of the hierarchy is composed of a system bus to which the Main memory, Central Processing Unit, and Input Output unit are connected. The C P U is comprised of an Internal bus to which all the other components of the C P U, the registers, the Arithmetic Logic Unit or A L U, and the Control unit are connected. The components of the C P U form the second level of the hierarchy. The control unit contains sequencing logic, control unit registers, decoders, and control memory at the third level." title="A diagram explains the hierarchical approach of the internal top-level architecture of a Computer.">
            <a:extLst>
              <a:ext uri="{FF2B5EF4-FFF2-40B4-BE49-F238E27FC236}">
                <a16:creationId xmlns:a16="http://schemas.microsoft.com/office/drawing/2014/main" id="{0582F1F2-8FE6-99AF-7295-D5A06BD3AECC}"/>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b="14423"/>
          <a:stretch/>
        </p:blipFill>
        <p:spPr>
          <a:xfrm>
            <a:off x="5809821" y="-96144"/>
            <a:ext cx="6064469" cy="6716200"/>
          </a:xfrm>
          <a:prstGeom prst="rect">
            <a:avLst/>
          </a:prstGeom>
        </p:spPr>
      </p:pic>
      <p:sp>
        <p:nvSpPr>
          <p:cNvPr id="7" name="Title 1">
            <a:extLst>
              <a:ext uri="{FF2B5EF4-FFF2-40B4-BE49-F238E27FC236}">
                <a16:creationId xmlns:a16="http://schemas.microsoft.com/office/drawing/2014/main" id="{6754FB03-243A-559F-38CD-8517B93CCCA8}"/>
              </a:ext>
            </a:extLst>
          </p:cNvPr>
          <p:cNvSpPr txBox="1">
            <a:spLocks/>
          </p:cNvSpPr>
          <p:nvPr/>
        </p:nvSpPr>
        <p:spPr>
          <a:xfrm>
            <a:off x="838200" y="365126"/>
            <a:ext cx="3029607" cy="1137854"/>
          </a:xfrm>
          <a:prstGeom prst="rect">
            <a:avLst/>
          </a:prstGeom>
        </p:spPr>
        <p:txBody>
          <a:bodyPr vert="horz" lIns="91440" tIns="45720" rIns="91440" bIns="45720" rtlCol="0" anchor="ctr">
            <a:normAutofit fontScale="92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t>Hierarchical Structure</a:t>
            </a:r>
          </a:p>
        </p:txBody>
      </p:sp>
      <p:sp>
        <p:nvSpPr>
          <p:cNvPr id="12" name="TextBox 11">
            <a:extLst>
              <a:ext uri="{FF2B5EF4-FFF2-40B4-BE49-F238E27FC236}">
                <a16:creationId xmlns:a16="http://schemas.microsoft.com/office/drawing/2014/main" id="{EA0B5296-BF32-6292-DDB6-6A2B09A13E07}"/>
              </a:ext>
            </a:extLst>
          </p:cNvPr>
          <p:cNvSpPr txBox="1"/>
          <p:nvPr/>
        </p:nvSpPr>
        <p:spPr>
          <a:xfrm>
            <a:off x="8514504" y="6096836"/>
            <a:ext cx="3488310" cy="523220"/>
          </a:xfrm>
          <a:prstGeom prst="rect">
            <a:avLst/>
          </a:prstGeom>
          <a:noFill/>
        </p:spPr>
        <p:txBody>
          <a:bodyPr wrap="square" rtlCol="0">
            <a:spAutoFit/>
          </a:bodyPr>
          <a:lstStyle/>
          <a:p>
            <a:r>
              <a:rPr lang="en-US" sz="1400" b="1" dirty="0"/>
              <a:t>Source: Stallings. </a:t>
            </a:r>
            <a:r>
              <a:rPr lang="en-US" sz="1400" b="1" i="1" dirty="0"/>
              <a:t>Computer </a:t>
            </a:r>
            <a:r>
              <a:rPr lang="en-US" sz="1400" b="1" i="1" dirty="0" err="1"/>
              <a:t>Organisation</a:t>
            </a:r>
            <a:r>
              <a:rPr lang="en-US" sz="1400" b="1" i="1" dirty="0"/>
              <a:t> &amp; Architecture.</a:t>
            </a:r>
            <a:r>
              <a:rPr lang="en-US" sz="1400" b="1" dirty="0"/>
              <a:t> p.27</a:t>
            </a:r>
          </a:p>
        </p:txBody>
      </p:sp>
      <p:sp>
        <p:nvSpPr>
          <p:cNvPr id="2" name="TextBox 1">
            <a:extLst>
              <a:ext uri="{FF2B5EF4-FFF2-40B4-BE49-F238E27FC236}">
                <a16:creationId xmlns:a16="http://schemas.microsoft.com/office/drawing/2014/main" id="{0B5C8DCE-88E4-FA33-BECD-4D8CF2D59963}"/>
              </a:ext>
            </a:extLst>
          </p:cNvPr>
          <p:cNvSpPr txBox="1"/>
          <p:nvPr/>
        </p:nvSpPr>
        <p:spPr>
          <a:xfrm>
            <a:off x="861848" y="1975945"/>
            <a:ext cx="4819449" cy="1200329"/>
          </a:xfrm>
          <a:prstGeom prst="rect">
            <a:avLst/>
          </a:prstGeom>
          <a:noFill/>
        </p:spPr>
        <p:txBody>
          <a:bodyPr wrap="square" rtlCol="0">
            <a:spAutoFit/>
          </a:bodyPr>
          <a:lstStyle/>
          <a:p>
            <a:r>
              <a:rPr lang="en-GB" dirty="0"/>
              <a:t>Figure 1.1 provides a hierarchical view</a:t>
            </a:r>
          </a:p>
          <a:p>
            <a:r>
              <a:rPr lang="en-GB" dirty="0"/>
              <a:t>of the internal structure of a traditional single-processor computer.</a:t>
            </a:r>
          </a:p>
          <a:p>
            <a:endParaRPr lang="en-GB" dirty="0"/>
          </a:p>
        </p:txBody>
      </p:sp>
    </p:spTree>
    <p:extLst>
      <p:ext uri="{BB962C8B-B14F-4D97-AF65-F5344CB8AC3E}">
        <p14:creationId xmlns:p14="http://schemas.microsoft.com/office/powerpoint/2010/main" val="32484807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FA67F6-5ACD-3049-0267-B4C140DFD957}"/>
              </a:ext>
            </a:extLst>
          </p:cNvPr>
          <p:cNvSpPr>
            <a:spLocks noGrp="1"/>
          </p:cNvSpPr>
          <p:nvPr>
            <p:ph type="title"/>
          </p:nvPr>
        </p:nvSpPr>
        <p:spPr/>
        <p:txBody>
          <a:bodyPr/>
          <a:lstStyle/>
          <a:p>
            <a:r>
              <a:rPr lang="en-GB" dirty="0"/>
              <a:t>Computer Components</a:t>
            </a:r>
          </a:p>
        </p:txBody>
      </p:sp>
      <p:sp>
        <p:nvSpPr>
          <p:cNvPr id="3" name="Content Placeholder 2">
            <a:extLst>
              <a:ext uri="{FF2B5EF4-FFF2-40B4-BE49-F238E27FC236}">
                <a16:creationId xmlns:a16="http://schemas.microsoft.com/office/drawing/2014/main" id="{4611CEEE-5423-E348-C367-326DD6AFAD6C}"/>
              </a:ext>
            </a:extLst>
          </p:cNvPr>
          <p:cNvSpPr>
            <a:spLocks noGrp="1"/>
          </p:cNvSpPr>
          <p:nvPr>
            <p:ph sz="half" idx="1"/>
          </p:nvPr>
        </p:nvSpPr>
        <p:spPr/>
        <p:txBody>
          <a:bodyPr>
            <a:normAutofit fontScale="85000" lnSpcReduction="10000"/>
          </a:bodyPr>
          <a:lstStyle/>
          <a:p>
            <a:r>
              <a:rPr lang="en-GB" dirty="0"/>
              <a:t>CPU</a:t>
            </a:r>
          </a:p>
          <a:p>
            <a:pPr lvl="1"/>
            <a:r>
              <a:rPr lang="en-GB" dirty="0"/>
              <a:t>Controls the operation of the hardware</a:t>
            </a:r>
          </a:p>
          <a:p>
            <a:pPr lvl="1"/>
            <a:r>
              <a:rPr lang="en-GB" dirty="0"/>
              <a:t>Interprets and executes instructions from hardware and software</a:t>
            </a:r>
          </a:p>
          <a:p>
            <a:r>
              <a:rPr lang="en-GB" dirty="0"/>
              <a:t>Main Memory</a:t>
            </a:r>
          </a:p>
          <a:p>
            <a:pPr lvl="1"/>
            <a:r>
              <a:rPr lang="en-GB" dirty="0"/>
              <a:t>Stores data and program instructions</a:t>
            </a:r>
          </a:p>
          <a:p>
            <a:r>
              <a:rPr lang="en-GB" dirty="0"/>
              <a:t>Input/Output</a:t>
            </a:r>
          </a:p>
          <a:p>
            <a:pPr lvl="1"/>
            <a:r>
              <a:rPr lang="en-GB" dirty="0"/>
              <a:t>Hardware that allows machine to interact with users and other devices</a:t>
            </a:r>
          </a:p>
          <a:p>
            <a:pPr lvl="1"/>
            <a:r>
              <a:rPr lang="en-GB" dirty="0"/>
              <a:t>Display, keyboard, printer, network interface card</a:t>
            </a:r>
          </a:p>
          <a:p>
            <a:pPr lvl="1"/>
            <a:r>
              <a:rPr lang="en-GB" dirty="0"/>
              <a:t>Captures input signal as data</a:t>
            </a:r>
          </a:p>
          <a:p>
            <a:pPr lvl="1"/>
            <a:r>
              <a:rPr lang="en-GB" dirty="0"/>
              <a:t>Converts output data to signal hardware understands</a:t>
            </a:r>
          </a:p>
          <a:p>
            <a:pPr lvl="1"/>
            <a:endParaRPr lang="en-GB" dirty="0"/>
          </a:p>
          <a:p>
            <a:endParaRPr lang="en-GB" dirty="0"/>
          </a:p>
        </p:txBody>
      </p:sp>
      <p:sp>
        <p:nvSpPr>
          <p:cNvPr id="4" name="Content Placeholder 3">
            <a:extLst>
              <a:ext uri="{FF2B5EF4-FFF2-40B4-BE49-F238E27FC236}">
                <a16:creationId xmlns:a16="http://schemas.microsoft.com/office/drawing/2014/main" id="{1307960B-3E64-8B3C-0DAF-BAF59C6B85F1}"/>
              </a:ext>
            </a:extLst>
          </p:cNvPr>
          <p:cNvSpPr>
            <a:spLocks noGrp="1"/>
          </p:cNvSpPr>
          <p:nvPr>
            <p:ph sz="half" idx="2"/>
          </p:nvPr>
        </p:nvSpPr>
        <p:spPr/>
        <p:txBody>
          <a:bodyPr>
            <a:normAutofit fontScale="85000" lnSpcReduction="10000"/>
          </a:bodyPr>
          <a:lstStyle/>
          <a:p>
            <a:r>
              <a:rPr lang="en-GB" dirty="0"/>
              <a:t>System Bus</a:t>
            </a:r>
          </a:p>
          <a:p>
            <a:pPr lvl="1"/>
            <a:r>
              <a:rPr lang="en-GB" dirty="0"/>
              <a:t>Connects CPU, main memory and I/O</a:t>
            </a:r>
          </a:p>
          <a:p>
            <a:r>
              <a:rPr lang="en-GB" dirty="0"/>
              <a:t>Co-processors</a:t>
            </a:r>
          </a:p>
          <a:p>
            <a:pPr lvl="1"/>
            <a:r>
              <a:rPr lang="en-GB" dirty="0"/>
              <a:t>Some operations have specialised co-processors</a:t>
            </a:r>
          </a:p>
          <a:p>
            <a:pPr lvl="2"/>
            <a:r>
              <a:rPr lang="en-GB" dirty="0"/>
              <a:t>E.g., graphic processing unit (GPU) handles calculations and output related to graphical display</a:t>
            </a:r>
          </a:p>
          <a:p>
            <a:pPr lvl="2"/>
            <a:r>
              <a:rPr lang="en-GB" dirty="0"/>
              <a:t>E.g. </a:t>
            </a:r>
            <a:r>
              <a:rPr lang="en-GB" dirty="0" err="1"/>
              <a:t>cryptoprocessor</a:t>
            </a:r>
            <a:r>
              <a:rPr lang="en-GB" dirty="0"/>
              <a:t> handles calculations related to cryptography</a:t>
            </a:r>
          </a:p>
          <a:p>
            <a:endParaRPr lang="en-GB" dirty="0"/>
          </a:p>
        </p:txBody>
      </p:sp>
    </p:spTree>
    <p:extLst>
      <p:ext uri="{BB962C8B-B14F-4D97-AF65-F5344CB8AC3E}">
        <p14:creationId xmlns:p14="http://schemas.microsoft.com/office/powerpoint/2010/main" val="878819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0E4639-F9AF-68EB-6347-219C046AFF06}"/>
              </a:ext>
            </a:extLst>
          </p:cNvPr>
          <p:cNvSpPr>
            <a:spLocks noGrp="1"/>
          </p:cNvSpPr>
          <p:nvPr>
            <p:ph type="title"/>
          </p:nvPr>
        </p:nvSpPr>
        <p:spPr/>
        <p:txBody>
          <a:bodyPr/>
          <a:lstStyle/>
          <a:p>
            <a:r>
              <a:rPr lang="en-GB" dirty="0"/>
              <a:t>CPU components</a:t>
            </a:r>
          </a:p>
        </p:txBody>
      </p:sp>
      <p:sp>
        <p:nvSpPr>
          <p:cNvPr id="3" name="Content Placeholder 2">
            <a:extLst>
              <a:ext uri="{FF2B5EF4-FFF2-40B4-BE49-F238E27FC236}">
                <a16:creationId xmlns:a16="http://schemas.microsoft.com/office/drawing/2014/main" id="{A68B3AA1-D9E3-380B-619C-DB46702865C8}"/>
              </a:ext>
            </a:extLst>
          </p:cNvPr>
          <p:cNvSpPr>
            <a:spLocks noGrp="1"/>
          </p:cNvSpPr>
          <p:nvPr>
            <p:ph idx="1"/>
          </p:nvPr>
        </p:nvSpPr>
        <p:spPr/>
        <p:txBody>
          <a:bodyPr>
            <a:normAutofit/>
          </a:bodyPr>
          <a:lstStyle/>
          <a:p>
            <a:r>
              <a:rPr lang="en-GB" dirty="0"/>
              <a:t>Control Unit</a:t>
            </a:r>
          </a:p>
          <a:p>
            <a:pPr lvl="1"/>
            <a:r>
              <a:rPr lang="en-GB" dirty="0"/>
              <a:t>Controls the operation of the CPU and hence the computer</a:t>
            </a:r>
          </a:p>
          <a:p>
            <a:r>
              <a:rPr lang="en-GB" dirty="0"/>
              <a:t>Arithmetic and Logic Unit (ALU)</a:t>
            </a:r>
          </a:p>
          <a:p>
            <a:pPr lvl="1"/>
            <a:r>
              <a:rPr lang="en-GB" dirty="0"/>
              <a:t>Performs the computer’s data processing function</a:t>
            </a:r>
          </a:p>
          <a:p>
            <a:r>
              <a:rPr lang="en-GB" dirty="0"/>
              <a:t>Registers</a:t>
            </a:r>
          </a:p>
          <a:p>
            <a:pPr lvl="1"/>
            <a:r>
              <a:rPr lang="en-GB" dirty="0"/>
              <a:t>Provide storage internal to the CPU</a:t>
            </a:r>
          </a:p>
          <a:p>
            <a:r>
              <a:rPr lang="en-GB" dirty="0"/>
              <a:t>CPU Interconnection</a:t>
            </a:r>
          </a:p>
          <a:p>
            <a:pPr lvl="1"/>
            <a:r>
              <a:rPr lang="en-GB" dirty="0"/>
              <a:t>Some mechanism that provides for communication among the control unit, ALU, and registers</a:t>
            </a:r>
          </a:p>
          <a:p>
            <a:endParaRPr lang="en-GB" dirty="0"/>
          </a:p>
        </p:txBody>
      </p:sp>
    </p:spTree>
    <p:extLst>
      <p:ext uri="{BB962C8B-B14F-4D97-AF65-F5344CB8AC3E}">
        <p14:creationId xmlns:p14="http://schemas.microsoft.com/office/powerpoint/2010/main" val="8923242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846492-B8CF-F6F9-F051-737B3BB819C2}"/>
              </a:ext>
            </a:extLst>
          </p:cNvPr>
          <p:cNvSpPr>
            <a:spLocks noGrp="1"/>
          </p:cNvSpPr>
          <p:nvPr>
            <p:ph type="title"/>
          </p:nvPr>
        </p:nvSpPr>
        <p:spPr/>
        <p:txBody>
          <a:bodyPr/>
          <a:lstStyle/>
          <a:p>
            <a:r>
              <a:rPr lang="en-GB" dirty="0"/>
              <a:t>Multicore components</a:t>
            </a:r>
          </a:p>
        </p:txBody>
      </p:sp>
      <p:sp>
        <p:nvSpPr>
          <p:cNvPr id="3" name="Content Placeholder 2">
            <a:extLst>
              <a:ext uri="{FF2B5EF4-FFF2-40B4-BE49-F238E27FC236}">
                <a16:creationId xmlns:a16="http://schemas.microsoft.com/office/drawing/2014/main" id="{822D5DC6-8689-E2AA-4CED-32B54D2165CB}"/>
              </a:ext>
            </a:extLst>
          </p:cNvPr>
          <p:cNvSpPr>
            <a:spLocks noGrp="1"/>
          </p:cNvSpPr>
          <p:nvPr>
            <p:ph idx="1"/>
          </p:nvPr>
        </p:nvSpPr>
        <p:spPr/>
        <p:txBody>
          <a:bodyPr>
            <a:normAutofit fontScale="92500" lnSpcReduction="10000"/>
          </a:bodyPr>
          <a:lstStyle/>
          <a:p>
            <a:r>
              <a:rPr lang="en-GB" dirty="0"/>
              <a:t>Central processing unit (CPU)</a:t>
            </a:r>
          </a:p>
          <a:p>
            <a:pPr lvl="1"/>
            <a:r>
              <a:rPr lang="en-GB" dirty="0"/>
              <a:t>Portion of the computer that fetches and executes instructions</a:t>
            </a:r>
          </a:p>
          <a:p>
            <a:pPr lvl="1"/>
            <a:r>
              <a:rPr lang="en-GB" dirty="0"/>
              <a:t>Consists of an ALU, a control unit, and registers</a:t>
            </a:r>
          </a:p>
          <a:p>
            <a:pPr lvl="1"/>
            <a:r>
              <a:rPr lang="en-GB" dirty="0"/>
              <a:t>Referred to as a processor in a system with a single processing unit</a:t>
            </a:r>
          </a:p>
          <a:p>
            <a:r>
              <a:rPr lang="en-GB" dirty="0"/>
              <a:t>Core</a:t>
            </a:r>
          </a:p>
          <a:p>
            <a:pPr lvl="1"/>
            <a:r>
              <a:rPr lang="en-GB" dirty="0"/>
              <a:t>An individual processing unit on a processor chip</a:t>
            </a:r>
          </a:p>
          <a:p>
            <a:pPr lvl="1"/>
            <a:r>
              <a:rPr lang="en-GB" dirty="0"/>
              <a:t>May be equivalent in functionality to a CPU on a single-CPU system</a:t>
            </a:r>
          </a:p>
          <a:p>
            <a:pPr lvl="1"/>
            <a:r>
              <a:rPr lang="en-GB" dirty="0"/>
              <a:t>Specialized processing units are also referred to as cores</a:t>
            </a:r>
          </a:p>
          <a:p>
            <a:r>
              <a:rPr lang="en-GB" dirty="0"/>
              <a:t>Processor </a:t>
            </a:r>
          </a:p>
          <a:p>
            <a:pPr lvl="1"/>
            <a:r>
              <a:rPr lang="en-GB" dirty="0"/>
              <a:t>A physical piece of silicon containing one or more cores</a:t>
            </a:r>
          </a:p>
          <a:p>
            <a:pPr lvl="1"/>
            <a:r>
              <a:rPr lang="en-GB" dirty="0"/>
              <a:t>Is the computer component that interprets and executes instructions</a:t>
            </a:r>
          </a:p>
          <a:p>
            <a:pPr lvl="1"/>
            <a:r>
              <a:rPr lang="en-GB" dirty="0"/>
              <a:t>Referred to as a multicore processor if it contains multiple cores</a:t>
            </a:r>
          </a:p>
          <a:p>
            <a:endParaRPr lang="en-GB" dirty="0"/>
          </a:p>
        </p:txBody>
      </p:sp>
    </p:spTree>
    <p:extLst>
      <p:ext uri="{BB962C8B-B14F-4D97-AF65-F5344CB8AC3E}">
        <p14:creationId xmlns:p14="http://schemas.microsoft.com/office/powerpoint/2010/main" val="118697163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Content Placeholder 3" descr="The Motherboard has slots for Main memory chips, a processor chip, Input Output chips, and a few other auxiliary components. The processor chip has 8 cores and an L 3 cache occupying two distinct portions of the chip’s surface. The core is comprised of Instruction logic, an arithmetic and logic unit, Load or store logic, an L 1 I dash cache, an L 1 data cache, an L 2 instruction cache, and an L 2 data cache." title="An illustration presents the elements of a motherboard.">
            <a:extLst>
              <a:ext uri="{FF2B5EF4-FFF2-40B4-BE49-F238E27FC236}">
                <a16:creationId xmlns:a16="http://schemas.microsoft.com/office/drawing/2014/main" id="{6378B8CF-AA00-8B1B-4A36-49D16008650B}"/>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6420745" y="-12211"/>
            <a:ext cx="5308799" cy="6870211"/>
          </a:xfrm>
          <a:prstGeom prst="rect">
            <a:avLst/>
          </a:prstGeom>
        </p:spPr>
      </p:pic>
      <p:sp>
        <p:nvSpPr>
          <p:cNvPr id="5" name="TextBox 4">
            <a:extLst>
              <a:ext uri="{FF2B5EF4-FFF2-40B4-BE49-F238E27FC236}">
                <a16:creationId xmlns:a16="http://schemas.microsoft.com/office/drawing/2014/main" id="{0E255D8B-0463-261B-EE3E-B23FBD1A08CD}"/>
              </a:ext>
            </a:extLst>
          </p:cNvPr>
          <p:cNvSpPr txBox="1"/>
          <p:nvPr/>
        </p:nvSpPr>
        <p:spPr>
          <a:xfrm>
            <a:off x="6631489" y="6086325"/>
            <a:ext cx="4887310" cy="307777"/>
          </a:xfrm>
          <a:prstGeom prst="rect">
            <a:avLst/>
          </a:prstGeom>
          <a:noFill/>
        </p:spPr>
        <p:txBody>
          <a:bodyPr wrap="square" rtlCol="0">
            <a:spAutoFit/>
          </a:bodyPr>
          <a:lstStyle/>
          <a:p>
            <a:r>
              <a:rPr lang="en-US" sz="1400" b="1" dirty="0"/>
              <a:t>Source: Stallings. </a:t>
            </a:r>
            <a:r>
              <a:rPr lang="en-US" sz="1400" b="1" i="1" dirty="0"/>
              <a:t>Computer </a:t>
            </a:r>
            <a:r>
              <a:rPr lang="en-US" sz="1400" b="1" i="1" dirty="0" err="1"/>
              <a:t>Organisation</a:t>
            </a:r>
            <a:r>
              <a:rPr lang="en-US" sz="1400" b="1" i="1" dirty="0"/>
              <a:t> &amp; Architecture.</a:t>
            </a:r>
            <a:r>
              <a:rPr lang="en-US" sz="1400" b="1" dirty="0"/>
              <a:t> p.29</a:t>
            </a:r>
          </a:p>
        </p:txBody>
      </p:sp>
      <p:sp>
        <p:nvSpPr>
          <p:cNvPr id="6" name="Title 1">
            <a:extLst>
              <a:ext uri="{FF2B5EF4-FFF2-40B4-BE49-F238E27FC236}">
                <a16:creationId xmlns:a16="http://schemas.microsoft.com/office/drawing/2014/main" id="{71C867F0-5E1B-36CE-BC3E-EB4AE05A8B99}"/>
              </a:ext>
            </a:extLst>
          </p:cNvPr>
          <p:cNvSpPr txBox="1">
            <a:spLocks/>
          </p:cNvSpPr>
          <p:nvPr/>
        </p:nvSpPr>
        <p:spPr>
          <a:xfrm>
            <a:off x="838200" y="365126"/>
            <a:ext cx="3029607" cy="1137854"/>
          </a:xfrm>
          <a:prstGeom prst="rect">
            <a:avLst/>
          </a:prstGeom>
        </p:spPr>
        <p:txBody>
          <a:bodyPr vert="horz" lIns="91440" tIns="45720" rIns="91440" bIns="45720" rtlCol="0" anchor="ctr">
            <a:normAutofit fontScale="92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t>Multicore</a:t>
            </a:r>
          </a:p>
          <a:p>
            <a:r>
              <a:rPr lang="en-GB" dirty="0"/>
              <a:t>Structure</a:t>
            </a:r>
          </a:p>
        </p:txBody>
      </p:sp>
      <p:sp>
        <p:nvSpPr>
          <p:cNvPr id="2" name="TextBox 1">
            <a:extLst>
              <a:ext uri="{FF2B5EF4-FFF2-40B4-BE49-F238E27FC236}">
                <a16:creationId xmlns:a16="http://schemas.microsoft.com/office/drawing/2014/main" id="{523DDEE7-2BBE-3138-961A-CDAAAD58E08D}"/>
              </a:ext>
            </a:extLst>
          </p:cNvPr>
          <p:cNvSpPr txBox="1"/>
          <p:nvPr/>
        </p:nvSpPr>
        <p:spPr>
          <a:xfrm>
            <a:off x="838200" y="1839310"/>
            <a:ext cx="5257800" cy="923330"/>
          </a:xfrm>
          <a:prstGeom prst="rect">
            <a:avLst/>
          </a:prstGeom>
          <a:noFill/>
        </p:spPr>
        <p:txBody>
          <a:bodyPr wrap="square" rtlCol="0">
            <a:spAutoFit/>
          </a:bodyPr>
          <a:lstStyle/>
          <a:p>
            <a:pPr marL="285750" indent="-285750">
              <a:buFont typeface="Arial" panose="020B0604020202020204" pitchFamily="34" charset="0"/>
              <a:buChar char="•"/>
            </a:pPr>
            <a:r>
              <a:rPr lang="en-GB" dirty="0"/>
              <a:t>Figure 1.2 is a simplified view of the principal components of a typical multicore computer. </a:t>
            </a:r>
          </a:p>
          <a:p>
            <a:endParaRPr lang="en-GB" dirty="0"/>
          </a:p>
        </p:txBody>
      </p:sp>
    </p:spTree>
    <p:extLst>
      <p:ext uri="{BB962C8B-B14F-4D97-AF65-F5344CB8AC3E}">
        <p14:creationId xmlns:p14="http://schemas.microsoft.com/office/powerpoint/2010/main" val="375914655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050" name="Picture 2">
            <a:extLst>
              <a:ext uri="{FF2B5EF4-FFF2-40B4-BE49-F238E27FC236}">
                <a16:creationId xmlns:a16="http://schemas.microsoft.com/office/drawing/2014/main" id="{17352D0E-CEA5-7200-876F-27EA39D31E2C}"/>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2753711" y="107205"/>
            <a:ext cx="9038897" cy="6643589"/>
          </a:xfrm>
          <a:prstGeom prst="rect">
            <a:avLst/>
          </a:prstGeom>
          <a:noFill/>
          <a:extLst>
            <a:ext uri="{909E8E84-426E-40DD-AFC4-6F175D3DCCD1}">
              <a14:hiddenFill xmlns:a14="http://schemas.microsoft.com/office/drawing/2010/main">
                <a:solidFill>
                  <a:srgbClr val="FFFFFF"/>
                </a:solidFill>
              </a14:hiddenFill>
            </a:ext>
          </a:extLst>
        </p:spPr>
      </p:pic>
      <p:sp>
        <p:nvSpPr>
          <p:cNvPr id="4" name="Title 1">
            <a:extLst>
              <a:ext uri="{FF2B5EF4-FFF2-40B4-BE49-F238E27FC236}">
                <a16:creationId xmlns:a16="http://schemas.microsoft.com/office/drawing/2014/main" id="{5CE78517-72FA-A288-18A5-0EDC4FC65A13}"/>
              </a:ext>
            </a:extLst>
          </p:cNvPr>
          <p:cNvSpPr txBox="1">
            <a:spLocks/>
          </p:cNvSpPr>
          <p:nvPr/>
        </p:nvSpPr>
        <p:spPr>
          <a:xfrm>
            <a:off x="399392" y="459720"/>
            <a:ext cx="3029607" cy="1137854"/>
          </a:xfrm>
          <a:prstGeom prst="rect">
            <a:avLst/>
          </a:prstGeom>
        </p:spPr>
        <p:txBody>
          <a:bodyPr vert="horz" lIns="91440" tIns="45720" rIns="91440" bIns="45720" rtlCol="0" anchor="ctr">
            <a:normAutofit fontScale="92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t>Motherboard</a:t>
            </a:r>
          </a:p>
        </p:txBody>
      </p:sp>
    </p:spTree>
    <p:extLst>
      <p:ext uri="{BB962C8B-B14F-4D97-AF65-F5344CB8AC3E}">
        <p14:creationId xmlns:p14="http://schemas.microsoft.com/office/powerpoint/2010/main" val="6262671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31"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2A69AC8-807B-4BA1-3BA0-94315FD2C2F8}"/>
              </a:ext>
            </a:extLst>
          </p:cNvPr>
          <p:cNvSpPr>
            <a:spLocks noGrp="1"/>
          </p:cNvSpPr>
          <p:nvPr>
            <p:ph type="title"/>
          </p:nvPr>
        </p:nvSpPr>
        <p:spPr>
          <a:xfrm>
            <a:off x="1028700" y="1967266"/>
            <a:ext cx="2628900" cy="2547257"/>
          </a:xfrm>
          <a:noFill/>
        </p:spPr>
        <p:txBody>
          <a:bodyPr vert="horz" lIns="91440" tIns="45720" rIns="91440" bIns="45720" rtlCol="0" anchor="ctr">
            <a:normAutofit/>
          </a:bodyPr>
          <a:lstStyle/>
          <a:p>
            <a:pPr algn="ctr"/>
            <a:r>
              <a:rPr lang="en-US" sz="3600" kern="1200" dirty="0">
                <a:solidFill>
                  <a:srgbClr val="FFFFFF"/>
                </a:solidFill>
                <a:latin typeface="+mj-lt"/>
                <a:ea typeface="+mj-ea"/>
                <a:cs typeface="+mj-cs"/>
              </a:rPr>
              <a:t>Modern PC Layout</a:t>
            </a:r>
          </a:p>
        </p:txBody>
      </p:sp>
      <p:pic>
        <p:nvPicPr>
          <p:cNvPr id="1026" name="Picture 2">
            <a:extLst>
              <a:ext uri="{FF2B5EF4-FFF2-40B4-BE49-F238E27FC236}">
                <a16:creationId xmlns:a16="http://schemas.microsoft.com/office/drawing/2014/main" id="{80C4C17E-155F-B4AA-6BAF-8128E9F3CD93}"/>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5854390" y="91579"/>
            <a:ext cx="4616605" cy="66581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5897407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83" name="Rectangle 3082">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35167D9-CFB9-EC65-AD07-221AF93EB3A4}"/>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US" sz="3200" kern="1200" dirty="0">
                <a:solidFill>
                  <a:schemeClr val="bg1"/>
                </a:solidFill>
                <a:latin typeface="+mj-lt"/>
                <a:ea typeface="+mj-ea"/>
                <a:cs typeface="+mj-cs"/>
              </a:rPr>
              <a:t>Multicore Processor (14</a:t>
            </a:r>
            <a:r>
              <a:rPr lang="en-US" sz="3200" kern="1200" baseline="30000" dirty="0">
                <a:solidFill>
                  <a:schemeClr val="bg1"/>
                </a:solidFill>
                <a:latin typeface="+mj-lt"/>
                <a:ea typeface="+mj-ea"/>
                <a:cs typeface="+mj-cs"/>
              </a:rPr>
              <a:t>th</a:t>
            </a:r>
            <a:r>
              <a:rPr lang="en-US" sz="3200" kern="1200" dirty="0">
                <a:solidFill>
                  <a:schemeClr val="bg1"/>
                </a:solidFill>
                <a:latin typeface="+mj-lt"/>
                <a:ea typeface="+mj-ea"/>
                <a:cs typeface="+mj-cs"/>
              </a:rPr>
              <a:t> gen Intel Core)</a:t>
            </a:r>
          </a:p>
        </p:txBody>
      </p:sp>
      <p:pic>
        <p:nvPicPr>
          <p:cNvPr id="3078" name="Picture 6" descr="CDN media">
            <a:extLst>
              <a:ext uri="{FF2B5EF4-FFF2-40B4-BE49-F238E27FC236}">
                <a16:creationId xmlns:a16="http://schemas.microsoft.com/office/drawing/2014/main" id="{30DD4585-2A19-CB23-73A7-07CAB4505DA7}"/>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1371055" y="1675227"/>
            <a:ext cx="9449890" cy="4394199"/>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9DB3DAD9-1C49-E599-4AF4-4CB5CB90F002}"/>
              </a:ext>
            </a:extLst>
          </p:cNvPr>
          <p:cNvSpPr txBox="1"/>
          <p:nvPr/>
        </p:nvSpPr>
        <p:spPr>
          <a:xfrm>
            <a:off x="4490484" y="6171684"/>
            <a:ext cx="3211032" cy="369332"/>
          </a:xfrm>
          <a:prstGeom prst="rect">
            <a:avLst/>
          </a:prstGeom>
          <a:noFill/>
        </p:spPr>
        <p:txBody>
          <a:bodyPr wrap="square" rtlCol="0">
            <a:spAutoFit/>
          </a:bodyPr>
          <a:lstStyle/>
          <a:p>
            <a:r>
              <a:rPr lang="en-GB" dirty="0"/>
              <a:t>Processor die (23.8 by 10.8 mm)</a:t>
            </a:r>
          </a:p>
        </p:txBody>
      </p:sp>
    </p:spTree>
    <p:extLst>
      <p:ext uri="{BB962C8B-B14F-4D97-AF65-F5344CB8AC3E}">
        <p14:creationId xmlns:p14="http://schemas.microsoft.com/office/powerpoint/2010/main" val="357876614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138" name="Rectangle 5137">
            <a:extLst>
              <a:ext uri="{FF2B5EF4-FFF2-40B4-BE49-F238E27FC236}">
                <a16:creationId xmlns:a16="http://schemas.microsoft.com/office/drawing/2014/main" id="{9427AF5F-9A0E-42B7-A252-FD64C9885F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2EAEE9A-F29D-9020-E91E-E001635DD344}"/>
              </a:ext>
            </a:extLst>
          </p:cNvPr>
          <p:cNvSpPr>
            <a:spLocks noGrp="1"/>
          </p:cNvSpPr>
          <p:nvPr>
            <p:ph type="title"/>
          </p:nvPr>
        </p:nvSpPr>
        <p:spPr>
          <a:xfrm>
            <a:off x="306896" y="354615"/>
            <a:ext cx="2236607" cy="1306443"/>
          </a:xfrm>
        </p:spPr>
        <p:txBody>
          <a:bodyPr>
            <a:normAutofit/>
          </a:bodyPr>
          <a:lstStyle/>
          <a:p>
            <a:r>
              <a:rPr lang="en-GB" sz="4000" dirty="0"/>
              <a:t>AMD Zen 2 Core</a:t>
            </a:r>
          </a:p>
        </p:txBody>
      </p:sp>
      <p:pic>
        <p:nvPicPr>
          <p:cNvPr id="5124" name="Picture 4">
            <a:extLst>
              <a:ext uri="{FF2B5EF4-FFF2-40B4-BE49-F238E27FC236}">
                <a16:creationId xmlns:a16="http://schemas.microsoft.com/office/drawing/2014/main" id="{D9856777-F94E-1D2F-0ACF-DEF498FA6FC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r="5066" b="-2"/>
          <a:stretch/>
        </p:blipFill>
        <p:spPr bwMode="auto">
          <a:xfrm>
            <a:off x="2693967" y="199697"/>
            <a:ext cx="9191137" cy="62931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3593718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988937-A2F4-F125-3241-500937AEBFAE}"/>
              </a:ext>
            </a:extLst>
          </p:cNvPr>
          <p:cNvSpPr>
            <a:spLocks noGrp="1"/>
          </p:cNvSpPr>
          <p:nvPr>
            <p:ph type="title"/>
          </p:nvPr>
        </p:nvSpPr>
        <p:spPr/>
        <p:txBody>
          <a:bodyPr/>
          <a:lstStyle/>
          <a:p>
            <a:r>
              <a:rPr lang="en-GB" dirty="0"/>
              <a:t>Break/Activity</a:t>
            </a:r>
          </a:p>
        </p:txBody>
      </p:sp>
      <p:sp>
        <p:nvSpPr>
          <p:cNvPr id="3" name="Content Placeholder 2">
            <a:extLst>
              <a:ext uri="{FF2B5EF4-FFF2-40B4-BE49-F238E27FC236}">
                <a16:creationId xmlns:a16="http://schemas.microsoft.com/office/drawing/2014/main" id="{0A7990EC-B60F-5057-9AC2-80C1BB85CA70}"/>
              </a:ext>
            </a:extLst>
          </p:cNvPr>
          <p:cNvSpPr>
            <a:spLocks noGrp="1"/>
          </p:cNvSpPr>
          <p:nvPr>
            <p:ph idx="1"/>
          </p:nvPr>
        </p:nvSpPr>
        <p:spPr/>
        <p:txBody>
          <a:bodyPr/>
          <a:lstStyle/>
          <a:p>
            <a:endParaRPr lang="en-GB"/>
          </a:p>
        </p:txBody>
      </p:sp>
    </p:spTree>
    <p:extLst>
      <p:ext uri="{BB962C8B-B14F-4D97-AF65-F5344CB8AC3E}">
        <p14:creationId xmlns:p14="http://schemas.microsoft.com/office/powerpoint/2010/main" val="411910257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884E8E1-F8BF-F007-3E4C-D66821A1B3FA}"/>
              </a:ext>
            </a:extLst>
          </p:cNvPr>
          <p:cNvSpPr>
            <a:spLocks noGrp="1"/>
          </p:cNvSpPr>
          <p:nvPr>
            <p:ph type="title"/>
          </p:nvPr>
        </p:nvSpPr>
        <p:spPr/>
        <p:txBody>
          <a:bodyPr/>
          <a:lstStyle/>
          <a:p>
            <a:r>
              <a:rPr lang="en-GB" dirty="0"/>
              <a:t>History of Computer Hardware Part 1</a:t>
            </a:r>
          </a:p>
        </p:txBody>
      </p:sp>
      <p:sp>
        <p:nvSpPr>
          <p:cNvPr id="5" name="Text Placeholder 4">
            <a:extLst>
              <a:ext uri="{FF2B5EF4-FFF2-40B4-BE49-F238E27FC236}">
                <a16:creationId xmlns:a16="http://schemas.microsoft.com/office/drawing/2014/main" id="{DC2127C4-A1E6-2BD3-815E-D68F49774574}"/>
              </a:ext>
            </a:extLst>
          </p:cNvPr>
          <p:cNvSpPr>
            <a:spLocks noGrp="1"/>
          </p:cNvSpPr>
          <p:nvPr>
            <p:ph type="body" idx="1"/>
          </p:nvPr>
        </p:nvSpPr>
        <p:spPr/>
        <p:txBody>
          <a:bodyPr/>
          <a:lstStyle/>
          <a:p>
            <a:endParaRPr lang="en-GB"/>
          </a:p>
        </p:txBody>
      </p:sp>
    </p:spTree>
    <p:extLst>
      <p:ext uri="{BB962C8B-B14F-4D97-AF65-F5344CB8AC3E}">
        <p14:creationId xmlns:p14="http://schemas.microsoft.com/office/powerpoint/2010/main" val="176212084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EFDCAD-ADD4-4053-7332-A47FC94E29B0}"/>
              </a:ext>
            </a:extLst>
          </p:cNvPr>
          <p:cNvSpPr>
            <a:spLocks noGrp="1"/>
          </p:cNvSpPr>
          <p:nvPr>
            <p:ph type="title"/>
          </p:nvPr>
        </p:nvSpPr>
        <p:spPr/>
        <p:txBody>
          <a:bodyPr/>
          <a:lstStyle/>
          <a:p>
            <a:r>
              <a:rPr lang="en-GB" dirty="0"/>
              <a:t>Development of Computers</a:t>
            </a:r>
          </a:p>
        </p:txBody>
      </p:sp>
      <p:sp>
        <p:nvSpPr>
          <p:cNvPr id="3" name="Content Placeholder 2">
            <a:extLst>
              <a:ext uri="{FF2B5EF4-FFF2-40B4-BE49-F238E27FC236}">
                <a16:creationId xmlns:a16="http://schemas.microsoft.com/office/drawing/2014/main" id="{D5A3B722-2240-4DE9-4184-99CB6DC9FFA1}"/>
              </a:ext>
            </a:extLst>
          </p:cNvPr>
          <p:cNvSpPr>
            <a:spLocks noGrp="1"/>
          </p:cNvSpPr>
          <p:nvPr>
            <p:ph sz="half" idx="1"/>
          </p:nvPr>
        </p:nvSpPr>
        <p:spPr/>
        <p:txBody>
          <a:bodyPr/>
          <a:lstStyle/>
          <a:p>
            <a:r>
              <a:rPr lang="en-GB" dirty="0"/>
              <a:t>1</a:t>
            </a:r>
            <a:r>
              <a:rPr lang="en-GB" baseline="30000" dirty="0"/>
              <a:t>st</a:t>
            </a:r>
            <a:r>
              <a:rPr lang="en-GB" dirty="0"/>
              <a:t> computing devices mechanical</a:t>
            </a:r>
          </a:p>
          <a:p>
            <a:pPr lvl="1"/>
            <a:r>
              <a:rPr lang="en-GB" dirty="0"/>
              <a:t>Gears</a:t>
            </a:r>
          </a:p>
          <a:p>
            <a:pPr lvl="1"/>
            <a:r>
              <a:rPr lang="en-GB" dirty="0"/>
              <a:t>Decimal</a:t>
            </a:r>
          </a:p>
          <a:p>
            <a:pPr lvl="1"/>
            <a:r>
              <a:rPr lang="en-GB" dirty="0"/>
              <a:t>E.g. Babbage’s Analytical Engine</a:t>
            </a:r>
          </a:p>
        </p:txBody>
      </p:sp>
      <p:pic>
        <p:nvPicPr>
          <p:cNvPr id="1028" name="Picture 4" descr="Difference Engine">
            <a:extLst>
              <a:ext uri="{FF2B5EF4-FFF2-40B4-BE49-F238E27FC236}">
                <a16:creationId xmlns:a16="http://schemas.microsoft.com/office/drawing/2014/main" id="{ACB09CC2-6E45-0807-101A-69F29912C942}"/>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6858000" y="2572544"/>
            <a:ext cx="3810000" cy="28575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29BABB8D-5A6D-6942-961A-F4862B6B16E8}"/>
              </a:ext>
            </a:extLst>
          </p:cNvPr>
          <p:cNvSpPr txBox="1"/>
          <p:nvPr/>
        </p:nvSpPr>
        <p:spPr>
          <a:xfrm>
            <a:off x="7115503" y="5728138"/>
            <a:ext cx="3226676" cy="369332"/>
          </a:xfrm>
          <a:prstGeom prst="rect">
            <a:avLst/>
          </a:prstGeom>
          <a:noFill/>
        </p:spPr>
        <p:txBody>
          <a:bodyPr wrap="square" rtlCol="0">
            <a:spAutoFit/>
          </a:bodyPr>
          <a:lstStyle/>
          <a:p>
            <a:r>
              <a:rPr lang="en-GB" dirty="0"/>
              <a:t>Source: Britannica.com</a:t>
            </a:r>
          </a:p>
        </p:txBody>
      </p:sp>
    </p:spTree>
    <p:extLst>
      <p:ext uri="{BB962C8B-B14F-4D97-AF65-F5344CB8AC3E}">
        <p14:creationId xmlns:p14="http://schemas.microsoft.com/office/powerpoint/2010/main" val="419528856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7D8FDD-4ED1-9AF6-28BB-3951D0D9BB4D}"/>
              </a:ext>
            </a:extLst>
          </p:cNvPr>
          <p:cNvSpPr>
            <a:spLocks noGrp="1"/>
          </p:cNvSpPr>
          <p:nvPr>
            <p:ph type="title"/>
          </p:nvPr>
        </p:nvSpPr>
        <p:spPr/>
        <p:txBody>
          <a:bodyPr/>
          <a:lstStyle/>
          <a:p>
            <a:r>
              <a:rPr lang="en-GB" dirty="0"/>
              <a:t>Development of Computers</a:t>
            </a:r>
          </a:p>
        </p:txBody>
      </p:sp>
      <p:sp>
        <p:nvSpPr>
          <p:cNvPr id="3" name="Content Placeholder 2">
            <a:extLst>
              <a:ext uri="{FF2B5EF4-FFF2-40B4-BE49-F238E27FC236}">
                <a16:creationId xmlns:a16="http://schemas.microsoft.com/office/drawing/2014/main" id="{568FAA5A-0A42-6EFE-13AD-C42004CE972C}"/>
              </a:ext>
            </a:extLst>
          </p:cNvPr>
          <p:cNvSpPr>
            <a:spLocks noGrp="1"/>
          </p:cNvSpPr>
          <p:nvPr>
            <p:ph sz="half" idx="1"/>
          </p:nvPr>
        </p:nvSpPr>
        <p:spPr>
          <a:xfrm>
            <a:off x="838199" y="1825625"/>
            <a:ext cx="7944293" cy="2023361"/>
          </a:xfrm>
        </p:spPr>
        <p:txBody>
          <a:bodyPr/>
          <a:lstStyle/>
          <a:p>
            <a:r>
              <a:rPr lang="en-GB" dirty="0"/>
              <a:t>In 1930s/1940s move to electrical &amp; electronic switching devices</a:t>
            </a:r>
          </a:p>
          <a:p>
            <a:r>
              <a:rPr lang="en-GB" dirty="0"/>
              <a:t>Electrical relays</a:t>
            </a:r>
          </a:p>
          <a:p>
            <a:r>
              <a:rPr lang="en-GB" dirty="0"/>
              <a:t>Thermionic valve (electronic)</a:t>
            </a:r>
          </a:p>
          <a:p>
            <a:endParaRPr lang="en-GB" dirty="0"/>
          </a:p>
        </p:txBody>
      </p:sp>
      <p:pic>
        <p:nvPicPr>
          <p:cNvPr id="2050" name="Picture 2">
            <a:extLst>
              <a:ext uri="{FF2B5EF4-FFF2-40B4-BE49-F238E27FC236}">
                <a16:creationId xmlns:a16="http://schemas.microsoft.com/office/drawing/2014/main" id="{C0F298F6-A10D-8429-EA06-8C39174BD8B6}"/>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2250731" y="3720923"/>
            <a:ext cx="3118711" cy="2792664"/>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descr="Thermionic valve">
            <a:extLst>
              <a:ext uri="{FF2B5EF4-FFF2-40B4-BE49-F238E27FC236}">
                <a16:creationId xmlns:a16="http://schemas.microsoft.com/office/drawing/2014/main" id="{7D063FFB-97B4-7157-6732-D7A0207C3A1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84067" y="2062163"/>
            <a:ext cx="2736532" cy="4114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7345233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F06BB0-7BD3-D785-1E4D-7D7D5F057F65}"/>
              </a:ext>
            </a:extLst>
          </p:cNvPr>
          <p:cNvSpPr>
            <a:spLocks noGrp="1"/>
          </p:cNvSpPr>
          <p:nvPr>
            <p:ph type="title"/>
          </p:nvPr>
        </p:nvSpPr>
        <p:spPr/>
        <p:txBody>
          <a:bodyPr/>
          <a:lstStyle/>
          <a:p>
            <a:r>
              <a:rPr lang="en-GB" dirty="0"/>
              <a:t>Why switches?</a:t>
            </a:r>
          </a:p>
        </p:txBody>
      </p:sp>
      <p:sp>
        <p:nvSpPr>
          <p:cNvPr id="5" name="Content Placeholder 4">
            <a:extLst>
              <a:ext uri="{FF2B5EF4-FFF2-40B4-BE49-F238E27FC236}">
                <a16:creationId xmlns:a16="http://schemas.microsoft.com/office/drawing/2014/main" id="{8800B781-B51C-2EAC-D188-F0B00F917A37}"/>
              </a:ext>
            </a:extLst>
          </p:cNvPr>
          <p:cNvSpPr>
            <a:spLocks noGrp="1"/>
          </p:cNvSpPr>
          <p:nvPr>
            <p:ph idx="1"/>
          </p:nvPr>
        </p:nvSpPr>
        <p:spPr/>
        <p:txBody>
          <a:bodyPr/>
          <a:lstStyle/>
          <a:p>
            <a:r>
              <a:rPr lang="en-GB" dirty="0"/>
              <a:t>Switches have two states: open and closed</a:t>
            </a:r>
          </a:p>
          <a:p>
            <a:r>
              <a:rPr lang="en-GB" dirty="0"/>
              <a:t>Easy to map logical states: true and false</a:t>
            </a:r>
          </a:p>
          <a:p>
            <a:r>
              <a:rPr lang="en-GB" dirty="0"/>
              <a:t>Allows for Boolean logic to be performed</a:t>
            </a:r>
          </a:p>
          <a:p>
            <a:r>
              <a:rPr lang="en-GB" dirty="0"/>
              <a:t>Binary arithmetic</a:t>
            </a:r>
          </a:p>
          <a:p>
            <a:r>
              <a:rPr lang="en-GB" dirty="0"/>
              <a:t>Storage of data in binary form</a:t>
            </a:r>
          </a:p>
          <a:p>
            <a:endParaRPr lang="en-GB" dirty="0"/>
          </a:p>
        </p:txBody>
      </p:sp>
    </p:spTree>
    <p:extLst>
      <p:ext uri="{BB962C8B-B14F-4D97-AF65-F5344CB8AC3E}">
        <p14:creationId xmlns:p14="http://schemas.microsoft.com/office/powerpoint/2010/main" val="74930615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7E1548-BA96-49E9-C7D7-1B73A2A83A8F}"/>
              </a:ext>
            </a:extLst>
          </p:cNvPr>
          <p:cNvSpPr>
            <a:spLocks noGrp="1"/>
          </p:cNvSpPr>
          <p:nvPr>
            <p:ph type="title"/>
          </p:nvPr>
        </p:nvSpPr>
        <p:spPr/>
        <p:txBody>
          <a:bodyPr/>
          <a:lstStyle/>
          <a:p>
            <a:r>
              <a:rPr lang="en-GB" dirty="0"/>
              <a:t>First digital computers (1930s &amp; 1940s)</a:t>
            </a:r>
          </a:p>
        </p:txBody>
      </p:sp>
      <p:sp>
        <p:nvSpPr>
          <p:cNvPr id="3" name="Content Placeholder 2">
            <a:extLst>
              <a:ext uri="{FF2B5EF4-FFF2-40B4-BE49-F238E27FC236}">
                <a16:creationId xmlns:a16="http://schemas.microsoft.com/office/drawing/2014/main" id="{3E92311B-2EAF-0569-FB5B-FDE133291086}"/>
              </a:ext>
            </a:extLst>
          </p:cNvPr>
          <p:cNvSpPr>
            <a:spLocks noGrp="1"/>
          </p:cNvSpPr>
          <p:nvPr>
            <p:ph idx="1"/>
          </p:nvPr>
        </p:nvSpPr>
        <p:spPr/>
        <p:txBody>
          <a:bodyPr/>
          <a:lstStyle/>
          <a:p>
            <a:r>
              <a:rPr lang="en-GB" dirty="0"/>
              <a:t>Z3</a:t>
            </a:r>
          </a:p>
          <a:p>
            <a:pPr lvl="1"/>
            <a:r>
              <a:rPr lang="en-GB" dirty="0"/>
              <a:t>electrical</a:t>
            </a:r>
          </a:p>
          <a:p>
            <a:r>
              <a:rPr lang="en-GB" dirty="0"/>
              <a:t>Colossus</a:t>
            </a:r>
          </a:p>
          <a:p>
            <a:pPr lvl="1"/>
            <a:r>
              <a:rPr lang="en-GB" dirty="0"/>
              <a:t>Electronic (valves)</a:t>
            </a:r>
          </a:p>
          <a:p>
            <a:pPr lvl="1"/>
            <a:r>
              <a:rPr lang="en-GB" dirty="0"/>
              <a:t>Used by Bletchley Park team</a:t>
            </a:r>
          </a:p>
          <a:p>
            <a:r>
              <a:rPr lang="en-GB" dirty="0"/>
              <a:t>ENIAC</a:t>
            </a:r>
          </a:p>
          <a:p>
            <a:pPr lvl="1"/>
            <a:r>
              <a:rPr lang="en-GB" dirty="0"/>
              <a:t>Electronic (valves)</a:t>
            </a:r>
          </a:p>
          <a:p>
            <a:pPr lvl="1"/>
            <a:r>
              <a:rPr lang="en-GB" dirty="0"/>
              <a:t>Used to calculate simulations in Manhattan project</a:t>
            </a:r>
          </a:p>
        </p:txBody>
      </p:sp>
    </p:spTree>
    <p:extLst>
      <p:ext uri="{BB962C8B-B14F-4D97-AF65-F5344CB8AC3E}">
        <p14:creationId xmlns:p14="http://schemas.microsoft.com/office/powerpoint/2010/main" val="34951961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E02F42-0027-4ECB-45D4-49960CBD72B7}"/>
              </a:ext>
            </a:extLst>
          </p:cNvPr>
          <p:cNvSpPr>
            <a:spLocks noGrp="1"/>
          </p:cNvSpPr>
          <p:nvPr>
            <p:ph type="title"/>
          </p:nvPr>
        </p:nvSpPr>
        <p:spPr/>
        <p:txBody>
          <a:bodyPr/>
          <a:lstStyle/>
          <a:p>
            <a:r>
              <a:rPr lang="en-GB" dirty="0"/>
              <a:t>Stored Program Computer</a:t>
            </a:r>
          </a:p>
        </p:txBody>
      </p:sp>
      <p:sp>
        <p:nvSpPr>
          <p:cNvPr id="3" name="Content Placeholder 2">
            <a:extLst>
              <a:ext uri="{FF2B5EF4-FFF2-40B4-BE49-F238E27FC236}">
                <a16:creationId xmlns:a16="http://schemas.microsoft.com/office/drawing/2014/main" id="{09F1571F-2B5B-8D58-B6AB-98C18DF67A29}"/>
              </a:ext>
            </a:extLst>
          </p:cNvPr>
          <p:cNvSpPr>
            <a:spLocks noGrp="1"/>
          </p:cNvSpPr>
          <p:nvPr>
            <p:ph idx="1"/>
          </p:nvPr>
        </p:nvSpPr>
        <p:spPr/>
        <p:txBody>
          <a:bodyPr/>
          <a:lstStyle/>
          <a:p>
            <a:r>
              <a:rPr lang="en-GB" dirty="0"/>
              <a:t>Institute for Advanced Studies (IAS) machine</a:t>
            </a:r>
          </a:p>
          <a:p>
            <a:pPr lvl="1"/>
            <a:r>
              <a:rPr lang="en-GB" dirty="0"/>
              <a:t>Fundamental design approach was the stored program concept</a:t>
            </a:r>
          </a:p>
          <a:p>
            <a:pPr lvl="1"/>
            <a:r>
              <a:rPr lang="en-GB" dirty="0"/>
              <a:t>Attributed to the mathematician John von Neumann</a:t>
            </a:r>
          </a:p>
          <a:p>
            <a:pPr lvl="1"/>
            <a:r>
              <a:rPr lang="en-GB" dirty="0"/>
              <a:t>First publication of the idea was in 1945 for the EDVAC</a:t>
            </a:r>
          </a:p>
          <a:p>
            <a:pPr lvl="1"/>
            <a:r>
              <a:rPr lang="en-GB" dirty="0"/>
              <a:t>Design began at the Princeton Institute for Advanced Studies</a:t>
            </a:r>
          </a:p>
          <a:p>
            <a:pPr lvl="1"/>
            <a:r>
              <a:rPr lang="en-GB" dirty="0"/>
              <a:t>EDVAC completed in 1952</a:t>
            </a:r>
          </a:p>
          <a:p>
            <a:pPr lvl="1"/>
            <a:r>
              <a:rPr lang="en-GB" dirty="0"/>
              <a:t>Prototype of all subsequent general-purpose computers (</a:t>
            </a:r>
            <a:r>
              <a:rPr lang="en-GB" b="1" dirty="0"/>
              <a:t>von Neumann Architecture</a:t>
            </a:r>
            <a:r>
              <a:rPr lang="en-GB" dirty="0"/>
              <a:t>)</a:t>
            </a:r>
          </a:p>
          <a:p>
            <a:pPr lvl="1"/>
            <a:r>
              <a:rPr lang="en-GB" dirty="0"/>
              <a:t>Machine instructions stored as data (</a:t>
            </a:r>
            <a:r>
              <a:rPr lang="en-GB" b="1" dirty="0"/>
              <a:t>stored program</a:t>
            </a:r>
            <a:r>
              <a:rPr lang="en-GB" dirty="0"/>
              <a:t>) in memory or read </a:t>
            </a:r>
            <a:r>
              <a:rPr lang="en-GB"/>
              <a:t>in from I/O.</a:t>
            </a:r>
            <a:endParaRPr lang="en-GB" dirty="0"/>
          </a:p>
        </p:txBody>
      </p:sp>
    </p:spTree>
    <p:extLst>
      <p:ext uri="{BB962C8B-B14F-4D97-AF65-F5344CB8AC3E}">
        <p14:creationId xmlns:p14="http://schemas.microsoft.com/office/powerpoint/2010/main" val="59573505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81983-23B4-1A70-DF11-143CCD3D460D}"/>
              </a:ext>
            </a:extLst>
          </p:cNvPr>
          <p:cNvSpPr>
            <a:spLocks noGrp="1"/>
          </p:cNvSpPr>
          <p:nvPr>
            <p:ph type="title"/>
          </p:nvPr>
        </p:nvSpPr>
        <p:spPr/>
        <p:txBody>
          <a:bodyPr/>
          <a:lstStyle/>
          <a:p>
            <a:r>
              <a:rPr lang="en-GB" dirty="0"/>
              <a:t>Von Neumann Architecture</a:t>
            </a:r>
          </a:p>
        </p:txBody>
      </p:sp>
      <p:sp>
        <p:nvSpPr>
          <p:cNvPr id="4" name="Text Placeholder 3">
            <a:extLst>
              <a:ext uri="{FF2B5EF4-FFF2-40B4-BE49-F238E27FC236}">
                <a16:creationId xmlns:a16="http://schemas.microsoft.com/office/drawing/2014/main" id="{910BE239-E538-4814-9203-7784FEDF4740}"/>
              </a:ext>
            </a:extLst>
          </p:cNvPr>
          <p:cNvSpPr>
            <a:spLocks noGrp="1"/>
          </p:cNvSpPr>
          <p:nvPr>
            <p:ph type="body" idx="1"/>
          </p:nvPr>
        </p:nvSpPr>
        <p:spPr/>
        <p:txBody>
          <a:bodyPr/>
          <a:lstStyle/>
          <a:p>
            <a:endParaRPr lang="en-GB"/>
          </a:p>
        </p:txBody>
      </p:sp>
    </p:spTree>
    <p:extLst>
      <p:ext uri="{BB962C8B-B14F-4D97-AF65-F5344CB8AC3E}">
        <p14:creationId xmlns:p14="http://schemas.microsoft.com/office/powerpoint/2010/main" val="246028336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998DB1-32F7-DF8A-D42B-A21C9ED11BB5}"/>
              </a:ext>
            </a:extLst>
          </p:cNvPr>
          <p:cNvSpPr>
            <a:spLocks noGrp="1"/>
          </p:cNvSpPr>
          <p:nvPr>
            <p:ph type="title"/>
          </p:nvPr>
        </p:nvSpPr>
        <p:spPr/>
        <p:txBody>
          <a:bodyPr/>
          <a:lstStyle/>
          <a:p>
            <a:r>
              <a:rPr lang="en-GB" dirty="0"/>
              <a:t>Von Neumann Architecture</a:t>
            </a:r>
          </a:p>
        </p:txBody>
      </p:sp>
      <p:sp>
        <p:nvSpPr>
          <p:cNvPr id="3" name="Content Placeholder 2">
            <a:extLst>
              <a:ext uri="{FF2B5EF4-FFF2-40B4-BE49-F238E27FC236}">
                <a16:creationId xmlns:a16="http://schemas.microsoft.com/office/drawing/2014/main" id="{C310B843-C836-0124-1F18-28986843FFB7}"/>
              </a:ext>
            </a:extLst>
          </p:cNvPr>
          <p:cNvSpPr>
            <a:spLocks noGrp="1"/>
          </p:cNvSpPr>
          <p:nvPr>
            <p:ph sz="half" idx="1"/>
          </p:nvPr>
        </p:nvSpPr>
        <p:spPr/>
        <p:txBody>
          <a:bodyPr>
            <a:normAutofit lnSpcReduction="10000"/>
          </a:bodyPr>
          <a:lstStyle/>
          <a:p>
            <a:r>
              <a:rPr lang="en-GB" dirty="0"/>
              <a:t>The von Neumann machine is based on four linked components:</a:t>
            </a:r>
          </a:p>
          <a:p>
            <a:pPr lvl="1"/>
            <a:r>
              <a:rPr lang="en-GB" dirty="0">
                <a:solidFill>
                  <a:schemeClr val="accent1"/>
                </a:solidFill>
              </a:rPr>
              <a:t>Main memory</a:t>
            </a:r>
            <a:r>
              <a:rPr lang="en-GB" dirty="0"/>
              <a:t> which can store programs alongside data.</a:t>
            </a:r>
          </a:p>
          <a:p>
            <a:pPr lvl="1"/>
            <a:r>
              <a:rPr lang="en-GB" dirty="0"/>
              <a:t>An </a:t>
            </a:r>
            <a:r>
              <a:rPr lang="en-GB" dirty="0">
                <a:solidFill>
                  <a:schemeClr val="accent1"/>
                </a:solidFill>
              </a:rPr>
              <a:t>Arithmetic and Logic Unit (ALU)</a:t>
            </a:r>
            <a:r>
              <a:rPr lang="en-GB" dirty="0"/>
              <a:t> capable of operating on binary data.</a:t>
            </a:r>
          </a:p>
          <a:p>
            <a:pPr lvl="1"/>
            <a:r>
              <a:rPr lang="en-GB" dirty="0"/>
              <a:t>A </a:t>
            </a:r>
            <a:r>
              <a:rPr lang="en-GB" dirty="0">
                <a:solidFill>
                  <a:schemeClr val="accent1"/>
                </a:solidFill>
              </a:rPr>
              <a:t>control unit </a:t>
            </a:r>
            <a:r>
              <a:rPr lang="en-GB" dirty="0"/>
              <a:t>which interprets instructions in memory and executes them.</a:t>
            </a:r>
          </a:p>
          <a:p>
            <a:pPr lvl="1"/>
            <a:r>
              <a:rPr lang="en-GB" dirty="0">
                <a:solidFill>
                  <a:schemeClr val="accent1"/>
                </a:solidFill>
              </a:rPr>
              <a:t>Input and output </a:t>
            </a:r>
            <a:r>
              <a:rPr lang="en-GB" dirty="0"/>
              <a:t>equipment operated by the control unit.</a:t>
            </a:r>
          </a:p>
        </p:txBody>
      </p:sp>
      <p:pic>
        <p:nvPicPr>
          <p:cNvPr id="1026" name="Picture 2">
            <a:extLst>
              <a:ext uri="{FF2B5EF4-FFF2-40B4-BE49-F238E27FC236}">
                <a16:creationId xmlns:a16="http://schemas.microsoft.com/office/drawing/2014/main" id="{A049D89E-C1E7-52F9-D10C-125A0B4214ED}"/>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6019800" y="2153114"/>
            <a:ext cx="5946377" cy="34488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1667302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82F0F4-3A23-D5D8-9FC7-2C492CD02683}"/>
              </a:ext>
            </a:extLst>
          </p:cNvPr>
          <p:cNvSpPr>
            <a:spLocks noGrp="1"/>
          </p:cNvSpPr>
          <p:nvPr>
            <p:ph type="title"/>
          </p:nvPr>
        </p:nvSpPr>
        <p:spPr/>
        <p:txBody>
          <a:bodyPr/>
          <a:lstStyle/>
          <a:p>
            <a:r>
              <a:rPr lang="en-GB" dirty="0"/>
              <a:t>Registers</a:t>
            </a:r>
          </a:p>
        </p:txBody>
      </p:sp>
      <p:sp>
        <p:nvSpPr>
          <p:cNvPr id="5" name="Content Placeholder 4">
            <a:extLst>
              <a:ext uri="{FF2B5EF4-FFF2-40B4-BE49-F238E27FC236}">
                <a16:creationId xmlns:a16="http://schemas.microsoft.com/office/drawing/2014/main" id="{50F33306-C9C0-476C-205A-64A22A7D5C60}"/>
              </a:ext>
            </a:extLst>
          </p:cNvPr>
          <p:cNvSpPr>
            <a:spLocks noGrp="1"/>
          </p:cNvSpPr>
          <p:nvPr>
            <p:ph sz="half" idx="1"/>
          </p:nvPr>
        </p:nvSpPr>
        <p:spPr>
          <a:xfrm>
            <a:off x="838199" y="1825625"/>
            <a:ext cx="5483179" cy="4351338"/>
          </a:xfrm>
        </p:spPr>
        <p:txBody>
          <a:bodyPr>
            <a:normAutofit fontScale="70000" lnSpcReduction="20000"/>
          </a:bodyPr>
          <a:lstStyle/>
          <a:p>
            <a:r>
              <a:rPr lang="en-GB" dirty="0"/>
              <a:t>Memory address register (MAR)</a:t>
            </a:r>
          </a:p>
          <a:p>
            <a:pPr lvl="1"/>
            <a:r>
              <a:rPr lang="en-GB" dirty="0"/>
              <a:t>Specifies the address in memory of the word to be written from or read into the MBR</a:t>
            </a:r>
          </a:p>
          <a:p>
            <a:r>
              <a:rPr lang="en-GB" dirty="0"/>
              <a:t>Memory data register (MDR)</a:t>
            </a:r>
          </a:p>
          <a:p>
            <a:pPr lvl="1"/>
            <a:r>
              <a:rPr lang="en-GB" dirty="0"/>
              <a:t>Contains a word to be stored in memory or sent to the I/O unit</a:t>
            </a:r>
          </a:p>
          <a:p>
            <a:pPr lvl="1"/>
            <a:r>
              <a:rPr lang="en-GB" dirty="0"/>
              <a:t>Or is used to receive a word from memory or from the I/O unit</a:t>
            </a:r>
          </a:p>
          <a:p>
            <a:r>
              <a:rPr lang="en-GB" dirty="0"/>
              <a:t>Current Instruction register (CIR)</a:t>
            </a:r>
          </a:p>
          <a:p>
            <a:pPr lvl="1"/>
            <a:r>
              <a:rPr lang="en-GB" dirty="0"/>
              <a:t>Contains the opcode instruction being executed</a:t>
            </a:r>
          </a:p>
          <a:p>
            <a:r>
              <a:rPr lang="en-GB" dirty="0"/>
              <a:t>Program counter (PC)</a:t>
            </a:r>
          </a:p>
          <a:p>
            <a:pPr lvl="1"/>
            <a:r>
              <a:rPr lang="en-GB" dirty="0"/>
              <a:t>Contains the address of the next instruction to be fetched from memory</a:t>
            </a:r>
          </a:p>
          <a:p>
            <a:r>
              <a:rPr lang="en-GB" dirty="0"/>
              <a:t>Accumulator (AC)</a:t>
            </a:r>
          </a:p>
          <a:p>
            <a:pPr lvl="1"/>
            <a:r>
              <a:rPr lang="en-GB" dirty="0"/>
              <a:t>Employed to temporarily hold operands and results of ALU operations</a:t>
            </a:r>
          </a:p>
          <a:p>
            <a:endParaRPr lang="en-GB" dirty="0"/>
          </a:p>
        </p:txBody>
      </p:sp>
      <p:pic>
        <p:nvPicPr>
          <p:cNvPr id="3074" name="Picture 2" descr="Illustrative background for Von Neumann architecture ?? &quot;content">
            <a:extLst>
              <a:ext uri="{FF2B5EF4-FFF2-40B4-BE49-F238E27FC236}">
                <a16:creationId xmlns:a16="http://schemas.microsoft.com/office/drawing/2014/main" id="{2D971C21-B29C-A964-2930-495A48D4D529}"/>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6321379" y="1812925"/>
            <a:ext cx="5870621" cy="38942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7667811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53A6EB-1DB3-5B85-33A7-F0C694AED8C2}"/>
              </a:ext>
            </a:extLst>
          </p:cNvPr>
          <p:cNvSpPr>
            <a:spLocks noGrp="1"/>
          </p:cNvSpPr>
          <p:nvPr>
            <p:ph type="title"/>
          </p:nvPr>
        </p:nvSpPr>
        <p:spPr/>
        <p:txBody>
          <a:bodyPr/>
          <a:lstStyle/>
          <a:p>
            <a:r>
              <a:rPr lang="en-GB" dirty="0"/>
              <a:t>Addresses</a:t>
            </a:r>
          </a:p>
        </p:txBody>
      </p:sp>
      <p:sp>
        <p:nvSpPr>
          <p:cNvPr id="3" name="Content Placeholder 2">
            <a:extLst>
              <a:ext uri="{FF2B5EF4-FFF2-40B4-BE49-F238E27FC236}">
                <a16:creationId xmlns:a16="http://schemas.microsoft.com/office/drawing/2014/main" id="{0299BF92-70E3-5808-A05B-48B9A2C213C9}"/>
              </a:ext>
            </a:extLst>
          </p:cNvPr>
          <p:cNvSpPr>
            <a:spLocks noGrp="1"/>
          </p:cNvSpPr>
          <p:nvPr>
            <p:ph sz="half" idx="1"/>
          </p:nvPr>
        </p:nvSpPr>
        <p:spPr/>
        <p:txBody>
          <a:bodyPr/>
          <a:lstStyle/>
          <a:p>
            <a:r>
              <a:rPr lang="en-GB" dirty="0"/>
              <a:t>Addresses are an index to locations in memory</a:t>
            </a:r>
          </a:p>
          <a:p>
            <a:r>
              <a:rPr lang="en-GB" dirty="0"/>
              <a:t>Most modern computers are </a:t>
            </a:r>
            <a:r>
              <a:rPr lang="en-GB" b="1" dirty="0"/>
              <a:t>byte addressable</a:t>
            </a:r>
          </a:p>
          <a:p>
            <a:pPr lvl="1"/>
            <a:r>
              <a:rPr lang="en-GB" dirty="0"/>
              <a:t>Address is number used to refer to a specific byte in memory</a:t>
            </a:r>
          </a:p>
          <a:p>
            <a:pPr lvl="1"/>
            <a:r>
              <a:rPr lang="en-GB" dirty="0"/>
              <a:t>CPU sees memory as large linear sequence of bytes</a:t>
            </a:r>
          </a:p>
          <a:p>
            <a:pPr lvl="1"/>
            <a:endParaRPr lang="en-GB" dirty="0"/>
          </a:p>
        </p:txBody>
      </p:sp>
      <p:pic>
        <p:nvPicPr>
          <p:cNvPr id="1026" name="Picture 2" descr="cells of memory">
            <a:extLst>
              <a:ext uri="{FF2B5EF4-FFF2-40B4-BE49-F238E27FC236}">
                <a16:creationId xmlns:a16="http://schemas.microsoft.com/office/drawing/2014/main" id="{C16E19C0-DEB1-CB0D-60C0-62415A333329}"/>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7462837" y="1962944"/>
            <a:ext cx="2600325" cy="40767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5705598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743AA782-23D1-4521-8CAD-47662984A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49A7C0E-24C4-921B-C5E6-7C990B1DC9DD}"/>
              </a:ext>
            </a:extLst>
          </p:cNvPr>
          <p:cNvSpPr>
            <a:spLocks noGrp="1"/>
          </p:cNvSpPr>
          <p:nvPr>
            <p:ph type="title"/>
          </p:nvPr>
        </p:nvSpPr>
        <p:spPr>
          <a:xfrm>
            <a:off x="630936" y="640080"/>
            <a:ext cx="4818888" cy="1481328"/>
          </a:xfrm>
        </p:spPr>
        <p:txBody>
          <a:bodyPr vert="horz" lIns="91440" tIns="45720" rIns="91440" bIns="45720" rtlCol="0" anchor="b">
            <a:normAutofit/>
          </a:bodyPr>
          <a:lstStyle/>
          <a:p>
            <a:r>
              <a:rPr lang="en-US" sz="5400" kern="1200">
                <a:solidFill>
                  <a:schemeClr val="tx1"/>
                </a:solidFill>
                <a:latin typeface="+mj-lt"/>
                <a:ea typeface="+mj-ea"/>
                <a:cs typeface="+mj-cs"/>
              </a:rPr>
              <a:t>Instructions</a:t>
            </a:r>
          </a:p>
        </p:txBody>
      </p:sp>
      <p:sp>
        <p:nvSpPr>
          <p:cNvPr id="17" name="sketch line">
            <a:extLst>
              <a:ext uri="{FF2B5EF4-FFF2-40B4-BE49-F238E27FC236}">
                <a16:creationId xmlns:a16="http://schemas.microsoft.com/office/drawing/2014/main" id="{71877DBC-BB60-40F0-AC93-2ACDBAAE60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372868"/>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Content Placeholder 4">
            <a:extLst>
              <a:ext uri="{FF2B5EF4-FFF2-40B4-BE49-F238E27FC236}">
                <a16:creationId xmlns:a16="http://schemas.microsoft.com/office/drawing/2014/main" id="{9C26F040-AFF3-D6B2-CD34-A8186BAA0815}"/>
              </a:ext>
            </a:extLst>
          </p:cNvPr>
          <p:cNvSpPr>
            <a:spLocks noGrp="1"/>
          </p:cNvSpPr>
          <p:nvPr>
            <p:ph sz="half" idx="1"/>
          </p:nvPr>
        </p:nvSpPr>
        <p:spPr>
          <a:xfrm>
            <a:off x="630936" y="2660904"/>
            <a:ext cx="4818888" cy="3547872"/>
          </a:xfrm>
        </p:spPr>
        <p:txBody>
          <a:bodyPr vert="horz" lIns="91440" tIns="45720" rIns="91440" bIns="45720" rtlCol="0" anchor="t">
            <a:normAutofit/>
          </a:bodyPr>
          <a:lstStyle/>
          <a:p>
            <a:r>
              <a:rPr lang="en-US" sz="1700"/>
              <a:t>Instruction consists of:</a:t>
            </a:r>
          </a:p>
          <a:p>
            <a:pPr lvl="1"/>
            <a:r>
              <a:rPr lang="en-US" sz="1700"/>
              <a:t>Opcode – code for instruction to perform</a:t>
            </a:r>
          </a:p>
          <a:p>
            <a:pPr lvl="1"/>
            <a:r>
              <a:rPr lang="en-US" sz="1700"/>
              <a:t>Operands – data to perform instruction or address to use</a:t>
            </a:r>
          </a:p>
          <a:p>
            <a:r>
              <a:rPr lang="en-US" sz="1700"/>
              <a:t>Instruction types:</a:t>
            </a:r>
          </a:p>
          <a:p>
            <a:pPr lvl="1"/>
            <a:r>
              <a:rPr lang="en-US" sz="1700"/>
              <a:t>Data handling</a:t>
            </a:r>
          </a:p>
          <a:p>
            <a:pPr lvl="2"/>
            <a:r>
              <a:rPr lang="en-US" sz="1700"/>
              <a:t>Set register</a:t>
            </a:r>
          </a:p>
          <a:p>
            <a:pPr lvl="2"/>
            <a:r>
              <a:rPr lang="en-US" sz="1700"/>
              <a:t>Copy from memory</a:t>
            </a:r>
          </a:p>
          <a:p>
            <a:pPr lvl="2"/>
            <a:r>
              <a:rPr lang="en-US" sz="1700"/>
              <a:t>Read and write to I/O</a:t>
            </a:r>
          </a:p>
          <a:p>
            <a:pPr lvl="1"/>
            <a:r>
              <a:rPr lang="en-US" sz="1700"/>
              <a:t>Arithmetic and logic</a:t>
            </a:r>
          </a:p>
          <a:p>
            <a:pPr lvl="1"/>
            <a:r>
              <a:rPr lang="en-US" sz="1700"/>
              <a:t>Control flow</a:t>
            </a:r>
          </a:p>
          <a:p>
            <a:endParaRPr lang="en-US" sz="1700" dirty="0"/>
          </a:p>
        </p:txBody>
      </p:sp>
      <p:pic>
        <p:nvPicPr>
          <p:cNvPr id="7" name="Content Placeholder 3" descr="Fig01_03.gif">
            <a:extLst>
              <a:ext uri="{FF2B5EF4-FFF2-40B4-BE49-F238E27FC236}">
                <a16:creationId xmlns:a16="http://schemas.microsoft.com/office/drawing/2014/main" id="{C1E83ABE-0C5A-9244-F3FB-8CB745A6611A}"/>
              </a:ext>
            </a:extLst>
          </p:cNvPr>
          <p:cNvPicPr>
            <a:picLocks noGrp="1" noChangeAspect="1"/>
          </p:cNvPicPr>
          <p:nvPr>
            <p:ph sz="half" idx="2"/>
          </p:nvPr>
        </p:nvPicPr>
        <p:blipFill>
          <a:blip r:embed="rId2" cstate="print"/>
          <a:srcRect t="-1550" b="-581"/>
          <a:stretch>
            <a:fillRect/>
          </a:stretch>
        </p:blipFill>
        <p:spPr>
          <a:xfrm>
            <a:off x="6099048" y="703707"/>
            <a:ext cx="5458968" cy="5450586"/>
          </a:xfrm>
          <a:prstGeom prst="rect">
            <a:avLst/>
          </a:prstGeom>
        </p:spPr>
      </p:pic>
    </p:spTree>
    <p:extLst>
      <p:ext uri="{BB962C8B-B14F-4D97-AF65-F5344CB8AC3E}">
        <p14:creationId xmlns:p14="http://schemas.microsoft.com/office/powerpoint/2010/main" val="390477359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C965F3-80C4-C569-2789-955294F5E847}"/>
              </a:ext>
            </a:extLst>
          </p:cNvPr>
          <p:cNvSpPr>
            <a:spLocks noGrp="1"/>
          </p:cNvSpPr>
          <p:nvPr>
            <p:ph type="title"/>
          </p:nvPr>
        </p:nvSpPr>
        <p:spPr/>
        <p:txBody>
          <a:bodyPr/>
          <a:lstStyle/>
          <a:p>
            <a:r>
              <a:rPr lang="en-GB" dirty="0"/>
              <a:t>Fetch-Decode-Execute Cycle</a:t>
            </a:r>
          </a:p>
        </p:txBody>
      </p:sp>
      <p:sp>
        <p:nvSpPr>
          <p:cNvPr id="3" name="Content Placeholder 2">
            <a:extLst>
              <a:ext uri="{FF2B5EF4-FFF2-40B4-BE49-F238E27FC236}">
                <a16:creationId xmlns:a16="http://schemas.microsoft.com/office/drawing/2014/main" id="{43293552-4FB5-8AC0-507E-2CD9867BE743}"/>
              </a:ext>
            </a:extLst>
          </p:cNvPr>
          <p:cNvSpPr>
            <a:spLocks noGrp="1"/>
          </p:cNvSpPr>
          <p:nvPr>
            <p:ph sz="half" idx="1"/>
          </p:nvPr>
        </p:nvSpPr>
        <p:spPr/>
        <p:txBody>
          <a:bodyPr>
            <a:normAutofit fontScale="92500" lnSpcReduction="20000"/>
          </a:bodyPr>
          <a:lstStyle/>
          <a:p>
            <a:r>
              <a:rPr lang="en-US" sz="3200" dirty="0"/>
              <a:t>The processor fetches an instruction from memory into instruction register (IR)</a:t>
            </a:r>
          </a:p>
          <a:p>
            <a:r>
              <a:rPr lang="en-US" sz="3200" dirty="0"/>
              <a:t>Determines machine operation from opcode (</a:t>
            </a:r>
            <a:r>
              <a:rPr lang="en-US" sz="3200" b="1" dirty="0"/>
              <a:t>decode</a:t>
            </a:r>
            <a:r>
              <a:rPr lang="en-US" sz="3200" dirty="0"/>
              <a:t>)</a:t>
            </a:r>
          </a:p>
          <a:p>
            <a:r>
              <a:rPr lang="en-US" sz="3200" dirty="0"/>
              <a:t>Performs operation (</a:t>
            </a:r>
            <a:r>
              <a:rPr lang="en-US" sz="3200" b="1" dirty="0"/>
              <a:t>execute</a:t>
            </a:r>
            <a:r>
              <a:rPr lang="en-US" sz="3200" dirty="0"/>
              <a:t>)</a:t>
            </a:r>
          </a:p>
          <a:p>
            <a:r>
              <a:rPr lang="en-US" sz="3200" dirty="0"/>
              <a:t>Typically, the program counter (PC) holds the address of the next instruction to </a:t>
            </a:r>
            <a:r>
              <a:rPr lang="en-US" sz="3200"/>
              <a:t>be fetched</a:t>
            </a:r>
          </a:p>
          <a:p>
            <a:pPr lvl="1"/>
            <a:r>
              <a:rPr lang="en-US" dirty="0"/>
              <a:t>PC is incremented after each fetch</a:t>
            </a:r>
          </a:p>
          <a:p>
            <a:endParaRPr lang="en-GB" dirty="0"/>
          </a:p>
        </p:txBody>
      </p:sp>
      <p:pic>
        <p:nvPicPr>
          <p:cNvPr id="6" name="Content Placeholder 5" descr="f2.pdf">
            <a:extLst>
              <a:ext uri="{FF2B5EF4-FFF2-40B4-BE49-F238E27FC236}">
                <a16:creationId xmlns:a16="http://schemas.microsoft.com/office/drawing/2014/main" id="{F202CFE1-10E0-6FA3-E78F-A235F603D1AE}"/>
              </a:ext>
            </a:extLst>
          </p:cNvPr>
          <p:cNvPicPr>
            <a:picLocks noGrp="1" noChangeAspect="1"/>
          </p:cNvPicPr>
          <p:nvPr>
            <p:ph sz="half" idx="2"/>
          </p:nvPr>
        </p:nvPicPr>
        <p:blipFill>
          <a:blip r:embed="rId2" cstate="print">
            <a:extLst>
              <a:ext uri="{28A0092B-C50C-407E-A947-70E740481C1C}">
                <a14:useLocalDpi xmlns:a14="http://schemas.microsoft.com/office/drawing/2010/main" val="0"/>
              </a:ext>
            </a:extLst>
          </a:blip>
          <a:stretch>
            <a:fillRect/>
          </a:stretch>
        </p:blipFill>
        <p:spPr>
          <a:xfrm>
            <a:off x="6172200" y="1999312"/>
            <a:ext cx="6026278" cy="4656669"/>
          </a:xfrm>
          <a:prstGeom prst="rect">
            <a:avLst/>
          </a:prstGeom>
        </p:spPr>
      </p:pic>
    </p:spTree>
    <p:extLst>
      <p:ext uri="{BB962C8B-B14F-4D97-AF65-F5344CB8AC3E}">
        <p14:creationId xmlns:p14="http://schemas.microsoft.com/office/powerpoint/2010/main" val="426451577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3555A7-2D71-0C04-D770-2D64D68F732F}"/>
              </a:ext>
            </a:extLst>
          </p:cNvPr>
          <p:cNvSpPr>
            <a:spLocks noGrp="1"/>
          </p:cNvSpPr>
          <p:nvPr>
            <p:ph type="title"/>
          </p:nvPr>
        </p:nvSpPr>
        <p:spPr/>
        <p:txBody>
          <a:bodyPr/>
          <a:lstStyle/>
          <a:p>
            <a:r>
              <a:rPr lang="en-GB" dirty="0"/>
              <a:t>Von Neumann Bottleneck</a:t>
            </a:r>
          </a:p>
        </p:txBody>
      </p:sp>
      <p:sp>
        <p:nvSpPr>
          <p:cNvPr id="5" name="Content Placeholder 4">
            <a:extLst>
              <a:ext uri="{FF2B5EF4-FFF2-40B4-BE49-F238E27FC236}">
                <a16:creationId xmlns:a16="http://schemas.microsoft.com/office/drawing/2014/main" id="{A4C03F43-4D44-7D1E-0DAF-21DE758C2D5F}"/>
              </a:ext>
            </a:extLst>
          </p:cNvPr>
          <p:cNvSpPr>
            <a:spLocks noGrp="1"/>
          </p:cNvSpPr>
          <p:nvPr>
            <p:ph idx="1"/>
          </p:nvPr>
        </p:nvSpPr>
        <p:spPr/>
        <p:txBody>
          <a:bodyPr>
            <a:normAutofit/>
          </a:bodyPr>
          <a:lstStyle/>
          <a:p>
            <a:r>
              <a:rPr lang="en-GB" dirty="0"/>
              <a:t>Von Neumann architectures shares memory bus for data and program instructions</a:t>
            </a:r>
          </a:p>
          <a:p>
            <a:r>
              <a:rPr lang="en-GB" dirty="0"/>
              <a:t>Single bus limits throughput (data transfer rate) between CPU and memory</a:t>
            </a:r>
          </a:p>
          <a:p>
            <a:r>
              <a:rPr lang="en-GB" dirty="0"/>
              <a:t>CPU must wait for data to be moved to or from memory </a:t>
            </a:r>
          </a:p>
          <a:p>
            <a:endParaRPr lang="en-GB" dirty="0"/>
          </a:p>
        </p:txBody>
      </p:sp>
    </p:spTree>
    <p:extLst>
      <p:ext uri="{BB962C8B-B14F-4D97-AF65-F5344CB8AC3E}">
        <p14:creationId xmlns:p14="http://schemas.microsoft.com/office/powerpoint/2010/main" val="64007026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6F50A8-7CB0-3FC7-B0D9-B3A8CAA57ACA}"/>
              </a:ext>
            </a:extLst>
          </p:cNvPr>
          <p:cNvSpPr>
            <a:spLocks noGrp="1"/>
          </p:cNvSpPr>
          <p:nvPr>
            <p:ph type="title"/>
          </p:nvPr>
        </p:nvSpPr>
        <p:spPr/>
        <p:txBody>
          <a:bodyPr/>
          <a:lstStyle/>
          <a:p>
            <a:r>
              <a:rPr lang="en-GB" dirty="0"/>
              <a:t>Harvard Architecture</a:t>
            </a:r>
          </a:p>
        </p:txBody>
      </p:sp>
      <p:sp>
        <p:nvSpPr>
          <p:cNvPr id="4" name="Content Placeholder 3">
            <a:extLst>
              <a:ext uri="{FF2B5EF4-FFF2-40B4-BE49-F238E27FC236}">
                <a16:creationId xmlns:a16="http://schemas.microsoft.com/office/drawing/2014/main" id="{F5DD6E11-AAEF-1F18-9335-9FAA1787508F}"/>
              </a:ext>
            </a:extLst>
          </p:cNvPr>
          <p:cNvSpPr>
            <a:spLocks noGrp="1"/>
          </p:cNvSpPr>
          <p:nvPr>
            <p:ph sz="half" idx="1"/>
          </p:nvPr>
        </p:nvSpPr>
        <p:spPr>
          <a:xfrm>
            <a:off x="838200" y="1838325"/>
            <a:ext cx="5181600" cy="4351338"/>
          </a:xfrm>
        </p:spPr>
        <p:txBody>
          <a:bodyPr>
            <a:normAutofit/>
          </a:bodyPr>
          <a:lstStyle/>
          <a:p>
            <a:r>
              <a:rPr lang="en-GB" sz="1800" dirty="0"/>
              <a:t>Named for Harvard Mark 1 (1944)</a:t>
            </a:r>
          </a:p>
          <a:p>
            <a:r>
              <a:rPr lang="en-GB" sz="1800" dirty="0"/>
              <a:t>Difference is two buses from memory to CPU</a:t>
            </a:r>
          </a:p>
          <a:p>
            <a:pPr lvl="1"/>
            <a:r>
              <a:rPr lang="en-GB" sz="1600" dirty="0"/>
              <a:t>Instructions</a:t>
            </a:r>
          </a:p>
          <a:p>
            <a:pPr lvl="1"/>
            <a:r>
              <a:rPr lang="en-GB" sz="1600" dirty="0"/>
              <a:t>Data</a:t>
            </a:r>
          </a:p>
          <a:p>
            <a:pPr lvl="1"/>
            <a:r>
              <a:rPr lang="en-GB" sz="1600" dirty="0"/>
              <a:t>Mark 1 could read in instructions and data from punch cards simultaneously</a:t>
            </a:r>
          </a:p>
          <a:p>
            <a:r>
              <a:rPr lang="en-GB" sz="1800" dirty="0"/>
              <a:t>Advantages</a:t>
            </a:r>
          </a:p>
          <a:p>
            <a:pPr lvl="1"/>
            <a:r>
              <a:rPr lang="en-GB" sz="1600" dirty="0"/>
              <a:t>CPU receives instruction and data concurrently</a:t>
            </a:r>
          </a:p>
          <a:p>
            <a:r>
              <a:rPr lang="en-GB" sz="1800" dirty="0"/>
              <a:t>Disadvantages</a:t>
            </a:r>
          </a:p>
          <a:p>
            <a:pPr lvl="1"/>
            <a:r>
              <a:rPr lang="en-GB" sz="1600" dirty="0"/>
              <a:t>Programs cannot be stored in same memory as data</a:t>
            </a:r>
          </a:p>
          <a:p>
            <a:r>
              <a:rPr lang="en-GB" sz="1800" dirty="0"/>
              <a:t>Modern uses</a:t>
            </a:r>
          </a:p>
          <a:p>
            <a:pPr lvl="1"/>
            <a:r>
              <a:rPr lang="en-GB" sz="1600" dirty="0"/>
              <a:t>Microcontrollers</a:t>
            </a:r>
          </a:p>
          <a:p>
            <a:pPr lvl="1"/>
            <a:r>
              <a:rPr lang="en-GB" sz="1600" dirty="0"/>
              <a:t>Digital Signal Processors</a:t>
            </a:r>
          </a:p>
        </p:txBody>
      </p:sp>
      <p:pic>
        <p:nvPicPr>
          <p:cNvPr id="2050" name="Picture 2" descr="undefined">
            <a:extLst>
              <a:ext uri="{FF2B5EF4-FFF2-40B4-BE49-F238E27FC236}">
                <a16:creationId xmlns:a16="http://schemas.microsoft.com/office/drawing/2014/main" id="{144459B1-4FFA-E701-D9A6-5622F89FA7EE}"/>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6172200" y="2351683"/>
            <a:ext cx="5181600" cy="32992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2408407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78151F-192A-ABBB-4C60-76978EAD130E}"/>
              </a:ext>
            </a:extLst>
          </p:cNvPr>
          <p:cNvSpPr>
            <a:spLocks noGrp="1"/>
          </p:cNvSpPr>
          <p:nvPr>
            <p:ph type="title"/>
          </p:nvPr>
        </p:nvSpPr>
        <p:spPr/>
        <p:txBody>
          <a:bodyPr/>
          <a:lstStyle/>
          <a:p>
            <a:r>
              <a:rPr lang="en-GB" dirty="0"/>
              <a:t>Von Neumann Bottleneck Mitigations</a:t>
            </a:r>
          </a:p>
        </p:txBody>
      </p:sp>
      <p:sp>
        <p:nvSpPr>
          <p:cNvPr id="5" name="Content Placeholder 4">
            <a:extLst>
              <a:ext uri="{FF2B5EF4-FFF2-40B4-BE49-F238E27FC236}">
                <a16:creationId xmlns:a16="http://schemas.microsoft.com/office/drawing/2014/main" id="{02EC64BF-8D23-6B51-9D44-49E758252E49}"/>
              </a:ext>
            </a:extLst>
          </p:cNvPr>
          <p:cNvSpPr>
            <a:spLocks noGrp="1"/>
          </p:cNvSpPr>
          <p:nvPr>
            <p:ph idx="1"/>
          </p:nvPr>
        </p:nvSpPr>
        <p:spPr/>
        <p:txBody>
          <a:bodyPr/>
          <a:lstStyle/>
          <a:p>
            <a:r>
              <a:rPr lang="en-GB" dirty="0"/>
              <a:t>Cache between the CPU and the main memory;</a:t>
            </a:r>
          </a:p>
          <a:p>
            <a:pPr lvl="1"/>
            <a:r>
              <a:rPr lang="en-GB" dirty="0"/>
              <a:t>Stores instructions and data for </a:t>
            </a:r>
            <a:r>
              <a:rPr lang="en-GB"/>
              <a:t>future operations</a:t>
            </a:r>
            <a:endParaRPr lang="en-GB" dirty="0"/>
          </a:p>
          <a:p>
            <a:r>
              <a:rPr lang="en-GB" dirty="0"/>
              <a:t>Separate caches or separate access paths for data and instructions (the so-called Modified Harvard architecture);</a:t>
            </a:r>
          </a:p>
          <a:p>
            <a:r>
              <a:rPr lang="en-GB" dirty="0"/>
              <a:t>Using branch predictor algorithms and logic;</a:t>
            </a:r>
          </a:p>
          <a:p>
            <a:r>
              <a:rPr lang="en-GB" dirty="0"/>
              <a:t>On-chip scratchpad memory to reduce memory access;</a:t>
            </a:r>
          </a:p>
          <a:p>
            <a:r>
              <a:rPr lang="en-GB" dirty="0"/>
              <a:t>Implementing the CPU and the memory as a system on chip</a:t>
            </a:r>
          </a:p>
          <a:p>
            <a:pPr lvl="1"/>
            <a:r>
              <a:rPr lang="en-GB" dirty="0"/>
              <a:t>Reduces latency</a:t>
            </a:r>
          </a:p>
        </p:txBody>
      </p:sp>
    </p:spTree>
    <p:extLst>
      <p:ext uri="{BB962C8B-B14F-4D97-AF65-F5344CB8AC3E}">
        <p14:creationId xmlns:p14="http://schemas.microsoft.com/office/powerpoint/2010/main" val="313474598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5" name="Rectangle 1034">
            <a:extLst>
              <a:ext uri="{FF2B5EF4-FFF2-40B4-BE49-F238E27FC236}">
                <a16:creationId xmlns:a16="http://schemas.microsoft.com/office/drawing/2014/main" id="{4C3A44BB-E01C-4AA8-B2C8-32FC346D2E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FCFF21E-000E-31CD-E393-668815B2F696}"/>
              </a:ext>
            </a:extLst>
          </p:cNvPr>
          <p:cNvSpPr>
            <a:spLocks noGrp="1"/>
          </p:cNvSpPr>
          <p:nvPr>
            <p:ph type="title"/>
          </p:nvPr>
        </p:nvSpPr>
        <p:spPr>
          <a:xfrm>
            <a:off x="4406846" y="3696270"/>
            <a:ext cx="6003980" cy="871380"/>
          </a:xfrm>
        </p:spPr>
        <p:txBody>
          <a:bodyPr anchor="b">
            <a:normAutofit/>
          </a:bodyPr>
          <a:lstStyle/>
          <a:p>
            <a:r>
              <a:rPr lang="en-GB" dirty="0"/>
              <a:t>Activity</a:t>
            </a:r>
          </a:p>
        </p:txBody>
      </p:sp>
      <p:pic>
        <p:nvPicPr>
          <p:cNvPr id="1030" name="Picture 6">
            <a:extLst>
              <a:ext uri="{FF2B5EF4-FFF2-40B4-BE49-F238E27FC236}">
                <a16:creationId xmlns:a16="http://schemas.microsoft.com/office/drawing/2014/main" id="{54F30AF7-46D0-44D7-D7DC-0231AF7ADCC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17217" r="-1" b="21242"/>
          <a:stretch/>
        </p:blipFill>
        <p:spPr bwMode="auto">
          <a:xfrm>
            <a:off x="4406845" y="3"/>
            <a:ext cx="4101288" cy="3418797"/>
          </a:xfrm>
          <a:custGeom>
            <a:avLst/>
            <a:gdLst/>
            <a:ahLst/>
            <a:cxnLst/>
            <a:rect l="l" t="t" r="r" b="b"/>
            <a:pathLst>
              <a:path w="4101288" h="3418797">
                <a:moveTo>
                  <a:pt x="989912" y="0"/>
                </a:moveTo>
                <a:lnTo>
                  <a:pt x="3844502" y="0"/>
                </a:lnTo>
                <a:lnTo>
                  <a:pt x="3760850" y="25406"/>
                </a:lnTo>
                <a:cubicBezTo>
                  <a:pt x="3711615" y="43967"/>
                  <a:pt x="3663870" y="67007"/>
                  <a:pt x="3618425" y="98254"/>
                </a:cubicBezTo>
                <a:cubicBezTo>
                  <a:pt x="3626136" y="110145"/>
                  <a:pt x="3665355" y="144049"/>
                  <a:pt x="3649272" y="146579"/>
                </a:cubicBezTo>
                <a:cubicBezTo>
                  <a:pt x="3604102" y="153917"/>
                  <a:pt x="3564000" y="178711"/>
                  <a:pt x="3522797" y="199205"/>
                </a:cubicBezTo>
                <a:cubicBezTo>
                  <a:pt x="3504948" y="208060"/>
                  <a:pt x="3483356" y="219700"/>
                  <a:pt x="3491728" y="251325"/>
                </a:cubicBezTo>
                <a:cubicBezTo>
                  <a:pt x="3506932" y="260181"/>
                  <a:pt x="3518169" y="247783"/>
                  <a:pt x="3530727" y="246772"/>
                </a:cubicBezTo>
                <a:cubicBezTo>
                  <a:pt x="3543507" y="245761"/>
                  <a:pt x="3572153" y="252336"/>
                  <a:pt x="3564219" y="256638"/>
                </a:cubicBezTo>
                <a:cubicBezTo>
                  <a:pt x="3528083" y="276121"/>
                  <a:pt x="3593085" y="322928"/>
                  <a:pt x="3550339" y="322928"/>
                </a:cubicBezTo>
                <a:cubicBezTo>
                  <a:pt x="3478728" y="323181"/>
                  <a:pt x="3440609" y="406169"/>
                  <a:pt x="3371643" y="408447"/>
                </a:cubicBezTo>
                <a:cubicBezTo>
                  <a:pt x="3360627" y="408698"/>
                  <a:pt x="3355338" y="423373"/>
                  <a:pt x="3355558" y="436278"/>
                </a:cubicBezTo>
                <a:cubicBezTo>
                  <a:pt x="3355558" y="451712"/>
                  <a:pt x="3365694" y="454494"/>
                  <a:pt x="3376931" y="456013"/>
                </a:cubicBezTo>
                <a:cubicBezTo>
                  <a:pt x="3394118" y="458289"/>
                  <a:pt x="3411965" y="436278"/>
                  <a:pt x="3434660" y="466133"/>
                </a:cubicBezTo>
                <a:cubicBezTo>
                  <a:pt x="3393898" y="483590"/>
                  <a:pt x="3353135" y="501049"/>
                  <a:pt x="3353797" y="561013"/>
                </a:cubicBezTo>
                <a:cubicBezTo>
                  <a:pt x="3354015" y="577205"/>
                  <a:pt x="3337050" y="583277"/>
                  <a:pt x="3324270" y="587325"/>
                </a:cubicBezTo>
                <a:cubicBezTo>
                  <a:pt x="3303117" y="593904"/>
                  <a:pt x="3285272" y="605543"/>
                  <a:pt x="3273812" y="628061"/>
                </a:cubicBezTo>
                <a:cubicBezTo>
                  <a:pt x="3274033" y="632362"/>
                  <a:pt x="3274254" y="636917"/>
                  <a:pt x="3272930" y="640459"/>
                </a:cubicBezTo>
                <a:cubicBezTo>
                  <a:pt x="3276676" y="694855"/>
                  <a:pt x="3307523" y="693336"/>
                  <a:pt x="3341676" y="684230"/>
                </a:cubicBezTo>
                <a:cubicBezTo>
                  <a:pt x="3382439" y="673096"/>
                  <a:pt x="3422762" y="652855"/>
                  <a:pt x="3465728" y="672338"/>
                </a:cubicBezTo>
                <a:cubicBezTo>
                  <a:pt x="3405133" y="698397"/>
                  <a:pt x="3339253" y="700422"/>
                  <a:pt x="3282405" y="737615"/>
                </a:cubicBezTo>
                <a:cubicBezTo>
                  <a:pt x="3490406" y="744447"/>
                  <a:pt x="3674169" y="627048"/>
                  <a:pt x="3875781" y="582013"/>
                </a:cubicBezTo>
                <a:cubicBezTo>
                  <a:pt x="3868951" y="612120"/>
                  <a:pt x="3852646" y="618193"/>
                  <a:pt x="3837883" y="622747"/>
                </a:cubicBezTo>
                <a:cubicBezTo>
                  <a:pt x="3763408" y="645519"/>
                  <a:pt x="3698188" y="690809"/>
                  <a:pt x="3630322" y="730023"/>
                </a:cubicBezTo>
                <a:cubicBezTo>
                  <a:pt x="3602340" y="746216"/>
                  <a:pt x="3582066" y="762411"/>
                  <a:pt x="3571492" y="797327"/>
                </a:cubicBezTo>
                <a:cubicBezTo>
                  <a:pt x="3562015" y="828953"/>
                  <a:pt x="3543728" y="843628"/>
                  <a:pt x="3509797" y="834518"/>
                </a:cubicBezTo>
                <a:cubicBezTo>
                  <a:pt x="3482254" y="826927"/>
                  <a:pt x="3452068" y="830975"/>
                  <a:pt x="3423203" y="833760"/>
                </a:cubicBezTo>
                <a:cubicBezTo>
                  <a:pt x="3389931" y="836796"/>
                  <a:pt x="3352693" y="872470"/>
                  <a:pt x="3361728" y="890941"/>
                </a:cubicBezTo>
                <a:cubicBezTo>
                  <a:pt x="3377151" y="922314"/>
                  <a:pt x="3402931" y="906627"/>
                  <a:pt x="3425847" y="903084"/>
                </a:cubicBezTo>
                <a:cubicBezTo>
                  <a:pt x="3451848" y="898784"/>
                  <a:pt x="3500100" y="889927"/>
                  <a:pt x="3500982" y="893723"/>
                </a:cubicBezTo>
                <a:cubicBezTo>
                  <a:pt x="3517950" y="972410"/>
                  <a:pt x="3637374" y="903845"/>
                  <a:pt x="3663154" y="896758"/>
                </a:cubicBezTo>
                <a:cubicBezTo>
                  <a:pt x="3695322" y="887904"/>
                  <a:pt x="3725509" y="904097"/>
                  <a:pt x="3756136" y="907891"/>
                </a:cubicBezTo>
                <a:cubicBezTo>
                  <a:pt x="3783459" y="911433"/>
                  <a:pt x="3937918" y="922314"/>
                  <a:pt x="3969866" y="888915"/>
                </a:cubicBezTo>
                <a:cubicBezTo>
                  <a:pt x="3974273" y="914976"/>
                  <a:pt x="3965020" y="925602"/>
                  <a:pt x="3957306" y="937494"/>
                </a:cubicBezTo>
                <a:cubicBezTo>
                  <a:pt x="3946511" y="954445"/>
                  <a:pt x="3944747" y="966337"/>
                  <a:pt x="3965239" y="979747"/>
                </a:cubicBezTo>
                <a:cubicBezTo>
                  <a:pt x="4023630" y="1018206"/>
                  <a:pt x="4022747" y="1019470"/>
                  <a:pt x="3968324" y="1071591"/>
                </a:cubicBezTo>
                <a:cubicBezTo>
                  <a:pt x="3965678" y="1073867"/>
                  <a:pt x="3966782" y="1081459"/>
                  <a:pt x="3966341" y="1086519"/>
                </a:cubicBezTo>
                <a:cubicBezTo>
                  <a:pt x="3980663" y="1094615"/>
                  <a:pt x="3997409" y="1074373"/>
                  <a:pt x="4014153" y="1096133"/>
                </a:cubicBezTo>
                <a:cubicBezTo>
                  <a:pt x="3941222" y="1191771"/>
                  <a:pt x="3829950" y="1215299"/>
                  <a:pt x="3729254" y="1287157"/>
                </a:cubicBezTo>
                <a:cubicBezTo>
                  <a:pt x="3810780" y="1310939"/>
                  <a:pt x="3859696" y="1227952"/>
                  <a:pt x="3919628" y="1238578"/>
                </a:cubicBezTo>
                <a:cubicBezTo>
                  <a:pt x="3949596" y="1264639"/>
                  <a:pt x="3860577" y="1306386"/>
                  <a:pt x="3945409" y="1318784"/>
                </a:cubicBezTo>
                <a:cubicBezTo>
                  <a:pt x="3908610" y="1341555"/>
                  <a:pt x="3881289" y="1363817"/>
                  <a:pt x="3855951" y="1390133"/>
                </a:cubicBezTo>
                <a:cubicBezTo>
                  <a:pt x="3810780" y="1437192"/>
                  <a:pt x="3801967" y="1468060"/>
                  <a:pt x="3822900" y="1531314"/>
                </a:cubicBezTo>
                <a:cubicBezTo>
                  <a:pt x="3836562" y="1572808"/>
                  <a:pt x="3856611" y="1611013"/>
                  <a:pt x="3838986" y="1660349"/>
                </a:cubicBezTo>
                <a:cubicBezTo>
                  <a:pt x="3826646" y="1694254"/>
                  <a:pt x="3831494" y="1716517"/>
                  <a:pt x="3877323" y="1701337"/>
                </a:cubicBezTo>
                <a:cubicBezTo>
                  <a:pt x="3926679" y="1685144"/>
                  <a:pt x="3945187" y="1715505"/>
                  <a:pt x="3932849" y="1774963"/>
                </a:cubicBezTo>
                <a:cubicBezTo>
                  <a:pt x="3924917" y="1813169"/>
                  <a:pt x="3933291" y="1824806"/>
                  <a:pt x="3967221" y="1820505"/>
                </a:cubicBezTo>
                <a:cubicBezTo>
                  <a:pt x="4004680" y="1815698"/>
                  <a:pt x="4040375" y="1790649"/>
                  <a:pt x="4086646" y="1802795"/>
                </a:cubicBezTo>
                <a:cubicBezTo>
                  <a:pt x="4049631" y="1872120"/>
                  <a:pt x="3970527" y="1852385"/>
                  <a:pt x="3927340" y="1918423"/>
                </a:cubicBezTo>
                <a:cubicBezTo>
                  <a:pt x="3978900" y="1918674"/>
                  <a:pt x="4018341" y="1918423"/>
                  <a:pt x="4056460" y="1903999"/>
                </a:cubicBezTo>
                <a:cubicBezTo>
                  <a:pt x="4072325" y="1898179"/>
                  <a:pt x="4089732" y="1892109"/>
                  <a:pt x="4098545" y="1912096"/>
                </a:cubicBezTo>
                <a:cubicBezTo>
                  <a:pt x="4108901" y="1936132"/>
                  <a:pt x="4087529" y="1945241"/>
                  <a:pt x="4074527" y="1949542"/>
                </a:cubicBezTo>
                <a:cubicBezTo>
                  <a:pt x="4037951" y="1961686"/>
                  <a:pt x="4009969" y="1990529"/>
                  <a:pt x="3979782" y="2013047"/>
                </a:cubicBezTo>
                <a:cubicBezTo>
                  <a:pt x="3913460" y="2062386"/>
                  <a:pt x="3840746" y="2103626"/>
                  <a:pt x="3784559" y="2185097"/>
                </a:cubicBezTo>
                <a:cubicBezTo>
                  <a:pt x="3855290" y="2164349"/>
                  <a:pt x="3907951" y="2116025"/>
                  <a:pt x="3973612" y="2106157"/>
                </a:cubicBezTo>
                <a:cubicBezTo>
                  <a:pt x="3916764" y="2180290"/>
                  <a:pt x="3843611" y="2229120"/>
                  <a:pt x="3774426" y="2283011"/>
                </a:cubicBezTo>
                <a:cubicBezTo>
                  <a:pt x="3754594" y="2298192"/>
                  <a:pt x="3734543" y="2308566"/>
                  <a:pt x="3730136" y="2341710"/>
                </a:cubicBezTo>
                <a:cubicBezTo>
                  <a:pt x="3721542" y="2405976"/>
                  <a:pt x="3695763" y="2459107"/>
                  <a:pt x="3640678" y="2487444"/>
                </a:cubicBezTo>
                <a:cubicBezTo>
                  <a:pt x="3640238" y="2487699"/>
                  <a:pt x="3643322" y="2497314"/>
                  <a:pt x="3645085" y="2503890"/>
                </a:cubicBezTo>
                <a:cubicBezTo>
                  <a:pt x="3678797" y="2505916"/>
                  <a:pt x="3705458" y="2467963"/>
                  <a:pt x="3748425" y="2480360"/>
                </a:cubicBezTo>
                <a:cubicBezTo>
                  <a:pt x="3707220" y="2531974"/>
                  <a:pt x="3672847" y="2578277"/>
                  <a:pt x="3614458" y="2602819"/>
                </a:cubicBezTo>
                <a:cubicBezTo>
                  <a:pt x="3567745" y="2622300"/>
                  <a:pt x="3510016" y="2633686"/>
                  <a:pt x="3476083" y="2696937"/>
                </a:cubicBezTo>
                <a:cubicBezTo>
                  <a:pt x="3515524" y="2709337"/>
                  <a:pt x="3544831" y="2693651"/>
                  <a:pt x="3574357" y="2682517"/>
                </a:cubicBezTo>
                <a:cubicBezTo>
                  <a:pt x="3619525" y="2665312"/>
                  <a:pt x="3664255" y="2645832"/>
                  <a:pt x="3709425" y="2628625"/>
                </a:cubicBezTo>
                <a:cubicBezTo>
                  <a:pt x="3726611" y="2622047"/>
                  <a:pt x="3745340" y="2617491"/>
                  <a:pt x="3756357" y="2648866"/>
                </a:cubicBezTo>
                <a:cubicBezTo>
                  <a:pt x="3698847" y="2655446"/>
                  <a:pt x="3664475" y="2697951"/>
                  <a:pt x="3628340" y="2737926"/>
                </a:cubicBezTo>
                <a:cubicBezTo>
                  <a:pt x="3608067" y="2760445"/>
                  <a:pt x="3591541" y="2790554"/>
                  <a:pt x="3554967" y="2779169"/>
                </a:cubicBezTo>
                <a:cubicBezTo>
                  <a:pt x="3535796" y="2773097"/>
                  <a:pt x="3523678" y="2790046"/>
                  <a:pt x="3525662" y="2810794"/>
                </a:cubicBezTo>
                <a:cubicBezTo>
                  <a:pt x="3532932" y="2883915"/>
                  <a:pt x="3488203" y="2909469"/>
                  <a:pt x="3441932" y="2923637"/>
                </a:cubicBezTo>
                <a:cubicBezTo>
                  <a:pt x="3354236" y="2950204"/>
                  <a:pt x="3281303" y="3012697"/>
                  <a:pt x="3196032" y="3046854"/>
                </a:cubicBezTo>
                <a:cubicBezTo>
                  <a:pt x="3113184" y="3079999"/>
                  <a:pt x="3049065" y="3158685"/>
                  <a:pt x="2965998" y="3199927"/>
                </a:cubicBezTo>
                <a:cubicBezTo>
                  <a:pt x="2905843" y="3229783"/>
                  <a:pt x="2848335" y="3268239"/>
                  <a:pt x="2786418" y="3295311"/>
                </a:cubicBezTo>
                <a:cubicBezTo>
                  <a:pt x="2639894" y="3359324"/>
                  <a:pt x="2490503" y="3410685"/>
                  <a:pt x="2332519" y="3418022"/>
                </a:cubicBezTo>
                <a:cubicBezTo>
                  <a:pt x="2202077" y="3423842"/>
                  <a:pt x="1070633" y="3418277"/>
                  <a:pt x="611003" y="2585615"/>
                </a:cubicBezTo>
                <a:cubicBezTo>
                  <a:pt x="602189" y="2581565"/>
                  <a:pt x="592275" y="2570939"/>
                  <a:pt x="589190" y="2560818"/>
                </a:cubicBezTo>
                <a:cubicBezTo>
                  <a:pt x="574427" y="2513505"/>
                  <a:pt x="538291" y="2493011"/>
                  <a:pt x="505681" y="2467457"/>
                </a:cubicBezTo>
                <a:cubicBezTo>
                  <a:pt x="477036" y="2444939"/>
                  <a:pt x="446628" y="2421409"/>
                  <a:pt x="434730" y="2383456"/>
                </a:cubicBezTo>
                <a:cubicBezTo>
                  <a:pt x="419086" y="2332854"/>
                  <a:pt x="463594" y="2374348"/>
                  <a:pt x="471748" y="2355119"/>
                </a:cubicBezTo>
                <a:cubicBezTo>
                  <a:pt x="454782" y="2328807"/>
                  <a:pt x="428560" y="2304770"/>
                  <a:pt x="421730" y="2274915"/>
                </a:cubicBezTo>
                <a:cubicBezTo>
                  <a:pt x="396833" y="2167131"/>
                  <a:pt x="343069" y="2088698"/>
                  <a:pt x="262645" y="2027722"/>
                </a:cubicBezTo>
                <a:cubicBezTo>
                  <a:pt x="239509" y="2010264"/>
                  <a:pt x="224307" y="1978384"/>
                  <a:pt x="192799" y="1973326"/>
                </a:cubicBezTo>
                <a:cubicBezTo>
                  <a:pt x="122730" y="1962193"/>
                  <a:pt x="144764" y="1875156"/>
                  <a:pt x="107746" y="1836446"/>
                </a:cubicBezTo>
                <a:cubicBezTo>
                  <a:pt x="100695" y="1829107"/>
                  <a:pt x="94306" y="1814687"/>
                  <a:pt x="95627" y="1804821"/>
                </a:cubicBezTo>
                <a:cubicBezTo>
                  <a:pt x="97609" y="1790649"/>
                  <a:pt x="105983" y="1777240"/>
                  <a:pt x="113034" y="1764589"/>
                </a:cubicBezTo>
                <a:cubicBezTo>
                  <a:pt x="120306" y="1751939"/>
                  <a:pt x="131322" y="1740806"/>
                  <a:pt x="126034" y="1724108"/>
                </a:cubicBezTo>
                <a:cubicBezTo>
                  <a:pt x="123833" y="1717277"/>
                  <a:pt x="125373" y="1693494"/>
                  <a:pt x="109068" y="1712215"/>
                </a:cubicBezTo>
                <a:cubicBezTo>
                  <a:pt x="64340" y="1763578"/>
                  <a:pt x="38339" y="1715001"/>
                  <a:pt x="0" y="1691723"/>
                </a:cubicBezTo>
                <a:cubicBezTo>
                  <a:pt x="30848" y="1667686"/>
                  <a:pt x="58610" y="1650735"/>
                  <a:pt x="63238" y="1614808"/>
                </a:cubicBezTo>
                <a:cubicBezTo>
                  <a:pt x="72712" y="1540674"/>
                  <a:pt x="113253" y="1506772"/>
                  <a:pt x="174729" y="1500192"/>
                </a:cubicBezTo>
                <a:cubicBezTo>
                  <a:pt x="152034" y="1428591"/>
                  <a:pt x="152034" y="1428591"/>
                  <a:pt x="225408" y="1418722"/>
                </a:cubicBezTo>
                <a:cubicBezTo>
                  <a:pt x="197204" y="1373181"/>
                  <a:pt x="197204" y="1361542"/>
                  <a:pt x="231358" y="1345855"/>
                </a:cubicBezTo>
                <a:cubicBezTo>
                  <a:pt x="264188" y="1330927"/>
                  <a:pt x="300543" y="1325867"/>
                  <a:pt x="330952" y="1302844"/>
                </a:cubicBezTo>
                <a:cubicBezTo>
                  <a:pt x="302967" y="1244651"/>
                  <a:pt x="295035" y="1177097"/>
                  <a:pt x="237307" y="1148758"/>
                </a:cubicBezTo>
                <a:cubicBezTo>
                  <a:pt x="228273" y="1144458"/>
                  <a:pt x="222103" y="1127000"/>
                  <a:pt x="227831" y="1116880"/>
                </a:cubicBezTo>
                <a:cubicBezTo>
                  <a:pt x="248764" y="1080194"/>
                  <a:pt x="218798" y="1010614"/>
                  <a:pt x="284017" y="1002772"/>
                </a:cubicBezTo>
                <a:cubicBezTo>
                  <a:pt x="292171" y="1002013"/>
                  <a:pt x="299663" y="994421"/>
                  <a:pt x="293273" y="984554"/>
                </a:cubicBezTo>
                <a:cubicBezTo>
                  <a:pt x="271238" y="950145"/>
                  <a:pt x="297900" y="952421"/>
                  <a:pt x="313983" y="948120"/>
                </a:cubicBezTo>
                <a:cubicBezTo>
                  <a:pt x="333375" y="942809"/>
                  <a:pt x="355409" y="957988"/>
                  <a:pt x="373477" y="939265"/>
                </a:cubicBezTo>
                <a:cubicBezTo>
                  <a:pt x="369289" y="919530"/>
                  <a:pt x="353646" y="919783"/>
                  <a:pt x="342629" y="913458"/>
                </a:cubicBezTo>
                <a:cubicBezTo>
                  <a:pt x="310460" y="895240"/>
                  <a:pt x="284238" y="873483"/>
                  <a:pt x="282695" y="826169"/>
                </a:cubicBezTo>
                <a:cubicBezTo>
                  <a:pt x="281595" y="787964"/>
                  <a:pt x="278069" y="754314"/>
                  <a:pt x="322578" y="742675"/>
                </a:cubicBezTo>
                <a:cubicBezTo>
                  <a:pt x="341086" y="737866"/>
                  <a:pt x="335797" y="710289"/>
                  <a:pt x="325221" y="696626"/>
                </a:cubicBezTo>
                <a:cubicBezTo>
                  <a:pt x="306272" y="672338"/>
                  <a:pt x="290629" y="639953"/>
                  <a:pt x="258017" y="637675"/>
                </a:cubicBezTo>
                <a:cubicBezTo>
                  <a:pt x="238187" y="636158"/>
                  <a:pt x="222983" y="626035"/>
                  <a:pt x="207340" y="614398"/>
                </a:cubicBezTo>
                <a:cubicBezTo>
                  <a:pt x="196103" y="606047"/>
                  <a:pt x="182662" y="598964"/>
                  <a:pt x="183983" y="581001"/>
                </a:cubicBezTo>
                <a:cubicBezTo>
                  <a:pt x="185306" y="563795"/>
                  <a:pt x="198305" y="556711"/>
                  <a:pt x="211526" y="553169"/>
                </a:cubicBezTo>
                <a:cubicBezTo>
                  <a:pt x="255595" y="541784"/>
                  <a:pt x="297017" y="525085"/>
                  <a:pt x="333816" y="486880"/>
                </a:cubicBezTo>
                <a:cubicBezTo>
                  <a:pt x="309357" y="466639"/>
                  <a:pt x="286001" y="451964"/>
                  <a:pt x="267934" y="431469"/>
                </a:cubicBezTo>
                <a:cubicBezTo>
                  <a:pt x="224307" y="381881"/>
                  <a:pt x="593817" y="225772"/>
                  <a:pt x="612325" y="170108"/>
                </a:cubicBezTo>
                <a:cubicBezTo>
                  <a:pt x="618054" y="152904"/>
                  <a:pt x="637663" y="135194"/>
                  <a:pt x="653971" y="130133"/>
                </a:cubicBezTo>
                <a:cubicBezTo>
                  <a:pt x="730427" y="106350"/>
                  <a:pt x="796748" y="52963"/>
                  <a:pt x="874970" y="33228"/>
                </a:cubicBezTo>
                <a:cubicBezTo>
                  <a:pt x="911877" y="23867"/>
                  <a:pt x="948509" y="12925"/>
                  <a:pt x="986021" y="1223"/>
                </a:cubicBezTo>
                <a:close/>
              </a:path>
            </a:pathLst>
          </a:cu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8AC13B4A-7A01-E66C-E506-2C8733B66101}"/>
              </a:ext>
            </a:extLst>
          </p:cNvPr>
          <p:cNvSpPr>
            <a:spLocks noGrp="1"/>
          </p:cNvSpPr>
          <p:nvPr>
            <p:ph idx="1"/>
          </p:nvPr>
        </p:nvSpPr>
        <p:spPr>
          <a:xfrm>
            <a:off x="4406844" y="4567649"/>
            <a:ext cx="6946955" cy="1754125"/>
          </a:xfrm>
        </p:spPr>
        <p:txBody>
          <a:bodyPr>
            <a:normAutofit fontScale="85000" lnSpcReduction="20000"/>
          </a:bodyPr>
          <a:lstStyle/>
          <a:p>
            <a:r>
              <a:rPr lang="en-GB" sz="2000" dirty="0"/>
              <a:t>Identify each of the figures in the photos</a:t>
            </a:r>
          </a:p>
          <a:p>
            <a:r>
              <a:rPr lang="en-GB" sz="2000" dirty="0"/>
              <a:t>Hint 1: The one on the left is someone we have talked a lot about in this lecture</a:t>
            </a:r>
          </a:p>
          <a:p>
            <a:r>
              <a:rPr lang="en-GB" sz="2000" dirty="0"/>
              <a:t>Hint 2: The one on the right worked with someone mentioned at the start of the section on history of computer hardware</a:t>
            </a:r>
          </a:p>
          <a:p>
            <a:r>
              <a:rPr lang="en-GB" sz="2000" dirty="0"/>
              <a:t>Hint 3: The one in the middle designed a famous UK computer used </a:t>
            </a:r>
            <a:r>
              <a:rPr lang="en-GB" sz="2000"/>
              <a:t>during WWII </a:t>
            </a:r>
            <a:endParaRPr lang="en-GB" sz="2000" dirty="0"/>
          </a:p>
        </p:txBody>
      </p:sp>
      <p:pic>
        <p:nvPicPr>
          <p:cNvPr id="1026" name="Picture 2" descr="HD.3F.191 (11239892036)">
            <a:extLst>
              <a:ext uri="{FF2B5EF4-FFF2-40B4-BE49-F238E27FC236}">
                <a16:creationId xmlns:a16="http://schemas.microsoft.com/office/drawing/2014/main" id="{6FA9AB7D-E8E9-8C67-F58B-1251D6EA37B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216" r="2778"/>
          <a:stretch/>
        </p:blipFill>
        <p:spPr bwMode="auto">
          <a:xfrm>
            <a:off x="20" y="277472"/>
            <a:ext cx="4552718" cy="5946218"/>
          </a:xfrm>
          <a:custGeom>
            <a:avLst/>
            <a:gdLst/>
            <a:ahLst/>
            <a:cxnLst/>
            <a:rect l="l" t="t" r="r" b="b"/>
            <a:pathLst>
              <a:path w="4552738" h="5946218">
                <a:moveTo>
                  <a:pt x="0" y="0"/>
                </a:moveTo>
                <a:lnTo>
                  <a:pt x="193217" y="10418"/>
                </a:lnTo>
                <a:cubicBezTo>
                  <a:pt x="612089" y="35802"/>
                  <a:pt x="1030148" y="71660"/>
                  <a:pt x="1446580" y="128061"/>
                </a:cubicBezTo>
                <a:cubicBezTo>
                  <a:pt x="1735723" y="167547"/>
                  <a:pt x="2027715" y="194943"/>
                  <a:pt x="2320927" y="163517"/>
                </a:cubicBezTo>
                <a:cubicBezTo>
                  <a:pt x="2335563" y="161905"/>
                  <a:pt x="2352239" y="156669"/>
                  <a:pt x="2364438" y="161905"/>
                </a:cubicBezTo>
                <a:cubicBezTo>
                  <a:pt x="2506776" y="220729"/>
                  <a:pt x="2662121" y="178424"/>
                  <a:pt x="2809744" y="215490"/>
                </a:cubicBezTo>
                <a:cubicBezTo>
                  <a:pt x="2771925" y="358517"/>
                  <a:pt x="2609662" y="346832"/>
                  <a:pt x="2518162" y="445944"/>
                </a:cubicBezTo>
                <a:cubicBezTo>
                  <a:pt x="2667409" y="485424"/>
                  <a:pt x="2801610" y="525312"/>
                  <a:pt x="2937846" y="555124"/>
                </a:cubicBezTo>
                <a:cubicBezTo>
                  <a:pt x="3082216" y="586550"/>
                  <a:pt x="3204622" y="671561"/>
                  <a:pt x="3345734" y="709433"/>
                </a:cubicBezTo>
                <a:cubicBezTo>
                  <a:pt x="3375832" y="717492"/>
                  <a:pt x="3412025" y="745693"/>
                  <a:pt x="3422598" y="773089"/>
                </a:cubicBezTo>
                <a:cubicBezTo>
                  <a:pt x="3456757" y="861726"/>
                  <a:pt x="4138745" y="1110310"/>
                  <a:pt x="4058225" y="1189273"/>
                </a:cubicBezTo>
                <a:cubicBezTo>
                  <a:pt x="4024878" y="1221909"/>
                  <a:pt x="3981773" y="1245276"/>
                  <a:pt x="3936629" y="1277508"/>
                </a:cubicBezTo>
                <a:cubicBezTo>
                  <a:pt x="4004547" y="1338344"/>
                  <a:pt x="4080998" y="1364935"/>
                  <a:pt x="4162334" y="1383065"/>
                </a:cubicBezTo>
                <a:cubicBezTo>
                  <a:pt x="4186736" y="1388705"/>
                  <a:pt x="4210728" y="1399986"/>
                  <a:pt x="4213168" y="1427383"/>
                </a:cubicBezTo>
                <a:cubicBezTo>
                  <a:pt x="4215607" y="1455987"/>
                  <a:pt x="4190800" y="1467266"/>
                  <a:pt x="4170061" y="1480564"/>
                </a:cubicBezTo>
                <a:cubicBezTo>
                  <a:pt x="4141188" y="1499095"/>
                  <a:pt x="4113127" y="1515214"/>
                  <a:pt x="4076527" y="1517630"/>
                </a:cubicBezTo>
                <a:cubicBezTo>
                  <a:pt x="4016337" y="1521257"/>
                  <a:pt x="3987466" y="1572826"/>
                  <a:pt x="3952493" y="1611502"/>
                </a:cubicBezTo>
                <a:cubicBezTo>
                  <a:pt x="3932973" y="1633259"/>
                  <a:pt x="3923211" y="1677172"/>
                  <a:pt x="3957370" y="1684828"/>
                </a:cubicBezTo>
                <a:cubicBezTo>
                  <a:pt x="4039518" y="1703363"/>
                  <a:pt x="4033011" y="1756946"/>
                  <a:pt x="4030981" y="1817782"/>
                </a:cubicBezTo>
                <a:cubicBezTo>
                  <a:pt x="4028133" y="1893124"/>
                  <a:pt x="3979737" y="1927770"/>
                  <a:pt x="3920363" y="1956780"/>
                </a:cubicBezTo>
                <a:cubicBezTo>
                  <a:pt x="3900029" y="1966851"/>
                  <a:pt x="3871158" y="1966449"/>
                  <a:pt x="3863429" y="1997874"/>
                </a:cubicBezTo>
                <a:cubicBezTo>
                  <a:pt x="3896777" y="2027688"/>
                  <a:pt x="3937444" y="2003517"/>
                  <a:pt x="3973233" y="2011975"/>
                </a:cubicBezTo>
                <a:cubicBezTo>
                  <a:pt x="4002918" y="2018824"/>
                  <a:pt x="4052127" y="2015199"/>
                  <a:pt x="4011458" y="2069991"/>
                </a:cubicBezTo>
                <a:cubicBezTo>
                  <a:pt x="3999664" y="2085704"/>
                  <a:pt x="4013491" y="2097792"/>
                  <a:pt x="4028540" y="2099000"/>
                </a:cubicBezTo>
                <a:cubicBezTo>
                  <a:pt x="4148913" y="2111489"/>
                  <a:pt x="4093606" y="2222285"/>
                  <a:pt x="4132241" y="2280703"/>
                </a:cubicBezTo>
                <a:cubicBezTo>
                  <a:pt x="4142812" y="2296818"/>
                  <a:pt x="4131425" y="2324618"/>
                  <a:pt x="4114752" y="2331466"/>
                </a:cubicBezTo>
                <a:cubicBezTo>
                  <a:pt x="4008205" y="2376592"/>
                  <a:pt x="3993565" y="2484163"/>
                  <a:pt x="3941916" y="2576828"/>
                </a:cubicBezTo>
                <a:cubicBezTo>
                  <a:pt x="3998039" y="2613488"/>
                  <a:pt x="4065138" y="2621547"/>
                  <a:pt x="4125732" y="2645318"/>
                </a:cubicBezTo>
                <a:cubicBezTo>
                  <a:pt x="4188768" y="2670298"/>
                  <a:pt x="4188768" y="2688831"/>
                  <a:pt x="4136714" y="2761349"/>
                </a:cubicBezTo>
                <a:cubicBezTo>
                  <a:pt x="4272135" y="2777064"/>
                  <a:pt x="4272135" y="2777064"/>
                  <a:pt x="4230249" y="2891080"/>
                </a:cubicBezTo>
                <a:cubicBezTo>
                  <a:pt x="4343713" y="2901557"/>
                  <a:pt x="4418537" y="2955542"/>
                  <a:pt x="4436023" y="3073591"/>
                </a:cubicBezTo>
                <a:cubicBezTo>
                  <a:pt x="4444564" y="3130800"/>
                  <a:pt x="4495804" y="3157792"/>
                  <a:pt x="4552738" y="3196068"/>
                </a:cubicBezTo>
                <a:cubicBezTo>
                  <a:pt x="4481978" y="3233136"/>
                  <a:pt x="4433989" y="3310489"/>
                  <a:pt x="4351436" y="3228700"/>
                </a:cubicBezTo>
                <a:cubicBezTo>
                  <a:pt x="4321344" y="3198888"/>
                  <a:pt x="4324186" y="3236761"/>
                  <a:pt x="4320122" y="3247637"/>
                </a:cubicBezTo>
                <a:cubicBezTo>
                  <a:pt x="4310364" y="3274227"/>
                  <a:pt x="4330695" y="3291956"/>
                  <a:pt x="4344116" y="3312099"/>
                </a:cubicBezTo>
                <a:cubicBezTo>
                  <a:pt x="4357130" y="3332244"/>
                  <a:pt x="4372586" y="3353596"/>
                  <a:pt x="4376244" y="3376163"/>
                </a:cubicBezTo>
                <a:cubicBezTo>
                  <a:pt x="4378682" y="3391874"/>
                  <a:pt x="4366890" y="3414835"/>
                  <a:pt x="4353877" y="3426522"/>
                </a:cubicBezTo>
                <a:cubicBezTo>
                  <a:pt x="4285554" y="3488163"/>
                  <a:pt x="4326221" y="3626757"/>
                  <a:pt x="4196898" y="3644486"/>
                </a:cubicBezTo>
                <a:cubicBezTo>
                  <a:pt x="4138745" y="3652541"/>
                  <a:pt x="4110687" y="3703306"/>
                  <a:pt x="4067986" y="3731106"/>
                </a:cubicBezTo>
                <a:cubicBezTo>
                  <a:pt x="3919551" y="3828201"/>
                  <a:pt x="3820322" y="3953097"/>
                  <a:pt x="3774370" y="4124729"/>
                </a:cubicBezTo>
                <a:cubicBezTo>
                  <a:pt x="3761764" y="4172269"/>
                  <a:pt x="3713368" y="4210546"/>
                  <a:pt x="3682054" y="4252444"/>
                </a:cubicBezTo>
                <a:cubicBezTo>
                  <a:pt x="3697103" y="4283064"/>
                  <a:pt x="3779250" y="4216990"/>
                  <a:pt x="3750377" y="4297567"/>
                </a:cubicBezTo>
                <a:cubicBezTo>
                  <a:pt x="3728417" y="4358002"/>
                  <a:pt x="3672294" y="4395470"/>
                  <a:pt x="3619425" y="4431328"/>
                </a:cubicBezTo>
                <a:cubicBezTo>
                  <a:pt x="3559239" y="4472019"/>
                  <a:pt x="3492545" y="4504653"/>
                  <a:pt x="3465296" y="4579993"/>
                </a:cubicBezTo>
                <a:cubicBezTo>
                  <a:pt x="3459603" y="4596110"/>
                  <a:pt x="3441305" y="4613031"/>
                  <a:pt x="3425038" y="4619479"/>
                </a:cubicBezTo>
                <a:cubicBezTo>
                  <a:pt x="2576720" y="5945389"/>
                  <a:pt x="488463" y="5954251"/>
                  <a:pt x="247714" y="5944983"/>
                </a:cubicBezTo>
                <a:cubicBezTo>
                  <a:pt x="174818" y="5942062"/>
                  <a:pt x="102913" y="5934760"/>
                  <a:pt x="31834" y="5923857"/>
                </a:cubicBezTo>
                <a:lnTo>
                  <a:pt x="0" y="5917408"/>
                </a:lnTo>
                <a:close/>
              </a:path>
            </a:pathLst>
          </a:custGeom>
          <a:noFill/>
          <a:extLst>
            <a:ext uri="{909E8E84-426E-40DD-AFC4-6F175D3DCCD1}">
              <a14:hiddenFill xmlns:a14="http://schemas.microsoft.com/office/drawing/2010/main">
                <a:solidFill>
                  <a:srgbClr val="FFFFFF"/>
                </a:solidFill>
              </a14:hiddenFill>
            </a:ext>
          </a:extLst>
        </p:spPr>
      </p:pic>
      <p:pic>
        <p:nvPicPr>
          <p:cNvPr id="1028" name="Picture 4" descr="Ada Lovelace the First Tech Visionary">
            <a:extLst>
              <a:ext uri="{FF2B5EF4-FFF2-40B4-BE49-F238E27FC236}">
                <a16:creationId xmlns:a16="http://schemas.microsoft.com/office/drawing/2014/main" id="{33474EF9-C776-8CA7-C2B6-C8F921B7D16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b="15747"/>
          <a:stretch/>
        </p:blipFill>
        <p:spPr bwMode="auto">
          <a:xfrm>
            <a:off x="8653074" y="-2"/>
            <a:ext cx="3538926" cy="4290182"/>
          </a:xfrm>
          <a:custGeom>
            <a:avLst/>
            <a:gdLst/>
            <a:ahLst/>
            <a:cxnLst/>
            <a:rect l="l" t="t" r="r" b="b"/>
            <a:pathLst>
              <a:path w="3538926" h="4290182">
                <a:moveTo>
                  <a:pt x="1370437" y="0"/>
                </a:moveTo>
                <a:lnTo>
                  <a:pt x="3538926" y="0"/>
                </a:lnTo>
                <a:lnTo>
                  <a:pt x="3538926" y="4256362"/>
                </a:lnTo>
                <a:lnTo>
                  <a:pt x="3455334" y="4273195"/>
                </a:lnTo>
                <a:cubicBezTo>
                  <a:pt x="3401009" y="4281478"/>
                  <a:pt x="3346052" y="4287025"/>
                  <a:pt x="3290337" y="4289244"/>
                </a:cubicBezTo>
                <a:cubicBezTo>
                  <a:pt x="3106332" y="4296285"/>
                  <a:pt x="1510274" y="4289552"/>
                  <a:pt x="861903" y="3282295"/>
                </a:cubicBezTo>
                <a:cubicBezTo>
                  <a:pt x="849470" y="3277397"/>
                  <a:pt x="835485" y="3264542"/>
                  <a:pt x="831133" y="3252299"/>
                </a:cubicBezTo>
                <a:cubicBezTo>
                  <a:pt x="810307" y="3195065"/>
                  <a:pt x="759333" y="3170274"/>
                  <a:pt x="713332" y="3139362"/>
                </a:cubicBezTo>
                <a:cubicBezTo>
                  <a:pt x="672925" y="3112122"/>
                  <a:pt x="630030" y="3083658"/>
                  <a:pt x="613246" y="3037747"/>
                </a:cubicBezTo>
                <a:cubicBezTo>
                  <a:pt x="591178" y="2976535"/>
                  <a:pt x="653963" y="3026730"/>
                  <a:pt x="665465" y="3003469"/>
                </a:cubicBezTo>
                <a:cubicBezTo>
                  <a:pt x="641532" y="2971640"/>
                  <a:pt x="604543" y="2942562"/>
                  <a:pt x="594908" y="2906447"/>
                </a:cubicBezTo>
                <a:cubicBezTo>
                  <a:pt x="559787" y="2776063"/>
                  <a:pt x="483946" y="2681183"/>
                  <a:pt x="370497" y="2607422"/>
                </a:cubicBezTo>
                <a:cubicBezTo>
                  <a:pt x="337860" y="2586304"/>
                  <a:pt x="316415" y="2547739"/>
                  <a:pt x="271969" y="2541620"/>
                </a:cubicBezTo>
                <a:cubicBezTo>
                  <a:pt x="173127" y="2528152"/>
                  <a:pt x="204209" y="2422866"/>
                  <a:pt x="151990" y="2376038"/>
                </a:cubicBezTo>
                <a:cubicBezTo>
                  <a:pt x="142044" y="2367161"/>
                  <a:pt x="133031" y="2349717"/>
                  <a:pt x="134895" y="2337782"/>
                </a:cubicBezTo>
                <a:cubicBezTo>
                  <a:pt x="137691" y="2320639"/>
                  <a:pt x="149504" y="2304419"/>
                  <a:pt x="159450" y="2289115"/>
                </a:cubicBezTo>
                <a:cubicBezTo>
                  <a:pt x="169707" y="2273813"/>
                  <a:pt x="185247" y="2260344"/>
                  <a:pt x="177788" y="2240145"/>
                </a:cubicBezTo>
                <a:cubicBezTo>
                  <a:pt x="174683" y="2231882"/>
                  <a:pt x="176855" y="2203112"/>
                  <a:pt x="153855" y="2225759"/>
                </a:cubicBezTo>
                <a:cubicBezTo>
                  <a:pt x="90759" y="2287892"/>
                  <a:pt x="54081" y="2229129"/>
                  <a:pt x="0" y="2200970"/>
                </a:cubicBezTo>
                <a:cubicBezTo>
                  <a:pt x="43514" y="2171892"/>
                  <a:pt x="82677" y="2151388"/>
                  <a:pt x="89205" y="2107927"/>
                </a:cubicBezTo>
                <a:cubicBezTo>
                  <a:pt x="102570" y="2018249"/>
                  <a:pt x="159758" y="1977237"/>
                  <a:pt x="246479" y="1969279"/>
                </a:cubicBezTo>
                <a:cubicBezTo>
                  <a:pt x="214465" y="1882663"/>
                  <a:pt x="214465" y="1882663"/>
                  <a:pt x="317968" y="1870725"/>
                </a:cubicBezTo>
                <a:cubicBezTo>
                  <a:pt x="278183" y="1815635"/>
                  <a:pt x="278183" y="1801556"/>
                  <a:pt x="326361" y="1782580"/>
                </a:cubicBezTo>
                <a:cubicBezTo>
                  <a:pt x="372673" y="1764521"/>
                  <a:pt x="423957" y="1758400"/>
                  <a:pt x="466852" y="1730550"/>
                </a:cubicBezTo>
                <a:cubicBezTo>
                  <a:pt x="427377" y="1660155"/>
                  <a:pt x="416187" y="1578436"/>
                  <a:pt x="334753" y="1544155"/>
                </a:cubicBezTo>
                <a:cubicBezTo>
                  <a:pt x="322010" y="1538952"/>
                  <a:pt x="313307" y="1517834"/>
                  <a:pt x="321386" y="1505592"/>
                </a:cubicBezTo>
                <a:cubicBezTo>
                  <a:pt x="350915" y="1461214"/>
                  <a:pt x="308644" y="1377045"/>
                  <a:pt x="400645" y="1367557"/>
                </a:cubicBezTo>
                <a:cubicBezTo>
                  <a:pt x="412147" y="1366640"/>
                  <a:pt x="422716" y="1357456"/>
                  <a:pt x="413701" y="1345520"/>
                </a:cubicBezTo>
                <a:cubicBezTo>
                  <a:pt x="382618" y="1303896"/>
                  <a:pt x="420228" y="1306649"/>
                  <a:pt x="442916" y="1301447"/>
                </a:cubicBezTo>
                <a:cubicBezTo>
                  <a:pt x="470270" y="1295021"/>
                  <a:pt x="501352" y="1313384"/>
                  <a:pt x="526840" y="1290735"/>
                </a:cubicBezTo>
                <a:cubicBezTo>
                  <a:pt x="520932" y="1266862"/>
                  <a:pt x="498866" y="1267167"/>
                  <a:pt x="483325" y="1259517"/>
                </a:cubicBezTo>
                <a:cubicBezTo>
                  <a:pt x="437945" y="1237479"/>
                  <a:pt x="400956" y="1211159"/>
                  <a:pt x="398780" y="1153924"/>
                </a:cubicBezTo>
                <a:cubicBezTo>
                  <a:pt x="397228" y="1107708"/>
                  <a:pt x="392254" y="1067003"/>
                  <a:pt x="455041" y="1052922"/>
                </a:cubicBezTo>
                <a:cubicBezTo>
                  <a:pt x="481149" y="1047106"/>
                  <a:pt x="473687" y="1013747"/>
                  <a:pt x="458768" y="997218"/>
                </a:cubicBezTo>
                <a:cubicBezTo>
                  <a:pt x="432038" y="967837"/>
                  <a:pt x="409972" y="928661"/>
                  <a:pt x="363968" y="925907"/>
                </a:cubicBezTo>
                <a:cubicBezTo>
                  <a:pt x="335995" y="924071"/>
                  <a:pt x="314548" y="911826"/>
                  <a:pt x="292481" y="897749"/>
                </a:cubicBezTo>
                <a:cubicBezTo>
                  <a:pt x="276630" y="887646"/>
                  <a:pt x="257670" y="879078"/>
                  <a:pt x="259533" y="857348"/>
                </a:cubicBezTo>
                <a:cubicBezTo>
                  <a:pt x="261399" y="836535"/>
                  <a:pt x="279736" y="827966"/>
                  <a:pt x="298387" y="823681"/>
                </a:cubicBezTo>
                <a:cubicBezTo>
                  <a:pt x="360552" y="809909"/>
                  <a:pt x="418983" y="789708"/>
                  <a:pt x="470893" y="743493"/>
                </a:cubicBezTo>
                <a:cubicBezTo>
                  <a:pt x="436390" y="719007"/>
                  <a:pt x="403444" y="701256"/>
                  <a:pt x="377957" y="676463"/>
                </a:cubicBezTo>
                <a:cubicBezTo>
                  <a:pt x="316415" y="616477"/>
                  <a:pt x="837660" y="427634"/>
                  <a:pt x="863768" y="360299"/>
                </a:cubicBezTo>
                <a:cubicBezTo>
                  <a:pt x="871849" y="339488"/>
                  <a:pt x="899511" y="318064"/>
                  <a:pt x="922515" y="311942"/>
                </a:cubicBezTo>
                <a:cubicBezTo>
                  <a:pt x="1030367" y="283171"/>
                  <a:pt x="1123922" y="218591"/>
                  <a:pt x="1234265" y="194718"/>
                </a:cubicBezTo>
                <a:cubicBezTo>
                  <a:pt x="1338390" y="172070"/>
                  <a:pt x="1440960" y="141768"/>
                  <a:pt x="1555030" y="111776"/>
                </a:cubicBezTo>
                <a:cubicBezTo>
                  <a:pt x="1520063" y="74130"/>
                  <a:pt x="1471575" y="57526"/>
                  <a:pt x="1428216" y="36752"/>
                </a:cubicBez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3018145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D3237F-1ADD-1E44-EE29-B1A9469132AC}"/>
              </a:ext>
            </a:extLst>
          </p:cNvPr>
          <p:cNvSpPr>
            <a:spLocks noGrp="1"/>
          </p:cNvSpPr>
          <p:nvPr>
            <p:ph type="title"/>
          </p:nvPr>
        </p:nvSpPr>
        <p:spPr/>
        <p:txBody>
          <a:bodyPr/>
          <a:lstStyle/>
          <a:p>
            <a:r>
              <a:rPr lang="en-GB" dirty="0"/>
              <a:t>Summary</a:t>
            </a:r>
          </a:p>
        </p:txBody>
      </p:sp>
      <p:sp>
        <p:nvSpPr>
          <p:cNvPr id="5" name="Content Placeholder 4">
            <a:extLst>
              <a:ext uri="{FF2B5EF4-FFF2-40B4-BE49-F238E27FC236}">
                <a16:creationId xmlns:a16="http://schemas.microsoft.com/office/drawing/2014/main" id="{5029B85E-F765-CD81-5911-673FFFD0CD8A}"/>
              </a:ext>
            </a:extLst>
          </p:cNvPr>
          <p:cNvSpPr>
            <a:spLocks noGrp="1"/>
          </p:cNvSpPr>
          <p:nvPr>
            <p:ph idx="1"/>
          </p:nvPr>
        </p:nvSpPr>
        <p:spPr/>
        <p:txBody>
          <a:bodyPr/>
          <a:lstStyle/>
          <a:p>
            <a:r>
              <a:rPr lang="en-GB" dirty="0"/>
              <a:t>Architecture &amp; Organisation</a:t>
            </a:r>
          </a:p>
          <a:p>
            <a:r>
              <a:rPr lang="en-GB" dirty="0"/>
              <a:t>Computer Structure</a:t>
            </a:r>
          </a:p>
          <a:p>
            <a:r>
              <a:rPr lang="en-GB" dirty="0"/>
              <a:t>History of Computer Hardware</a:t>
            </a:r>
          </a:p>
          <a:p>
            <a:r>
              <a:rPr lang="en-GB" dirty="0"/>
              <a:t>Von Neumann Architecture</a:t>
            </a:r>
          </a:p>
          <a:p>
            <a:endParaRPr lang="en-GB" dirty="0"/>
          </a:p>
        </p:txBody>
      </p:sp>
    </p:spTree>
    <p:extLst>
      <p:ext uri="{BB962C8B-B14F-4D97-AF65-F5344CB8AC3E}">
        <p14:creationId xmlns:p14="http://schemas.microsoft.com/office/powerpoint/2010/main" val="150724020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B41B512F-0254-41A6-A972-FC1CC36F09B9}">
  <we:reference id="3e0fcce7-415c-4081-926c-b4e449c650e4" version="1.1.0.2" store="EXCatalog" storeType="EXCatalog"/>
  <we:alternateReferences>
    <we:reference id="WA200004709" version="1.1.0.2" store="en-GB" storeType="OMEX"/>
  </we:alternateReferences>
  <we:properties>
    <we:property name="Office.AutoShowTaskpaneWithDocument" value="true"/>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3422</TotalTime>
  <Words>3082</Words>
  <Application>Microsoft Office PowerPoint</Application>
  <PresentationFormat>Widescreen</PresentationFormat>
  <Paragraphs>301</Paragraphs>
  <Slides>41</Slides>
  <Notes>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41</vt:i4>
      </vt:variant>
    </vt:vector>
  </HeadingPairs>
  <TitlesOfParts>
    <vt:vector size="46" baseType="lpstr">
      <vt:lpstr>Arial</vt:lpstr>
      <vt:lpstr>Calibri</vt:lpstr>
      <vt:lpstr>Calibri Light</vt:lpstr>
      <vt:lpstr>Times New Roman</vt:lpstr>
      <vt:lpstr>Office Theme</vt:lpstr>
      <vt:lpstr>COMP1860 Building our Digital World: Computer Systems &amp; Architecture</vt:lpstr>
      <vt:lpstr>Learning Outcomes</vt:lpstr>
      <vt:lpstr>Text Book</vt:lpstr>
      <vt:lpstr>Overview</vt:lpstr>
      <vt:lpstr>What is a computer?</vt:lpstr>
      <vt:lpstr>Architecture &amp; Organisation</vt:lpstr>
      <vt:lpstr>Architecture</vt:lpstr>
      <vt:lpstr>Organisation</vt:lpstr>
      <vt:lpstr>Architecture &amp; Organisation</vt:lpstr>
      <vt:lpstr>Computer Structure</vt:lpstr>
      <vt:lpstr>Structure and Function</vt:lpstr>
      <vt:lpstr>Function</vt:lpstr>
      <vt:lpstr>Function</vt:lpstr>
      <vt:lpstr>Hierarchical Structure</vt:lpstr>
      <vt:lpstr>PowerPoint Presentation</vt:lpstr>
      <vt:lpstr>Computer Components</vt:lpstr>
      <vt:lpstr>CPU components</vt:lpstr>
      <vt:lpstr>Multicore components</vt:lpstr>
      <vt:lpstr>PowerPoint Presentation</vt:lpstr>
      <vt:lpstr>PowerPoint Presentation</vt:lpstr>
      <vt:lpstr>Modern PC Layout</vt:lpstr>
      <vt:lpstr>Multicore Processor (14th gen Intel Core)</vt:lpstr>
      <vt:lpstr>AMD Zen 2 Core</vt:lpstr>
      <vt:lpstr>Break/Activity</vt:lpstr>
      <vt:lpstr>History of Computer Hardware Part 1</vt:lpstr>
      <vt:lpstr>Development of Computers</vt:lpstr>
      <vt:lpstr>Development of Computers</vt:lpstr>
      <vt:lpstr>Why switches?</vt:lpstr>
      <vt:lpstr>First digital computers (1930s &amp; 1940s)</vt:lpstr>
      <vt:lpstr>Stored Program Computer</vt:lpstr>
      <vt:lpstr>Von Neumann Architecture</vt:lpstr>
      <vt:lpstr>Von Neumann Architecture</vt:lpstr>
      <vt:lpstr>Registers</vt:lpstr>
      <vt:lpstr>Addresses</vt:lpstr>
      <vt:lpstr>Instructions</vt:lpstr>
      <vt:lpstr>Fetch-Decode-Execute Cycle</vt:lpstr>
      <vt:lpstr>Von Neumann Bottleneck</vt:lpstr>
      <vt:lpstr>Harvard Architecture</vt:lpstr>
      <vt:lpstr>Von Neumann Bottleneck Mitigations</vt:lpstr>
      <vt:lpstr>Activity</vt:lpstr>
      <vt:lpstr>Summary</vt:lpstr>
    </vt:vector>
  </TitlesOfParts>
  <Company>University of Leeds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COMP1860 Building our Digital World: Computer Systems &amp; Architecture</dc:title>
  <dc:creator>James Dyer</dc:creator>
  <cp:lastModifiedBy>James Dyer</cp:lastModifiedBy>
  <cp:revision>19</cp:revision>
  <dcterms:created xsi:type="dcterms:W3CDTF">2024-09-11T11:41:56Z</dcterms:created>
  <dcterms:modified xsi:type="dcterms:W3CDTF">2026-09-24T11:48:33Z</dcterms:modified>
</cp:coreProperties>
</file>