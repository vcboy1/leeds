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59" r:id="rId4"/>
    <p:sldId id="257" r:id="rId5"/>
    <p:sldId id="258" r:id="rId6"/>
    <p:sldId id="260" r:id="rId7"/>
    <p:sldId id="271" r:id="rId8"/>
    <p:sldId id="262" r:id="rId9"/>
    <p:sldId id="261" r:id="rId10"/>
    <p:sldId id="273" r:id="rId11"/>
    <p:sldId id="339" r:id="rId12"/>
    <p:sldId id="340" r:id="rId13"/>
    <p:sldId id="345" r:id="rId14"/>
    <p:sldId id="342" r:id="rId15"/>
    <p:sldId id="344" r:id="rId16"/>
    <p:sldId id="341" r:id="rId17"/>
    <p:sldId id="270" r:id="rId18"/>
    <p:sldId id="264" r:id="rId19"/>
    <p:sldId id="265" r:id="rId20"/>
    <p:sldId id="267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6E91D-8D3D-4B70-9C0A-0D5050CF7F57}" v="8" dt="2026-09-23T16:16:22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F60D56F0-411A-464A-9766-F9A63ABC936F}"/>
    <pc:docChg chg="undo custSel addSld delSld modSld sldOrd">
      <pc:chgData name="James Dyer" userId="c78f284b-7e37-4191-b5a6-8e3806eb7037" providerId="ADAL" clId="{F60D56F0-411A-464A-9766-F9A63ABC936F}" dt="2026-09-24T11:41:53.417" v="419" actId="20577"/>
      <pc:docMkLst>
        <pc:docMk/>
      </pc:docMkLst>
      <pc:sldChg chg="modSp mod">
        <pc:chgData name="James Dyer" userId="c78f284b-7e37-4191-b5a6-8e3806eb7037" providerId="ADAL" clId="{F60D56F0-411A-464A-9766-F9A63ABC936F}" dt="2026-09-23T16:28:24.653" v="417" actId="20577"/>
        <pc:sldMkLst>
          <pc:docMk/>
          <pc:sldMk cId="1301686871" sldId="257"/>
        </pc:sldMkLst>
        <pc:spChg chg="mod">
          <ac:chgData name="James Dyer" userId="c78f284b-7e37-4191-b5a6-8e3806eb7037" providerId="ADAL" clId="{F60D56F0-411A-464A-9766-F9A63ABC936F}" dt="2026-09-23T16:28:24.653" v="417" actId="20577"/>
          <ac:spMkLst>
            <pc:docMk/>
            <pc:sldMk cId="1301686871" sldId="257"/>
            <ac:spMk id="3" creationId="{3ADE7B2B-995A-9280-9B4F-1FBEA7DE9722}"/>
          </ac:spMkLst>
        </pc:spChg>
      </pc:sldChg>
      <pc:sldChg chg="modSp mod">
        <pc:chgData name="James Dyer" userId="c78f284b-7e37-4191-b5a6-8e3806eb7037" providerId="ADAL" clId="{F60D56F0-411A-464A-9766-F9A63ABC936F}" dt="2026-09-23T16:28:05.178" v="399" actId="20577"/>
        <pc:sldMkLst>
          <pc:docMk/>
          <pc:sldMk cId="3380680125" sldId="259"/>
        </pc:sldMkLst>
        <pc:spChg chg="mod">
          <ac:chgData name="James Dyer" userId="c78f284b-7e37-4191-b5a6-8e3806eb7037" providerId="ADAL" clId="{F60D56F0-411A-464A-9766-F9A63ABC936F}" dt="2026-09-23T16:28:05.178" v="399" actId="20577"/>
          <ac:spMkLst>
            <pc:docMk/>
            <pc:sldMk cId="3380680125" sldId="259"/>
            <ac:spMk id="3" creationId="{00E6325C-7CE1-27EB-E9CC-9E4AF68B1EF1}"/>
          </ac:spMkLst>
        </pc:spChg>
      </pc:sldChg>
      <pc:sldChg chg="modSp mod ord">
        <pc:chgData name="James Dyer" userId="c78f284b-7e37-4191-b5a6-8e3806eb7037" providerId="ADAL" clId="{F60D56F0-411A-464A-9766-F9A63ABC936F}" dt="2026-09-23T16:01:27.299" v="22"/>
        <pc:sldMkLst>
          <pc:docMk/>
          <pc:sldMk cId="3316902019" sldId="261"/>
        </pc:sldMkLst>
        <pc:spChg chg="mod">
          <ac:chgData name="James Dyer" userId="c78f284b-7e37-4191-b5a6-8e3806eb7037" providerId="ADAL" clId="{F60D56F0-411A-464A-9766-F9A63ABC936F}" dt="2026-09-23T16:01:08.080" v="18" actId="20577"/>
          <ac:spMkLst>
            <pc:docMk/>
            <pc:sldMk cId="3316902019" sldId="261"/>
            <ac:spMk id="3" creationId="{683EA87B-59A5-AD48-E800-35D8DE707265}"/>
          </ac:spMkLst>
        </pc:spChg>
      </pc:sldChg>
      <pc:sldChg chg="modSp del mod ord">
        <pc:chgData name="James Dyer" userId="c78f284b-7e37-4191-b5a6-8e3806eb7037" providerId="ADAL" clId="{F60D56F0-411A-464A-9766-F9A63ABC936F}" dt="2026-09-23T16:03:56.480" v="45" actId="47"/>
        <pc:sldMkLst>
          <pc:docMk/>
          <pc:sldMk cId="1017051919" sldId="263"/>
        </pc:sldMkLst>
        <pc:spChg chg="mod">
          <ac:chgData name="James Dyer" userId="c78f284b-7e37-4191-b5a6-8e3806eb7037" providerId="ADAL" clId="{F60D56F0-411A-464A-9766-F9A63ABC936F}" dt="2026-09-23T16:00:25.156" v="5" actId="20577"/>
          <ac:spMkLst>
            <pc:docMk/>
            <pc:sldMk cId="1017051919" sldId="263"/>
            <ac:spMk id="3" creationId="{BCA73B6D-E7E8-297D-260E-8F46D3DDA443}"/>
          </ac:spMkLst>
        </pc:spChg>
      </pc:sldChg>
      <pc:sldChg chg="delSp modSp mod modClrScheme chgLayout">
        <pc:chgData name="James Dyer" userId="c78f284b-7e37-4191-b5a6-8e3806eb7037" providerId="ADAL" clId="{F60D56F0-411A-464A-9766-F9A63ABC936F}" dt="2026-09-23T16:21:15.625" v="379" actId="20577"/>
        <pc:sldMkLst>
          <pc:docMk/>
          <pc:sldMk cId="82346699" sldId="267"/>
        </pc:sldMkLst>
        <pc:spChg chg="mod ord">
          <ac:chgData name="James Dyer" userId="c78f284b-7e37-4191-b5a6-8e3806eb7037" providerId="ADAL" clId="{F60D56F0-411A-464A-9766-F9A63ABC936F}" dt="2026-09-23T16:19:52.782" v="246" actId="700"/>
          <ac:spMkLst>
            <pc:docMk/>
            <pc:sldMk cId="82346699" sldId="267"/>
            <ac:spMk id="2" creationId="{07C0DB29-7AB0-3BF7-524F-EE432F3F23EA}"/>
          </ac:spMkLst>
        </pc:spChg>
        <pc:spChg chg="mod ord">
          <ac:chgData name="James Dyer" userId="c78f284b-7e37-4191-b5a6-8e3806eb7037" providerId="ADAL" clId="{F60D56F0-411A-464A-9766-F9A63ABC936F}" dt="2026-09-23T16:21:15.625" v="379" actId="20577"/>
          <ac:spMkLst>
            <pc:docMk/>
            <pc:sldMk cId="82346699" sldId="267"/>
            <ac:spMk id="3" creationId="{E5D1EBA0-8902-76ED-BBD5-7A5EBDA6F72C}"/>
          </ac:spMkLst>
        </pc:spChg>
        <pc:spChg chg="del mod">
          <ac:chgData name="James Dyer" userId="c78f284b-7e37-4191-b5a6-8e3806eb7037" providerId="ADAL" clId="{F60D56F0-411A-464A-9766-F9A63ABC936F}" dt="2026-09-23T16:19:52.782" v="246" actId="700"/>
          <ac:spMkLst>
            <pc:docMk/>
            <pc:sldMk cId="82346699" sldId="267"/>
            <ac:spMk id="4" creationId="{C70EC63C-0BDB-F175-97F9-29CE8A52D994}"/>
          </ac:spMkLst>
        </pc:spChg>
        <pc:spChg chg="del mod">
          <ac:chgData name="James Dyer" userId="c78f284b-7e37-4191-b5a6-8e3806eb7037" providerId="ADAL" clId="{F60D56F0-411A-464A-9766-F9A63ABC936F}" dt="2026-09-23T16:20:03.712" v="248" actId="478"/>
          <ac:spMkLst>
            <pc:docMk/>
            <pc:sldMk cId="82346699" sldId="267"/>
            <ac:spMk id="5" creationId="{9F13B4CC-B9BE-6C9D-1F1E-FAF5AA73D316}"/>
          </ac:spMkLst>
        </pc:spChg>
        <pc:picChg chg="del">
          <ac:chgData name="James Dyer" userId="c78f284b-7e37-4191-b5a6-8e3806eb7037" providerId="ADAL" clId="{F60D56F0-411A-464A-9766-F9A63ABC936F}" dt="2026-09-23T16:19:39.730" v="244" actId="478"/>
          <ac:picMkLst>
            <pc:docMk/>
            <pc:sldMk cId="82346699" sldId="267"/>
            <ac:picMk id="7" creationId="{8D4EE9E0-971B-32BB-723A-AD4AE4DC7EB7}"/>
          </ac:picMkLst>
        </pc:picChg>
      </pc:sldChg>
      <pc:sldChg chg="del">
        <pc:chgData name="James Dyer" userId="c78f284b-7e37-4191-b5a6-8e3806eb7037" providerId="ADAL" clId="{F60D56F0-411A-464A-9766-F9A63ABC936F}" dt="2026-09-23T16:18:38.174" v="231" actId="47"/>
        <pc:sldMkLst>
          <pc:docMk/>
          <pc:sldMk cId="2725889818" sldId="268"/>
        </pc:sldMkLst>
      </pc:sldChg>
      <pc:sldChg chg="modSp mod">
        <pc:chgData name="James Dyer" userId="c78f284b-7e37-4191-b5a6-8e3806eb7037" providerId="ADAL" clId="{F60D56F0-411A-464A-9766-F9A63ABC936F}" dt="2026-09-23T16:21:56.072" v="380" actId="20577"/>
        <pc:sldMkLst>
          <pc:docMk/>
          <pc:sldMk cId="2584828919" sldId="271"/>
        </pc:sldMkLst>
        <pc:spChg chg="mod">
          <ac:chgData name="James Dyer" userId="c78f284b-7e37-4191-b5a6-8e3806eb7037" providerId="ADAL" clId="{F60D56F0-411A-464A-9766-F9A63ABC936F}" dt="2026-09-23T16:21:56.072" v="380" actId="20577"/>
          <ac:spMkLst>
            <pc:docMk/>
            <pc:sldMk cId="2584828919" sldId="271"/>
            <ac:spMk id="3" creationId="{9E76355A-6219-DB85-17EE-039CEDAB3D24}"/>
          </ac:spMkLst>
        </pc:spChg>
      </pc:sldChg>
      <pc:sldChg chg="del">
        <pc:chgData name="James Dyer" userId="c78f284b-7e37-4191-b5a6-8e3806eb7037" providerId="ADAL" clId="{F60D56F0-411A-464A-9766-F9A63ABC936F}" dt="2026-09-23T16:18:27.313" v="230" actId="47"/>
        <pc:sldMkLst>
          <pc:docMk/>
          <pc:sldMk cId="4125745850" sldId="272"/>
        </pc:sldMkLst>
      </pc:sldChg>
      <pc:sldChg chg="addSp modSp add mod ord modClrScheme chgLayout">
        <pc:chgData name="James Dyer" userId="c78f284b-7e37-4191-b5a6-8e3806eb7037" providerId="ADAL" clId="{F60D56F0-411A-464A-9766-F9A63ABC936F}" dt="2026-09-24T11:41:53.417" v="419" actId="20577"/>
        <pc:sldMkLst>
          <pc:docMk/>
          <pc:sldMk cId="1940665739" sldId="273"/>
        </pc:sldMkLst>
        <pc:spChg chg="mod ord">
          <ac:chgData name="James Dyer" userId="c78f284b-7e37-4191-b5a6-8e3806eb7037" providerId="ADAL" clId="{F60D56F0-411A-464A-9766-F9A63ABC936F}" dt="2026-09-23T16:03:27.980" v="38" actId="700"/>
          <ac:spMkLst>
            <pc:docMk/>
            <pc:sldMk cId="1940665739" sldId="273"/>
            <ac:spMk id="2" creationId="{8045EA09-9AF4-4E33-35FC-BD96A08FDA9C}"/>
          </ac:spMkLst>
        </pc:spChg>
        <pc:spChg chg="add mod ord">
          <ac:chgData name="James Dyer" userId="c78f284b-7e37-4191-b5a6-8e3806eb7037" providerId="ADAL" clId="{F60D56F0-411A-464A-9766-F9A63ABC936F}" dt="2026-09-23T16:03:32.962" v="44"/>
          <ac:spMkLst>
            <pc:docMk/>
            <pc:sldMk cId="1940665739" sldId="273"/>
            <ac:spMk id="3" creationId="{A3670D98-FF5B-3ABD-CAE7-6B78413D6E29}"/>
          </ac:spMkLst>
        </pc:spChg>
        <pc:spChg chg="mod ord">
          <ac:chgData name="James Dyer" userId="c78f284b-7e37-4191-b5a6-8e3806eb7037" providerId="ADAL" clId="{F60D56F0-411A-464A-9766-F9A63ABC936F}" dt="2026-09-24T11:41:53.417" v="419" actId="20577"/>
          <ac:spMkLst>
            <pc:docMk/>
            <pc:sldMk cId="1940665739" sldId="273"/>
            <ac:spMk id="5" creationId="{F593178F-1D3F-5F22-93F0-FAE344019F18}"/>
          </ac:spMkLst>
        </pc:spChg>
      </pc:sldChg>
      <pc:sldChg chg="modSp add mod">
        <pc:chgData name="James Dyer" userId="c78f284b-7e37-4191-b5a6-8e3806eb7037" providerId="ADAL" clId="{F60D56F0-411A-464A-9766-F9A63ABC936F}" dt="2026-09-23T16:19:00.454" v="235" actId="20577"/>
        <pc:sldMkLst>
          <pc:docMk/>
          <pc:sldMk cId="3144295256" sldId="339"/>
        </pc:sldMkLst>
        <pc:spChg chg="mod">
          <ac:chgData name="James Dyer" userId="c78f284b-7e37-4191-b5a6-8e3806eb7037" providerId="ADAL" clId="{F60D56F0-411A-464A-9766-F9A63ABC936F}" dt="2026-09-23T16:19:00.454" v="235" actId="20577"/>
          <ac:spMkLst>
            <pc:docMk/>
            <pc:sldMk cId="3144295256" sldId="339"/>
            <ac:spMk id="2" creationId="{93A26AB7-94AC-F0E5-55B1-B2162E1411F6}"/>
          </ac:spMkLst>
        </pc:spChg>
      </pc:sldChg>
      <pc:sldChg chg="modSp add mod">
        <pc:chgData name="James Dyer" userId="c78f284b-7e37-4191-b5a6-8e3806eb7037" providerId="ADAL" clId="{F60D56F0-411A-464A-9766-F9A63ABC936F}" dt="2026-09-23T16:19:08.074" v="243" actId="20577"/>
        <pc:sldMkLst>
          <pc:docMk/>
          <pc:sldMk cId="158560147" sldId="340"/>
        </pc:sldMkLst>
        <pc:spChg chg="mod">
          <ac:chgData name="James Dyer" userId="c78f284b-7e37-4191-b5a6-8e3806eb7037" providerId="ADAL" clId="{F60D56F0-411A-464A-9766-F9A63ABC936F}" dt="2026-09-23T16:19:08.074" v="243" actId="20577"/>
          <ac:spMkLst>
            <pc:docMk/>
            <pc:sldMk cId="158560147" sldId="340"/>
            <ac:spMk id="2" creationId="{8D4C6988-8FB7-FA26-79AE-C8F42822494B}"/>
          </ac:spMkLst>
        </pc:spChg>
      </pc:sldChg>
      <pc:sldChg chg="modSp add mod">
        <pc:chgData name="James Dyer" userId="c78f284b-7e37-4191-b5a6-8e3806eb7037" providerId="ADAL" clId="{F60D56F0-411A-464A-9766-F9A63ABC936F}" dt="2026-09-23T16:18:18.913" v="229" actId="20577"/>
        <pc:sldMkLst>
          <pc:docMk/>
          <pc:sldMk cId="2525677713" sldId="341"/>
        </pc:sldMkLst>
        <pc:graphicFrameChg chg="mod modGraphic">
          <ac:chgData name="James Dyer" userId="c78f284b-7e37-4191-b5a6-8e3806eb7037" providerId="ADAL" clId="{F60D56F0-411A-464A-9766-F9A63ABC936F}" dt="2026-09-23T16:18:18.913" v="229" actId="20577"/>
          <ac:graphicFrameMkLst>
            <pc:docMk/>
            <pc:sldMk cId="2525677713" sldId="341"/>
            <ac:graphicFrameMk id="4" creationId="{97F99E71-1F0A-4AC3-B9E8-8E69F9401E9F}"/>
          </ac:graphicFrameMkLst>
        </pc:graphicFrameChg>
      </pc:sldChg>
      <pc:sldChg chg="add">
        <pc:chgData name="James Dyer" userId="c78f284b-7e37-4191-b5a6-8e3806eb7037" providerId="ADAL" clId="{F60D56F0-411A-464A-9766-F9A63ABC936F}" dt="2026-09-23T16:00:34.994" v="6"/>
        <pc:sldMkLst>
          <pc:docMk/>
          <pc:sldMk cId="340583162" sldId="342"/>
        </pc:sldMkLst>
      </pc:sldChg>
      <pc:sldChg chg="add">
        <pc:chgData name="James Dyer" userId="c78f284b-7e37-4191-b5a6-8e3806eb7037" providerId="ADAL" clId="{F60D56F0-411A-464A-9766-F9A63ABC936F}" dt="2026-09-23T16:00:34.994" v="6"/>
        <pc:sldMkLst>
          <pc:docMk/>
          <pc:sldMk cId="3166629106" sldId="344"/>
        </pc:sldMkLst>
      </pc:sldChg>
      <pc:sldChg chg="add">
        <pc:chgData name="James Dyer" userId="c78f284b-7e37-4191-b5a6-8e3806eb7037" providerId="ADAL" clId="{F60D56F0-411A-464A-9766-F9A63ABC936F}" dt="2026-09-23T16:00:34.994" v="6"/>
        <pc:sldMkLst>
          <pc:docMk/>
          <pc:sldMk cId="3356975363" sldId="3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5F0B3-1597-4DD2-93E8-4DD5452EE330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F56EA-82CC-4A6D-9C76-71ED7C21B7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98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D4ED-1FD3-8EDB-4F72-4A6F83D1D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3DAD6-1F9F-B5F4-791D-0D51C6362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B9916-3508-BA32-CD72-D9F6CA28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03A2-BB8F-247C-8829-1D38634A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0B57-173D-A753-C045-B72B8C8A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04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0027-011A-365D-5800-1ECB59C7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CAC3-7C5B-291C-9F62-9E1EFDCE5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2EC97-0CFE-EFD4-E563-B32C2E20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CE9ED-8D0C-923A-EBFE-12959329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9A0E-D3EF-AF12-3937-99152F16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01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EF0C-AA9F-3C90-6DAE-78DD749D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72E6A-2EBC-357A-9935-037C307BB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64DE-6FDE-69DE-A392-12889872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BC99E-31A7-B8DE-7AC9-09507EFF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94498-F63B-CCA5-33BD-2D4C37FB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5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9915-D686-5AF1-F041-0227BD52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334B2-B748-9DE9-FC95-7994F130D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34F4B-5C82-A5BE-CE66-362001BAD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1D738-527A-A913-0294-D7AF27FD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44930-9394-065C-AF59-630A1526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D9AB0-F66B-E33E-65C4-0F296607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79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D28C-F6CB-0842-B616-6593339F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40D09-2D22-E553-D370-523710A8A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4E91A-D7AD-C954-1F4F-9AB406B0B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9B2B8-0CD2-B16D-AA75-B7ECAF5CB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B8E4E-867E-92DD-EF6E-980F1E1A3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39DE2-2E2D-CA28-3FD7-D646D4CB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825DE-DEAF-69C9-DA0E-174DC8A2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B877B-F279-89D6-4394-C8ABD56D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0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CE42-A594-1685-41E0-EBC609462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FD3AE-CD57-3BE3-6664-F0F4BBD0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630F0-AA77-CC90-D7E8-71ED42A2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5D8B1-13C9-35E8-868E-CFFD428D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6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EC160-6716-3FA1-20EE-513AE054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A3880-992E-9EC9-5B63-88C8BA2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DB63-4E59-8D20-2B9C-BB14C6D4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5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6F38-549F-1031-9ADA-6E0C1AA0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749EF-1A99-3B33-5639-698600DC1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954E0-4FFC-233D-7ABA-73D028347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9FC5A-82F7-8298-997F-C1A3C857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A9AB-952C-6FD9-28B9-A24A02E0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40707-7C1E-60E0-FAE8-B3A5D6E5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08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1339-54A6-AD50-3899-E44C7AF3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4729D-C1BA-5298-47B1-559BE4450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C8A9C-46D4-07A6-3D44-00FEF6405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5E9EF-6113-A016-B4D7-5DF6CAD7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F68C-90B1-B0CA-EE85-A738B6E30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15CC0-BE3D-CDED-3A28-CB84811E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33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A4C5-8972-1547-1DC0-30945519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50E3E-B77D-5415-9702-1E5E8F47C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460F6-0CE1-2104-DDA0-C221A445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43945-26CA-8A78-5459-1A582104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74B18-2D39-0D3B-8125-FCCAD1AB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5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B079B-A1F5-3675-01FC-462B17FCC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2DC5B-9CCC-901F-CD4F-87F908F00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EF79-135F-878C-E94B-B2F56D78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11ED0-D1D4-7746-9C2A-61BACF76C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3DFE7-12E6-A90B-1122-8367DF41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7E654-7156-5CE4-4D4E-64D17D44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3A934-785A-052A-C4BC-2D4765E48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B3CA-4692-8420-27B5-4D6B99333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6CFA9-319C-4A03-B2E7-EA32B6D8C42A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AE92-1CB3-722D-D9E0-B960C1A11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5948D-C3A6-B4D4-A180-257D27924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FD887-8FB0-4718-85D0-DDC72D9A2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47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nd2tetris.org/" TargetMode="External"/><Relationship Id="rId2" Type="http://schemas.openxmlformats.org/officeDocument/2006/relationships/hyperlink" Target="https://ebookcentral.proquest.com/lib/leeds/detail.action?docID=663088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veintosystems.org/#_free_on_line_versio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lebooks.com/Product/Index/697403?page=0&amp;startBookmarkId=-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E60D-9103-90B8-20F0-BD9A37F4E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55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853DE-8861-A9F4-3CAD-376796089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5211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dirty="0"/>
              <a:t>S1.W1.L0: Module Details</a:t>
            </a:r>
          </a:p>
          <a:p>
            <a:r>
              <a:rPr lang="en-GB" sz="3600" dirty="0"/>
              <a:t>Prof Andy </a:t>
            </a:r>
            <a:r>
              <a:rPr lang="en-GB" sz="3600" dirty="0" err="1"/>
              <a:t>Bulpitt</a:t>
            </a:r>
            <a:r>
              <a:rPr lang="en-GB" sz="3600" dirty="0"/>
              <a:t>, Dr </a:t>
            </a:r>
            <a:r>
              <a:rPr lang="en-GB" sz="3600" dirty="0" err="1"/>
              <a:t>Arash</a:t>
            </a:r>
            <a:r>
              <a:rPr lang="en-GB" sz="3600" dirty="0"/>
              <a:t> </a:t>
            </a:r>
            <a:r>
              <a:rPr lang="en-GB" sz="3600" dirty="0" err="1"/>
              <a:t>Bozorgchenani</a:t>
            </a:r>
            <a:r>
              <a:rPr lang="en-GB" sz="3600" dirty="0"/>
              <a:t>,</a:t>
            </a:r>
          </a:p>
          <a:p>
            <a:r>
              <a:rPr lang="en-GB" sz="3600" dirty="0"/>
              <a:t>Dr James Dyer &amp; Dr Massimiliano Fasi </a:t>
            </a:r>
          </a:p>
        </p:txBody>
      </p:sp>
    </p:spTree>
    <p:extLst>
      <p:ext uri="{BB962C8B-B14F-4D97-AF65-F5344CB8AC3E}">
        <p14:creationId xmlns:p14="http://schemas.microsoft.com/office/powerpoint/2010/main" val="193592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D9B-F031-E9EE-57A2-70751E2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child standing in front of a sign&#10;&#10;Description automatically generated">
            <a:extLst>
              <a:ext uri="{FF2B5EF4-FFF2-40B4-BE49-F238E27FC236}">
                <a16:creationId xmlns:a16="http://schemas.microsoft.com/office/drawing/2014/main" id="{87730293-1A6A-F43C-466F-7BE8B3723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828" cy="6858000"/>
          </a:xfrm>
        </p:spPr>
      </p:pic>
    </p:spTree>
    <p:extLst>
      <p:ext uri="{BB962C8B-B14F-4D97-AF65-F5344CB8AC3E}">
        <p14:creationId xmlns:p14="http://schemas.microsoft.com/office/powerpoint/2010/main" val="14008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F6C6-8184-CA59-E086-2792CA33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6325C-7CE1-27EB-E9CC-9E4AF68B1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Module Leader: Prof Leandro </a:t>
            </a:r>
            <a:r>
              <a:rPr lang="en-GB" dirty="0" err="1"/>
              <a:t>Indrusiak</a:t>
            </a:r>
            <a:endParaRPr lang="en-GB" dirty="0"/>
          </a:p>
          <a:p>
            <a:r>
              <a:rPr lang="en-GB" dirty="0"/>
              <a:t>Additional Lecturers: Dr </a:t>
            </a:r>
            <a:r>
              <a:rPr lang="en-GB" dirty="0" err="1"/>
              <a:t>Arash</a:t>
            </a:r>
            <a:r>
              <a:rPr lang="en-GB" dirty="0"/>
              <a:t> </a:t>
            </a:r>
            <a:r>
              <a:rPr lang="en-GB" dirty="0" err="1"/>
              <a:t>Bozorgchenani</a:t>
            </a:r>
            <a:r>
              <a:rPr lang="en-GB" dirty="0"/>
              <a:t>, Dr James Dyer, Dr Massimiliano Fasi</a:t>
            </a:r>
          </a:p>
          <a:p>
            <a:r>
              <a:rPr lang="en-GB" dirty="0"/>
              <a:t>Teaching Assistants and Fellows</a:t>
            </a:r>
          </a:p>
        </p:txBody>
      </p:sp>
    </p:spTree>
    <p:extLst>
      <p:ext uri="{BB962C8B-B14F-4D97-AF65-F5344CB8AC3E}">
        <p14:creationId xmlns:p14="http://schemas.microsoft.com/office/powerpoint/2010/main" val="338068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9EDB-7536-9390-675C-33E8C447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E7B2B-995A-9280-9B4F-1FBEA7DE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Two per week </a:t>
            </a:r>
            <a:r>
              <a:rPr lang="en-GB" dirty="0"/>
              <a:t>(except for week 5)</a:t>
            </a:r>
          </a:p>
          <a:p>
            <a:r>
              <a:rPr lang="en-GB" dirty="0"/>
              <a:t>Lecturer</a:t>
            </a:r>
          </a:p>
          <a:p>
            <a:pPr lvl="1"/>
            <a:r>
              <a:rPr lang="en-GB" dirty="0"/>
              <a:t>Dr James Dyer, (Autumn term, weeks 1-4)</a:t>
            </a:r>
          </a:p>
          <a:p>
            <a:pPr lvl="1"/>
            <a:r>
              <a:rPr lang="en-GB" dirty="0"/>
              <a:t>Prof. Leandro </a:t>
            </a:r>
            <a:r>
              <a:rPr lang="en-GB" dirty="0" err="1"/>
              <a:t>Indrusiak</a:t>
            </a:r>
            <a:r>
              <a:rPr lang="en-GB" dirty="0"/>
              <a:t> (Autumn term, weeks 6-11),</a:t>
            </a:r>
          </a:p>
          <a:p>
            <a:pPr lvl="1"/>
            <a:r>
              <a:rPr lang="en-GB" dirty="0"/>
              <a:t>Dr Massimiliano Fasi (Spring term, weeks 1-5)</a:t>
            </a:r>
          </a:p>
          <a:p>
            <a:pPr lvl="1"/>
            <a:r>
              <a:rPr lang="en-GB" dirty="0"/>
              <a:t>Dr </a:t>
            </a:r>
            <a:r>
              <a:rPr lang="en-GB" dirty="0" err="1"/>
              <a:t>Arash</a:t>
            </a:r>
            <a:r>
              <a:rPr lang="en-GB" dirty="0"/>
              <a:t> </a:t>
            </a:r>
            <a:r>
              <a:rPr lang="en-GB" dirty="0" err="1"/>
              <a:t>Bozorgchenani</a:t>
            </a:r>
            <a:r>
              <a:rPr lang="en-GB" dirty="0"/>
              <a:t> (Spring term, weeks 6-10)</a:t>
            </a:r>
          </a:p>
          <a:p>
            <a:r>
              <a:rPr lang="en-GB" dirty="0"/>
              <a:t>Lecture slides posted in Minerva</a:t>
            </a:r>
          </a:p>
        </p:txBody>
      </p:sp>
    </p:spTree>
    <p:extLst>
      <p:ext uri="{BB962C8B-B14F-4D97-AF65-F5344CB8AC3E}">
        <p14:creationId xmlns:p14="http://schemas.microsoft.com/office/powerpoint/2010/main" val="130168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0C2D-2E66-3265-8BCB-BBA4D17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FB473-9C10-6993-2A64-89FB8E23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will be no lectures in week 5</a:t>
            </a:r>
          </a:p>
          <a:p>
            <a:r>
              <a:rPr lang="en-GB" dirty="0"/>
              <a:t>Instead, you will </a:t>
            </a:r>
            <a:r>
              <a:rPr lang="en-GB" dirty="0">
                <a:solidFill>
                  <a:schemeClr val="accent2"/>
                </a:solidFill>
              </a:rPr>
              <a:t>have two 2-hour sessions in the computer labs</a:t>
            </a:r>
          </a:p>
          <a:p>
            <a:r>
              <a:rPr lang="en-GB" dirty="0"/>
              <a:t>These will be a mix of lectures and lab exercises</a:t>
            </a:r>
          </a:p>
        </p:txBody>
      </p:sp>
    </p:spTree>
    <p:extLst>
      <p:ext uri="{BB962C8B-B14F-4D97-AF65-F5344CB8AC3E}">
        <p14:creationId xmlns:p14="http://schemas.microsoft.com/office/powerpoint/2010/main" val="377578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5AD7-C924-B86D-EEBA-874F47EF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220-DBFB-D7E2-8F83-D2C48167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Noam Nisan and Shimon </a:t>
            </a:r>
            <a:r>
              <a:rPr lang="en-GB" dirty="0" err="1"/>
              <a:t>Schocken</a:t>
            </a:r>
            <a:r>
              <a:rPr lang="en-GB" dirty="0"/>
              <a:t>, </a:t>
            </a:r>
            <a:r>
              <a:rPr lang="en-GB" b="1" dirty="0"/>
              <a:t>The Elements of Computing Systems: Building a Modern Computer from First Principles</a:t>
            </a:r>
          </a:p>
          <a:p>
            <a:pPr lvl="1"/>
            <a:r>
              <a:rPr lang="en-GB" dirty="0"/>
              <a:t>MIT Press, 2</a:t>
            </a:r>
            <a:r>
              <a:rPr lang="en-GB" baseline="30000" dirty="0"/>
              <a:t>nd</a:t>
            </a:r>
            <a:r>
              <a:rPr lang="en-GB" dirty="0"/>
              <a:t> Edition, 2021</a:t>
            </a:r>
          </a:p>
          <a:p>
            <a:pPr lvl="1"/>
            <a:r>
              <a:rPr lang="en-GB" dirty="0">
                <a:hlinkClick r:id="rId2"/>
              </a:rPr>
              <a:t>Available online</a:t>
            </a:r>
            <a:endParaRPr lang="en-GB" dirty="0"/>
          </a:p>
          <a:p>
            <a:pPr lvl="1"/>
            <a:r>
              <a:rPr lang="en-GB" dirty="0"/>
              <a:t>NAND2Tetris </a:t>
            </a:r>
            <a:r>
              <a:rPr lang="en-GB" dirty="0">
                <a:hlinkClick r:id="rId3"/>
              </a:rPr>
              <a:t>website</a:t>
            </a:r>
            <a:endParaRPr lang="en-GB" dirty="0"/>
          </a:p>
          <a:p>
            <a:r>
              <a:rPr lang="en-GB" dirty="0"/>
              <a:t>Suzanne J. Matthews, Tia Newhall and Kevin C. Webb, </a:t>
            </a:r>
            <a:r>
              <a:rPr lang="en-GB" b="1" dirty="0"/>
              <a:t>Dive into Systems</a:t>
            </a:r>
          </a:p>
          <a:p>
            <a:pPr lvl="1"/>
            <a:r>
              <a:rPr lang="en-GB" dirty="0"/>
              <a:t>No Starch Press, August 2022 (ISBN-13: 9781718501362).</a:t>
            </a:r>
          </a:p>
          <a:p>
            <a:pPr lvl="1"/>
            <a:r>
              <a:rPr lang="en-GB" dirty="0">
                <a:hlinkClick r:id="rId4"/>
              </a:rPr>
              <a:t>Available online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685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39BC-D4FA-8439-76FC-30528273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355A-6219-DB85-17EE-039CEDAB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William </a:t>
            </a:r>
            <a:r>
              <a:rPr lang="en-GB" dirty="0"/>
              <a:t>Stallings, </a:t>
            </a:r>
            <a:r>
              <a:rPr lang="en-GB" b="1" dirty="0"/>
              <a:t>Computer Organisation and Architecture: Designing for Performance</a:t>
            </a:r>
            <a:r>
              <a:rPr lang="en-GB" dirty="0"/>
              <a:t>,</a:t>
            </a:r>
          </a:p>
          <a:p>
            <a:pPr lvl="1"/>
            <a:r>
              <a:rPr lang="en-GB" dirty="0"/>
              <a:t>Pearson Education, 11</a:t>
            </a:r>
            <a:r>
              <a:rPr lang="en-GB" baseline="30000" dirty="0"/>
              <a:t>th</a:t>
            </a:r>
            <a:r>
              <a:rPr lang="en-GB" dirty="0"/>
              <a:t> edition, 2021</a:t>
            </a:r>
          </a:p>
          <a:p>
            <a:pPr lvl="1"/>
            <a:r>
              <a:rPr lang="en-GB" dirty="0">
                <a:hlinkClick r:id="rId2"/>
              </a:rPr>
              <a:t>Available online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482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2597-B6C4-7F0F-4F7F-CDD10EE5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Weekly Tutorials &amp; Lab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426C-DEF4-502C-9BDF-1DEBDAF9D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weeks 1-4, you will have a 1-hour tutorial session</a:t>
            </a:r>
          </a:p>
          <a:p>
            <a:pPr lvl="1"/>
            <a:r>
              <a:rPr lang="en-GB" dirty="0"/>
              <a:t>Labs will replace tutorials after week 4</a:t>
            </a:r>
          </a:p>
          <a:p>
            <a:r>
              <a:rPr lang="en-GB" dirty="0"/>
              <a:t>In weeks 5-10, you will have a 2-hour lab session</a:t>
            </a:r>
          </a:p>
          <a:p>
            <a:r>
              <a:rPr lang="en-GB" dirty="0"/>
              <a:t>In both cases</a:t>
            </a:r>
          </a:p>
          <a:p>
            <a:pPr lvl="1"/>
            <a:r>
              <a:rPr lang="en-GB" dirty="0"/>
              <a:t>See your timetable for dates;</a:t>
            </a:r>
          </a:p>
          <a:p>
            <a:pPr lvl="1"/>
            <a:r>
              <a:rPr lang="en-GB" dirty="0"/>
              <a:t>Ran by competent teaching assistants (some are PhD students);</a:t>
            </a:r>
          </a:p>
          <a:p>
            <a:pPr lvl="1"/>
            <a:r>
              <a:rPr lang="en-GB" dirty="0"/>
              <a:t>Time to work on portfolio questions with support from teaching assistants</a:t>
            </a:r>
          </a:p>
          <a:p>
            <a:pPr lvl="1"/>
            <a:r>
              <a:rPr lang="en-GB" dirty="0"/>
              <a:t>No new content will be introduced; TAs are there to answer questions (focusing on worksheets);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6314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6FFC-D717-65CD-9C4D-22AEC2F3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A87B-59A5-AD48-E800-35D8DE707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There will be 9 worksheets in Semester 1 and 8 worksheets  in Semester 2</a:t>
            </a:r>
          </a:p>
          <a:p>
            <a:r>
              <a:rPr lang="en-GB" dirty="0"/>
              <a:t>Most questions are </a:t>
            </a:r>
            <a:r>
              <a:rPr lang="en-GB" b="1" dirty="0"/>
              <a:t>formative</a:t>
            </a:r>
            <a:r>
              <a:rPr lang="en-GB" dirty="0"/>
              <a:t> (unassessed)</a:t>
            </a:r>
          </a:p>
          <a:p>
            <a:pPr lvl="1"/>
            <a:r>
              <a:rPr lang="en-GB" dirty="0"/>
              <a:t>This work is not for credit (i.e., the work does not contribute to your grade) but to help you in your learning journey.</a:t>
            </a:r>
          </a:p>
          <a:p>
            <a:pPr lvl="1"/>
            <a:r>
              <a:rPr lang="en-GB" dirty="0"/>
              <a:t>Solutions will be posted in Minerva the following week</a:t>
            </a:r>
          </a:p>
          <a:p>
            <a:r>
              <a:rPr lang="en-GB" dirty="0"/>
              <a:t>Questions marked as Portfolio Tasks or in red boxes are </a:t>
            </a:r>
            <a:r>
              <a:rPr lang="en-GB" b="1" dirty="0"/>
              <a:t>summative</a:t>
            </a:r>
            <a:r>
              <a:rPr lang="en-GB" dirty="0"/>
              <a:t> (assessed)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Gradescope quiz or coding exercise</a:t>
            </a:r>
          </a:p>
          <a:p>
            <a:pPr lvl="1"/>
            <a:r>
              <a:rPr lang="en-GB" dirty="0"/>
              <a:t>The work is for credit and contributes to your portfolio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You need to complete all questions in red boxes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Submission date/time is 1400 on the Friday of the following week</a:t>
            </a:r>
          </a:p>
          <a:p>
            <a:pPr lvl="2"/>
            <a:r>
              <a:rPr lang="en-GB" dirty="0">
                <a:solidFill>
                  <a:schemeClr val="accent2"/>
                </a:solidFill>
              </a:rPr>
              <a:t>You may submit as many times as required to achieve a passing score</a:t>
            </a:r>
          </a:p>
          <a:p>
            <a:pPr lvl="1"/>
            <a:r>
              <a:rPr lang="en-GB" dirty="0"/>
              <a:t>Feedback to submissions will be provided in </a:t>
            </a:r>
            <a:r>
              <a:rPr lang="en-GB" dirty="0" err="1"/>
              <a:t>Gradescope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90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EA09-9AF4-4E33-35FC-BD96A08F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Assessment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93178F-1D3F-5F22-93F0-FAE344019F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Portfolio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Online quiz or programming assignment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Submitted via Minerva or </a:t>
            </a:r>
            <a:r>
              <a:rPr lang="en-GB" dirty="0" err="1">
                <a:solidFill>
                  <a:schemeClr val="accent2"/>
                </a:solidFill>
              </a:rPr>
              <a:t>Gradescope</a:t>
            </a:r>
            <a:endParaRPr lang="en-GB" dirty="0">
              <a:solidFill>
                <a:schemeClr val="accent2"/>
              </a:solidFill>
            </a:endParaRPr>
          </a:p>
          <a:p>
            <a:pPr lvl="1"/>
            <a:r>
              <a:rPr lang="en-GB" dirty="0"/>
              <a:t>See worksheets for details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9 portfolio tasks in semester 1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8 portfolio tasks in semester 2</a:t>
            </a:r>
          </a:p>
          <a:p>
            <a:r>
              <a:rPr lang="en-GB" dirty="0"/>
              <a:t>Synoptic Project (part of portfolio)</a:t>
            </a:r>
          </a:p>
          <a:p>
            <a:pPr lvl="1"/>
            <a:r>
              <a:rPr lang="en-GB" dirty="0"/>
              <a:t>In combination with COMP1850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Produce an extended piece of work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Date: January 2027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70D98-FF5B-3ABD-CAE7-6B78413D6E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Examination</a:t>
            </a:r>
          </a:p>
          <a:p>
            <a:pPr lvl="1"/>
            <a:r>
              <a:rPr lang="en-GB" dirty="0"/>
              <a:t>Questions from material covered over the year</a:t>
            </a:r>
          </a:p>
          <a:p>
            <a:pPr lvl="1"/>
            <a:r>
              <a:rPr lang="en-GB" dirty="0"/>
              <a:t>All material from lectures is potentially examinable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Date: May/June 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066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6AB7-94AC-F0E5-55B1-B2162E14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A1C5-0D2C-8EF5-C165-ED397EB33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Worksheets are </a:t>
            </a:r>
            <a:r>
              <a:rPr lang="en-GB" dirty="0">
                <a:solidFill>
                  <a:schemeClr val="accent2"/>
                </a:solidFill>
              </a:rPr>
              <a:t>released on Monday of each week</a:t>
            </a:r>
          </a:p>
          <a:p>
            <a:pPr lvl="1"/>
            <a:r>
              <a:rPr lang="en-GB" dirty="0"/>
              <a:t>No worksheet in week 6 or week 11 of semester 1</a:t>
            </a:r>
          </a:p>
          <a:p>
            <a:r>
              <a:rPr lang="en-GB" dirty="0"/>
              <a:t>Portfolio task deadline is 2pm on the Friday of the following week</a:t>
            </a:r>
          </a:p>
          <a:p>
            <a:r>
              <a:rPr lang="en-GB" dirty="0"/>
              <a:t>Two submission points for each portfolio task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ON-TIME: closed at 2pm on the Friday of the following week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LATE/RESUBMISSIONS: Opened a at 2pm on the Friday of the following week, closed at 2pm on January 22</a:t>
            </a:r>
            <a:r>
              <a:rPr lang="en-GB" baseline="30000" dirty="0">
                <a:solidFill>
                  <a:schemeClr val="accent2"/>
                </a:solidFill>
              </a:rPr>
              <a:t>nd</a:t>
            </a:r>
            <a:r>
              <a:rPr lang="en-GB" dirty="0">
                <a:solidFill>
                  <a:schemeClr val="accent2"/>
                </a:solidFill>
              </a:rPr>
              <a:t> 2027.</a:t>
            </a:r>
          </a:p>
          <a:p>
            <a:pPr lvl="1"/>
            <a:r>
              <a:rPr lang="en-GB" dirty="0"/>
              <a:t>Only submit to the LATE point if the ON-TIME point has closed and you have not yet passed for that task </a:t>
            </a:r>
          </a:p>
        </p:txBody>
      </p:sp>
    </p:spTree>
    <p:extLst>
      <p:ext uri="{BB962C8B-B14F-4D97-AF65-F5344CB8AC3E}">
        <p14:creationId xmlns:p14="http://schemas.microsoft.com/office/powerpoint/2010/main" val="3144295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6988-8FB7-FA26-79AE-C8F42822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0E2C9-DC54-F571-57AD-B8A0EF84A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If you do not complete and pass all semester 1 portfolio tasks by 2pm on January 22</a:t>
            </a:r>
            <a:r>
              <a:rPr lang="en-GB" baseline="30000" dirty="0">
                <a:solidFill>
                  <a:srgbClr val="FF0000"/>
                </a:solidFill>
              </a:rPr>
              <a:t>nd</a:t>
            </a:r>
            <a:r>
              <a:rPr lang="en-GB" dirty="0">
                <a:solidFill>
                  <a:srgbClr val="FF0000"/>
                </a:solidFill>
              </a:rPr>
              <a:t> 2027, you will fail the module.</a:t>
            </a:r>
          </a:p>
          <a:p>
            <a:r>
              <a:rPr lang="en-GB" dirty="0">
                <a:solidFill>
                  <a:srgbClr val="FF0000"/>
                </a:solidFill>
              </a:rPr>
              <a:t>If you have more than 3 late submissions in each semester, you will fail the module.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Need 6 on-time submissions that pass in semester 1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Need 5 on-time submissions that pass in semester 2</a:t>
            </a:r>
          </a:p>
          <a:p>
            <a:r>
              <a:rPr lang="en-GB" dirty="0"/>
              <a:t>If you fail the module, you will only receive a maximum module mark of 40, providing you pass all portfolio tasks (either late or at re-sit)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6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AA44-DA34-0242-B5D8-D4CFDEBE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Number of attempts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EB21-E6B4-4178-078B-E99F892B5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For multiple-choice quizzes you have a maximum of 10 attempts per submission point</a:t>
            </a:r>
          </a:p>
          <a:p>
            <a:pPr lvl="1"/>
            <a:r>
              <a:rPr lang="en-GB" dirty="0"/>
              <a:t>10 for the ON-TIME submission point</a:t>
            </a:r>
          </a:p>
          <a:p>
            <a:pPr lvl="1"/>
            <a:r>
              <a:rPr lang="en-GB" dirty="0"/>
              <a:t>10 for the LATE/RESUBMISSIONS submission point</a:t>
            </a:r>
          </a:p>
          <a:p>
            <a:r>
              <a:rPr lang="en-GB" dirty="0">
                <a:solidFill>
                  <a:schemeClr val="accent2"/>
                </a:solidFill>
              </a:rPr>
              <a:t>For </a:t>
            </a:r>
            <a:r>
              <a:rPr lang="en-GB" dirty="0" err="1">
                <a:solidFill>
                  <a:schemeClr val="accent2"/>
                </a:solidFill>
              </a:rPr>
              <a:t>Gradescope</a:t>
            </a:r>
            <a:r>
              <a:rPr lang="en-GB" dirty="0">
                <a:solidFill>
                  <a:schemeClr val="accent2"/>
                </a:solidFill>
              </a:rPr>
              <a:t> programming assignments you have unlimited attempts per submission point</a:t>
            </a:r>
          </a:p>
        </p:txBody>
      </p:sp>
    </p:spTree>
    <p:extLst>
      <p:ext uri="{BB962C8B-B14F-4D97-AF65-F5344CB8AC3E}">
        <p14:creationId xmlns:p14="http://schemas.microsoft.com/office/powerpoint/2010/main" val="335697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AE80-E624-A39B-FC85-8B56F88E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Minerva Gradebook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0A9D-17E8-B4A9-66F1-84C4FA77E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Your results will be recorded in the Minerva Gradebook</a:t>
            </a:r>
          </a:p>
          <a:p>
            <a:r>
              <a:rPr lang="en-GB" dirty="0"/>
              <a:t>Your score will be assigned a letter grade</a:t>
            </a:r>
          </a:p>
          <a:p>
            <a:r>
              <a:rPr lang="en-GB" dirty="0"/>
              <a:t>Please note that the decisions made on letter grades only apply after the deadline has passed</a:t>
            </a:r>
          </a:p>
          <a:p>
            <a:pPr lvl="1"/>
            <a:r>
              <a:rPr lang="en-GB" dirty="0"/>
              <a:t>However, please check the gradebook to determine if you have passed the exercise or not</a:t>
            </a:r>
          </a:p>
        </p:txBody>
      </p:sp>
    </p:spTree>
    <p:extLst>
      <p:ext uri="{BB962C8B-B14F-4D97-AF65-F5344CB8AC3E}">
        <p14:creationId xmlns:p14="http://schemas.microsoft.com/office/powerpoint/2010/main" val="34058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330A78-F293-C4B4-2E0B-CEE31F4F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Minerva Grade Letters Mean (after the deadline)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46CC14-F554-995F-763B-0B4FC12B8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ON-TIME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F6D652-3751-F28A-AE75-37656A3024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 </a:t>
            </a:r>
            <a:r>
              <a:rPr lang="en-GB" dirty="0"/>
              <a:t>– you have passed the portfolio exercise</a:t>
            </a:r>
          </a:p>
          <a:p>
            <a:r>
              <a:rPr lang="en-GB" b="1" dirty="0"/>
              <a:t>O</a:t>
            </a:r>
            <a:r>
              <a:rPr lang="en-GB" dirty="0"/>
              <a:t> – you have not passed the portfolio exercise, but you have submitted a serious attempt on-time. </a:t>
            </a:r>
          </a:p>
          <a:p>
            <a:pPr lvl="1"/>
            <a:r>
              <a:rPr lang="en-GB" dirty="0"/>
              <a:t>You will need to resubmit to pass the exercise, but it will not be recorded as a late submission</a:t>
            </a:r>
          </a:p>
          <a:p>
            <a:r>
              <a:rPr lang="en-GB" b="1" dirty="0"/>
              <a:t>L </a:t>
            </a:r>
            <a:r>
              <a:rPr lang="en-GB" dirty="0"/>
              <a:t>– you have not submitted a serious attempt on-time, your submission is considered late.</a:t>
            </a:r>
          </a:p>
          <a:p>
            <a:pPr lvl="1"/>
            <a:r>
              <a:rPr lang="en-GB" dirty="0"/>
              <a:t>You will need to resubmit to pass the exercise, and it will be recorded as a late submission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183414-4E01-0B39-6C32-90709D28F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LATE/RESUBMISSIONS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B51D01-165D-0F35-C080-C1157555E5F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 </a:t>
            </a:r>
            <a:r>
              <a:rPr lang="en-GB" dirty="0"/>
              <a:t>– you have passed the portfolio exercise</a:t>
            </a:r>
          </a:p>
          <a:p>
            <a:r>
              <a:rPr lang="en-GB" b="1" dirty="0"/>
              <a:t>F</a:t>
            </a:r>
            <a:r>
              <a:rPr lang="en-GB" dirty="0"/>
              <a:t> – you have failed the portfolio exercise</a:t>
            </a:r>
          </a:p>
          <a:p>
            <a:pPr lvl="1"/>
            <a:r>
              <a:rPr lang="en-GB" dirty="0"/>
              <a:t>You will need to re-sit the portfolio in the summer</a:t>
            </a:r>
          </a:p>
        </p:txBody>
      </p:sp>
    </p:spTree>
    <p:extLst>
      <p:ext uri="{BB962C8B-B14F-4D97-AF65-F5344CB8AC3E}">
        <p14:creationId xmlns:p14="http://schemas.microsoft.com/office/powerpoint/2010/main" val="3166629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B5DD-66C7-8967-58E8-2363B09D8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31185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Assessment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F99E71-1F0A-4AC3-B9E8-8E69F9401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292444"/>
              </p:ext>
            </p:extLst>
          </p:nvPr>
        </p:nvGraphicFramePr>
        <p:xfrm>
          <a:off x="838200" y="1825625"/>
          <a:ext cx="10515600" cy="423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71">
                  <a:extLst>
                    <a:ext uri="{9D8B030D-6E8A-4147-A177-3AD203B41FA5}">
                      <a16:colId xmlns:a16="http://schemas.microsoft.com/office/drawing/2014/main" val="3812848610"/>
                    </a:ext>
                  </a:extLst>
                </a:gridCol>
                <a:gridCol w="2100943">
                  <a:extLst>
                    <a:ext uri="{9D8B030D-6E8A-4147-A177-3AD203B41FA5}">
                      <a16:colId xmlns:a16="http://schemas.microsoft.com/office/drawing/2014/main" val="1765703157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1780616942"/>
                    </a:ext>
                  </a:extLst>
                </a:gridCol>
                <a:gridCol w="3635828">
                  <a:extLst>
                    <a:ext uri="{9D8B030D-6E8A-4147-A177-3AD203B41FA5}">
                      <a16:colId xmlns:a16="http://schemas.microsoft.com/office/drawing/2014/main" val="1902618508"/>
                    </a:ext>
                  </a:extLst>
                </a:gridCol>
                <a:gridCol w="2634343">
                  <a:extLst>
                    <a:ext uri="{9D8B030D-6E8A-4147-A177-3AD203B41FA5}">
                      <a16:colId xmlns:a16="http://schemas.microsoft.com/office/drawing/2014/main" val="239128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Week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Week Commencing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Worksheet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Portfolio Task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Deadline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521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28/09/2026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1.1 Quiz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09/10/2026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809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05/10/2026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1.2 Quiz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16/10/2026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574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12/10/2026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1.3 Quiz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23/10/2026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9313795"/>
                  </a:ext>
                </a:extLst>
              </a:tr>
              <a:tr h="334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19/10/2026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1.4 Quiz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30/10/2026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109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26/10/2026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1.5 Exercise 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06/11/2026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313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02/11/2026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worksheet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Reflection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applicable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4220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09/11/2026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1.6 Exercise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20/11/2026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313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16/11/2026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1.7 Exercise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27/11/2026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3688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23/11/2026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1.8 Exercise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04/12/2026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2717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Worksheet 1.9 Exercise 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11/12/2026 17:00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84348949"/>
                  </a:ext>
                </a:extLst>
              </a:tr>
              <a:tr h="234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07/12/2026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worksheet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portfolio task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applicable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8160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677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204E-C52D-776D-A197-42700AB9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F47E-53AF-5071-34E7-B686D06A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Fail 0-39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40-49</a:t>
            </a:r>
          </a:p>
          <a:p>
            <a:r>
              <a:rPr lang="en-GB" dirty="0"/>
              <a:t>2:2 50-59</a:t>
            </a:r>
          </a:p>
          <a:p>
            <a:r>
              <a:rPr lang="en-GB" dirty="0"/>
              <a:t>2:1 60-69</a:t>
            </a:r>
          </a:p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70+</a:t>
            </a:r>
          </a:p>
        </p:txBody>
      </p:sp>
    </p:spTree>
    <p:extLst>
      <p:ext uri="{BB962C8B-B14F-4D97-AF65-F5344CB8AC3E}">
        <p14:creationId xmlns:p14="http://schemas.microsoft.com/office/powerpoint/2010/main" val="2832178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32F6-7CF2-9C5B-52CD-98333C01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949E-3D56-84F1-E63D-58A5E53D8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Throughout the lecture there will be exercises for you to do. </a:t>
            </a:r>
          </a:p>
          <a:p>
            <a:r>
              <a:rPr lang="en-GB" dirty="0"/>
              <a:t>There will be some time in lectures to complete these exercises.</a:t>
            </a:r>
          </a:p>
          <a:p>
            <a:r>
              <a:rPr lang="en-GB" dirty="0"/>
              <a:t>Again, this is formative (not assessed).</a:t>
            </a:r>
          </a:p>
        </p:txBody>
      </p:sp>
    </p:spTree>
    <p:extLst>
      <p:ext uri="{BB962C8B-B14F-4D97-AF65-F5344CB8AC3E}">
        <p14:creationId xmlns:p14="http://schemas.microsoft.com/office/powerpoint/2010/main" val="2428579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9AB5-578D-F598-C103-BB82202E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get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11FF-11E5-7129-AC63-F2D89BE0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Read lecture content before the lecture</a:t>
            </a:r>
          </a:p>
          <a:p>
            <a:r>
              <a:rPr lang="en-GB" dirty="0"/>
              <a:t>Attend the lecture ready to get involved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Please bring pen &amp; paper and a laptop/tablet</a:t>
            </a:r>
          </a:p>
          <a:p>
            <a:r>
              <a:rPr lang="en-GB" dirty="0"/>
              <a:t>Get the worksheet and attempt before the tutorial or lab. Send questions to tutorial leader if something is not clear</a:t>
            </a:r>
          </a:p>
          <a:p>
            <a:r>
              <a:rPr lang="en-GB" dirty="0"/>
              <a:t>Read the textbook reference for more depth on each section</a:t>
            </a:r>
          </a:p>
        </p:txBody>
      </p:sp>
    </p:spTree>
    <p:extLst>
      <p:ext uri="{BB962C8B-B14F-4D97-AF65-F5344CB8AC3E}">
        <p14:creationId xmlns:p14="http://schemas.microsoft.com/office/powerpoint/2010/main" val="3536791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DB29-7AB0-3BF7-524F-EE432F3F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Microsoft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EBA0-8902-76ED-BBD5-7A5EBDA6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The module Team is the way to get help out of contact time</a:t>
            </a:r>
          </a:p>
          <a:p>
            <a:pPr lvl="1"/>
            <a:r>
              <a:rPr lang="en-GB" dirty="0"/>
              <a:t>You can access it from the Teams tab of Microsoft Teams</a:t>
            </a:r>
          </a:p>
          <a:p>
            <a:r>
              <a:rPr lang="en-GB" dirty="0"/>
              <a:t>Responses within 48 hours during working hours only</a:t>
            </a:r>
          </a:p>
          <a:p>
            <a:r>
              <a:rPr lang="en-GB" dirty="0">
                <a:solidFill>
                  <a:schemeClr val="accent2"/>
                </a:solidFill>
              </a:rPr>
              <a:t>Do not send direct messages to module staff. They will not be answered</a:t>
            </a:r>
          </a:p>
        </p:txBody>
      </p:sp>
    </p:spTree>
    <p:extLst>
      <p:ext uri="{BB962C8B-B14F-4D97-AF65-F5344CB8AC3E}">
        <p14:creationId xmlns:p14="http://schemas.microsoft.com/office/powerpoint/2010/main" val="82346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8613-23A9-0E64-8A60-37722A70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8EFCB-E4B0-2CC5-A810-48F296DF8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lectures per week;</a:t>
            </a:r>
          </a:p>
          <a:p>
            <a:r>
              <a:rPr lang="en-GB" dirty="0"/>
              <a:t>Regular coursework &amp; project </a:t>
            </a:r>
            <a:r>
              <a:rPr lang="en-GB" dirty="0">
                <a:solidFill>
                  <a:schemeClr val="accent2"/>
                </a:solidFill>
              </a:rPr>
              <a:t>(portfolio, worth 40%);</a:t>
            </a:r>
          </a:p>
          <a:p>
            <a:r>
              <a:rPr lang="en-GB" dirty="0"/>
              <a:t>End of year exam;</a:t>
            </a:r>
          </a:p>
          <a:p>
            <a:r>
              <a:rPr lang="en-GB" dirty="0"/>
              <a:t>Use tutorial/lab sessions to seek help on coursework.</a:t>
            </a:r>
          </a:p>
        </p:txBody>
      </p:sp>
    </p:spTree>
    <p:extLst>
      <p:ext uri="{BB962C8B-B14F-4D97-AF65-F5344CB8AC3E}">
        <p14:creationId xmlns:p14="http://schemas.microsoft.com/office/powerpoint/2010/main" val="1485920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1210</Words>
  <Application>Microsoft Office PowerPoint</Application>
  <PresentationFormat>宽屏</PresentationFormat>
  <Paragraphs>190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Aptos</vt:lpstr>
      <vt:lpstr>Aptos Narrow</vt:lpstr>
      <vt:lpstr>Arial</vt:lpstr>
      <vt:lpstr>Calibri</vt:lpstr>
      <vt:lpstr>Calibri Light</vt:lpstr>
      <vt:lpstr>Office Theme</vt:lpstr>
      <vt:lpstr>COMP1860 Building our Digital World: Computer Systems &amp; Architecture</vt:lpstr>
      <vt:lpstr>PowerPoint 演示文稿</vt:lpstr>
      <vt:lpstr>Staff</vt:lpstr>
      <vt:lpstr>Lectures</vt:lpstr>
      <vt:lpstr>Week 5</vt:lpstr>
      <vt:lpstr>Text Books</vt:lpstr>
      <vt:lpstr>Text Books</vt:lpstr>
      <vt:lpstr>Weekly Tutorials &amp; Lab Sessions</vt:lpstr>
      <vt:lpstr>Worksheets</vt:lpstr>
      <vt:lpstr>Assessment</vt:lpstr>
      <vt:lpstr>Portfolio Rules</vt:lpstr>
      <vt:lpstr>Portfolio Rules</vt:lpstr>
      <vt:lpstr>Number of attempts</vt:lpstr>
      <vt:lpstr>Minerva Gradebook</vt:lpstr>
      <vt:lpstr>What the Minerva Grade Letters Mean (after the deadline)</vt:lpstr>
      <vt:lpstr>Assessment Schedule</vt:lpstr>
      <vt:lpstr>Grades</vt:lpstr>
      <vt:lpstr>Lecture Exercises</vt:lpstr>
      <vt:lpstr>How to get help</vt:lpstr>
      <vt:lpstr>Microsoft Teams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COMP1860 Building our Digital World: Computer Systems &amp; Architecture</dc:title>
  <dc:creator>James Dyer</dc:creator>
  <cp:lastModifiedBy>李 尚鹏</cp:lastModifiedBy>
  <cp:revision>9</cp:revision>
  <dcterms:created xsi:type="dcterms:W3CDTF">2024-09-10T16:49:15Z</dcterms:created>
  <dcterms:modified xsi:type="dcterms:W3CDTF">2026-09-27T02:47:27Z</dcterms:modified>
</cp:coreProperties>
</file>