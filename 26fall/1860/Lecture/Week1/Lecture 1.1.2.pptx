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69" r:id="rId3"/>
    <p:sldId id="338" r:id="rId4"/>
    <p:sldId id="342" r:id="rId5"/>
    <p:sldId id="337" r:id="rId6"/>
    <p:sldId id="353" r:id="rId7"/>
    <p:sldId id="282" r:id="rId8"/>
    <p:sldId id="285" r:id="rId9"/>
    <p:sldId id="283" r:id="rId10"/>
    <p:sldId id="286" r:id="rId11"/>
    <p:sldId id="284" r:id="rId12"/>
    <p:sldId id="287" r:id="rId13"/>
    <p:sldId id="288" r:id="rId14"/>
    <p:sldId id="289" r:id="rId15"/>
    <p:sldId id="346" r:id="rId16"/>
    <p:sldId id="290" r:id="rId17"/>
    <p:sldId id="291" r:id="rId18"/>
    <p:sldId id="307" r:id="rId19"/>
    <p:sldId id="355" r:id="rId20"/>
    <p:sldId id="317" r:id="rId21"/>
    <p:sldId id="339" r:id="rId22"/>
    <p:sldId id="292" r:id="rId23"/>
    <p:sldId id="347" r:id="rId24"/>
    <p:sldId id="341" r:id="rId25"/>
    <p:sldId id="297" r:id="rId26"/>
    <p:sldId id="351" r:id="rId27"/>
    <p:sldId id="325" r:id="rId28"/>
    <p:sldId id="299" r:id="rId29"/>
    <p:sldId id="300" r:id="rId30"/>
    <p:sldId id="301" r:id="rId31"/>
    <p:sldId id="305" r:id="rId32"/>
    <p:sldId id="340" r:id="rId33"/>
    <p:sldId id="308" r:id="rId34"/>
    <p:sldId id="314" r:id="rId35"/>
    <p:sldId id="350" r:id="rId36"/>
    <p:sldId id="298" r:id="rId37"/>
    <p:sldId id="310" r:id="rId38"/>
    <p:sldId id="311" r:id="rId39"/>
    <p:sldId id="349" r:id="rId40"/>
    <p:sldId id="309" r:id="rId41"/>
    <p:sldId id="306" r:id="rId42"/>
    <p:sldId id="315" r:id="rId43"/>
    <p:sldId id="334" r:id="rId44"/>
    <p:sldId id="316" r:id="rId45"/>
    <p:sldId id="326" r:id="rId46"/>
    <p:sldId id="352" r:id="rId47"/>
    <p:sldId id="329" r:id="rId48"/>
    <p:sldId id="327" r:id="rId49"/>
    <p:sldId id="328" r:id="rId50"/>
    <p:sldId id="330" r:id="rId51"/>
    <p:sldId id="331" r:id="rId52"/>
    <p:sldId id="332" r:id="rId53"/>
    <p:sldId id="333" r:id="rId54"/>
    <p:sldId id="336"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81205" autoAdjust="0"/>
  </p:normalViewPr>
  <p:slideViewPr>
    <p:cSldViewPr snapToGrid="0">
      <p:cViewPr varScale="1">
        <p:scale>
          <a:sx n="90" d="100"/>
          <a:sy n="90" d="100"/>
        </p:scale>
        <p:origin x="3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61"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Dyer" userId="c78f284b-7e37-4191-b5a6-8e3806eb7037" providerId="ADAL" clId="{F60D56F0-411A-464A-9766-F9A63ABC936F}"/>
    <pc:docChg chg="custSel delSld modSld">
      <pc:chgData name="James Dyer" userId="c78f284b-7e37-4191-b5a6-8e3806eb7037" providerId="ADAL" clId="{F60D56F0-411A-464A-9766-F9A63ABC936F}" dt="2026-09-24T11:49:19.635" v="210" actId="47"/>
      <pc:docMkLst>
        <pc:docMk/>
      </pc:docMkLst>
      <pc:sldChg chg="del">
        <pc:chgData name="James Dyer" userId="c78f284b-7e37-4191-b5a6-8e3806eb7037" providerId="ADAL" clId="{F60D56F0-411A-464A-9766-F9A63ABC936F}" dt="2026-09-24T11:49:11.293" v="209" actId="47"/>
        <pc:sldMkLst>
          <pc:docMk/>
          <pc:sldMk cId="81859100" sldId="348"/>
        </pc:sldMkLst>
      </pc:sldChg>
      <pc:sldChg chg="del">
        <pc:chgData name="James Dyer" userId="c78f284b-7e37-4191-b5a6-8e3806eb7037" providerId="ADAL" clId="{F60D56F0-411A-464A-9766-F9A63ABC936F}" dt="2026-09-24T11:49:19.635" v="210" actId="47"/>
        <pc:sldMkLst>
          <pc:docMk/>
          <pc:sldMk cId="2343432043" sldId="354"/>
        </pc:sldMkLst>
      </pc:sldChg>
      <pc:sldChg chg="modSp del mod">
        <pc:chgData name="James Dyer" userId="c78f284b-7e37-4191-b5a6-8e3806eb7037" providerId="ADAL" clId="{F60D56F0-411A-464A-9766-F9A63ABC936F}" dt="2026-09-24T11:49:04.149" v="208" actId="47"/>
        <pc:sldMkLst>
          <pc:docMk/>
          <pc:sldMk cId="1635377456" sldId="356"/>
        </pc:sldMkLst>
        <pc:spChg chg="mod">
          <ac:chgData name="James Dyer" userId="c78f284b-7e37-4191-b5a6-8e3806eb7037" providerId="ADAL" clId="{F60D56F0-411A-464A-9766-F9A63ABC936F}" dt="2026-09-24T11:48:46.807" v="195"/>
          <ac:spMkLst>
            <pc:docMk/>
            <pc:sldMk cId="1635377456" sldId="356"/>
            <ac:spMk id="8" creationId="{61375B07-CCBE-4364-A22B-A5D0B9B2948F}"/>
          </ac:spMkLst>
        </pc:spChg>
        <pc:spChg chg="mod">
          <ac:chgData name="James Dyer" userId="c78f284b-7e37-4191-b5a6-8e3806eb7037" providerId="ADAL" clId="{F60D56F0-411A-464A-9766-F9A63ABC936F}" dt="2026-09-24T11:48:46.539" v="160"/>
          <ac:spMkLst>
            <pc:docMk/>
            <pc:sldMk cId="1635377456" sldId="356"/>
            <ac:spMk id="12" creationId="{5643C2B7-B767-44AF-A631-4B40015E8DD5}"/>
          </ac:spMkLst>
        </pc:spChg>
        <pc:spChg chg="mod">
          <ac:chgData name="James Dyer" userId="c78f284b-7e37-4191-b5a6-8e3806eb7037" providerId="ADAL" clId="{F60D56F0-411A-464A-9766-F9A63ABC936F}" dt="2026-09-24T11:48:46.526" v="156"/>
          <ac:spMkLst>
            <pc:docMk/>
            <pc:sldMk cId="1635377456" sldId="356"/>
            <ac:spMk id="14" creationId="{967BC0FB-22E4-4F58-8ECD-0E65E9524458}"/>
          </ac:spMkLst>
        </pc:spChg>
        <pc:spChg chg="mod">
          <ac:chgData name="James Dyer" userId="c78f284b-7e37-4191-b5a6-8e3806eb7037" providerId="ADAL" clId="{F60D56F0-411A-464A-9766-F9A63ABC936F}" dt="2026-09-24T11:48:46.542" v="161"/>
          <ac:spMkLst>
            <pc:docMk/>
            <pc:sldMk cId="1635377456" sldId="356"/>
            <ac:spMk id="16" creationId="{0A29DC80-E831-4988-ABD0-BAFB0B079705}"/>
          </ac:spMkLst>
        </pc:spChg>
        <pc:spChg chg="mod">
          <ac:chgData name="James Dyer" userId="c78f284b-7e37-4191-b5a6-8e3806eb7037" providerId="ADAL" clId="{F60D56F0-411A-464A-9766-F9A63ABC936F}" dt="2026-09-24T11:48:46.531" v="157"/>
          <ac:spMkLst>
            <pc:docMk/>
            <pc:sldMk cId="1635377456" sldId="356"/>
            <ac:spMk id="18" creationId="{8DE95F53-3027-46C7-8B70-3DBB7A3ED94D}"/>
          </ac:spMkLst>
        </pc:spChg>
        <pc:spChg chg="mod">
          <ac:chgData name="James Dyer" userId="c78f284b-7e37-4191-b5a6-8e3806eb7037" providerId="ADAL" clId="{F60D56F0-411A-464A-9766-F9A63ABC936F}" dt="2026-09-24T11:48:46.544" v="162"/>
          <ac:spMkLst>
            <pc:docMk/>
            <pc:sldMk cId="1635377456" sldId="356"/>
            <ac:spMk id="20" creationId="{ED74E4FB-C865-4CC0-9F1F-D8D0A6B8379D}"/>
          </ac:spMkLst>
        </pc:spChg>
        <pc:spChg chg="mod">
          <ac:chgData name="James Dyer" userId="c78f284b-7e37-4191-b5a6-8e3806eb7037" providerId="ADAL" clId="{F60D56F0-411A-464A-9766-F9A63ABC936F}" dt="2026-09-24T11:48:46.531" v="158"/>
          <ac:spMkLst>
            <pc:docMk/>
            <pc:sldMk cId="1635377456" sldId="356"/>
            <ac:spMk id="22" creationId="{28AA173E-E242-4BA0-87E2-99D9BF1CD217}"/>
          </ac:spMkLst>
        </pc:spChg>
        <pc:spChg chg="mod">
          <ac:chgData name="James Dyer" userId="c78f284b-7e37-4191-b5a6-8e3806eb7037" providerId="ADAL" clId="{F60D56F0-411A-464A-9766-F9A63ABC936F}" dt="2026-09-24T11:48:46.546" v="163"/>
          <ac:spMkLst>
            <pc:docMk/>
            <pc:sldMk cId="1635377456" sldId="356"/>
            <ac:spMk id="24" creationId="{6BC22E5B-AB8F-4A60-B2B9-42F32A2F5208}"/>
          </ac:spMkLst>
        </pc:spChg>
        <pc:spChg chg="mod">
          <ac:chgData name="James Dyer" userId="c78f284b-7e37-4191-b5a6-8e3806eb7037" providerId="ADAL" clId="{F60D56F0-411A-464A-9766-F9A63ABC936F}" dt="2026-09-24T11:48:46.533" v="159"/>
          <ac:spMkLst>
            <pc:docMk/>
            <pc:sldMk cId="1635377456" sldId="356"/>
            <ac:spMk id="26" creationId="{1CDFE229-7C3F-4CB2-B142-3A1B88AFC17A}"/>
          </ac:spMkLst>
        </pc:spChg>
      </pc:sldChg>
      <pc:sldChg chg="del">
        <pc:chgData name="James Dyer" userId="c78f284b-7e37-4191-b5a6-8e3806eb7037" providerId="ADAL" clId="{F60D56F0-411A-464A-9766-F9A63ABC936F}" dt="2026-09-24T11:49:04.149" v="208" actId="47"/>
        <pc:sldMkLst>
          <pc:docMk/>
          <pc:sldMk cId="4250774230" sldId="357"/>
        </pc:sldMkLst>
      </pc:sldChg>
      <pc:sldChg chg="modSp del mod">
        <pc:chgData name="James Dyer" userId="c78f284b-7e37-4191-b5a6-8e3806eb7037" providerId="ADAL" clId="{F60D56F0-411A-464A-9766-F9A63ABC936F}" dt="2026-09-24T11:49:04.149" v="208" actId="47"/>
        <pc:sldMkLst>
          <pc:docMk/>
          <pc:sldMk cId="2506822863" sldId="358"/>
        </pc:sldMkLst>
        <pc:spChg chg="mod">
          <ac:chgData name="James Dyer" userId="c78f284b-7e37-4191-b5a6-8e3806eb7037" providerId="ADAL" clId="{F60D56F0-411A-464A-9766-F9A63ABC936F}" dt="2026-09-24T11:48:46.828" v="199"/>
          <ac:spMkLst>
            <pc:docMk/>
            <pc:sldMk cId="2506822863" sldId="358"/>
            <ac:spMk id="8" creationId="{5295F63C-9E11-46FE-B653-11210C5A6AD3}"/>
          </ac:spMkLst>
        </pc:spChg>
        <pc:spChg chg="mod">
          <ac:chgData name="James Dyer" userId="c78f284b-7e37-4191-b5a6-8e3806eb7037" providerId="ADAL" clId="{F60D56F0-411A-464A-9766-F9A63ABC936F}" dt="2026-09-24T11:48:46.637" v="170"/>
          <ac:spMkLst>
            <pc:docMk/>
            <pc:sldMk cId="2506822863" sldId="358"/>
            <ac:spMk id="12" creationId="{ADB9F3F0-562C-430E-A961-AE2699D4576E}"/>
          </ac:spMkLst>
        </pc:spChg>
        <pc:spChg chg="mod">
          <ac:chgData name="James Dyer" userId="c78f284b-7e37-4191-b5a6-8e3806eb7037" providerId="ADAL" clId="{F60D56F0-411A-464A-9766-F9A63ABC936F}" dt="2026-09-24T11:48:46.631" v="166"/>
          <ac:spMkLst>
            <pc:docMk/>
            <pc:sldMk cId="2506822863" sldId="358"/>
            <ac:spMk id="14" creationId="{80BCBDB4-5F63-4DF8-A499-82DBE0D1ECEC}"/>
          </ac:spMkLst>
        </pc:spChg>
        <pc:spChg chg="mod">
          <ac:chgData name="James Dyer" userId="c78f284b-7e37-4191-b5a6-8e3806eb7037" providerId="ADAL" clId="{F60D56F0-411A-464A-9766-F9A63ABC936F}" dt="2026-09-24T11:48:46.639" v="171"/>
          <ac:spMkLst>
            <pc:docMk/>
            <pc:sldMk cId="2506822863" sldId="358"/>
            <ac:spMk id="16" creationId="{338A25F4-4E87-435D-9278-019DF77B0F09}"/>
          </ac:spMkLst>
        </pc:spChg>
        <pc:spChg chg="mod">
          <ac:chgData name="James Dyer" userId="c78f284b-7e37-4191-b5a6-8e3806eb7037" providerId="ADAL" clId="{F60D56F0-411A-464A-9766-F9A63ABC936F}" dt="2026-09-24T11:48:46.631" v="167"/>
          <ac:spMkLst>
            <pc:docMk/>
            <pc:sldMk cId="2506822863" sldId="358"/>
            <ac:spMk id="18" creationId="{A8593571-342F-4FCE-82A8-7C123D84F27B}"/>
          </ac:spMkLst>
        </pc:spChg>
        <pc:spChg chg="mod">
          <ac:chgData name="James Dyer" userId="c78f284b-7e37-4191-b5a6-8e3806eb7037" providerId="ADAL" clId="{F60D56F0-411A-464A-9766-F9A63ABC936F}" dt="2026-09-24T11:48:46.640" v="172"/>
          <ac:spMkLst>
            <pc:docMk/>
            <pc:sldMk cId="2506822863" sldId="358"/>
            <ac:spMk id="20" creationId="{0781D098-15FC-45CA-82FD-E519402B0910}"/>
          </ac:spMkLst>
        </pc:spChg>
        <pc:spChg chg="mod">
          <ac:chgData name="James Dyer" userId="c78f284b-7e37-4191-b5a6-8e3806eb7037" providerId="ADAL" clId="{F60D56F0-411A-464A-9766-F9A63ABC936F}" dt="2026-09-24T11:48:46.633" v="168"/>
          <ac:spMkLst>
            <pc:docMk/>
            <pc:sldMk cId="2506822863" sldId="358"/>
            <ac:spMk id="22" creationId="{F8D6FDD5-3A91-4CE6-8757-567408BD36DF}"/>
          </ac:spMkLst>
        </pc:spChg>
        <pc:spChg chg="mod">
          <ac:chgData name="James Dyer" userId="c78f284b-7e37-4191-b5a6-8e3806eb7037" providerId="ADAL" clId="{F60D56F0-411A-464A-9766-F9A63ABC936F}" dt="2026-09-24T11:48:46.642" v="173"/>
          <ac:spMkLst>
            <pc:docMk/>
            <pc:sldMk cId="2506822863" sldId="358"/>
            <ac:spMk id="24" creationId="{3875D679-FD0B-455B-92CA-1769966041FF}"/>
          </ac:spMkLst>
        </pc:spChg>
        <pc:spChg chg="mod">
          <ac:chgData name="James Dyer" userId="c78f284b-7e37-4191-b5a6-8e3806eb7037" providerId="ADAL" clId="{F60D56F0-411A-464A-9766-F9A63ABC936F}" dt="2026-09-24T11:48:46.635" v="169"/>
          <ac:spMkLst>
            <pc:docMk/>
            <pc:sldMk cId="2506822863" sldId="358"/>
            <ac:spMk id="26" creationId="{590BB5C3-9436-4EE7-9142-9DD59CDDFE47}"/>
          </ac:spMkLst>
        </pc:spChg>
      </pc:sldChg>
      <pc:sldChg chg="del">
        <pc:chgData name="James Dyer" userId="c78f284b-7e37-4191-b5a6-8e3806eb7037" providerId="ADAL" clId="{F60D56F0-411A-464A-9766-F9A63ABC936F}" dt="2026-09-24T11:49:04.149" v="208" actId="47"/>
        <pc:sldMkLst>
          <pc:docMk/>
          <pc:sldMk cId="1770243324" sldId="359"/>
        </pc:sldMkLst>
      </pc:sldChg>
      <pc:sldChg chg="del">
        <pc:chgData name="James Dyer" userId="c78f284b-7e37-4191-b5a6-8e3806eb7037" providerId="ADAL" clId="{F60D56F0-411A-464A-9766-F9A63ABC936F}" dt="2026-09-24T11:49:04.149" v="208" actId="47"/>
        <pc:sldMkLst>
          <pc:docMk/>
          <pc:sldMk cId="901663427" sldId="360"/>
        </pc:sldMkLst>
      </pc:sldChg>
      <pc:sldChg chg="modSp del mod">
        <pc:chgData name="James Dyer" userId="c78f284b-7e37-4191-b5a6-8e3806eb7037" providerId="ADAL" clId="{F60D56F0-411A-464A-9766-F9A63ABC936F}" dt="2026-09-24T11:49:11.293" v="209" actId="47"/>
        <pc:sldMkLst>
          <pc:docMk/>
          <pc:sldMk cId="2552472121" sldId="361"/>
        </pc:sldMkLst>
        <pc:spChg chg="mod">
          <ac:chgData name="James Dyer" userId="c78f284b-7e37-4191-b5a6-8e3806eb7037" providerId="ADAL" clId="{F60D56F0-411A-464A-9766-F9A63ABC936F}" dt="2026-09-24T11:48:46.846" v="203"/>
          <ac:spMkLst>
            <pc:docMk/>
            <pc:sldMk cId="2552472121" sldId="361"/>
            <ac:spMk id="8" creationId="{6CD6F1CD-C0E1-48BD-B6A9-F9DDE5595B25}"/>
          </ac:spMkLst>
        </pc:spChg>
        <pc:spChg chg="mod">
          <ac:chgData name="James Dyer" userId="c78f284b-7e37-4191-b5a6-8e3806eb7037" providerId="ADAL" clId="{F60D56F0-411A-464A-9766-F9A63ABC936F}" dt="2026-09-24T11:48:46.688" v="178"/>
          <ac:spMkLst>
            <pc:docMk/>
            <pc:sldMk cId="2552472121" sldId="361"/>
            <ac:spMk id="12" creationId="{08CDB623-F483-47E8-94E8-8E2C762ED531}"/>
          </ac:spMkLst>
        </pc:spChg>
        <pc:spChg chg="mod">
          <ac:chgData name="James Dyer" userId="c78f284b-7e37-4191-b5a6-8e3806eb7037" providerId="ADAL" clId="{F60D56F0-411A-464A-9766-F9A63ABC936F}" dt="2026-09-24T11:48:46.684" v="176"/>
          <ac:spMkLst>
            <pc:docMk/>
            <pc:sldMk cId="2552472121" sldId="361"/>
            <ac:spMk id="14" creationId="{23BDB9FD-08A7-4B12-A51B-DDC797C823BA}"/>
          </ac:spMkLst>
        </pc:spChg>
        <pc:spChg chg="mod">
          <ac:chgData name="James Dyer" userId="c78f284b-7e37-4191-b5a6-8e3806eb7037" providerId="ADAL" clId="{F60D56F0-411A-464A-9766-F9A63ABC936F}" dt="2026-09-24T11:48:46.691" v="179"/>
          <ac:spMkLst>
            <pc:docMk/>
            <pc:sldMk cId="2552472121" sldId="361"/>
            <ac:spMk id="16" creationId="{8B2AE7C9-D448-4BB0-9A66-31452BD3D0A9}"/>
          </ac:spMkLst>
        </pc:spChg>
        <pc:spChg chg="mod">
          <ac:chgData name="James Dyer" userId="c78f284b-7e37-4191-b5a6-8e3806eb7037" providerId="ADAL" clId="{F60D56F0-411A-464A-9766-F9A63ABC936F}" dt="2026-09-24T11:48:46.686" v="177"/>
          <ac:spMkLst>
            <pc:docMk/>
            <pc:sldMk cId="2552472121" sldId="361"/>
            <ac:spMk id="18" creationId="{2910B491-D246-49B4-A363-19468BF99DA8}"/>
          </ac:spMkLst>
        </pc:spChg>
      </pc:sldChg>
      <pc:sldChg chg="del">
        <pc:chgData name="James Dyer" userId="c78f284b-7e37-4191-b5a6-8e3806eb7037" providerId="ADAL" clId="{F60D56F0-411A-464A-9766-F9A63ABC936F}" dt="2026-09-24T11:49:11.293" v="209" actId="47"/>
        <pc:sldMkLst>
          <pc:docMk/>
          <pc:sldMk cId="2524442265" sldId="362"/>
        </pc:sldMkLst>
      </pc:sldChg>
      <pc:sldChg chg="modSp del mod">
        <pc:chgData name="James Dyer" userId="c78f284b-7e37-4191-b5a6-8e3806eb7037" providerId="ADAL" clId="{F60D56F0-411A-464A-9766-F9A63ABC936F}" dt="2026-09-24T11:49:19.635" v="210" actId="47"/>
        <pc:sldMkLst>
          <pc:docMk/>
          <pc:sldMk cId="225386441" sldId="363"/>
        </pc:sldMkLst>
        <pc:spChg chg="mod">
          <ac:chgData name="James Dyer" userId="c78f284b-7e37-4191-b5a6-8e3806eb7037" providerId="ADAL" clId="{F60D56F0-411A-464A-9766-F9A63ABC936F}" dt="2026-09-24T11:48:46.869" v="207"/>
          <ac:spMkLst>
            <pc:docMk/>
            <pc:sldMk cId="225386441" sldId="363"/>
            <ac:spMk id="8" creationId="{0E313C09-7C8D-42DA-B4F8-5B37CC6DCEEA}"/>
          </ac:spMkLst>
        </pc:spChg>
        <pc:spChg chg="mod">
          <ac:chgData name="James Dyer" userId="c78f284b-7e37-4191-b5a6-8e3806eb7037" providerId="ADAL" clId="{F60D56F0-411A-464A-9766-F9A63ABC936F}" dt="2026-09-24T11:48:46.755" v="186"/>
          <ac:spMkLst>
            <pc:docMk/>
            <pc:sldMk cId="225386441" sldId="363"/>
            <ac:spMk id="12" creationId="{96D80117-1B2D-4001-B22F-39FA8E495B63}"/>
          </ac:spMkLst>
        </pc:spChg>
        <pc:spChg chg="mod">
          <ac:chgData name="James Dyer" userId="c78f284b-7e37-4191-b5a6-8e3806eb7037" providerId="ADAL" clId="{F60D56F0-411A-464A-9766-F9A63ABC936F}" dt="2026-09-24T11:48:46.750" v="182"/>
          <ac:spMkLst>
            <pc:docMk/>
            <pc:sldMk cId="225386441" sldId="363"/>
            <ac:spMk id="14" creationId="{F79F742F-C873-4F08-9DEB-0E2EA79F9053}"/>
          </ac:spMkLst>
        </pc:spChg>
        <pc:spChg chg="mod">
          <ac:chgData name="James Dyer" userId="c78f284b-7e37-4191-b5a6-8e3806eb7037" providerId="ADAL" clId="{F60D56F0-411A-464A-9766-F9A63ABC936F}" dt="2026-09-24T11:48:46.758" v="187"/>
          <ac:spMkLst>
            <pc:docMk/>
            <pc:sldMk cId="225386441" sldId="363"/>
            <ac:spMk id="16" creationId="{A0927CFA-A3B3-424D-BEB2-3E18FF0D2116}"/>
          </ac:spMkLst>
        </pc:spChg>
        <pc:spChg chg="mod">
          <ac:chgData name="James Dyer" userId="c78f284b-7e37-4191-b5a6-8e3806eb7037" providerId="ADAL" clId="{F60D56F0-411A-464A-9766-F9A63ABC936F}" dt="2026-09-24T11:48:46.751" v="183"/>
          <ac:spMkLst>
            <pc:docMk/>
            <pc:sldMk cId="225386441" sldId="363"/>
            <ac:spMk id="18" creationId="{ECBDC323-80C6-41BD-940E-5D8FC62A99CD}"/>
          </ac:spMkLst>
        </pc:spChg>
        <pc:spChg chg="mod">
          <ac:chgData name="James Dyer" userId="c78f284b-7e37-4191-b5a6-8e3806eb7037" providerId="ADAL" clId="{F60D56F0-411A-464A-9766-F9A63ABC936F}" dt="2026-09-24T11:48:46.760" v="188"/>
          <ac:spMkLst>
            <pc:docMk/>
            <pc:sldMk cId="225386441" sldId="363"/>
            <ac:spMk id="20" creationId="{1172DD8E-EC2B-4CA4-98FF-9202C8391848}"/>
          </ac:spMkLst>
        </pc:spChg>
        <pc:spChg chg="mod">
          <ac:chgData name="James Dyer" userId="c78f284b-7e37-4191-b5a6-8e3806eb7037" providerId="ADAL" clId="{F60D56F0-411A-464A-9766-F9A63ABC936F}" dt="2026-09-24T11:48:46.753" v="184"/>
          <ac:spMkLst>
            <pc:docMk/>
            <pc:sldMk cId="225386441" sldId="363"/>
            <ac:spMk id="22" creationId="{D153C78F-A008-4A9B-9E6C-2DD2BBBEFB55}"/>
          </ac:spMkLst>
        </pc:spChg>
        <pc:spChg chg="mod">
          <ac:chgData name="James Dyer" userId="c78f284b-7e37-4191-b5a6-8e3806eb7037" providerId="ADAL" clId="{F60D56F0-411A-464A-9766-F9A63ABC936F}" dt="2026-09-24T11:48:46.760" v="189"/>
          <ac:spMkLst>
            <pc:docMk/>
            <pc:sldMk cId="225386441" sldId="363"/>
            <ac:spMk id="24" creationId="{CD769B3F-5825-44EE-A5F8-59FC050663B9}"/>
          </ac:spMkLst>
        </pc:spChg>
        <pc:spChg chg="mod">
          <ac:chgData name="James Dyer" userId="c78f284b-7e37-4191-b5a6-8e3806eb7037" providerId="ADAL" clId="{F60D56F0-411A-464A-9766-F9A63ABC936F}" dt="2026-09-24T11:48:46.753" v="185"/>
          <ac:spMkLst>
            <pc:docMk/>
            <pc:sldMk cId="225386441" sldId="363"/>
            <ac:spMk id="26" creationId="{FF9C4975-0F0A-48A1-BDD7-7BF8200C06B8}"/>
          </ac:spMkLst>
        </pc:spChg>
      </pc:sldChg>
      <pc:sldChg chg="del">
        <pc:chgData name="James Dyer" userId="c78f284b-7e37-4191-b5a6-8e3806eb7037" providerId="ADAL" clId="{F60D56F0-411A-464A-9766-F9A63ABC936F}" dt="2026-09-24T11:49:19.635" v="210" actId="47"/>
        <pc:sldMkLst>
          <pc:docMk/>
          <pc:sldMk cId="119842584" sldId="36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192CED-5284-6842-A2CE-43637359B0CB}" type="doc">
      <dgm:prSet loTypeId="urn:microsoft.com/office/officeart/2005/8/layout/hList1" loCatId="list" qsTypeId="urn:microsoft.com/office/officeart/2005/8/quickstyle/simple4#1" qsCatId="simple" csTypeId="urn:microsoft.com/office/officeart/2005/8/colors/accent1_2#1" csCatId="accent1" phldr="1"/>
      <dgm:spPr/>
      <dgm:t>
        <a:bodyPr/>
        <a:lstStyle/>
        <a:p>
          <a:endParaRPr lang="en-US"/>
        </a:p>
      </dgm:t>
    </dgm:pt>
    <dgm:pt modelId="{281E5B53-1732-5F47-A578-AB0E3A9B5E4C}">
      <dgm:prSet phldrT="[Text]"/>
      <dgm:spPr/>
      <dgm:t>
        <a:bodyPr/>
        <a:lstStyle/>
        <a:p>
          <a:r>
            <a:rPr lang="en-US" dirty="0"/>
            <a:t>Main objectives of an OS:</a:t>
          </a:r>
        </a:p>
      </dgm:t>
    </dgm:pt>
    <dgm:pt modelId="{6DF8C72F-1C3C-3D43-905B-F9DFAE34F209}" type="parTrans" cxnId="{5B740C4A-9D68-0540-AC76-45932CD65954}">
      <dgm:prSet/>
      <dgm:spPr/>
      <dgm:t>
        <a:bodyPr/>
        <a:lstStyle/>
        <a:p>
          <a:endParaRPr lang="en-US"/>
        </a:p>
      </dgm:t>
    </dgm:pt>
    <dgm:pt modelId="{2FC987E5-D027-8846-8A97-F16D9257E1AC}" type="sibTrans" cxnId="{5B740C4A-9D68-0540-AC76-45932CD65954}">
      <dgm:prSet/>
      <dgm:spPr/>
      <dgm:t>
        <a:bodyPr/>
        <a:lstStyle/>
        <a:p>
          <a:endParaRPr lang="en-US"/>
        </a:p>
      </dgm:t>
    </dgm:pt>
    <dgm:pt modelId="{AE3CB80F-D45F-E54C-B692-4738A2A6039C}">
      <dgm:prSet/>
      <dgm:spPr>
        <a:solidFill>
          <a:schemeClr val="bg1"/>
        </a:solidFill>
        <a:ln>
          <a:solidFill>
            <a:schemeClr val="accent1">
              <a:lumMod val="75000"/>
            </a:schemeClr>
          </a:solidFill>
        </a:ln>
      </dgm:spPr>
      <dgm:t>
        <a:bodyPr/>
        <a:lstStyle/>
        <a:p>
          <a:r>
            <a:rPr lang="en-US" dirty="0"/>
            <a:t>Convenience</a:t>
          </a:r>
        </a:p>
      </dgm:t>
    </dgm:pt>
    <dgm:pt modelId="{DB5EC823-6039-A143-9B39-EB225C90CC38}" type="parTrans" cxnId="{47A89D49-60B4-FB40-9C5D-FFE581254201}">
      <dgm:prSet/>
      <dgm:spPr/>
      <dgm:t>
        <a:bodyPr/>
        <a:lstStyle/>
        <a:p>
          <a:endParaRPr lang="en-US"/>
        </a:p>
      </dgm:t>
    </dgm:pt>
    <dgm:pt modelId="{E262F30B-1A1E-F747-A185-5455263EE08A}" type="sibTrans" cxnId="{47A89D49-60B4-FB40-9C5D-FFE581254201}">
      <dgm:prSet/>
      <dgm:spPr/>
      <dgm:t>
        <a:bodyPr/>
        <a:lstStyle/>
        <a:p>
          <a:endParaRPr lang="en-US"/>
        </a:p>
      </dgm:t>
    </dgm:pt>
    <dgm:pt modelId="{3A3FFD4A-4BD3-2543-98AF-A41B2CAE779A}">
      <dgm:prSet/>
      <dgm:spPr>
        <a:solidFill>
          <a:schemeClr val="bg1"/>
        </a:solidFill>
        <a:ln>
          <a:solidFill>
            <a:schemeClr val="accent1">
              <a:lumMod val="75000"/>
            </a:schemeClr>
          </a:solidFill>
        </a:ln>
      </dgm:spPr>
      <dgm:t>
        <a:bodyPr/>
        <a:lstStyle/>
        <a:p>
          <a:r>
            <a:rPr lang="en-US" dirty="0"/>
            <a:t>Efficiency</a:t>
          </a:r>
        </a:p>
      </dgm:t>
    </dgm:pt>
    <dgm:pt modelId="{75A774D8-A8A4-404D-9CFE-DAF3C9EE383B}" type="parTrans" cxnId="{73BA040D-3549-934C-A652-24BEA66255F8}">
      <dgm:prSet/>
      <dgm:spPr/>
      <dgm:t>
        <a:bodyPr/>
        <a:lstStyle/>
        <a:p>
          <a:endParaRPr lang="en-US"/>
        </a:p>
      </dgm:t>
    </dgm:pt>
    <dgm:pt modelId="{AE569C84-AD83-C840-9BA6-D0F860817D5B}" type="sibTrans" cxnId="{73BA040D-3549-934C-A652-24BEA66255F8}">
      <dgm:prSet/>
      <dgm:spPr/>
      <dgm:t>
        <a:bodyPr/>
        <a:lstStyle/>
        <a:p>
          <a:endParaRPr lang="en-US"/>
        </a:p>
      </dgm:t>
    </dgm:pt>
    <dgm:pt modelId="{F96F4B0F-02F7-4D4B-9036-26B336493CAE}">
      <dgm:prSet/>
      <dgm:spPr>
        <a:solidFill>
          <a:schemeClr val="bg1"/>
        </a:solidFill>
        <a:ln>
          <a:solidFill>
            <a:schemeClr val="accent1">
              <a:lumMod val="75000"/>
            </a:schemeClr>
          </a:solidFill>
        </a:ln>
      </dgm:spPr>
      <dgm:t>
        <a:bodyPr/>
        <a:lstStyle/>
        <a:p>
          <a:r>
            <a:rPr lang="en-US" dirty="0"/>
            <a:t>Ability to evolve</a:t>
          </a:r>
        </a:p>
      </dgm:t>
    </dgm:pt>
    <dgm:pt modelId="{9A2A829F-7768-884C-9C37-31113093ABE1}" type="parTrans" cxnId="{8C55C725-3252-FA46-BC16-D392FA3244E1}">
      <dgm:prSet/>
      <dgm:spPr/>
      <dgm:t>
        <a:bodyPr/>
        <a:lstStyle/>
        <a:p>
          <a:endParaRPr lang="en-US"/>
        </a:p>
      </dgm:t>
    </dgm:pt>
    <dgm:pt modelId="{B8510BF0-F2AE-0444-B9D0-63BA3E5B4B8B}" type="sibTrans" cxnId="{8C55C725-3252-FA46-BC16-D392FA3244E1}">
      <dgm:prSet/>
      <dgm:spPr/>
      <dgm:t>
        <a:bodyPr/>
        <a:lstStyle/>
        <a:p>
          <a:endParaRPr lang="en-US"/>
        </a:p>
      </dgm:t>
    </dgm:pt>
    <dgm:pt modelId="{5C3B6204-B418-A242-B9D0-60EB91680625}" type="pres">
      <dgm:prSet presAssocID="{1C192CED-5284-6842-A2CE-43637359B0CB}" presName="Name0" presStyleCnt="0">
        <dgm:presLayoutVars>
          <dgm:dir/>
          <dgm:animLvl val="lvl"/>
          <dgm:resizeHandles val="exact"/>
        </dgm:presLayoutVars>
      </dgm:prSet>
      <dgm:spPr/>
    </dgm:pt>
    <dgm:pt modelId="{F2E06192-AEAE-0C49-902F-729236FB5629}" type="pres">
      <dgm:prSet presAssocID="{281E5B53-1732-5F47-A578-AB0E3A9B5E4C}" presName="composite" presStyleCnt="0"/>
      <dgm:spPr/>
    </dgm:pt>
    <dgm:pt modelId="{1AE4A990-5AA0-034B-8CCF-8670DC0A0746}" type="pres">
      <dgm:prSet presAssocID="{281E5B53-1732-5F47-A578-AB0E3A9B5E4C}" presName="parTx" presStyleLbl="alignNode1" presStyleIdx="0" presStyleCnt="1">
        <dgm:presLayoutVars>
          <dgm:chMax val="0"/>
          <dgm:chPref val="0"/>
          <dgm:bulletEnabled val="1"/>
        </dgm:presLayoutVars>
      </dgm:prSet>
      <dgm:spPr/>
    </dgm:pt>
    <dgm:pt modelId="{D90CF14F-E010-5649-9AC4-6BBF9E914CA0}" type="pres">
      <dgm:prSet presAssocID="{281E5B53-1732-5F47-A578-AB0E3A9B5E4C}" presName="desTx" presStyleLbl="alignAccFollowNode1" presStyleIdx="0" presStyleCnt="1">
        <dgm:presLayoutVars>
          <dgm:bulletEnabled val="1"/>
        </dgm:presLayoutVars>
      </dgm:prSet>
      <dgm:spPr/>
    </dgm:pt>
  </dgm:ptLst>
  <dgm:cxnLst>
    <dgm:cxn modelId="{72C97C0B-1912-DC41-AF8F-8B9E282AF6FD}" type="presOf" srcId="{281E5B53-1732-5F47-A578-AB0E3A9B5E4C}" destId="{1AE4A990-5AA0-034B-8CCF-8670DC0A0746}" srcOrd="0" destOrd="0" presId="urn:microsoft.com/office/officeart/2005/8/layout/hList1"/>
    <dgm:cxn modelId="{73BA040D-3549-934C-A652-24BEA66255F8}" srcId="{281E5B53-1732-5F47-A578-AB0E3A9B5E4C}" destId="{3A3FFD4A-4BD3-2543-98AF-A41B2CAE779A}" srcOrd="1" destOrd="0" parTransId="{75A774D8-A8A4-404D-9CFE-DAF3C9EE383B}" sibTransId="{AE569C84-AD83-C840-9BA6-D0F860817D5B}"/>
    <dgm:cxn modelId="{8C55C725-3252-FA46-BC16-D392FA3244E1}" srcId="{281E5B53-1732-5F47-A578-AB0E3A9B5E4C}" destId="{F96F4B0F-02F7-4D4B-9036-26B336493CAE}" srcOrd="2" destOrd="0" parTransId="{9A2A829F-7768-884C-9C37-31113093ABE1}" sibTransId="{B8510BF0-F2AE-0444-B9D0-63BA3E5B4B8B}"/>
    <dgm:cxn modelId="{47A89D49-60B4-FB40-9C5D-FFE581254201}" srcId="{281E5B53-1732-5F47-A578-AB0E3A9B5E4C}" destId="{AE3CB80F-D45F-E54C-B692-4738A2A6039C}" srcOrd="0" destOrd="0" parTransId="{DB5EC823-6039-A143-9B39-EB225C90CC38}" sibTransId="{E262F30B-1A1E-F747-A185-5455263EE08A}"/>
    <dgm:cxn modelId="{5B740C4A-9D68-0540-AC76-45932CD65954}" srcId="{1C192CED-5284-6842-A2CE-43637359B0CB}" destId="{281E5B53-1732-5F47-A578-AB0E3A9B5E4C}" srcOrd="0" destOrd="0" parTransId="{6DF8C72F-1C3C-3D43-905B-F9DFAE34F209}" sibTransId="{2FC987E5-D027-8846-8A97-F16D9257E1AC}"/>
    <dgm:cxn modelId="{47C3F956-F19B-C843-99EB-8353B4B3672A}" type="presOf" srcId="{F96F4B0F-02F7-4D4B-9036-26B336493CAE}" destId="{D90CF14F-E010-5649-9AC4-6BBF9E914CA0}" srcOrd="0" destOrd="2" presId="urn:microsoft.com/office/officeart/2005/8/layout/hList1"/>
    <dgm:cxn modelId="{F6A52685-68B4-9E44-B5F2-05FD0D475D15}" type="presOf" srcId="{AE3CB80F-D45F-E54C-B692-4738A2A6039C}" destId="{D90CF14F-E010-5649-9AC4-6BBF9E914CA0}" srcOrd="0" destOrd="0" presId="urn:microsoft.com/office/officeart/2005/8/layout/hList1"/>
    <dgm:cxn modelId="{3A9FA08E-64EA-0D47-AE28-8B305EB8A206}" type="presOf" srcId="{1C192CED-5284-6842-A2CE-43637359B0CB}" destId="{5C3B6204-B418-A242-B9D0-60EB91680625}" srcOrd="0" destOrd="0" presId="urn:microsoft.com/office/officeart/2005/8/layout/hList1"/>
    <dgm:cxn modelId="{689B13D3-DAC2-294E-A08B-39951FEE76A7}" type="presOf" srcId="{3A3FFD4A-4BD3-2543-98AF-A41B2CAE779A}" destId="{D90CF14F-E010-5649-9AC4-6BBF9E914CA0}" srcOrd="0" destOrd="1" presId="urn:microsoft.com/office/officeart/2005/8/layout/hList1"/>
    <dgm:cxn modelId="{A22C2972-2A62-DB4C-A870-D2834B64A72C}" type="presParOf" srcId="{5C3B6204-B418-A242-B9D0-60EB91680625}" destId="{F2E06192-AEAE-0C49-902F-729236FB5629}" srcOrd="0" destOrd="0" presId="urn:microsoft.com/office/officeart/2005/8/layout/hList1"/>
    <dgm:cxn modelId="{699662D9-C356-6E43-8F80-FB763087BF08}" type="presParOf" srcId="{F2E06192-AEAE-0C49-902F-729236FB5629}" destId="{1AE4A990-5AA0-034B-8CCF-8670DC0A0746}" srcOrd="0" destOrd="0" presId="urn:microsoft.com/office/officeart/2005/8/layout/hList1"/>
    <dgm:cxn modelId="{F259A4CD-7B63-B447-8FD9-6E7CA4ECDD16}" type="presParOf" srcId="{F2E06192-AEAE-0C49-902F-729236FB5629}" destId="{D90CF14F-E010-5649-9AC4-6BBF9E914CA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E4A990-5AA0-034B-8CCF-8670DC0A0746}">
      <dsp:nvSpPr>
        <dsp:cNvPr id="0" name=""/>
        <dsp:cNvSpPr/>
      </dsp:nvSpPr>
      <dsp:spPr>
        <a:xfrm>
          <a:off x="0" y="15424"/>
          <a:ext cx="5257800" cy="72000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dirty="0"/>
            <a:t>Main objectives of an OS:</a:t>
          </a:r>
        </a:p>
      </dsp:txBody>
      <dsp:txXfrm>
        <a:off x="0" y="15424"/>
        <a:ext cx="5257800" cy="720000"/>
      </dsp:txXfrm>
    </dsp:sp>
    <dsp:sp modelId="{D90CF14F-E010-5649-9AC4-6BBF9E914CA0}">
      <dsp:nvSpPr>
        <dsp:cNvPr id="0" name=""/>
        <dsp:cNvSpPr/>
      </dsp:nvSpPr>
      <dsp:spPr>
        <a:xfrm>
          <a:off x="0" y="735425"/>
          <a:ext cx="5257800" cy="1509750"/>
        </a:xfrm>
        <a:prstGeom prst="rect">
          <a:avLst/>
        </a:prstGeom>
        <a:solidFill>
          <a:schemeClr val="bg1"/>
        </a:solidFill>
        <a:ln w="6350" cap="flat" cmpd="sng" algn="ctr">
          <a:solidFill>
            <a:schemeClr val="accent1">
              <a:lumMod val="7500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Convenience</a:t>
          </a:r>
        </a:p>
        <a:p>
          <a:pPr marL="228600" lvl="1" indent="-228600" algn="l" defTabSz="1111250">
            <a:lnSpc>
              <a:spcPct val="90000"/>
            </a:lnSpc>
            <a:spcBef>
              <a:spcPct val="0"/>
            </a:spcBef>
            <a:spcAft>
              <a:spcPct val="15000"/>
            </a:spcAft>
            <a:buChar char="•"/>
          </a:pPr>
          <a:r>
            <a:rPr lang="en-US" sz="2500" kern="1200" dirty="0"/>
            <a:t>Efficiency</a:t>
          </a:r>
        </a:p>
        <a:p>
          <a:pPr marL="228600" lvl="1" indent="-228600" algn="l" defTabSz="1111250">
            <a:lnSpc>
              <a:spcPct val="90000"/>
            </a:lnSpc>
            <a:spcBef>
              <a:spcPct val="0"/>
            </a:spcBef>
            <a:spcAft>
              <a:spcPct val="15000"/>
            </a:spcAft>
            <a:buChar char="•"/>
          </a:pPr>
          <a:r>
            <a:rPr lang="en-US" sz="2500" kern="1200" dirty="0"/>
            <a:t>Ability to evolve</a:t>
          </a:r>
        </a:p>
      </dsp:txBody>
      <dsp:txXfrm>
        <a:off x="0" y="735425"/>
        <a:ext cx="5257800" cy="150975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144F40-C603-46DB-86D7-72C61B8EB992}" type="datetimeFigureOut">
              <a:rPr lang="en-GB" smtClean="0"/>
              <a:t>24/09/2026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B746BB-E23E-4813-8F8C-A7E5EFE8812B}" type="slidenum">
              <a:rPr lang="en-GB" smtClean="0"/>
              <a:t>‹#›</a:t>
            </a:fld>
            <a:endParaRPr lang="en-GB"/>
          </a:p>
        </p:txBody>
      </p:sp>
    </p:spTree>
    <p:extLst>
      <p:ext uri="{BB962C8B-B14F-4D97-AF65-F5344CB8AC3E}">
        <p14:creationId xmlns:p14="http://schemas.microsoft.com/office/powerpoint/2010/main" val="2457615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80B3F57-F9D0-45FD-B1FC-5AC474D9B6A1}" type="slidenum">
              <a:rPr lang="en-GB" smtClean="0"/>
              <a:t>12</a:t>
            </a:fld>
            <a:endParaRPr lang="en-GB"/>
          </a:p>
        </p:txBody>
      </p:sp>
    </p:spTree>
    <p:extLst>
      <p:ext uri="{BB962C8B-B14F-4D97-AF65-F5344CB8AC3E}">
        <p14:creationId xmlns:p14="http://schemas.microsoft.com/office/powerpoint/2010/main" val="1981633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80B3F57-F9D0-45FD-B1FC-5AC474D9B6A1}" type="slidenum">
              <a:rPr lang="en-GB" smtClean="0"/>
              <a:t>28</a:t>
            </a:fld>
            <a:endParaRPr lang="en-GB"/>
          </a:p>
        </p:txBody>
      </p:sp>
    </p:spTree>
    <p:extLst>
      <p:ext uri="{BB962C8B-B14F-4D97-AF65-F5344CB8AC3E}">
        <p14:creationId xmlns:p14="http://schemas.microsoft.com/office/powerpoint/2010/main" val="1123768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CB746BB-E23E-4813-8F8C-A7E5EFE8812B}" type="slidenum">
              <a:rPr lang="en-GB" smtClean="0"/>
              <a:t>45</a:t>
            </a:fld>
            <a:endParaRPr lang="en-GB"/>
          </a:p>
        </p:txBody>
      </p:sp>
    </p:spTree>
    <p:extLst>
      <p:ext uri="{BB962C8B-B14F-4D97-AF65-F5344CB8AC3E}">
        <p14:creationId xmlns:p14="http://schemas.microsoft.com/office/powerpoint/2010/main" val="2190112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mn-lt"/>
                <a:ea typeface="+mn-ea"/>
                <a:cs typeface="+mn-cs"/>
              </a:rPr>
              <a:t>The hardware and software used in providing applications to a user can be viewed in a layered or hierarchical fashion, as depicted in Figure 2.1 . The user of those applications, the end user, generally is not concerned with the details of computer hardware. Thus, the end user views a computer system in terms of a set of applications. An application can be expressed in a programming language and is developed by an application programmer. If one were to develop an application program as a set of machine instructions that is completely responsible for controlling the computer hardware, one would be faced with an overwhelmingly complex undertaking. To ease this chore, a set of system programs is provided. Some of these programs are referred to as utilities, or library programs. These implement frequently used functions that assist in program creation, the management of files, and the control of I/O devices. A programmer will make use of these facilities in developing an application, and the application, while it is running, will invoke the utilities to perform</a:t>
            </a:r>
          </a:p>
          <a:p>
            <a:r>
              <a:rPr lang="en-US" sz="1200" kern="1200" baseline="0" dirty="0">
                <a:solidFill>
                  <a:schemeClr val="tx1"/>
                </a:solidFill>
                <a:latin typeface="+mn-lt"/>
                <a:ea typeface="+mn-ea"/>
                <a:cs typeface="+mn-cs"/>
              </a:rPr>
              <a:t>certain functions. The most important collection of system programs comprises the OS. The OS masks the details of the hardware from the programmer and provides the programmer with a convenient interface for using the system. It acts as mediator, making it easier for the programmer and for application programs to access and use those facilities and services.</a:t>
            </a:r>
            <a:endParaRPr lang="en-US" dirty="0"/>
          </a:p>
          <a:p>
            <a:endParaRPr lang="en-GB" dirty="0"/>
          </a:p>
        </p:txBody>
      </p:sp>
      <p:sp>
        <p:nvSpPr>
          <p:cNvPr id="4" name="Slide Number Placeholder 3"/>
          <p:cNvSpPr>
            <a:spLocks noGrp="1"/>
          </p:cNvSpPr>
          <p:nvPr>
            <p:ph type="sldNum" sz="quarter" idx="5"/>
          </p:nvPr>
        </p:nvSpPr>
        <p:spPr/>
        <p:txBody>
          <a:bodyPr/>
          <a:lstStyle/>
          <a:p>
            <a:fld id="{DCB746BB-E23E-4813-8F8C-A7E5EFE8812B}" type="slidenum">
              <a:rPr lang="en-GB" smtClean="0"/>
              <a:t>48</a:t>
            </a:fld>
            <a:endParaRPr lang="en-GB"/>
          </a:p>
        </p:txBody>
      </p:sp>
    </p:spTree>
    <p:extLst>
      <p:ext uri="{BB962C8B-B14F-4D97-AF65-F5344CB8AC3E}">
        <p14:creationId xmlns:p14="http://schemas.microsoft.com/office/powerpoint/2010/main" val="3479552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mn-lt"/>
                <a:ea typeface="+mn-ea"/>
                <a:cs typeface="+mn-cs"/>
              </a:rPr>
              <a:t>An OS is a program that controls the execution of application programs and acts as an interface between applications and the computer hardware. It can be thought of as having three objectives: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Convenience</a:t>
            </a:r>
            <a:r>
              <a:rPr lang="en-US" sz="1200" b="0" kern="1200" baseline="0" dirty="0">
                <a:solidFill>
                  <a:schemeClr val="tx1"/>
                </a:solidFill>
                <a:latin typeface="+mn-lt"/>
                <a:ea typeface="+mn-ea"/>
                <a:cs typeface="+mn-cs"/>
              </a:rPr>
              <a:t>: An OS makes a computer more convenient to use.</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Efficiency: </a:t>
            </a:r>
            <a:r>
              <a:rPr lang="en-US" sz="1200" b="0" kern="1200" baseline="0" dirty="0">
                <a:solidFill>
                  <a:schemeClr val="tx1"/>
                </a:solidFill>
                <a:latin typeface="+mn-lt"/>
                <a:ea typeface="+mn-ea"/>
                <a:cs typeface="+mn-cs"/>
              </a:rPr>
              <a:t>An OS allows the computer system resources to be used in an efficient </a:t>
            </a:r>
            <a:r>
              <a:rPr lang="en-US" sz="1200" kern="1200" baseline="0" dirty="0">
                <a:solidFill>
                  <a:schemeClr val="tx1"/>
                </a:solidFill>
                <a:latin typeface="+mn-lt"/>
                <a:ea typeface="+mn-ea"/>
                <a:cs typeface="+mn-cs"/>
              </a:rPr>
              <a:t>manner.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Ability to evolve: </a:t>
            </a:r>
            <a:r>
              <a:rPr lang="en-US" sz="1200" b="0" kern="1200" baseline="0" dirty="0">
                <a:solidFill>
                  <a:schemeClr val="tx1"/>
                </a:solidFill>
                <a:latin typeface="+mn-lt"/>
                <a:ea typeface="+mn-ea"/>
                <a:cs typeface="+mn-cs"/>
              </a:rPr>
              <a:t>An OS should be constructed in such a way as to permit the </a:t>
            </a:r>
            <a:r>
              <a:rPr lang="en-US" sz="1200" kern="1200" baseline="0" dirty="0">
                <a:solidFill>
                  <a:schemeClr val="tx1"/>
                </a:solidFill>
                <a:latin typeface="+mn-lt"/>
                <a:ea typeface="+mn-ea"/>
                <a:cs typeface="+mn-cs"/>
              </a:rPr>
              <a:t>effective development, testing, and introduction of new system functions without interfering with service.</a:t>
            </a:r>
            <a:endParaRPr lang="en-US" dirty="0"/>
          </a:p>
          <a:p>
            <a:endParaRPr lang="en-GB" dirty="0"/>
          </a:p>
        </p:txBody>
      </p:sp>
      <p:sp>
        <p:nvSpPr>
          <p:cNvPr id="4" name="Slide Number Placeholder 3"/>
          <p:cNvSpPr>
            <a:spLocks noGrp="1"/>
          </p:cNvSpPr>
          <p:nvPr>
            <p:ph type="sldNum" sz="quarter" idx="5"/>
          </p:nvPr>
        </p:nvSpPr>
        <p:spPr/>
        <p:txBody>
          <a:bodyPr/>
          <a:lstStyle/>
          <a:p>
            <a:fld id="{DCB746BB-E23E-4813-8F8C-A7E5EFE8812B}" type="slidenum">
              <a:rPr lang="en-GB" smtClean="0"/>
              <a:t>49</a:t>
            </a:fld>
            <a:endParaRPr lang="en-GB"/>
          </a:p>
        </p:txBody>
      </p:sp>
    </p:spTree>
    <p:extLst>
      <p:ext uri="{BB962C8B-B14F-4D97-AF65-F5344CB8AC3E}">
        <p14:creationId xmlns:p14="http://schemas.microsoft.com/office/powerpoint/2010/main" val="1790796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mn-lt"/>
                <a:ea typeface="+mn-ea"/>
                <a:cs typeface="+mn-cs"/>
              </a:rPr>
              <a:t>Briefly, the OS typically provides services in the following areas: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Program development: The OS provides a variety of facilities and services, </a:t>
            </a:r>
            <a:r>
              <a:rPr lang="en-US" sz="1200" kern="1200" baseline="0" dirty="0">
                <a:solidFill>
                  <a:schemeClr val="tx1"/>
                </a:solidFill>
                <a:latin typeface="+mn-lt"/>
                <a:ea typeface="+mn-ea"/>
                <a:cs typeface="+mn-cs"/>
              </a:rPr>
              <a:t>such as editors and debuggers, to assist the programmer in creating programs.</a:t>
            </a:r>
          </a:p>
          <a:p>
            <a:r>
              <a:rPr lang="en-US" sz="1200" kern="1200" baseline="0" dirty="0">
                <a:solidFill>
                  <a:schemeClr val="tx1"/>
                </a:solidFill>
                <a:latin typeface="+mn-lt"/>
                <a:ea typeface="+mn-ea"/>
                <a:cs typeface="+mn-cs"/>
              </a:rPr>
              <a:t>Typically, these services are in the form of utility programs that, while not strictly part of the core of the OS, are supplied with the OS and are referred to</a:t>
            </a:r>
          </a:p>
          <a:p>
            <a:r>
              <a:rPr lang="en-US" sz="1200" kern="1200" baseline="0" dirty="0">
                <a:solidFill>
                  <a:schemeClr val="tx1"/>
                </a:solidFill>
                <a:latin typeface="+mn-lt"/>
                <a:ea typeface="+mn-ea"/>
                <a:cs typeface="+mn-cs"/>
              </a:rPr>
              <a:t>as application program development tools.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Program execution: A number of steps need to be performed to execute a </a:t>
            </a:r>
            <a:r>
              <a:rPr lang="en-US" sz="1200" kern="1200" baseline="0" dirty="0">
                <a:solidFill>
                  <a:schemeClr val="tx1"/>
                </a:solidFill>
                <a:latin typeface="+mn-lt"/>
                <a:ea typeface="+mn-ea"/>
                <a:cs typeface="+mn-cs"/>
              </a:rPr>
              <a:t>program. Instructions and data must be loaded into main memory, I/O devices</a:t>
            </a:r>
          </a:p>
          <a:p>
            <a:r>
              <a:rPr lang="en-US" sz="1200" kern="1200" baseline="0" dirty="0">
                <a:solidFill>
                  <a:schemeClr val="tx1"/>
                </a:solidFill>
                <a:latin typeface="+mn-lt"/>
                <a:ea typeface="+mn-ea"/>
                <a:cs typeface="+mn-cs"/>
              </a:rPr>
              <a:t>and files must be initialized, and other resources must be prepared. The OS handles these scheduling duties for the user.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Access to I/O devices: Each I/O device requires its own peculiar set of instructions </a:t>
            </a:r>
            <a:r>
              <a:rPr lang="en-US" sz="1200" kern="1200" baseline="0" dirty="0">
                <a:solidFill>
                  <a:schemeClr val="tx1"/>
                </a:solidFill>
                <a:latin typeface="+mn-lt"/>
                <a:ea typeface="+mn-ea"/>
                <a:cs typeface="+mn-cs"/>
              </a:rPr>
              <a:t>or control signals for operation. The OS provides a uniform interface</a:t>
            </a:r>
          </a:p>
          <a:p>
            <a:r>
              <a:rPr lang="en-US" sz="1200" kern="1200" baseline="0" dirty="0">
                <a:solidFill>
                  <a:schemeClr val="tx1"/>
                </a:solidFill>
                <a:latin typeface="+mn-lt"/>
                <a:ea typeface="+mn-ea"/>
                <a:cs typeface="+mn-cs"/>
              </a:rPr>
              <a:t>that hides these details so that programmers can access such devices using simple reads and writes.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Controlled access to files: For file access, the OS must reflect a detailed understanding </a:t>
            </a:r>
            <a:r>
              <a:rPr lang="en-US" sz="1200" kern="1200" baseline="0" dirty="0">
                <a:solidFill>
                  <a:schemeClr val="tx1"/>
                </a:solidFill>
                <a:latin typeface="+mn-lt"/>
                <a:ea typeface="+mn-ea"/>
                <a:cs typeface="+mn-cs"/>
              </a:rPr>
              <a:t>of not only the nature of the I/O device (disk drive, tape drive) but</a:t>
            </a:r>
          </a:p>
          <a:p>
            <a:r>
              <a:rPr lang="en-US" sz="1200" kern="1200" baseline="0" dirty="0">
                <a:solidFill>
                  <a:schemeClr val="tx1"/>
                </a:solidFill>
                <a:latin typeface="+mn-lt"/>
                <a:ea typeface="+mn-ea"/>
                <a:cs typeface="+mn-cs"/>
              </a:rPr>
              <a:t>also the structure of the data contained in the files on the storage medium. In the case of a system with multiple users, the OS may provide protection</a:t>
            </a:r>
          </a:p>
          <a:p>
            <a:r>
              <a:rPr lang="en-US" sz="1200" kern="1200" baseline="0" dirty="0">
                <a:solidFill>
                  <a:schemeClr val="tx1"/>
                </a:solidFill>
                <a:latin typeface="+mn-lt"/>
                <a:ea typeface="+mn-ea"/>
                <a:cs typeface="+mn-cs"/>
              </a:rPr>
              <a:t>mechanisms to control access to the files.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System access: For shared or public systems, the OS controls access to the </a:t>
            </a:r>
            <a:r>
              <a:rPr lang="en-US" sz="1200" kern="1200" baseline="0" dirty="0">
                <a:solidFill>
                  <a:schemeClr val="tx1"/>
                </a:solidFill>
                <a:latin typeface="+mn-lt"/>
                <a:ea typeface="+mn-ea"/>
                <a:cs typeface="+mn-cs"/>
              </a:rPr>
              <a:t>system as a whole and to specific system resources. The access function must</a:t>
            </a:r>
          </a:p>
          <a:p>
            <a:r>
              <a:rPr lang="en-US" sz="1200" kern="1200" baseline="0" dirty="0">
                <a:solidFill>
                  <a:schemeClr val="tx1"/>
                </a:solidFill>
                <a:latin typeface="+mn-lt"/>
                <a:ea typeface="+mn-ea"/>
                <a:cs typeface="+mn-cs"/>
              </a:rPr>
              <a:t>provide protection of resources and data from unauthorized users and must resolve conflicts for resource contention.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Error detection and response: A variety of errors can occur while a computer </a:t>
            </a:r>
            <a:r>
              <a:rPr lang="en-US" sz="1200" kern="1200" baseline="0" dirty="0">
                <a:solidFill>
                  <a:schemeClr val="tx1"/>
                </a:solidFill>
                <a:latin typeface="+mn-lt"/>
                <a:ea typeface="+mn-ea"/>
                <a:cs typeface="+mn-cs"/>
              </a:rPr>
              <a:t>system is running. These include internal and external hardware errors, such</a:t>
            </a:r>
          </a:p>
          <a:p>
            <a:r>
              <a:rPr lang="en-US" sz="1200" kern="1200" baseline="0" dirty="0">
                <a:solidFill>
                  <a:schemeClr val="tx1"/>
                </a:solidFill>
                <a:latin typeface="+mn-lt"/>
                <a:ea typeface="+mn-ea"/>
                <a:cs typeface="+mn-cs"/>
              </a:rPr>
              <a:t>as a memory error, or a device failure or malfunction; and various software errors, such as division by zero, attempt to access forbidden memory location,</a:t>
            </a:r>
          </a:p>
          <a:p>
            <a:r>
              <a:rPr lang="en-US" sz="1200" kern="1200" baseline="0" dirty="0">
                <a:solidFill>
                  <a:schemeClr val="tx1"/>
                </a:solidFill>
                <a:latin typeface="+mn-lt"/>
                <a:ea typeface="+mn-ea"/>
                <a:cs typeface="+mn-cs"/>
              </a:rPr>
              <a:t>and inability of the OS to grant the request of an application. In each case, the OS must provide a response that clears the error condition with the least</a:t>
            </a:r>
          </a:p>
          <a:p>
            <a:r>
              <a:rPr lang="en-US" sz="1200" kern="1200" baseline="0" dirty="0">
                <a:solidFill>
                  <a:schemeClr val="tx1"/>
                </a:solidFill>
                <a:latin typeface="+mn-lt"/>
                <a:ea typeface="+mn-ea"/>
                <a:cs typeface="+mn-cs"/>
              </a:rPr>
              <a:t>impact on running applications. The response may range from ending the program that caused the error, to retrying the operation, to simply reporting the</a:t>
            </a:r>
          </a:p>
          <a:p>
            <a:r>
              <a:rPr lang="en-US" sz="1200" kern="1200" baseline="0" dirty="0">
                <a:solidFill>
                  <a:schemeClr val="tx1"/>
                </a:solidFill>
                <a:latin typeface="+mn-lt"/>
                <a:ea typeface="+mn-ea"/>
                <a:cs typeface="+mn-cs"/>
              </a:rPr>
              <a:t>error to the application.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Accounting: A good OS will collect usage statistics for various resources and </a:t>
            </a:r>
            <a:r>
              <a:rPr lang="en-US" sz="1200" kern="1200" baseline="0" dirty="0">
                <a:solidFill>
                  <a:schemeClr val="tx1"/>
                </a:solidFill>
                <a:latin typeface="+mn-lt"/>
                <a:ea typeface="+mn-ea"/>
                <a:cs typeface="+mn-cs"/>
              </a:rPr>
              <a:t>monitor performance parameters such as response time. On any system, this</a:t>
            </a:r>
          </a:p>
          <a:p>
            <a:r>
              <a:rPr lang="en-US" sz="1200" kern="1200" baseline="0" dirty="0">
                <a:solidFill>
                  <a:schemeClr val="tx1"/>
                </a:solidFill>
                <a:latin typeface="+mn-lt"/>
                <a:ea typeface="+mn-ea"/>
                <a:cs typeface="+mn-cs"/>
              </a:rPr>
              <a:t>information is useful in anticipating the need for future enhancements and in tuning the system to improve performance. On a multiuser system, the information</a:t>
            </a:r>
          </a:p>
          <a:p>
            <a:r>
              <a:rPr lang="en-US" sz="1200" kern="1200" baseline="0" dirty="0">
                <a:solidFill>
                  <a:schemeClr val="tx1"/>
                </a:solidFill>
                <a:latin typeface="+mn-lt"/>
                <a:ea typeface="+mn-ea"/>
                <a:cs typeface="+mn-cs"/>
              </a:rPr>
              <a:t>can be used for billing purposes.</a:t>
            </a:r>
          </a:p>
        </p:txBody>
      </p:sp>
      <p:sp>
        <p:nvSpPr>
          <p:cNvPr id="4" name="Slide Number Placeholder 3"/>
          <p:cNvSpPr>
            <a:spLocks noGrp="1"/>
          </p:cNvSpPr>
          <p:nvPr>
            <p:ph type="sldNum" sz="quarter" idx="5"/>
          </p:nvPr>
        </p:nvSpPr>
        <p:spPr/>
        <p:txBody>
          <a:bodyPr/>
          <a:lstStyle/>
          <a:p>
            <a:fld id="{DCB746BB-E23E-4813-8F8C-A7E5EFE8812B}" type="slidenum">
              <a:rPr lang="en-GB" smtClean="0"/>
              <a:t>50</a:t>
            </a:fld>
            <a:endParaRPr lang="en-GB"/>
          </a:p>
        </p:txBody>
      </p:sp>
    </p:spTree>
    <p:extLst>
      <p:ext uri="{BB962C8B-B14F-4D97-AF65-F5344CB8AC3E}">
        <p14:creationId xmlns:p14="http://schemas.microsoft.com/office/powerpoint/2010/main" val="3985416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mn-lt"/>
                <a:ea typeface="+mn-ea"/>
                <a:cs typeface="+mn-cs"/>
              </a:rPr>
              <a:t>Three key interfaces in a typical computer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Instruction set architecture (ISA) : The ISA defines the repertoire of machine</a:t>
            </a:r>
          </a:p>
          <a:p>
            <a:r>
              <a:rPr lang="en-US" sz="1200" kern="1200" baseline="0" dirty="0">
                <a:solidFill>
                  <a:schemeClr val="tx1"/>
                </a:solidFill>
                <a:latin typeface="+mn-lt"/>
                <a:ea typeface="+mn-ea"/>
                <a:cs typeface="+mn-cs"/>
              </a:rPr>
              <a:t>language instructions that a computer can follow. This interface is the boundary</a:t>
            </a:r>
          </a:p>
          <a:p>
            <a:r>
              <a:rPr lang="en-US" sz="1200" kern="1200" baseline="0" dirty="0">
                <a:solidFill>
                  <a:schemeClr val="tx1"/>
                </a:solidFill>
                <a:latin typeface="+mn-lt"/>
                <a:ea typeface="+mn-ea"/>
                <a:cs typeface="+mn-cs"/>
              </a:rPr>
              <a:t>between hardware and software. Note that both application programs</a:t>
            </a:r>
          </a:p>
          <a:p>
            <a:r>
              <a:rPr lang="en-US" sz="1200" kern="1200" baseline="0" dirty="0">
                <a:solidFill>
                  <a:schemeClr val="tx1"/>
                </a:solidFill>
                <a:latin typeface="+mn-lt"/>
                <a:ea typeface="+mn-ea"/>
                <a:cs typeface="+mn-cs"/>
              </a:rPr>
              <a:t>and utilities may access the ISA directly. For these programs, a subset of the</a:t>
            </a:r>
          </a:p>
          <a:p>
            <a:r>
              <a:rPr lang="en-US" sz="1200" kern="1200" baseline="0" dirty="0">
                <a:solidFill>
                  <a:schemeClr val="tx1"/>
                </a:solidFill>
                <a:latin typeface="+mn-lt"/>
                <a:ea typeface="+mn-ea"/>
                <a:cs typeface="+mn-cs"/>
              </a:rPr>
              <a:t>instruction repertoire is available (user ISA). The OS has access to additional</a:t>
            </a:r>
          </a:p>
          <a:p>
            <a:r>
              <a:rPr lang="en-US" sz="1200" kern="1200" baseline="0" dirty="0">
                <a:solidFill>
                  <a:schemeClr val="tx1"/>
                </a:solidFill>
                <a:latin typeface="+mn-lt"/>
                <a:ea typeface="+mn-ea"/>
                <a:cs typeface="+mn-cs"/>
              </a:rPr>
              <a:t>machine language instructions that deal with managing system resources</a:t>
            </a:r>
          </a:p>
          <a:p>
            <a:r>
              <a:rPr lang="en-US" sz="1200" kern="1200" baseline="0" dirty="0">
                <a:solidFill>
                  <a:schemeClr val="tx1"/>
                </a:solidFill>
                <a:latin typeface="+mn-lt"/>
                <a:ea typeface="+mn-ea"/>
                <a:cs typeface="+mn-cs"/>
              </a:rPr>
              <a:t>(system ISA).</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Application binary interface (ABI) : The ABI defines a standard for binary</a:t>
            </a:r>
          </a:p>
          <a:p>
            <a:r>
              <a:rPr lang="en-US" sz="1200" kern="1200" baseline="0" dirty="0">
                <a:solidFill>
                  <a:schemeClr val="tx1"/>
                </a:solidFill>
                <a:latin typeface="+mn-lt"/>
                <a:ea typeface="+mn-ea"/>
                <a:cs typeface="+mn-cs"/>
              </a:rPr>
              <a:t>portability across programs. The ABI defines the system call interface to</a:t>
            </a:r>
          </a:p>
          <a:p>
            <a:r>
              <a:rPr lang="en-US" sz="1200" kern="1200" baseline="0" dirty="0">
                <a:solidFill>
                  <a:schemeClr val="tx1"/>
                </a:solidFill>
                <a:latin typeface="+mn-lt"/>
                <a:ea typeface="+mn-ea"/>
                <a:cs typeface="+mn-cs"/>
              </a:rPr>
              <a:t>the operating system and the hardware resources and services available in a</a:t>
            </a:r>
          </a:p>
          <a:p>
            <a:r>
              <a:rPr lang="en-US" sz="1200" kern="1200" baseline="0" dirty="0">
                <a:solidFill>
                  <a:schemeClr val="tx1"/>
                </a:solidFill>
                <a:latin typeface="+mn-lt"/>
                <a:ea typeface="+mn-ea"/>
                <a:cs typeface="+mn-cs"/>
              </a:rPr>
              <a:t>system through the user ISA.</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Application programming interface (API) : The API gives a program access</a:t>
            </a:r>
          </a:p>
          <a:p>
            <a:r>
              <a:rPr lang="en-US" sz="1200" kern="1200" baseline="0" dirty="0">
                <a:solidFill>
                  <a:schemeClr val="tx1"/>
                </a:solidFill>
                <a:latin typeface="+mn-lt"/>
                <a:ea typeface="+mn-ea"/>
                <a:cs typeface="+mn-cs"/>
              </a:rPr>
              <a:t>to the hardware resources and services available in a system through the user</a:t>
            </a:r>
          </a:p>
          <a:p>
            <a:r>
              <a:rPr lang="en-US" sz="1200" kern="1200" baseline="0" dirty="0">
                <a:solidFill>
                  <a:schemeClr val="tx1"/>
                </a:solidFill>
                <a:latin typeface="+mn-lt"/>
                <a:ea typeface="+mn-ea"/>
                <a:cs typeface="+mn-cs"/>
              </a:rPr>
              <a:t>ISA supplemented with high-level language (HLL) library calls. Any system</a:t>
            </a:r>
          </a:p>
          <a:p>
            <a:r>
              <a:rPr lang="en-US" sz="1200" kern="1200" baseline="0" dirty="0">
                <a:solidFill>
                  <a:schemeClr val="tx1"/>
                </a:solidFill>
                <a:latin typeface="+mn-lt"/>
                <a:ea typeface="+mn-ea"/>
                <a:cs typeface="+mn-cs"/>
              </a:rPr>
              <a:t>calls are usually performed through libraries. Using an API enables application</a:t>
            </a:r>
          </a:p>
          <a:p>
            <a:r>
              <a:rPr lang="en-US" sz="1200" kern="1200" baseline="0" dirty="0">
                <a:solidFill>
                  <a:schemeClr val="tx1"/>
                </a:solidFill>
                <a:latin typeface="+mn-lt"/>
                <a:ea typeface="+mn-ea"/>
                <a:cs typeface="+mn-cs"/>
              </a:rPr>
              <a:t>software to be ported easily, through recompilation, to other systems that</a:t>
            </a:r>
          </a:p>
          <a:p>
            <a:r>
              <a:rPr lang="en-US" sz="1200" kern="1200" baseline="0" dirty="0">
                <a:solidFill>
                  <a:schemeClr val="tx1"/>
                </a:solidFill>
                <a:latin typeface="+mn-lt"/>
                <a:ea typeface="+mn-ea"/>
                <a:cs typeface="+mn-cs"/>
              </a:rPr>
              <a:t>support the same API.</a:t>
            </a:r>
            <a:endParaRPr lang="en-US" dirty="0"/>
          </a:p>
          <a:p>
            <a:endParaRPr lang="en-GB" dirty="0"/>
          </a:p>
        </p:txBody>
      </p:sp>
      <p:sp>
        <p:nvSpPr>
          <p:cNvPr id="4" name="Slide Number Placeholder 3"/>
          <p:cNvSpPr>
            <a:spLocks noGrp="1"/>
          </p:cNvSpPr>
          <p:nvPr>
            <p:ph type="sldNum" sz="quarter" idx="5"/>
          </p:nvPr>
        </p:nvSpPr>
        <p:spPr/>
        <p:txBody>
          <a:bodyPr/>
          <a:lstStyle/>
          <a:p>
            <a:fld id="{DCB746BB-E23E-4813-8F8C-A7E5EFE8812B}" type="slidenum">
              <a:rPr lang="en-GB" smtClean="0"/>
              <a:t>51</a:t>
            </a:fld>
            <a:endParaRPr lang="en-GB"/>
          </a:p>
        </p:txBody>
      </p:sp>
    </p:spTree>
    <p:extLst>
      <p:ext uri="{BB962C8B-B14F-4D97-AF65-F5344CB8AC3E}">
        <p14:creationId xmlns:p14="http://schemas.microsoft.com/office/powerpoint/2010/main" val="1922917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mn-lt"/>
                <a:ea typeface="+mn-ea"/>
                <a:cs typeface="+mn-cs"/>
              </a:rPr>
              <a:t>The OS is responsible for controlling the use of a computer’s resources, such as I/O, main and secondary memory, and processor execution time. But this control is exercised in a curious way. Normally, we think of a control mechanism as something external to that which is controlled, or at least as something that is a distinct and separate part of that which is controlled. (For example, a residential heating system is controlled by a thermostat, which is separate from the heat-generation and heat distribution apparatus.)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2.2 suggests the main resources that are managed by the OS. A portion of the OS is in main memory. This includes the </a:t>
            </a:r>
            <a:r>
              <a:rPr lang="en-US" sz="1200" b="1" kern="1200" baseline="0" dirty="0">
                <a:solidFill>
                  <a:schemeClr val="tx1"/>
                </a:solidFill>
                <a:latin typeface="+mn-lt"/>
                <a:ea typeface="+mn-ea"/>
                <a:cs typeface="+mn-cs"/>
              </a:rPr>
              <a:t>kernel , or nucleus , which contains </a:t>
            </a:r>
            <a:r>
              <a:rPr lang="en-US" sz="1200" kern="1200" baseline="0" dirty="0">
                <a:solidFill>
                  <a:schemeClr val="tx1"/>
                </a:solidFill>
                <a:latin typeface="+mn-lt"/>
                <a:ea typeface="+mn-ea"/>
                <a:cs typeface="+mn-cs"/>
              </a:rPr>
              <a:t>the most frequently used functions in the OS and, at a given time, other portions of the OS currently in use. The remainder of main memory contains user programs and data. The memory management hardware in the processor and the OS jointly control the allocation of main memory. The OS decides when an I/O device can be used by a program in execution and controls access to and use of files. The processor itself is a resource, and the OS must determine how much processor time is to be devoted to the execution of a particular user program</a:t>
            </a:r>
          </a:p>
          <a:p>
            <a:endParaRPr lang="en-GB" dirty="0"/>
          </a:p>
        </p:txBody>
      </p:sp>
      <p:sp>
        <p:nvSpPr>
          <p:cNvPr id="4" name="Slide Number Placeholder 3"/>
          <p:cNvSpPr>
            <a:spLocks noGrp="1"/>
          </p:cNvSpPr>
          <p:nvPr>
            <p:ph type="sldNum" sz="quarter" idx="5"/>
          </p:nvPr>
        </p:nvSpPr>
        <p:spPr/>
        <p:txBody>
          <a:bodyPr/>
          <a:lstStyle/>
          <a:p>
            <a:fld id="{DCB746BB-E23E-4813-8F8C-A7E5EFE8812B}" type="slidenum">
              <a:rPr lang="en-GB" smtClean="0"/>
              <a:t>52</a:t>
            </a:fld>
            <a:endParaRPr lang="en-GB"/>
          </a:p>
        </p:txBody>
      </p:sp>
    </p:spTree>
    <p:extLst>
      <p:ext uri="{BB962C8B-B14F-4D97-AF65-F5344CB8AC3E}">
        <p14:creationId xmlns:p14="http://schemas.microsoft.com/office/powerpoint/2010/main" val="3397683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mn-lt"/>
                <a:ea typeface="+mn-ea"/>
                <a:cs typeface="+mn-cs"/>
              </a:rPr>
              <a:t>A major OS will evolve over time for a number of reasons: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Hardware upgrades plus new types of hardware: For example, early versions</a:t>
            </a:r>
          </a:p>
          <a:p>
            <a:r>
              <a:rPr lang="en-US" sz="1200" kern="1200" baseline="0" dirty="0">
                <a:solidFill>
                  <a:schemeClr val="tx1"/>
                </a:solidFill>
                <a:latin typeface="+mn-lt"/>
                <a:ea typeface="+mn-ea"/>
                <a:cs typeface="+mn-cs"/>
              </a:rPr>
              <a:t>of UNIX and the Macintosh OS did not employ a paging mechanism because</a:t>
            </a:r>
          </a:p>
          <a:p>
            <a:r>
              <a:rPr lang="en-US" sz="1200" kern="1200" baseline="0" dirty="0">
                <a:solidFill>
                  <a:schemeClr val="tx1"/>
                </a:solidFill>
                <a:latin typeface="+mn-lt"/>
                <a:ea typeface="+mn-ea"/>
                <a:cs typeface="+mn-cs"/>
              </a:rPr>
              <a:t>they were run on processors without paging hardware. Subsequent versions</a:t>
            </a:r>
          </a:p>
          <a:p>
            <a:r>
              <a:rPr lang="en-US" sz="1200" kern="1200" baseline="0" dirty="0">
                <a:solidFill>
                  <a:schemeClr val="tx1"/>
                </a:solidFill>
                <a:latin typeface="+mn-lt"/>
                <a:ea typeface="+mn-ea"/>
                <a:cs typeface="+mn-cs"/>
              </a:rPr>
              <a:t>of these operating systems were modified to exploit paging capabilities. Also,</a:t>
            </a:r>
          </a:p>
          <a:p>
            <a:r>
              <a:rPr lang="en-US" sz="1200" kern="1200" baseline="0" dirty="0">
                <a:solidFill>
                  <a:schemeClr val="tx1"/>
                </a:solidFill>
                <a:latin typeface="+mn-lt"/>
                <a:ea typeface="+mn-ea"/>
                <a:cs typeface="+mn-cs"/>
              </a:rPr>
              <a:t>the use of graphics terminals and page-mode terminals instead of line-at-a time</a:t>
            </a:r>
          </a:p>
          <a:p>
            <a:r>
              <a:rPr lang="en-US" sz="1200" kern="1200" baseline="0" dirty="0">
                <a:solidFill>
                  <a:schemeClr val="tx1"/>
                </a:solidFill>
                <a:latin typeface="+mn-lt"/>
                <a:ea typeface="+mn-ea"/>
                <a:cs typeface="+mn-cs"/>
              </a:rPr>
              <a:t>scroll mode terminals affects OS design. For example, a graphics terminal</a:t>
            </a:r>
          </a:p>
          <a:p>
            <a:r>
              <a:rPr lang="en-US" sz="1200" kern="1200" baseline="0" dirty="0">
                <a:solidFill>
                  <a:schemeClr val="tx1"/>
                </a:solidFill>
                <a:latin typeface="+mn-lt"/>
                <a:ea typeface="+mn-ea"/>
                <a:cs typeface="+mn-cs"/>
              </a:rPr>
              <a:t>typically allows the user to view several applications at the same time through</a:t>
            </a:r>
          </a:p>
          <a:p>
            <a:r>
              <a:rPr lang="en-US" sz="1200" kern="1200" baseline="0" dirty="0">
                <a:solidFill>
                  <a:schemeClr val="tx1"/>
                </a:solidFill>
                <a:latin typeface="+mn-lt"/>
                <a:ea typeface="+mn-ea"/>
                <a:cs typeface="+mn-cs"/>
              </a:rPr>
              <a:t>“windows” on the screen. This requires more sophisticated support in the OS.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New services: In response to user demand or in response to the needs of system</a:t>
            </a:r>
          </a:p>
          <a:p>
            <a:r>
              <a:rPr lang="en-US" sz="1200" kern="1200" baseline="0" dirty="0">
                <a:solidFill>
                  <a:schemeClr val="tx1"/>
                </a:solidFill>
                <a:latin typeface="+mn-lt"/>
                <a:ea typeface="+mn-ea"/>
                <a:cs typeface="+mn-cs"/>
              </a:rPr>
              <a:t>managers, the OS expands to offer new services. For example, if it is found</a:t>
            </a:r>
          </a:p>
          <a:p>
            <a:r>
              <a:rPr lang="en-US" sz="1200" kern="1200" baseline="0" dirty="0">
                <a:solidFill>
                  <a:schemeClr val="tx1"/>
                </a:solidFill>
                <a:latin typeface="+mn-lt"/>
                <a:ea typeface="+mn-ea"/>
                <a:cs typeface="+mn-cs"/>
              </a:rPr>
              <a:t>to be difficult to maintain good performance for users with existing tools, new</a:t>
            </a:r>
          </a:p>
          <a:p>
            <a:r>
              <a:rPr lang="en-US" sz="1200" kern="1200" baseline="0" dirty="0">
                <a:solidFill>
                  <a:schemeClr val="tx1"/>
                </a:solidFill>
                <a:latin typeface="+mn-lt"/>
                <a:ea typeface="+mn-ea"/>
                <a:cs typeface="+mn-cs"/>
              </a:rPr>
              <a:t>measurement and control tools may be added to the OS.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Fixes: Any OS has faults. These are discovered over the course of time and</a:t>
            </a:r>
          </a:p>
          <a:p>
            <a:r>
              <a:rPr lang="en-US" sz="1200" kern="1200" baseline="0" dirty="0">
                <a:solidFill>
                  <a:schemeClr val="tx1"/>
                </a:solidFill>
                <a:latin typeface="+mn-lt"/>
                <a:ea typeface="+mn-ea"/>
                <a:cs typeface="+mn-cs"/>
              </a:rPr>
              <a:t>fixes are made. Of course, the fix may introduce new faults.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need to change an OS regularly places certain requirements on its design.</a:t>
            </a:r>
          </a:p>
          <a:p>
            <a:r>
              <a:rPr lang="en-US" sz="1200" kern="1200" baseline="0" dirty="0">
                <a:solidFill>
                  <a:schemeClr val="tx1"/>
                </a:solidFill>
                <a:latin typeface="+mn-lt"/>
                <a:ea typeface="+mn-ea"/>
                <a:cs typeface="+mn-cs"/>
              </a:rPr>
              <a:t>An obvious statement is that the system should be modular in construction, with</a:t>
            </a:r>
          </a:p>
          <a:p>
            <a:r>
              <a:rPr lang="en-US" sz="1200" kern="1200" baseline="0" dirty="0">
                <a:solidFill>
                  <a:schemeClr val="tx1"/>
                </a:solidFill>
                <a:latin typeface="+mn-lt"/>
                <a:ea typeface="+mn-ea"/>
                <a:cs typeface="+mn-cs"/>
              </a:rPr>
              <a:t>clearly defined interfaces between the modules, and that it should be well documented.</a:t>
            </a:r>
          </a:p>
          <a:p>
            <a:r>
              <a:rPr lang="en-US" sz="1200" kern="1200" baseline="0" dirty="0">
                <a:solidFill>
                  <a:schemeClr val="tx1"/>
                </a:solidFill>
                <a:latin typeface="+mn-lt"/>
                <a:ea typeface="+mn-ea"/>
                <a:cs typeface="+mn-cs"/>
              </a:rPr>
              <a:t>For large programs, such as the typical contemporary OS, what might be</a:t>
            </a:r>
          </a:p>
          <a:p>
            <a:r>
              <a:rPr lang="en-US" sz="1200" kern="1200" baseline="0" dirty="0">
                <a:solidFill>
                  <a:schemeClr val="tx1"/>
                </a:solidFill>
                <a:latin typeface="+mn-lt"/>
                <a:ea typeface="+mn-ea"/>
                <a:cs typeface="+mn-cs"/>
              </a:rPr>
              <a:t>referred to as straightforward modularization is inadequate [DENN80a]. That is,</a:t>
            </a:r>
          </a:p>
          <a:p>
            <a:r>
              <a:rPr lang="en-US" sz="1200" kern="1200" baseline="0" dirty="0">
                <a:solidFill>
                  <a:schemeClr val="tx1"/>
                </a:solidFill>
                <a:latin typeface="+mn-lt"/>
                <a:ea typeface="+mn-ea"/>
                <a:cs typeface="+mn-cs"/>
              </a:rPr>
              <a:t>much more must be done than simply partitioning a program into modules. We</a:t>
            </a:r>
          </a:p>
          <a:p>
            <a:r>
              <a:rPr lang="en-US" sz="1200" kern="1200" baseline="0" dirty="0">
                <a:solidFill>
                  <a:schemeClr val="tx1"/>
                </a:solidFill>
                <a:latin typeface="+mn-lt"/>
                <a:ea typeface="+mn-ea"/>
                <a:cs typeface="+mn-cs"/>
              </a:rPr>
              <a:t>return to this topic later in this chapter.</a:t>
            </a:r>
            <a:endParaRPr lang="en-US" dirty="0"/>
          </a:p>
          <a:p>
            <a:endParaRPr lang="en-GB" dirty="0"/>
          </a:p>
        </p:txBody>
      </p:sp>
      <p:sp>
        <p:nvSpPr>
          <p:cNvPr id="4" name="Slide Number Placeholder 3"/>
          <p:cNvSpPr>
            <a:spLocks noGrp="1"/>
          </p:cNvSpPr>
          <p:nvPr>
            <p:ph type="sldNum" sz="quarter" idx="5"/>
          </p:nvPr>
        </p:nvSpPr>
        <p:spPr/>
        <p:txBody>
          <a:bodyPr/>
          <a:lstStyle/>
          <a:p>
            <a:fld id="{DCB746BB-E23E-4813-8F8C-A7E5EFE8812B}" type="slidenum">
              <a:rPr lang="en-GB" smtClean="0"/>
              <a:t>53</a:t>
            </a:fld>
            <a:endParaRPr lang="en-GB"/>
          </a:p>
        </p:txBody>
      </p:sp>
    </p:spTree>
    <p:extLst>
      <p:ext uri="{BB962C8B-B14F-4D97-AF65-F5344CB8AC3E}">
        <p14:creationId xmlns:p14="http://schemas.microsoft.com/office/powerpoint/2010/main" val="657519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E3FED-4953-4B9C-B15F-C7536FDA33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17A4C8D-BE2D-7828-05A2-3DAB41327D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F0568AE-A066-103A-ED22-545CEBA6F3A9}"/>
              </a:ext>
            </a:extLst>
          </p:cNvPr>
          <p:cNvSpPr>
            <a:spLocks noGrp="1"/>
          </p:cNvSpPr>
          <p:nvPr>
            <p:ph type="dt" sz="half" idx="10"/>
          </p:nvPr>
        </p:nvSpPr>
        <p:spPr/>
        <p:txBody>
          <a:bodyPr/>
          <a:lstStyle/>
          <a:p>
            <a:fld id="{E12690F0-58AE-44D7-B9AF-B4B861550101}" type="datetimeFigureOut">
              <a:rPr lang="en-GB" smtClean="0"/>
              <a:t>24/09/2026</a:t>
            </a:fld>
            <a:endParaRPr lang="en-GB"/>
          </a:p>
        </p:txBody>
      </p:sp>
      <p:sp>
        <p:nvSpPr>
          <p:cNvPr id="5" name="Footer Placeholder 4">
            <a:extLst>
              <a:ext uri="{FF2B5EF4-FFF2-40B4-BE49-F238E27FC236}">
                <a16:creationId xmlns:a16="http://schemas.microsoft.com/office/drawing/2014/main" id="{833C552E-A9CF-1F01-08C8-7E20E2598E6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2159C4A-C729-C951-356A-F02CB9144285}"/>
              </a:ext>
            </a:extLst>
          </p:cNvPr>
          <p:cNvSpPr>
            <a:spLocks noGrp="1"/>
          </p:cNvSpPr>
          <p:nvPr>
            <p:ph type="sldNum" sz="quarter" idx="12"/>
          </p:nvPr>
        </p:nvSpPr>
        <p:spPr/>
        <p:txBody>
          <a:bodyPr/>
          <a:lstStyle/>
          <a:p>
            <a:fld id="{18877B14-548B-49F7-823A-79945F484219}" type="slidenum">
              <a:rPr lang="en-GB" smtClean="0"/>
              <a:t>‹#›</a:t>
            </a:fld>
            <a:endParaRPr lang="en-GB"/>
          </a:p>
        </p:txBody>
      </p:sp>
    </p:spTree>
    <p:extLst>
      <p:ext uri="{BB962C8B-B14F-4D97-AF65-F5344CB8AC3E}">
        <p14:creationId xmlns:p14="http://schemas.microsoft.com/office/powerpoint/2010/main" val="772617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748C7-C856-BFAB-B91C-85BAB207D9D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ABD11AE-28BF-1C2C-5D53-211654E865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DFC921B-936B-D671-6997-3FC1A4F1E1F6}"/>
              </a:ext>
            </a:extLst>
          </p:cNvPr>
          <p:cNvSpPr>
            <a:spLocks noGrp="1"/>
          </p:cNvSpPr>
          <p:nvPr>
            <p:ph type="dt" sz="half" idx="10"/>
          </p:nvPr>
        </p:nvSpPr>
        <p:spPr/>
        <p:txBody>
          <a:bodyPr/>
          <a:lstStyle/>
          <a:p>
            <a:fld id="{E12690F0-58AE-44D7-B9AF-B4B861550101}" type="datetimeFigureOut">
              <a:rPr lang="en-GB" smtClean="0"/>
              <a:t>24/09/2026</a:t>
            </a:fld>
            <a:endParaRPr lang="en-GB"/>
          </a:p>
        </p:txBody>
      </p:sp>
      <p:sp>
        <p:nvSpPr>
          <p:cNvPr id="5" name="Footer Placeholder 4">
            <a:extLst>
              <a:ext uri="{FF2B5EF4-FFF2-40B4-BE49-F238E27FC236}">
                <a16:creationId xmlns:a16="http://schemas.microsoft.com/office/drawing/2014/main" id="{8654B135-F039-AD11-0F1C-90775C33E2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D2D7D1-363D-B8E8-34C4-A9B76997516F}"/>
              </a:ext>
            </a:extLst>
          </p:cNvPr>
          <p:cNvSpPr>
            <a:spLocks noGrp="1"/>
          </p:cNvSpPr>
          <p:nvPr>
            <p:ph type="sldNum" sz="quarter" idx="12"/>
          </p:nvPr>
        </p:nvSpPr>
        <p:spPr/>
        <p:txBody>
          <a:bodyPr/>
          <a:lstStyle/>
          <a:p>
            <a:fld id="{18877B14-548B-49F7-823A-79945F484219}" type="slidenum">
              <a:rPr lang="en-GB" smtClean="0"/>
              <a:t>‹#›</a:t>
            </a:fld>
            <a:endParaRPr lang="en-GB"/>
          </a:p>
        </p:txBody>
      </p:sp>
    </p:spTree>
    <p:extLst>
      <p:ext uri="{BB962C8B-B14F-4D97-AF65-F5344CB8AC3E}">
        <p14:creationId xmlns:p14="http://schemas.microsoft.com/office/powerpoint/2010/main" val="1258916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9FB07-68CC-E89B-EA57-323C5FAEA0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F601D21-11AC-5F47-937B-A847183263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3714F6-9B32-4C37-346E-87EF3FCFAA22}"/>
              </a:ext>
            </a:extLst>
          </p:cNvPr>
          <p:cNvSpPr>
            <a:spLocks noGrp="1"/>
          </p:cNvSpPr>
          <p:nvPr>
            <p:ph type="dt" sz="half" idx="10"/>
          </p:nvPr>
        </p:nvSpPr>
        <p:spPr/>
        <p:txBody>
          <a:bodyPr/>
          <a:lstStyle/>
          <a:p>
            <a:fld id="{E12690F0-58AE-44D7-B9AF-B4B861550101}" type="datetimeFigureOut">
              <a:rPr lang="en-GB" smtClean="0"/>
              <a:t>24/09/2026</a:t>
            </a:fld>
            <a:endParaRPr lang="en-GB"/>
          </a:p>
        </p:txBody>
      </p:sp>
      <p:sp>
        <p:nvSpPr>
          <p:cNvPr id="5" name="Footer Placeholder 4">
            <a:extLst>
              <a:ext uri="{FF2B5EF4-FFF2-40B4-BE49-F238E27FC236}">
                <a16:creationId xmlns:a16="http://schemas.microsoft.com/office/drawing/2014/main" id="{23C3B80C-2F8A-3C16-7BAB-8EFDFC5545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1D2CD1F-74E9-A79D-404C-8C325DB9DEEB}"/>
              </a:ext>
            </a:extLst>
          </p:cNvPr>
          <p:cNvSpPr>
            <a:spLocks noGrp="1"/>
          </p:cNvSpPr>
          <p:nvPr>
            <p:ph type="sldNum" sz="quarter" idx="12"/>
          </p:nvPr>
        </p:nvSpPr>
        <p:spPr/>
        <p:txBody>
          <a:bodyPr/>
          <a:lstStyle/>
          <a:p>
            <a:fld id="{18877B14-548B-49F7-823A-79945F484219}" type="slidenum">
              <a:rPr lang="en-GB" smtClean="0"/>
              <a:t>‹#›</a:t>
            </a:fld>
            <a:endParaRPr lang="en-GB"/>
          </a:p>
        </p:txBody>
      </p:sp>
    </p:spTree>
    <p:extLst>
      <p:ext uri="{BB962C8B-B14F-4D97-AF65-F5344CB8AC3E}">
        <p14:creationId xmlns:p14="http://schemas.microsoft.com/office/powerpoint/2010/main" val="1681206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BD62A-1720-8F16-F383-06AC5F6ED23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422DA8E-AE0E-EF9E-4E32-C3B073C260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C0F266A-7894-BC7A-0D00-FE7ED74CC0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6D26FA3-097A-A9E2-D405-421AF3CDA827}"/>
              </a:ext>
            </a:extLst>
          </p:cNvPr>
          <p:cNvSpPr>
            <a:spLocks noGrp="1"/>
          </p:cNvSpPr>
          <p:nvPr>
            <p:ph type="dt" sz="half" idx="10"/>
          </p:nvPr>
        </p:nvSpPr>
        <p:spPr/>
        <p:txBody>
          <a:bodyPr/>
          <a:lstStyle/>
          <a:p>
            <a:fld id="{E12690F0-58AE-44D7-B9AF-B4B861550101}" type="datetimeFigureOut">
              <a:rPr lang="en-GB" smtClean="0"/>
              <a:t>24/09/2026</a:t>
            </a:fld>
            <a:endParaRPr lang="en-GB"/>
          </a:p>
        </p:txBody>
      </p:sp>
      <p:sp>
        <p:nvSpPr>
          <p:cNvPr id="6" name="Footer Placeholder 5">
            <a:extLst>
              <a:ext uri="{FF2B5EF4-FFF2-40B4-BE49-F238E27FC236}">
                <a16:creationId xmlns:a16="http://schemas.microsoft.com/office/drawing/2014/main" id="{772A9E6F-59D4-E2B7-D7A7-CF8D91ED59F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87ADA39-3EAF-B01F-02E4-22955F248E58}"/>
              </a:ext>
            </a:extLst>
          </p:cNvPr>
          <p:cNvSpPr>
            <a:spLocks noGrp="1"/>
          </p:cNvSpPr>
          <p:nvPr>
            <p:ph type="sldNum" sz="quarter" idx="12"/>
          </p:nvPr>
        </p:nvSpPr>
        <p:spPr/>
        <p:txBody>
          <a:bodyPr/>
          <a:lstStyle/>
          <a:p>
            <a:fld id="{18877B14-548B-49F7-823A-79945F484219}" type="slidenum">
              <a:rPr lang="en-GB" smtClean="0"/>
              <a:t>‹#›</a:t>
            </a:fld>
            <a:endParaRPr lang="en-GB"/>
          </a:p>
        </p:txBody>
      </p:sp>
    </p:spTree>
    <p:extLst>
      <p:ext uri="{BB962C8B-B14F-4D97-AF65-F5344CB8AC3E}">
        <p14:creationId xmlns:p14="http://schemas.microsoft.com/office/powerpoint/2010/main" val="2611125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52132-8B12-658E-EFED-1D92EA544E2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8A048A1-7876-2191-840F-A0B5E026D1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C263A2-60F2-738C-56A3-D751899368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1559E84-964F-987E-D6B6-51967B48BD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8C496F-5422-074C-3A0D-09F1DAE5BB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CECDC15-0F69-4572-0C2F-65648D66D620}"/>
              </a:ext>
            </a:extLst>
          </p:cNvPr>
          <p:cNvSpPr>
            <a:spLocks noGrp="1"/>
          </p:cNvSpPr>
          <p:nvPr>
            <p:ph type="dt" sz="half" idx="10"/>
          </p:nvPr>
        </p:nvSpPr>
        <p:spPr/>
        <p:txBody>
          <a:bodyPr/>
          <a:lstStyle/>
          <a:p>
            <a:fld id="{E12690F0-58AE-44D7-B9AF-B4B861550101}" type="datetimeFigureOut">
              <a:rPr lang="en-GB" smtClean="0"/>
              <a:t>24/09/2026</a:t>
            </a:fld>
            <a:endParaRPr lang="en-GB"/>
          </a:p>
        </p:txBody>
      </p:sp>
      <p:sp>
        <p:nvSpPr>
          <p:cNvPr id="8" name="Footer Placeholder 7">
            <a:extLst>
              <a:ext uri="{FF2B5EF4-FFF2-40B4-BE49-F238E27FC236}">
                <a16:creationId xmlns:a16="http://schemas.microsoft.com/office/drawing/2014/main" id="{A72E2624-22C5-80C4-2D1D-DB9F0567F93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CFC8CCC-5D18-9F5F-F949-D65C87D68266}"/>
              </a:ext>
            </a:extLst>
          </p:cNvPr>
          <p:cNvSpPr>
            <a:spLocks noGrp="1"/>
          </p:cNvSpPr>
          <p:nvPr>
            <p:ph type="sldNum" sz="quarter" idx="12"/>
          </p:nvPr>
        </p:nvSpPr>
        <p:spPr/>
        <p:txBody>
          <a:bodyPr/>
          <a:lstStyle/>
          <a:p>
            <a:fld id="{18877B14-548B-49F7-823A-79945F484219}" type="slidenum">
              <a:rPr lang="en-GB" smtClean="0"/>
              <a:t>‹#›</a:t>
            </a:fld>
            <a:endParaRPr lang="en-GB"/>
          </a:p>
        </p:txBody>
      </p:sp>
    </p:spTree>
    <p:extLst>
      <p:ext uri="{BB962C8B-B14F-4D97-AF65-F5344CB8AC3E}">
        <p14:creationId xmlns:p14="http://schemas.microsoft.com/office/powerpoint/2010/main" val="3249826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16921-5137-E3C7-8938-8F86D8738F7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BC32C27-12A3-CB51-B81D-264B6F26CB20}"/>
              </a:ext>
            </a:extLst>
          </p:cNvPr>
          <p:cNvSpPr>
            <a:spLocks noGrp="1"/>
          </p:cNvSpPr>
          <p:nvPr>
            <p:ph type="dt" sz="half" idx="10"/>
          </p:nvPr>
        </p:nvSpPr>
        <p:spPr/>
        <p:txBody>
          <a:bodyPr/>
          <a:lstStyle/>
          <a:p>
            <a:fld id="{E12690F0-58AE-44D7-B9AF-B4B861550101}" type="datetimeFigureOut">
              <a:rPr lang="en-GB" smtClean="0"/>
              <a:t>24/09/2026</a:t>
            </a:fld>
            <a:endParaRPr lang="en-GB"/>
          </a:p>
        </p:txBody>
      </p:sp>
      <p:sp>
        <p:nvSpPr>
          <p:cNvPr id="4" name="Footer Placeholder 3">
            <a:extLst>
              <a:ext uri="{FF2B5EF4-FFF2-40B4-BE49-F238E27FC236}">
                <a16:creationId xmlns:a16="http://schemas.microsoft.com/office/drawing/2014/main" id="{EFB8D82B-72EB-D2ED-54B3-0D23FEE8A0C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A43E321-E41A-540F-E111-1A690770E0D6}"/>
              </a:ext>
            </a:extLst>
          </p:cNvPr>
          <p:cNvSpPr>
            <a:spLocks noGrp="1"/>
          </p:cNvSpPr>
          <p:nvPr>
            <p:ph type="sldNum" sz="quarter" idx="12"/>
          </p:nvPr>
        </p:nvSpPr>
        <p:spPr/>
        <p:txBody>
          <a:bodyPr/>
          <a:lstStyle/>
          <a:p>
            <a:fld id="{18877B14-548B-49F7-823A-79945F484219}" type="slidenum">
              <a:rPr lang="en-GB" smtClean="0"/>
              <a:t>‹#›</a:t>
            </a:fld>
            <a:endParaRPr lang="en-GB"/>
          </a:p>
        </p:txBody>
      </p:sp>
    </p:spTree>
    <p:extLst>
      <p:ext uri="{BB962C8B-B14F-4D97-AF65-F5344CB8AC3E}">
        <p14:creationId xmlns:p14="http://schemas.microsoft.com/office/powerpoint/2010/main" val="1156996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76130A-5B30-F87A-15CC-C7C18973D733}"/>
              </a:ext>
            </a:extLst>
          </p:cNvPr>
          <p:cNvSpPr>
            <a:spLocks noGrp="1"/>
          </p:cNvSpPr>
          <p:nvPr>
            <p:ph type="dt" sz="half" idx="10"/>
          </p:nvPr>
        </p:nvSpPr>
        <p:spPr/>
        <p:txBody>
          <a:bodyPr/>
          <a:lstStyle/>
          <a:p>
            <a:fld id="{E12690F0-58AE-44D7-B9AF-B4B861550101}" type="datetimeFigureOut">
              <a:rPr lang="en-GB" smtClean="0"/>
              <a:t>24/09/2026</a:t>
            </a:fld>
            <a:endParaRPr lang="en-GB"/>
          </a:p>
        </p:txBody>
      </p:sp>
      <p:sp>
        <p:nvSpPr>
          <p:cNvPr id="3" name="Footer Placeholder 2">
            <a:extLst>
              <a:ext uri="{FF2B5EF4-FFF2-40B4-BE49-F238E27FC236}">
                <a16:creationId xmlns:a16="http://schemas.microsoft.com/office/drawing/2014/main" id="{3F48A1BD-1982-EE4F-113B-7C76872D781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3C230D5-D3B2-697D-EA2F-B481A49EEBDB}"/>
              </a:ext>
            </a:extLst>
          </p:cNvPr>
          <p:cNvSpPr>
            <a:spLocks noGrp="1"/>
          </p:cNvSpPr>
          <p:nvPr>
            <p:ph type="sldNum" sz="quarter" idx="12"/>
          </p:nvPr>
        </p:nvSpPr>
        <p:spPr/>
        <p:txBody>
          <a:bodyPr/>
          <a:lstStyle/>
          <a:p>
            <a:fld id="{18877B14-548B-49F7-823A-79945F484219}" type="slidenum">
              <a:rPr lang="en-GB" smtClean="0"/>
              <a:t>‹#›</a:t>
            </a:fld>
            <a:endParaRPr lang="en-GB"/>
          </a:p>
        </p:txBody>
      </p:sp>
    </p:spTree>
    <p:extLst>
      <p:ext uri="{BB962C8B-B14F-4D97-AF65-F5344CB8AC3E}">
        <p14:creationId xmlns:p14="http://schemas.microsoft.com/office/powerpoint/2010/main" val="3358123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579F4-211B-5633-3654-CFB8FD462D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6C116BE-9FD0-2744-25DC-48E8FB8097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8D09F42-3FFF-7BA0-3CA5-F39946DF22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F19DCB-8CF7-4012-6178-8ACFE3CD7CCA}"/>
              </a:ext>
            </a:extLst>
          </p:cNvPr>
          <p:cNvSpPr>
            <a:spLocks noGrp="1"/>
          </p:cNvSpPr>
          <p:nvPr>
            <p:ph type="dt" sz="half" idx="10"/>
          </p:nvPr>
        </p:nvSpPr>
        <p:spPr/>
        <p:txBody>
          <a:bodyPr/>
          <a:lstStyle/>
          <a:p>
            <a:fld id="{E12690F0-58AE-44D7-B9AF-B4B861550101}" type="datetimeFigureOut">
              <a:rPr lang="en-GB" smtClean="0"/>
              <a:t>24/09/2026</a:t>
            </a:fld>
            <a:endParaRPr lang="en-GB"/>
          </a:p>
        </p:txBody>
      </p:sp>
      <p:sp>
        <p:nvSpPr>
          <p:cNvPr id="6" name="Footer Placeholder 5">
            <a:extLst>
              <a:ext uri="{FF2B5EF4-FFF2-40B4-BE49-F238E27FC236}">
                <a16:creationId xmlns:a16="http://schemas.microsoft.com/office/drawing/2014/main" id="{1DFE4D49-ADE8-A676-F4F7-39C820849EC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134A6F9-7FEF-C0B9-A09B-642D3E1CA49C}"/>
              </a:ext>
            </a:extLst>
          </p:cNvPr>
          <p:cNvSpPr>
            <a:spLocks noGrp="1"/>
          </p:cNvSpPr>
          <p:nvPr>
            <p:ph type="sldNum" sz="quarter" idx="12"/>
          </p:nvPr>
        </p:nvSpPr>
        <p:spPr/>
        <p:txBody>
          <a:bodyPr/>
          <a:lstStyle/>
          <a:p>
            <a:fld id="{18877B14-548B-49F7-823A-79945F484219}" type="slidenum">
              <a:rPr lang="en-GB" smtClean="0"/>
              <a:t>‹#›</a:t>
            </a:fld>
            <a:endParaRPr lang="en-GB"/>
          </a:p>
        </p:txBody>
      </p:sp>
    </p:spTree>
    <p:extLst>
      <p:ext uri="{BB962C8B-B14F-4D97-AF65-F5344CB8AC3E}">
        <p14:creationId xmlns:p14="http://schemas.microsoft.com/office/powerpoint/2010/main" val="836730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C0FB8-2EAB-77C5-D4B7-03AE49C361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372154E-6C26-61EC-4EB2-6C341E0C34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252010B-1270-713F-1B03-01661B38DD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C7EB84-2B1A-E74C-6402-5570FA933764}"/>
              </a:ext>
            </a:extLst>
          </p:cNvPr>
          <p:cNvSpPr>
            <a:spLocks noGrp="1"/>
          </p:cNvSpPr>
          <p:nvPr>
            <p:ph type="dt" sz="half" idx="10"/>
          </p:nvPr>
        </p:nvSpPr>
        <p:spPr/>
        <p:txBody>
          <a:bodyPr/>
          <a:lstStyle/>
          <a:p>
            <a:fld id="{E12690F0-58AE-44D7-B9AF-B4B861550101}" type="datetimeFigureOut">
              <a:rPr lang="en-GB" smtClean="0"/>
              <a:t>24/09/2026</a:t>
            </a:fld>
            <a:endParaRPr lang="en-GB"/>
          </a:p>
        </p:txBody>
      </p:sp>
      <p:sp>
        <p:nvSpPr>
          <p:cNvPr id="6" name="Footer Placeholder 5">
            <a:extLst>
              <a:ext uri="{FF2B5EF4-FFF2-40B4-BE49-F238E27FC236}">
                <a16:creationId xmlns:a16="http://schemas.microsoft.com/office/drawing/2014/main" id="{940A8143-3DCC-2088-B13E-F48C85B6EC6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CC90EB-4C12-1845-4326-39A080DC2DE2}"/>
              </a:ext>
            </a:extLst>
          </p:cNvPr>
          <p:cNvSpPr>
            <a:spLocks noGrp="1"/>
          </p:cNvSpPr>
          <p:nvPr>
            <p:ph type="sldNum" sz="quarter" idx="12"/>
          </p:nvPr>
        </p:nvSpPr>
        <p:spPr/>
        <p:txBody>
          <a:bodyPr/>
          <a:lstStyle/>
          <a:p>
            <a:fld id="{18877B14-548B-49F7-823A-79945F484219}" type="slidenum">
              <a:rPr lang="en-GB" smtClean="0"/>
              <a:t>‹#›</a:t>
            </a:fld>
            <a:endParaRPr lang="en-GB"/>
          </a:p>
        </p:txBody>
      </p:sp>
    </p:spTree>
    <p:extLst>
      <p:ext uri="{BB962C8B-B14F-4D97-AF65-F5344CB8AC3E}">
        <p14:creationId xmlns:p14="http://schemas.microsoft.com/office/powerpoint/2010/main" val="2989323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DF8CC-50F6-3D26-0124-4DDEE8B560A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20084CE-5150-2FB0-2768-21DD9801C1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F2D9347-B608-9DFC-E5A8-57A7933A9DA3}"/>
              </a:ext>
            </a:extLst>
          </p:cNvPr>
          <p:cNvSpPr>
            <a:spLocks noGrp="1"/>
          </p:cNvSpPr>
          <p:nvPr>
            <p:ph type="dt" sz="half" idx="10"/>
          </p:nvPr>
        </p:nvSpPr>
        <p:spPr/>
        <p:txBody>
          <a:bodyPr/>
          <a:lstStyle/>
          <a:p>
            <a:fld id="{E12690F0-58AE-44D7-B9AF-B4B861550101}" type="datetimeFigureOut">
              <a:rPr lang="en-GB" smtClean="0"/>
              <a:t>24/09/2026</a:t>
            </a:fld>
            <a:endParaRPr lang="en-GB"/>
          </a:p>
        </p:txBody>
      </p:sp>
      <p:sp>
        <p:nvSpPr>
          <p:cNvPr id="5" name="Footer Placeholder 4">
            <a:extLst>
              <a:ext uri="{FF2B5EF4-FFF2-40B4-BE49-F238E27FC236}">
                <a16:creationId xmlns:a16="http://schemas.microsoft.com/office/drawing/2014/main" id="{DC07C740-14A1-F9CA-18AA-5D073B9520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3A190FD-A749-9331-0BEE-3CAD3006ADF6}"/>
              </a:ext>
            </a:extLst>
          </p:cNvPr>
          <p:cNvSpPr>
            <a:spLocks noGrp="1"/>
          </p:cNvSpPr>
          <p:nvPr>
            <p:ph type="sldNum" sz="quarter" idx="12"/>
          </p:nvPr>
        </p:nvSpPr>
        <p:spPr/>
        <p:txBody>
          <a:bodyPr/>
          <a:lstStyle/>
          <a:p>
            <a:fld id="{18877B14-548B-49F7-823A-79945F484219}" type="slidenum">
              <a:rPr lang="en-GB" smtClean="0"/>
              <a:t>‹#›</a:t>
            </a:fld>
            <a:endParaRPr lang="en-GB"/>
          </a:p>
        </p:txBody>
      </p:sp>
    </p:spTree>
    <p:extLst>
      <p:ext uri="{BB962C8B-B14F-4D97-AF65-F5344CB8AC3E}">
        <p14:creationId xmlns:p14="http://schemas.microsoft.com/office/powerpoint/2010/main" val="4137366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64D1C6-FAF8-3082-6B9B-A536A59731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D20F0EE-ACD2-6609-D3A3-A1A6EAAC39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ADF3669-1E83-FA25-46AD-141EB25DA481}"/>
              </a:ext>
            </a:extLst>
          </p:cNvPr>
          <p:cNvSpPr>
            <a:spLocks noGrp="1"/>
          </p:cNvSpPr>
          <p:nvPr>
            <p:ph type="dt" sz="half" idx="10"/>
          </p:nvPr>
        </p:nvSpPr>
        <p:spPr/>
        <p:txBody>
          <a:bodyPr/>
          <a:lstStyle/>
          <a:p>
            <a:fld id="{E12690F0-58AE-44D7-B9AF-B4B861550101}" type="datetimeFigureOut">
              <a:rPr lang="en-GB" smtClean="0"/>
              <a:t>24/09/2026</a:t>
            </a:fld>
            <a:endParaRPr lang="en-GB"/>
          </a:p>
        </p:txBody>
      </p:sp>
      <p:sp>
        <p:nvSpPr>
          <p:cNvPr id="5" name="Footer Placeholder 4">
            <a:extLst>
              <a:ext uri="{FF2B5EF4-FFF2-40B4-BE49-F238E27FC236}">
                <a16:creationId xmlns:a16="http://schemas.microsoft.com/office/drawing/2014/main" id="{FC1918A0-7A43-57A7-3FC6-8DB6257B3D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B8DF42-AE2E-BB74-50B0-E76B52D72B62}"/>
              </a:ext>
            </a:extLst>
          </p:cNvPr>
          <p:cNvSpPr>
            <a:spLocks noGrp="1"/>
          </p:cNvSpPr>
          <p:nvPr>
            <p:ph type="sldNum" sz="quarter" idx="12"/>
          </p:nvPr>
        </p:nvSpPr>
        <p:spPr/>
        <p:txBody>
          <a:bodyPr/>
          <a:lstStyle/>
          <a:p>
            <a:fld id="{18877B14-548B-49F7-823A-79945F484219}" type="slidenum">
              <a:rPr lang="en-GB" smtClean="0"/>
              <a:t>‹#›</a:t>
            </a:fld>
            <a:endParaRPr lang="en-GB"/>
          </a:p>
        </p:txBody>
      </p:sp>
    </p:spTree>
    <p:extLst>
      <p:ext uri="{BB962C8B-B14F-4D97-AF65-F5344CB8AC3E}">
        <p14:creationId xmlns:p14="http://schemas.microsoft.com/office/powerpoint/2010/main" val="3781354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09/24/2026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838200" y="1798320"/>
            <a:ext cx="105156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1464618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8F410C-1BE5-A21A-4B6D-02D17BE8A7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701CA66-2A82-08EB-AD7B-191D855CF5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230F708-680B-12BD-F7A7-E2C9917B84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2690F0-58AE-44D7-B9AF-B4B861550101}" type="datetimeFigureOut">
              <a:rPr lang="en-GB" smtClean="0"/>
              <a:t>24/09/2026</a:t>
            </a:fld>
            <a:endParaRPr lang="en-GB"/>
          </a:p>
        </p:txBody>
      </p:sp>
      <p:sp>
        <p:nvSpPr>
          <p:cNvPr id="5" name="Footer Placeholder 4">
            <a:extLst>
              <a:ext uri="{FF2B5EF4-FFF2-40B4-BE49-F238E27FC236}">
                <a16:creationId xmlns:a16="http://schemas.microsoft.com/office/drawing/2014/main" id="{36BD6794-4F02-AF49-6A78-DE078F4E36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6AF6C3B-6580-794A-3F4A-2393C21DBA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877B14-548B-49F7-823A-79945F484219}" type="slidenum">
              <a:rPr lang="en-GB" smtClean="0"/>
              <a:t>‹#›</a:t>
            </a:fld>
            <a:endParaRPr lang="en-GB"/>
          </a:p>
        </p:txBody>
      </p:sp>
    </p:spTree>
    <p:extLst>
      <p:ext uri="{BB962C8B-B14F-4D97-AF65-F5344CB8AC3E}">
        <p14:creationId xmlns:p14="http://schemas.microsoft.com/office/powerpoint/2010/main" val="8867323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368F1-ED04-27EB-F460-A7343AD0E838}"/>
              </a:ext>
            </a:extLst>
          </p:cNvPr>
          <p:cNvSpPr>
            <a:spLocks noGrp="1"/>
          </p:cNvSpPr>
          <p:nvPr>
            <p:ph type="ctrTitle"/>
          </p:nvPr>
        </p:nvSpPr>
        <p:spPr>
          <a:xfrm>
            <a:off x="1524000" y="1796131"/>
            <a:ext cx="9144000" cy="2387600"/>
          </a:xfrm>
        </p:spPr>
        <p:txBody>
          <a:bodyPr>
            <a:normAutofit fontScale="90000"/>
          </a:bodyPr>
          <a:lstStyle/>
          <a:p>
            <a:r>
              <a:rPr lang="en-GB" dirty="0"/>
              <a:t>COMP1860 Building our Digital World: Computer Systems &amp; Architecture</a:t>
            </a:r>
          </a:p>
        </p:txBody>
      </p:sp>
      <p:sp>
        <p:nvSpPr>
          <p:cNvPr id="3" name="Subtitle 2">
            <a:extLst>
              <a:ext uri="{FF2B5EF4-FFF2-40B4-BE49-F238E27FC236}">
                <a16:creationId xmlns:a16="http://schemas.microsoft.com/office/drawing/2014/main" id="{C5FCB4F3-A335-38BF-71E4-913991751474}"/>
              </a:ext>
            </a:extLst>
          </p:cNvPr>
          <p:cNvSpPr>
            <a:spLocks noGrp="1"/>
          </p:cNvSpPr>
          <p:nvPr>
            <p:ph type="subTitle" idx="1"/>
          </p:nvPr>
        </p:nvSpPr>
        <p:spPr>
          <a:xfrm>
            <a:off x="1524000" y="4600659"/>
            <a:ext cx="9144000" cy="1655762"/>
          </a:xfrm>
        </p:spPr>
        <p:txBody>
          <a:bodyPr/>
          <a:lstStyle/>
          <a:p>
            <a:r>
              <a:rPr lang="en-GB" sz="3200" dirty="0"/>
              <a:t>S1.W1.L2 </a:t>
            </a:r>
            <a:r>
              <a:rPr lang="en-GB" sz="3200"/>
              <a:t>- Computer Architecture &amp; History of Computing Part 2</a:t>
            </a:r>
            <a:endParaRPr lang="en-GB" sz="3200" dirty="0"/>
          </a:p>
          <a:p>
            <a:r>
              <a:rPr lang="en-GB" sz="3200" dirty="0"/>
              <a:t>Dr James Dyer</a:t>
            </a:r>
          </a:p>
          <a:p>
            <a:endParaRPr lang="en-GB" dirty="0"/>
          </a:p>
        </p:txBody>
      </p:sp>
    </p:spTree>
    <p:extLst>
      <p:ext uri="{BB962C8B-B14F-4D97-AF65-F5344CB8AC3E}">
        <p14:creationId xmlns:p14="http://schemas.microsoft.com/office/powerpoint/2010/main" val="1719831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D3D9B-F031-E9EE-57A2-70751E22A962}"/>
              </a:ext>
            </a:extLst>
          </p:cNvPr>
          <p:cNvSpPr>
            <a:spLocks noGrp="1"/>
          </p:cNvSpPr>
          <p:nvPr>
            <p:ph type="title"/>
          </p:nvPr>
        </p:nvSpPr>
        <p:spPr/>
        <p:txBody>
          <a:bodyPr/>
          <a:lstStyle/>
          <a:p>
            <a:endParaRPr lang="en-GB"/>
          </a:p>
        </p:txBody>
      </p:sp>
      <p:pic>
        <p:nvPicPr>
          <p:cNvPr id="5" name="Content Placeholder 4" descr="A cartoon of a child standing in front of a sign&#10;&#10;Description automatically generated">
            <a:extLst>
              <a:ext uri="{FF2B5EF4-FFF2-40B4-BE49-F238E27FC236}">
                <a16:creationId xmlns:a16="http://schemas.microsoft.com/office/drawing/2014/main" id="{87730293-1A6A-F43C-466F-7BE8B37230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5828" cy="6858000"/>
          </a:xfrm>
        </p:spPr>
      </p:pic>
    </p:spTree>
    <p:extLst>
      <p:ext uri="{BB962C8B-B14F-4D97-AF65-F5344CB8AC3E}">
        <p14:creationId xmlns:p14="http://schemas.microsoft.com/office/powerpoint/2010/main" val="1400862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EDED9-8DEE-539D-F801-9B271A2E46EA}"/>
              </a:ext>
            </a:extLst>
          </p:cNvPr>
          <p:cNvSpPr>
            <a:spLocks noGrp="1"/>
          </p:cNvSpPr>
          <p:nvPr>
            <p:ph type="title"/>
          </p:nvPr>
        </p:nvSpPr>
        <p:spPr/>
        <p:txBody>
          <a:bodyPr/>
          <a:lstStyle/>
          <a:p>
            <a:r>
              <a:rPr lang="en-GB" dirty="0"/>
              <a:t>Learning Outcomes</a:t>
            </a:r>
          </a:p>
        </p:txBody>
      </p:sp>
      <p:sp>
        <p:nvSpPr>
          <p:cNvPr id="3" name="Content Placeholder 2">
            <a:extLst>
              <a:ext uri="{FF2B5EF4-FFF2-40B4-BE49-F238E27FC236}">
                <a16:creationId xmlns:a16="http://schemas.microsoft.com/office/drawing/2014/main" id="{88F40B2D-1D74-0D83-BE76-FC8ABA3BABF7}"/>
              </a:ext>
            </a:extLst>
          </p:cNvPr>
          <p:cNvSpPr>
            <a:spLocks noGrp="1"/>
          </p:cNvSpPr>
          <p:nvPr>
            <p:ph idx="1"/>
          </p:nvPr>
        </p:nvSpPr>
        <p:spPr/>
        <p:txBody>
          <a:bodyPr/>
          <a:lstStyle/>
          <a:p>
            <a:pPr marL="514350" indent="-514350">
              <a:buFont typeface="+mj-lt"/>
              <a:buAutoNum type="arabicPeriod"/>
            </a:pPr>
            <a:r>
              <a:rPr lang="en-GB" dirty="0"/>
              <a:t>Recognise the contributions of individuals and organisations in the computing field.</a:t>
            </a:r>
          </a:p>
          <a:p>
            <a:pPr marL="514350" indent="-514350">
              <a:buFont typeface="+mj-lt"/>
              <a:buAutoNum type="arabicPeriod"/>
            </a:pPr>
            <a:r>
              <a:rPr lang="en-GB" dirty="0"/>
              <a:t>Explain trends in the history of the computing field.</a:t>
            </a:r>
          </a:p>
          <a:p>
            <a:pPr marL="514350" indent="-514350">
              <a:buFont typeface="+mj-lt"/>
              <a:buAutoNum type="arabicPeriod"/>
            </a:pPr>
            <a:r>
              <a:rPr lang="en-GB" dirty="0"/>
              <a:t>Describe the basic building blocks of computers and their role in the historical development of computer architecture.</a:t>
            </a:r>
          </a:p>
        </p:txBody>
      </p:sp>
    </p:spTree>
    <p:extLst>
      <p:ext uri="{BB962C8B-B14F-4D97-AF65-F5344CB8AC3E}">
        <p14:creationId xmlns:p14="http://schemas.microsoft.com/office/powerpoint/2010/main" val="2188753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BD679-4982-283D-A430-38AE874DAF86}"/>
              </a:ext>
            </a:extLst>
          </p:cNvPr>
          <p:cNvSpPr>
            <a:spLocks noGrp="1"/>
          </p:cNvSpPr>
          <p:nvPr>
            <p:ph type="title"/>
          </p:nvPr>
        </p:nvSpPr>
        <p:spPr/>
        <p:txBody>
          <a:bodyPr/>
          <a:lstStyle/>
          <a:p>
            <a:r>
              <a:rPr lang="en-GB" dirty="0"/>
              <a:t>Text Book</a:t>
            </a:r>
          </a:p>
        </p:txBody>
      </p:sp>
      <p:sp>
        <p:nvSpPr>
          <p:cNvPr id="3" name="Content Placeholder 2">
            <a:extLst>
              <a:ext uri="{FF2B5EF4-FFF2-40B4-BE49-F238E27FC236}">
                <a16:creationId xmlns:a16="http://schemas.microsoft.com/office/drawing/2014/main" id="{D931AAC8-3AC3-84CF-8EAD-0D908641BB1B}"/>
              </a:ext>
            </a:extLst>
          </p:cNvPr>
          <p:cNvSpPr>
            <a:spLocks noGrp="1"/>
          </p:cNvSpPr>
          <p:nvPr>
            <p:ph idx="1"/>
          </p:nvPr>
        </p:nvSpPr>
        <p:spPr/>
        <p:txBody>
          <a:bodyPr/>
          <a:lstStyle/>
          <a:p>
            <a:r>
              <a:rPr lang="en-GB" dirty="0"/>
              <a:t>This lecture is based on chapter 1 of </a:t>
            </a:r>
            <a:r>
              <a:rPr lang="en-US" sz="2800" b="1" dirty="0"/>
              <a:t>Stallings. </a:t>
            </a:r>
            <a:r>
              <a:rPr lang="en-US" sz="2800" b="1" i="1" dirty="0"/>
              <a:t>Computer </a:t>
            </a:r>
            <a:r>
              <a:rPr lang="en-US" sz="2800" b="1" i="1" dirty="0" err="1"/>
              <a:t>Organisation</a:t>
            </a:r>
            <a:r>
              <a:rPr lang="en-US" sz="2800" b="1" i="1" dirty="0"/>
              <a:t> &amp; Architecture</a:t>
            </a:r>
            <a:endParaRPr lang="en-GB" sz="2800" b="1" i="1" dirty="0"/>
          </a:p>
          <a:p>
            <a:pPr lvl="1"/>
            <a:r>
              <a:rPr lang="en-GB" dirty="0"/>
              <a:t>It covers 1.3 from </a:t>
            </a:r>
            <a:r>
              <a:rPr lang="en-GB"/>
              <a:t>Transistors onward, 1.4, 1.5, 1.6</a:t>
            </a:r>
            <a:endParaRPr lang="en-GB" dirty="0"/>
          </a:p>
          <a:p>
            <a:endParaRPr lang="en-GB" dirty="0"/>
          </a:p>
        </p:txBody>
      </p:sp>
    </p:spTree>
    <p:extLst>
      <p:ext uri="{BB962C8B-B14F-4D97-AF65-F5344CB8AC3E}">
        <p14:creationId xmlns:p14="http://schemas.microsoft.com/office/powerpoint/2010/main" val="3979724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ECF9B-E1D2-EBDB-5143-BFBC975C39EC}"/>
              </a:ext>
            </a:extLst>
          </p:cNvPr>
          <p:cNvSpPr>
            <a:spLocks noGrp="1"/>
          </p:cNvSpPr>
          <p:nvPr>
            <p:ph type="title"/>
          </p:nvPr>
        </p:nvSpPr>
        <p:spPr/>
        <p:txBody>
          <a:bodyPr/>
          <a:lstStyle/>
          <a:p>
            <a:r>
              <a:rPr lang="en-GB" dirty="0"/>
              <a:t>Overview</a:t>
            </a:r>
          </a:p>
        </p:txBody>
      </p:sp>
      <p:sp>
        <p:nvSpPr>
          <p:cNvPr id="3" name="Content Placeholder 2">
            <a:extLst>
              <a:ext uri="{FF2B5EF4-FFF2-40B4-BE49-F238E27FC236}">
                <a16:creationId xmlns:a16="http://schemas.microsoft.com/office/drawing/2014/main" id="{8F756BAC-E6EB-4656-6784-540033C6590A}"/>
              </a:ext>
            </a:extLst>
          </p:cNvPr>
          <p:cNvSpPr>
            <a:spLocks noGrp="1"/>
          </p:cNvSpPr>
          <p:nvPr>
            <p:ph idx="1"/>
          </p:nvPr>
        </p:nvSpPr>
        <p:spPr/>
        <p:txBody>
          <a:bodyPr/>
          <a:lstStyle/>
          <a:p>
            <a:r>
              <a:rPr lang="en-GB" dirty="0"/>
              <a:t>Building blocks of computer hardware</a:t>
            </a:r>
          </a:p>
          <a:p>
            <a:r>
              <a:rPr lang="en-GB" dirty="0"/>
              <a:t>History of computer hardware (part 2)</a:t>
            </a:r>
          </a:p>
          <a:p>
            <a:r>
              <a:rPr lang="en-GB" dirty="0"/>
              <a:t>Instruction Set Architectures</a:t>
            </a:r>
          </a:p>
          <a:p>
            <a:r>
              <a:rPr lang="en-GB" dirty="0"/>
              <a:t>Embedded Systems</a:t>
            </a:r>
          </a:p>
          <a:p>
            <a:r>
              <a:rPr lang="en-GB" dirty="0"/>
              <a:t>Parallelism</a:t>
            </a:r>
          </a:p>
          <a:p>
            <a:r>
              <a:rPr lang="en-GB" dirty="0"/>
              <a:t>Hardware &amp; Software</a:t>
            </a:r>
          </a:p>
          <a:p>
            <a:endParaRPr lang="en-GB" dirty="0"/>
          </a:p>
        </p:txBody>
      </p:sp>
    </p:spTree>
    <p:extLst>
      <p:ext uri="{BB962C8B-B14F-4D97-AF65-F5344CB8AC3E}">
        <p14:creationId xmlns:p14="http://schemas.microsoft.com/office/powerpoint/2010/main" val="3628710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054B0-6C58-AB3E-DB7E-B0A21473F726}"/>
              </a:ext>
            </a:extLst>
          </p:cNvPr>
          <p:cNvSpPr>
            <a:spLocks noGrp="1"/>
          </p:cNvSpPr>
          <p:nvPr>
            <p:ph type="title"/>
          </p:nvPr>
        </p:nvSpPr>
        <p:spPr/>
        <p:txBody>
          <a:bodyPr/>
          <a:lstStyle/>
          <a:p>
            <a:r>
              <a:rPr lang="en-GB" dirty="0"/>
              <a:t>Building Blocks of Computers</a:t>
            </a:r>
          </a:p>
        </p:txBody>
      </p:sp>
      <p:sp>
        <p:nvSpPr>
          <p:cNvPr id="4" name="Text Placeholder 3">
            <a:extLst>
              <a:ext uri="{FF2B5EF4-FFF2-40B4-BE49-F238E27FC236}">
                <a16:creationId xmlns:a16="http://schemas.microsoft.com/office/drawing/2014/main" id="{D91D98E2-49C8-8743-7EB2-13480E848E29}"/>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95566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CA618-1A53-61BF-F7FF-8C2E27F8A88D}"/>
              </a:ext>
            </a:extLst>
          </p:cNvPr>
          <p:cNvSpPr>
            <a:spLocks noGrp="1"/>
          </p:cNvSpPr>
          <p:nvPr>
            <p:ph type="title"/>
          </p:nvPr>
        </p:nvSpPr>
        <p:spPr/>
        <p:txBody>
          <a:bodyPr/>
          <a:lstStyle/>
          <a:p>
            <a:r>
              <a:rPr lang="en-GB" dirty="0"/>
              <a:t>Computer Building Blocks</a:t>
            </a:r>
          </a:p>
        </p:txBody>
      </p:sp>
      <p:sp>
        <p:nvSpPr>
          <p:cNvPr id="3" name="Content Placeholder 2">
            <a:extLst>
              <a:ext uri="{FF2B5EF4-FFF2-40B4-BE49-F238E27FC236}">
                <a16:creationId xmlns:a16="http://schemas.microsoft.com/office/drawing/2014/main" id="{C19B2E61-85B2-8D76-6021-D3D32983FF1D}"/>
              </a:ext>
            </a:extLst>
          </p:cNvPr>
          <p:cNvSpPr>
            <a:spLocks noGrp="1"/>
          </p:cNvSpPr>
          <p:nvPr>
            <p:ph idx="1"/>
          </p:nvPr>
        </p:nvSpPr>
        <p:spPr>
          <a:xfrm>
            <a:off x="838199" y="1825625"/>
            <a:ext cx="3659373" cy="4351338"/>
          </a:xfrm>
        </p:spPr>
        <p:txBody>
          <a:bodyPr>
            <a:normAutofit fontScale="70000" lnSpcReduction="20000"/>
          </a:bodyPr>
          <a:lstStyle/>
          <a:p>
            <a:r>
              <a:rPr lang="en-GB" dirty="0"/>
              <a:t>Logic Gates</a:t>
            </a:r>
          </a:p>
          <a:p>
            <a:pPr lvl="1"/>
            <a:r>
              <a:rPr lang="en-GB" dirty="0"/>
              <a:t>implements a simple Boolean or logical function</a:t>
            </a:r>
          </a:p>
          <a:p>
            <a:pPr lvl="1"/>
            <a:r>
              <a:rPr lang="en-GB" dirty="0"/>
              <a:t>For example, an AND gate with inputs A  and B  and output C  implements the expression IF A  AND B  ARE TRUE THEN C  IS TRUE. </a:t>
            </a:r>
          </a:p>
          <a:p>
            <a:pPr lvl="1"/>
            <a:r>
              <a:rPr lang="en-GB" dirty="0"/>
              <a:t>Controls data flow like canal gate controls water flow</a:t>
            </a:r>
          </a:p>
          <a:p>
            <a:r>
              <a:rPr lang="en-GB" dirty="0"/>
              <a:t>Memory Cell</a:t>
            </a:r>
          </a:p>
          <a:p>
            <a:pPr lvl="1"/>
            <a:r>
              <a:rPr lang="en-GB" dirty="0"/>
              <a:t>store one bit of data</a:t>
            </a:r>
          </a:p>
          <a:p>
            <a:pPr lvl="1"/>
            <a:r>
              <a:rPr lang="en-GB" dirty="0"/>
              <a:t>can be in one of two stable states at any time</a:t>
            </a:r>
          </a:p>
          <a:p>
            <a:r>
              <a:rPr lang="en-GB" dirty="0"/>
              <a:t>By interconnecting large numbers of these fundamental devices, we can construct a computer.</a:t>
            </a:r>
          </a:p>
          <a:p>
            <a:endParaRPr lang="en-GB" dirty="0"/>
          </a:p>
        </p:txBody>
      </p:sp>
      <p:pic>
        <p:nvPicPr>
          <p:cNvPr id="4" name="Picture 3" descr="The gate for the Boolean logic function has many inputs and one output, as well as a control signal input, which is labeled Activate signal. The binary cell has one input and one output. It also has two control inputs, labeled Read and Write." title="Two diagrams are presented. One represents a gate comprised of a Boolean logic function and one represents a binary storage cell.">
            <a:extLst>
              <a:ext uri="{FF2B5EF4-FFF2-40B4-BE49-F238E27FC236}">
                <a16:creationId xmlns:a16="http://schemas.microsoft.com/office/drawing/2014/main" id="{FDED8108-0AB2-822A-DD60-0086658AB511}"/>
              </a:ext>
            </a:extLst>
          </p:cNvPr>
          <p:cNvPicPr>
            <a:picLocks noChangeAspect="1"/>
          </p:cNvPicPr>
          <p:nvPr/>
        </p:nvPicPr>
        <p:blipFill rotWithShape="1">
          <a:blip r:embed="rId2">
            <a:extLst>
              <a:ext uri="{28A0092B-C50C-407E-A947-70E740481C1C}">
                <a14:useLocalDpi xmlns:a14="http://schemas.microsoft.com/office/drawing/2010/main" val="0"/>
              </a:ext>
            </a:extLst>
          </a:blip>
          <a:srcRect t="27951" b="31100"/>
          <a:stretch/>
        </p:blipFill>
        <p:spPr>
          <a:xfrm>
            <a:off x="4145948" y="2190306"/>
            <a:ext cx="7938492" cy="4206875"/>
          </a:xfrm>
          <a:prstGeom prst="rect">
            <a:avLst/>
          </a:prstGeom>
        </p:spPr>
      </p:pic>
    </p:spTree>
    <p:extLst>
      <p:ext uri="{BB962C8B-B14F-4D97-AF65-F5344CB8AC3E}">
        <p14:creationId xmlns:p14="http://schemas.microsoft.com/office/powerpoint/2010/main" val="3893516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DC727-3018-76BC-2F49-F220DA1D9D32}"/>
              </a:ext>
            </a:extLst>
          </p:cNvPr>
          <p:cNvSpPr>
            <a:spLocks noGrp="1"/>
          </p:cNvSpPr>
          <p:nvPr>
            <p:ph type="title"/>
          </p:nvPr>
        </p:nvSpPr>
        <p:spPr/>
        <p:txBody>
          <a:bodyPr/>
          <a:lstStyle/>
          <a:p>
            <a:r>
              <a:rPr lang="en-GB" dirty="0"/>
              <a:t>Function &amp; Structure</a:t>
            </a:r>
          </a:p>
        </p:txBody>
      </p:sp>
      <p:sp>
        <p:nvSpPr>
          <p:cNvPr id="3" name="Content Placeholder 2">
            <a:extLst>
              <a:ext uri="{FF2B5EF4-FFF2-40B4-BE49-F238E27FC236}">
                <a16:creationId xmlns:a16="http://schemas.microsoft.com/office/drawing/2014/main" id="{C1A14143-F32F-6F9B-783E-8FF334E50337}"/>
              </a:ext>
            </a:extLst>
          </p:cNvPr>
          <p:cNvSpPr>
            <a:spLocks noGrp="1"/>
          </p:cNvSpPr>
          <p:nvPr>
            <p:ph idx="1"/>
          </p:nvPr>
        </p:nvSpPr>
        <p:spPr/>
        <p:txBody>
          <a:bodyPr>
            <a:normAutofit fontScale="92500" lnSpcReduction="10000"/>
          </a:bodyPr>
          <a:lstStyle/>
          <a:p>
            <a:pPr marL="350838" indent="-249238"/>
            <a:r>
              <a:rPr lang="en-US" dirty="0"/>
              <a:t>Data storage – provided by memory cells</a:t>
            </a:r>
          </a:p>
          <a:p>
            <a:pPr marL="350838" indent="-249238"/>
            <a:r>
              <a:rPr lang="en-US" dirty="0"/>
              <a:t>Data processing – provided by gates</a:t>
            </a:r>
          </a:p>
          <a:p>
            <a:pPr marL="350838" indent="-249238"/>
            <a:r>
              <a:rPr lang="en-US" dirty="0"/>
              <a:t>Data movement – the paths among components are used to move data from memory to memory and from memory through gates to memory</a:t>
            </a:r>
          </a:p>
          <a:p>
            <a:pPr marL="350838" indent="-249238"/>
            <a:r>
              <a:rPr lang="en-US" dirty="0"/>
              <a:t>Control – the paths among components can carry control signals</a:t>
            </a:r>
          </a:p>
          <a:p>
            <a:pPr marL="808038" lvl="1" indent="-249238"/>
            <a:r>
              <a:rPr lang="en-GB" dirty="0"/>
              <a:t>Gate has two data inputs plus a control signal input that activates the gate.</a:t>
            </a:r>
          </a:p>
          <a:p>
            <a:pPr marL="808038" lvl="1" indent="-249238"/>
            <a:r>
              <a:rPr lang="en-GB" dirty="0"/>
              <a:t>When the control signal is ON, the gate performs its function on the data inputs and produces a data output. </a:t>
            </a:r>
          </a:p>
          <a:p>
            <a:pPr marL="808038" lvl="1" indent="-249238"/>
            <a:r>
              <a:rPr lang="en-GB" dirty="0"/>
              <a:t>Conversely, when the control signal is OFF, no output produced</a:t>
            </a:r>
          </a:p>
          <a:p>
            <a:pPr marL="808038" lvl="1" indent="-249238"/>
            <a:r>
              <a:rPr lang="en-GB" dirty="0"/>
              <a:t>Memory cell stores the bit that is on input lead when the WRITE control signal is ON</a:t>
            </a:r>
          </a:p>
          <a:p>
            <a:pPr marL="808038" lvl="1" indent="-249238"/>
            <a:r>
              <a:rPr lang="en-GB" dirty="0"/>
              <a:t>Sends bit on output lead that is in the cell READ control signal is ON.</a:t>
            </a:r>
          </a:p>
          <a:p>
            <a:pPr marL="808038" lvl="1" indent="-249238"/>
            <a:endParaRPr lang="en-US" dirty="0"/>
          </a:p>
          <a:p>
            <a:pPr marL="0" indent="0">
              <a:buNone/>
            </a:pPr>
            <a:endParaRPr lang="en-GB" dirty="0"/>
          </a:p>
        </p:txBody>
      </p:sp>
    </p:spTree>
    <p:extLst>
      <p:ext uri="{BB962C8B-B14F-4D97-AF65-F5344CB8AC3E}">
        <p14:creationId xmlns:p14="http://schemas.microsoft.com/office/powerpoint/2010/main" val="1141488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3DD90-9F4A-0256-50BA-CCBD159F67D5}"/>
              </a:ext>
            </a:extLst>
          </p:cNvPr>
          <p:cNvSpPr>
            <a:spLocks noGrp="1"/>
          </p:cNvSpPr>
          <p:nvPr>
            <p:ph type="title"/>
          </p:nvPr>
        </p:nvSpPr>
        <p:spPr/>
        <p:txBody>
          <a:bodyPr/>
          <a:lstStyle/>
          <a:p>
            <a:r>
              <a:rPr lang="en-GB" dirty="0"/>
              <a:t>Transistors</a:t>
            </a:r>
          </a:p>
        </p:txBody>
      </p:sp>
      <p:sp>
        <p:nvSpPr>
          <p:cNvPr id="3" name="Content Placeholder 2">
            <a:extLst>
              <a:ext uri="{FF2B5EF4-FFF2-40B4-BE49-F238E27FC236}">
                <a16:creationId xmlns:a16="http://schemas.microsoft.com/office/drawing/2014/main" id="{FC648FD6-CF91-B1ED-3B22-0C47E4F42B46}"/>
              </a:ext>
            </a:extLst>
          </p:cNvPr>
          <p:cNvSpPr>
            <a:spLocks noGrp="1"/>
          </p:cNvSpPr>
          <p:nvPr>
            <p:ph sz="half" idx="1"/>
          </p:nvPr>
        </p:nvSpPr>
        <p:spPr/>
        <p:txBody>
          <a:bodyPr>
            <a:normAutofit fontScale="62500" lnSpcReduction="20000"/>
          </a:bodyPr>
          <a:lstStyle/>
          <a:p>
            <a:r>
              <a:rPr lang="en-GB" sz="2900" dirty="0"/>
              <a:t>The fundamental building block of gates and memory cells</a:t>
            </a:r>
          </a:p>
          <a:p>
            <a:pPr lvl="1"/>
            <a:r>
              <a:rPr lang="en-GB" sz="2500" dirty="0"/>
              <a:t>Wired together</a:t>
            </a:r>
          </a:p>
          <a:p>
            <a:r>
              <a:rPr lang="en-GB" sz="2900" dirty="0"/>
              <a:t>Semiconductor</a:t>
            </a:r>
          </a:p>
          <a:p>
            <a:pPr lvl="1"/>
            <a:r>
              <a:rPr lang="en-GB" sz="2500" dirty="0"/>
              <a:t>In its normal state the material may be nonconductive or conductive</a:t>
            </a:r>
          </a:p>
          <a:p>
            <a:r>
              <a:rPr lang="en-GB" sz="2900" dirty="0"/>
              <a:t>Changes state when voltage is applied to the gate</a:t>
            </a:r>
          </a:p>
          <a:p>
            <a:r>
              <a:rPr lang="en-GB" sz="2900" dirty="0"/>
              <a:t>Discrete component</a:t>
            </a:r>
          </a:p>
          <a:p>
            <a:pPr lvl="1"/>
            <a:r>
              <a:rPr lang="en-GB" sz="2500" dirty="0"/>
              <a:t>A single, self-contained transistor</a:t>
            </a:r>
          </a:p>
          <a:p>
            <a:pPr lvl="1"/>
            <a:r>
              <a:rPr lang="en-GB" sz="2500" dirty="0"/>
              <a:t>Were manufactured separately, packaged in their own containers, and soldered or wired together onto circuit boards</a:t>
            </a:r>
          </a:p>
          <a:p>
            <a:r>
              <a:rPr lang="en-GB" sz="2900" dirty="0"/>
              <a:t>History</a:t>
            </a:r>
          </a:p>
          <a:p>
            <a:pPr lvl="1"/>
            <a:r>
              <a:rPr lang="en-GB" sz="2500" dirty="0"/>
              <a:t>Proposed in 1926</a:t>
            </a:r>
          </a:p>
          <a:p>
            <a:pPr lvl="1"/>
            <a:r>
              <a:rPr lang="en-GB" sz="2500" dirty="0"/>
              <a:t>First manufactured in 1947</a:t>
            </a:r>
          </a:p>
          <a:p>
            <a:pPr lvl="1"/>
            <a:r>
              <a:rPr lang="en-GB" sz="2500" dirty="0"/>
              <a:t>First metal oxide semiconductor transistor in 1960</a:t>
            </a:r>
          </a:p>
          <a:p>
            <a:endParaRPr lang="en-GB" dirty="0"/>
          </a:p>
        </p:txBody>
      </p:sp>
      <p:pic>
        <p:nvPicPr>
          <p:cNvPr id="4100" name="Picture 4" descr="STMicroelectronics BDW93C">
            <a:extLst>
              <a:ext uri="{FF2B5EF4-FFF2-40B4-BE49-F238E27FC236}">
                <a16:creationId xmlns:a16="http://schemas.microsoft.com/office/drawing/2014/main" id="{5309E9FD-6CDB-63B3-D8DD-D88E120B02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88818" y="4335314"/>
            <a:ext cx="2218660" cy="166399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803B8CCC-5016-B59A-DCF8-525D0440FE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8554" y="1825625"/>
            <a:ext cx="2374235" cy="2374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603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E0174-E981-C7C3-0889-108F51541EE3}"/>
              </a:ext>
            </a:extLst>
          </p:cNvPr>
          <p:cNvSpPr>
            <a:spLocks noGrp="1"/>
          </p:cNvSpPr>
          <p:nvPr>
            <p:ph type="title"/>
          </p:nvPr>
        </p:nvSpPr>
        <p:spPr/>
        <p:txBody>
          <a:bodyPr/>
          <a:lstStyle/>
          <a:p>
            <a:r>
              <a:rPr lang="en-GB" dirty="0"/>
              <a:t>Integrated Circuit</a:t>
            </a:r>
          </a:p>
        </p:txBody>
      </p:sp>
      <p:sp>
        <p:nvSpPr>
          <p:cNvPr id="5" name="Content Placeholder 4">
            <a:extLst>
              <a:ext uri="{FF2B5EF4-FFF2-40B4-BE49-F238E27FC236}">
                <a16:creationId xmlns:a16="http://schemas.microsoft.com/office/drawing/2014/main" id="{82C909E4-2242-83D1-DFAF-516B1BF6B06A}"/>
              </a:ext>
            </a:extLst>
          </p:cNvPr>
          <p:cNvSpPr>
            <a:spLocks noGrp="1"/>
          </p:cNvSpPr>
          <p:nvPr>
            <p:ph idx="1"/>
          </p:nvPr>
        </p:nvSpPr>
        <p:spPr/>
        <p:txBody>
          <a:bodyPr>
            <a:normAutofit/>
          </a:bodyPr>
          <a:lstStyle/>
          <a:p>
            <a:r>
              <a:rPr lang="en-GB" dirty="0"/>
              <a:t>Transistors had to be soldered to circuit board</a:t>
            </a:r>
          </a:p>
          <a:p>
            <a:pPr lvl="1"/>
            <a:r>
              <a:rPr lang="en-GB" dirty="0"/>
              <a:t>Expensive and cumbersome to manufacture</a:t>
            </a:r>
          </a:p>
          <a:p>
            <a:r>
              <a:rPr lang="en-GB" dirty="0"/>
              <a:t>Created problem for computer industry.</a:t>
            </a:r>
          </a:p>
          <a:p>
            <a:pPr lvl="1"/>
            <a:r>
              <a:rPr lang="en-GB" dirty="0"/>
              <a:t>Early second-generation computers contained about 10,000 transistors.</a:t>
            </a:r>
          </a:p>
          <a:p>
            <a:pPr lvl="1"/>
            <a:r>
              <a:rPr lang="en-GB" dirty="0"/>
              <a:t>This figure grew to the hundreds of thousands, making the manufacture of newer, more powerful machines increasingly difficult.</a:t>
            </a:r>
          </a:p>
          <a:p>
            <a:r>
              <a:rPr lang="en-GB" dirty="0"/>
              <a:t>Integrated circuits developed to counter this</a:t>
            </a:r>
          </a:p>
          <a:p>
            <a:pPr lvl="1"/>
            <a:r>
              <a:rPr lang="en-GB" dirty="0"/>
              <a:t>Miniaturisation</a:t>
            </a:r>
          </a:p>
          <a:p>
            <a:pPr lvl="1"/>
            <a:r>
              <a:rPr lang="en-GB" dirty="0"/>
              <a:t>Lots of transistors and connections between them on a tiny sliver of silicon</a:t>
            </a:r>
          </a:p>
          <a:p>
            <a:pPr lvl="1"/>
            <a:r>
              <a:rPr lang="en-GB" dirty="0"/>
              <a:t>First IC produced in 1958 by Jack Kilby at Texas Instruments</a:t>
            </a:r>
          </a:p>
          <a:p>
            <a:pPr lvl="1"/>
            <a:endParaRPr lang="en-GB" dirty="0"/>
          </a:p>
        </p:txBody>
      </p:sp>
    </p:spTree>
    <p:extLst>
      <p:ext uri="{BB962C8B-B14F-4D97-AF65-F5344CB8AC3E}">
        <p14:creationId xmlns:p14="http://schemas.microsoft.com/office/powerpoint/2010/main" val="1658326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7D72E-CF2D-3430-0195-0DD303DDA843}"/>
              </a:ext>
            </a:extLst>
          </p:cNvPr>
          <p:cNvSpPr>
            <a:spLocks noGrp="1"/>
          </p:cNvSpPr>
          <p:nvPr>
            <p:ph type="title"/>
          </p:nvPr>
        </p:nvSpPr>
        <p:spPr/>
        <p:txBody>
          <a:bodyPr/>
          <a:lstStyle/>
          <a:p>
            <a:r>
              <a:rPr lang="en-GB" dirty="0"/>
              <a:t>Integrated Circuit</a:t>
            </a:r>
          </a:p>
        </p:txBody>
      </p:sp>
      <p:sp>
        <p:nvSpPr>
          <p:cNvPr id="3" name="Content Placeholder 2">
            <a:extLst>
              <a:ext uri="{FF2B5EF4-FFF2-40B4-BE49-F238E27FC236}">
                <a16:creationId xmlns:a16="http://schemas.microsoft.com/office/drawing/2014/main" id="{24ECE7A1-CA1B-7D01-5DAF-8ADF547C68FB}"/>
              </a:ext>
            </a:extLst>
          </p:cNvPr>
          <p:cNvSpPr>
            <a:spLocks noGrp="1"/>
          </p:cNvSpPr>
          <p:nvPr>
            <p:ph sz="half" idx="1"/>
          </p:nvPr>
        </p:nvSpPr>
        <p:spPr/>
        <p:txBody>
          <a:bodyPr>
            <a:normAutofit fontScale="85000" lnSpcReduction="10000"/>
          </a:bodyPr>
          <a:lstStyle/>
          <a:p>
            <a:r>
              <a:rPr lang="en-GB" dirty="0"/>
              <a:t>Wafer of silicon is divided into a matrix of small areas, each a few </a:t>
            </a:r>
            <a:r>
              <a:rPr lang="en-GB" dirty="0" err="1"/>
              <a:t>millimeters</a:t>
            </a:r>
            <a:r>
              <a:rPr lang="en-GB" dirty="0"/>
              <a:t> square.</a:t>
            </a:r>
          </a:p>
          <a:p>
            <a:r>
              <a:rPr lang="en-GB" dirty="0"/>
              <a:t>Each chip consists of many gates and/or memory cells plus a number of input and output attachment points.</a:t>
            </a:r>
          </a:p>
          <a:p>
            <a:r>
              <a:rPr lang="en-GB" dirty="0"/>
              <a:t>This chip is then packaged in housing that protects it and provides pins for attachment to devices beyond the chip.</a:t>
            </a:r>
          </a:p>
          <a:p>
            <a:r>
              <a:rPr lang="en-GB" dirty="0"/>
              <a:t>Packages can then be interconnected on a printed circuit board to produce larger and more complex circuits</a:t>
            </a:r>
          </a:p>
        </p:txBody>
      </p:sp>
      <p:pic>
        <p:nvPicPr>
          <p:cNvPr id="5" name="Content Placeholder 4" descr="The wafer is divided into small millimeter-sized squares called chips. Each chip has several gates which are grouped together as a packaged chip." title="A diagram explains the relationship between a wafer, a chip, a gate, and a packaged chip.">
            <a:extLst>
              <a:ext uri="{FF2B5EF4-FFF2-40B4-BE49-F238E27FC236}">
                <a16:creationId xmlns:a16="http://schemas.microsoft.com/office/drawing/2014/main" id="{390FDFA4-40FB-23AA-6987-FF2A9026F085}"/>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t="27951" b="13250"/>
          <a:stretch/>
        </p:blipFill>
        <p:spPr>
          <a:xfrm>
            <a:off x="6019800" y="1856764"/>
            <a:ext cx="6172200" cy="4696600"/>
          </a:xfrm>
          <a:prstGeom prst="rect">
            <a:avLst/>
          </a:prstGeom>
        </p:spPr>
      </p:pic>
    </p:spTree>
    <p:extLst>
      <p:ext uri="{BB962C8B-B14F-4D97-AF65-F5344CB8AC3E}">
        <p14:creationId xmlns:p14="http://schemas.microsoft.com/office/powerpoint/2010/main" val="2642947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A0B340F-B2CA-EE2B-C121-D46DA5965C34}"/>
              </a:ext>
            </a:extLst>
          </p:cNvPr>
          <p:cNvSpPr>
            <a:spLocks noGrp="1"/>
          </p:cNvSpPr>
          <p:nvPr>
            <p:ph type="title"/>
          </p:nvPr>
        </p:nvSpPr>
        <p:spPr/>
        <p:txBody>
          <a:bodyPr/>
          <a:lstStyle/>
          <a:p>
            <a:r>
              <a:rPr lang="en-GB" dirty="0"/>
              <a:t>Integrated Circuit</a:t>
            </a:r>
          </a:p>
        </p:txBody>
      </p:sp>
      <p:pic>
        <p:nvPicPr>
          <p:cNvPr id="7" name="Content Placeholder 6" title="Two photos of computer chips. One is of a packaged processor chip, and the other is of a memory chip on a Motherboard.">
            <a:extLst>
              <a:ext uri="{FF2B5EF4-FFF2-40B4-BE49-F238E27FC236}">
                <a16:creationId xmlns:a16="http://schemas.microsoft.com/office/drawing/2014/main" id="{C077F576-2D75-4E20-430E-05F4E5382834}"/>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18500" b="36350"/>
          <a:stretch/>
        </p:blipFill>
        <p:spPr>
          <a:xfrm>
            <a:off x="2372414" y="1825625"/>
            <a:ext cx="7447171" cy="4351338"/>
          </a:xfrm>
          <a:prstGeom prst="rect">
            <a:avLst/>
          </a:prstGeom>
        </p:spPr>
      </p:pic>
    </p:spTree>
    <p:extLst>
      <p:ext uri="{BB962C8B-B14F-4D97-AF65-F5344CB8AC3E}">
        <p14:creationId xmlns:p14="http://schemas.microsoft.com/office/powerpoint/2010/main" val="3644662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he graph shows data from 1947 to 2011. The years are represented along the x axis in intervals of 5. The y axis is marked with the following values 1, 10, 100, 1000, 10000, 100000, 10 million, 100 million, 1 billion, 10 billion, and 100 billion. The curve starts from the point, 1947, 1, and shows a gradual increase with slight deviations forming a slanting line to that terminates at the point, 2011, ten billion. Three lines parallel to x and y axes are drawn in to indicate the introduction of the first working transistor in 1947, the invention of the integrated circuit in 1958, and the promulgation of Moore’s law in 1965." title="A graph depicts an increase in the number of transistor chips able to be placed on a single chip over many years.">
            <a:extLst>
              <a:ext uri="{FF2B5EF4-FFF2-40B4-BE49-F238E27FC236}">
                <a16:creationId xmlns:a16="http://schemas.microsoft.com/office/drawing/2014/main" id="{D7DD3DDE-D0D7-48D6-6837-85730E0A534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21651" b="20601"/>
          <a:stretch/>
        </p:blipFill>
        <p:spPr>
          <a:xfrm>
            <a:off x="1507649" y="0"/>
            <a:ext cx="9176703" cy="6858000"/>
          </a:xfrm>
          <a:prstGeom prst="rect">
            <a:avLst/>
          </a:prstGeom>
        </p:spPr>
      </p:pic>
    </p:spTree>
    <p:extLst>
      <p:ext uri="{BB962C8B-B14F-4D97-AF65-F5344CB8AC3E}">
        <p14:creationId xmlns:p14="http://schemas.microsoft.com/office/powerpoint/2010/main" val="2496957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F194-1B90-7412-FFB5-2758CB804909}"/>
              </a:ext>
            </a:extLst>
          </p:cNvPr>
          <p:cNvSpPr>
            <a:spLocks noGrp="1"/>
          </p:cNvSpPr>
          <p:nvPr>
            <p:ph type="title"/>
          </p:nvPr>
        </p:nvSpPr>
        <p:spPr/>
        <p:txBody>
          <a:bodyPr/>
          <a:lstStyle/>
          <a:p>
            <a:r>
              <a:rPr lang="en-GB" dirty="0"/>
              <a:t>Moore’s Law</a:t>
            </a:r>
          </a:p>
        </p:txBody>
      </p:sp>
      <p:sp>
        <p:nvSpPr>
          <p:cNvPr id="3" name="Content Placeholder 2">
            <a:extLst>
              <a:ext uri="{FF2B5EF4-FFF2-40B4-BE49-F238E27FC236}">
                <a16:creationId xmlns:a16="http://schemas.microsoft.com/office/drawing/2014/main" id="{D328F3C6-CB1C-F275-D7E4-83C5F0EAB0C5}"/>
              </a:ext>
            </a:extLst>
          </p:cNvPr>
          <p:cNvSpPr>
            <a:spLocks noGrp="1"/>
          </p:cNvSpPr>
          <p:nvPr>
            <p:ph idx="1"/>
          </p:nvPr>
        </p:nvSpPr>
        <p:spPr/>
        <p:txBody>
          <a:bodyPr>
            <a:normAutofit fontScale="92500"/>
          </a:bodyPr>
          <a:lstStyle/>
          <a:p>
            <a:r>
              <a:rPr lang="en-GB" dirty="0"/>
              <a:t>1965; Gordon Moore – co-founder of Intel</a:t>
            </a:r>
          </a:p>
          <a:p>
            <a:r>
              <a:rPr lang="en-GB" dirty="0"/>
              <a:t>Observed number of transistors that could be put on a single chip was doubling every year</a:t>
            </a:r>
          </a:p>
          <a:p>
            <a:pPr lvl="1"/>
            <a:r>
              <a:rPr lang="en-GB" dirty="0"/>
              <a:t>The pace slowed to a doubling every 18 months in the 1970’s but has sustained that rate ever since</a:t>
            </a:r>
          </a:p>
          <a:p>
            <a:r>
              <a:rPr lang="en-GB" dirty="0"/>
              <a:t>Consequences of Moore’s law: </a:t>
            </a:r>
          </a:p>
          <a:p>
            <a:pPr lvl="1"/>
            <a:r>
              <a:rPr lang="en-GB" dirty="0"/>
              <a:t>The cost of computer logic and memory circuitry has fallen at a dramatic rate</a:t>
            </a:r>
          </a:p>
          <a:p>
            <a:pPr lvl="1"/>
            <a:r>
              <a:rPr lang="en-GB" dirty="0"/>
              <a:t>The electrical path length is shortened, increasing operating speed</a:t>
            </a:r>
          </a:p>
          <a:p>
            <a:pPr lvl="1"/>
            <a:r>
              <a:rPr lang="en-GB" dirty="0"/>
              <a:t>Computer becomes smaller, more convenient to use in a variety of environments</a:t>
            </a:r>
          </a:p>
          <a:p>
            <a:pPr lvl="1"/>
            <a:r>
              <a:rPr lang="en-GB" dirty="0"/>
              <a:t>Reduction in power and cooling requirements</a:t>
            </a:r>
          </a:p>
          <a:p>
            <a:pPr lvl="1"/>
            <a:r>
              <a:rPr lang="en-GB" dirty="0"/>
              <a:t>Fewer inter-chip connections</a:t>
            </a:r>
          </a:p>
          <a:p>
            <a:endParaRPr lang="en-GB" dirty="0"/>
          </a:p>
        </p:txBody>
      </p:sp>
    </p:spTree>
    <p:extLst>
      <p:ext uri="{BB962C8B-B14F-4D97-AF65-F5344CB8AC3E}">
        <p14:creationId xmlns:p14="http://schemas.microsoft.com/office/powerpoint/2010/main" val="4060731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C6F43-3DFF-AA69-4AC0-E15DEB233244}"/>
              </a:ext>
            </a:extLst>
          </p:cNvPr>
          <p:cNvSpPr>
            <a:spLocks noGrp="1"/>
          </p:cNvSpPr>
          <p:nvPr>
            <p:ph type="title"/>
          </p:nvPr>
        </p:nvSpPr>
        <p:spPr/>
        <p:txBody>
          <a:bodyPr/>
          <a:lstStyle/>
          <a:p>
            <a:r>
              <a:rPr lang="en-GB" dirty="0"/>
              <a:t>Break</a:t>
            </a:r>
          </a:p>
        </p:txBody>
      </p:sp>
      <p:sp>
        <p:nvSpPr>
          <p:cNvPr id="3" name="Content Placeholder 2">
            <a:extLst>
              <a:ext uri="{FF2B5EF4-FFF2-40B4-BE49-F238E27FC236}">
                <a16:creationId xmlns:a16="http://schemas.microsoft.com/office/drawing/2014/main" id="{F63DADCE-CF28-2F03-48B2-BB0C0FB7DC11}"/>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629399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A35C5-5D1D-8EC0-8304-CCAC2BDE50B9}"/>
              </a:ext>
            </a:extLst>
          </p:cNvPr>
          <p:cNvSpPr>
            <a:spLocks noGrp="1"/>
          </p:cNvSpPr>
          <p:nvPr>
            <p:ph type="title"/>
          </p:nvPr>
        </p:nvSpPr>
        <p:spPr/>
        <p:txBody>
          <a:bodyPr/>
          <a:lstStyle/>
          <a:p>
            <a:r>
              <a:rPr lang="en-GB" dirty="0"/>
              <a:t>Mainframe Computers</a:t>
            </a:r>
          </a:p>
        </p:txBody>
      </p:sp>
      <p:sp>
        <p:nvSpPr>
          <p:cNvPr id="4" name="Content Placeholder 3">
            <a:extLst>
              <a:ext uri="{FF2B5EF4-FFF2-40B4-BE49-F238E27FC236}">
                <a16:creationId xmlns:a16="http://schemas.microsoft.com/office/drawing/2014/main" id="{CB2BAE2F-3256-AA86-E837-20DD582B7C7F}"/>
              </a:ext>
            </a:extLst>
          </p:cNvPr>
          <p:cNvSpPr>
            <a:spLocks noGrp="1"/>
          </p:cNvSpPr>
          <p:nvPr>
            <p:ph sz="half" idx="1"/>
          </p:nvPr>
        </p:nvSpPr>
        <p:spPr>
          <a:xfrm>
            <a:off x="838199" y="1825625"/>
            <a:ext cx="10057147" cy="1856038"/>
          </a:xfrm>
        </p:spPr>
        <p:txBody>
          <a:bodyPr>
            <a:normAutofit lnSpcReduction="10000"/>
          </a:bodyPr>
          <a:lstStyle/>
          <a:p>
            <a:r>
              <a:rPr lang="en-GB" dirty="0"/>
              <a:t>First commercial computers of 1950s and 1960s</a:t>
            </a:r>
          </a:p>
          <a:p>
            <a:r>
              <a:rPr lang="en-GB" dirty="0"/>
              <a:t>Components typically filled entire room</a:t>
            </a:r>
          </a:p>
          <a:p>
            <a:r>
              <a:rPr lang="en-GB" dirty="0"/>
              <a:t>IBM System/360 popular mainframe</a:t>
            </a:r>
          </a:p>
          <a:p>
            <a:pPr lvl="1"/>
            <a:r>
              <a:rPr lang="en-GB" dirty="0"/>
              <a:t>See below</a:t>
            </a:r>
          </a:p>
        </p:txBody>
      </p:sp>
      <p:pic>
        <p:nvPicPr>
          <p:cNvPr id="5122" name="Picture 2" descr="A woman sits at the printer of the System/360 Model 65 mainframe in front of the large CPU with the control console on front.">
            <a:extLst>
              <a:ext uri="{FF2B5EF4-FFF2-40B4-BE49-F238E27FC236}">
                <a16:creationId xmlns:a16="http://schemas.microsoft.com/office/drawing/2014/main" id="{381D6BB1-42EA-8F4C-EF4F-D4C0AE66EA9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296653" y="3816600"/>
            <a:ext cx="3368842" cy="264093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1B8F4137-CD2E-34B1-23FD-4C07BC3411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0346" y="3848199"/>
            <a:ext cx="3905000" cy="260933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976482E-9232-9470-B067-FE06D783605C}"/>
              </a:ext>
            </a:extLst>
          </p:cNvPr>
          <p:cNvSpPr txBox="1"/>
          <p:nvPr/>
        </p:nvSpPr>
        <p:spPr>
          <a:xfrm>
            <a:off x="7170821" y="3429000"/>
            <a:ext cx="3477126" cy="369332"/>
          </a:xfrm>
          <a:prstGeom prst="rect">
            <a:avLst/>
          </a:prstGeom>
          <a:noFill/>
        </p:spPr>
        <p:txBody>
          <a:bodyPr wrap="square" rtlCol="0">
            <a:spAutoFit/>
          </a:bodyPr>
          <a:lstStyle/>
          <a:p>
            <a:r>
              <a:rPr lang="en-GB" dirty="0"/>
              <a:t>System 360 circuit boards in situ</a:t>
            </a:r>
          </a:p>
        </p:txBody>
      </p:sp>
    </p:spTree>
    <p:extLst>
      <p:ext uri="{BB962C8B-B14F-4D97-AF65-F5344CB8AC3E}">
        <p14:creationId xmlns:p14="http://schemas.microsoft.com/office/powerpoint/2010/main" val="2862396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81348-59FC-F900-D7EE-E2C3BCF23866}"/>
              </a:ext>
            </a:extLst>
          </p:cNvPr>
          <p:cNvSpPr>
            <a:spLocks noGrp="1"/>
          </p:cNvSpPr>
          <p:nvPr>
            <p:ph type="title"/>
          </p:nvPr>
        </p:nvSpPr>
        <p:spPr/>
        <p:txBody>
          <a:bodyPr/>
          <a:lstStyle/>
          <a:p>
            <a:r>
              <a:rPr lang="en-GB" dirty="0"/>
              <a:t>Minicomputers</a:t>
            </a:r>
          </a:p>
        </p:txBody>
      </p:sp>
      <p:sp>
        <p:nvSpPr>
          <p:cNvPr id="4" name="Content Placeholder 3">
            <a:extLst>
              <a:ext uri="{FF2B5EF4-FFF2-40B4-BE49-F238E27FC236}">
                <a16:creationId xmlns:a16="http://schemas.microsoft.com/office/drawing/2014/main" id="{216824FB-91CD-85EF-3891-0FEB00641EE8}"/>
              </a:ext>
            </a:extLst>
          </p:cNvPr>
          <p:cNvSpPr>
            <a:spLocks noGrp="1"/>
          </p:cNvSpPr>
          <p:nvPr>
            <p:ph sz="half" idx="1"/>
          </p:nvPr>
        </p:nvSpPr>
        <p:spPr/>
        <p:txBody>
          <a:bodyPr>
            <a:normAutofit fontScale="92500" lnSpcReduction="20000"/>
          </a:bodyPr>
          <a:lstStyle/>
          <a:p>
            <a:r>
              <a:rPr lang="en-GB" dirty="0"/>
              <a:t>ICs made computers faster, more powerful, smaller, and cheaper</a:t>
            </a:r>
          </a:p>
          <a:p>
            <a:r>
              <a:rPr lang="en-GB" dirty="0"/>
              <a:t>The next form factor was the minicomputer</a:t>
            </a:r>
          </a:p>
          <a:p>
            <a:pPr lvl="1"/>
            <a:r>
              <a:rPr lang="en-GB" dirty="0"/>
              <a:t>From mid 1960s</a:t>
            </a:r>
          </a:p>
          <a:p>
            <a:pPr lvl="1"/>
            <a:r>
              <a:rPr lang="en-GB" dirty="0"/>
              <a:t>Components all fit in a cabinet</a:t>
            </a:r>
          </a:p>
          <a:p>
            <a:pPr lvl="1"/>
            <a:r>
              <a:rPr lang="en-GB" dirty="0"/>
              <a:t>Defined in 1970 as costing less than $25,000</a:t>
            </a:r>
          </a:p>
          <a:p>
            <a:pPr lvl="1"/>
            <a:r>
              <a:rPr lang="en-GB" dirty="0"/>
              <a:t>PDP-8 was $16000, IBM System/360 mainframe was $100K+</a:t>
            </a:r>
          </a:p>
          <a:p>
            <a:r>
              <a:rPr lang="en-GB" dirty="0"/>
              <a:t>Digital Equipment Corporation (DEC) PDP and VAX series popular minicomputers</a:t>
            </a:r>
          </a:p>
        </p:txBody>
      </p:sp>
      <p:pic>
        <p:nvPicPr>
          <p:cNvPr id="6148" name="Picture 4">
            <a:extLst>
              <a:ext uri="{FF2B5EF4-FFF2-40B4-BE49-F238E27FC236}">
                <a16:creationId xmlns:a16="http://schemas.microsoft.com/office/drawing/2014/main" id="{CCEFB584-BE3D-DAB1-96A6-F25AAF58A76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8484782" y="1825625"/>
            <a:ext cx="3321345" cy="442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11C02F5-30BA-B50B-6608-47BF6A3AF3B3}"/>
              </a:ext>
            </a:extLst>
          </p:cNvPr>
          <p:cNvSpPr txBox="1"/>
          <p:nvPr/>
        </p:nvSpPr>
        <p:spPr>
          <a:xfrm>
            <a:off x="9916540" y="6308209"/>
            <a:ext cx="1052624" cy="369332"/>
          </a:xfrm>
          <a:prstGeom prst="rect">
            <a:avLst/>
          </a:prstGeom>
          <a:noFill/>
        </p:spPr>
        <p:txBody>
          <a:bodyPr wrap="square" rtlCol="0">
            <a:spAutoFit/>
          </a:bodyPr>
          <a:lstStyle/>
          <a:p>
            <a:r>
              <a:rPr lang="en-GB" dirty="0"/>
              <a:t>PDP-11</a:t>
            </a:r>
          </a:p>
        </p:txBody>
      </p:sp>
      <p:pic>
        <p:nvPicPr>
          <p:cNvPr id="2050" name="Picture 2">
            <a:extLst>
              <a:ext uri="{FF2B5EF4-FFF2-40B4-BE49-F238E27FC236}">
                <a16:creationId xmlns:a16="http://schemas.microsoft.com/office/drawing/2014/main" id="{30DBBA47-C25B-0545-5BA1-7829C827FE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9379" y="1855271"/>
            <a:ext cx="2530079" cy="44529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3CBF244-FDBB-9EB4-15B0-ABBBD39AC281}"/>
              </a:ext>
            </a:extLst>
          </p:cNvPr>
          <p:cNvSpPr txBox="1"/>
          <p:nvPr/>
        </p:nvSpPr>
        <p:spPr>
          <a:xfrm>
            <a:off x="6400336" y="6320241"/>
            <a:ext cx="1852863" cy="369332"/>
          </a:xfrm>
          <a:prstGeom prst="rect">
            <a:avLst/>
          </a:prstGeom>
          <a:noFill/>
        </p:spPr>
        <p:txBody>
          <a:bodyPr wrap="square" rtlCol="0">
            <a:spAutoFit/>
          </a:bodyPr>
          <a:lstStyle/>
          <a:p>
            <a:r>
              <a:rPr lang="en-GB" dirty="0"/>
              <a:t>Flip Chip Module</a:t>
            </a:r>
          </a:p>
        </p:txBody>
      </p:sp>
    </p:spTree>
    <p:extLst>
      <p:ext uri="{BB962C8B-B14F-4D97-AF65-F5344CB8AC3E}">
        <p14:creationId xmlns:p14="http://schemas.microsoft.com/office/powerpoint/2010/main" val="1985370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C7769-218B-9473-CE42-213B8F33CF26}"/>
              </a:ext>
            </a:extLst>
          </p:cNvPr>
          <p:cNvSpPr>
            <a:spLocks noGrp="1"/>
          </p:cNvSpPr>
          <p:nvPr>
            <p:ph type="title"/>
          </p:nvPr>
        </p:nvSpPr>
        <p:spPr/>
        <p:txBody>
          <a:bodyPr/>
          <a:lstStyle/>
          <a:p>
            <a:r>
              <a:rPr lang="en-GB" dirty="0"/>
              <a:t>System Bus</a:t>
            </a:r>
          </a:p>
        </p:txBody>
      </p:sp>
      <p:sp>
        <p:nvSpPr>
          <p:cNvPr id="3" name="Content Placeholder 2">
            <a:extLst>
              <a:ext uri="{FF2B5EF4-FFF2-40B4-BE49-F238E27FC236}">
                <a16:creationId xmlns:a16="http://schemas.microsoft.com/office/drawing/2014/main" id="{7559C5EB-05AD-CABA-995D-84D8D57A2B6B}"/>
              </a:ext>
            </a:extLst>
          </p:cNvPr>
          <p:cNvSpPr>
            <a:spLocks noGrp="1"/>
          </p:cNvSpPr>
          <p:nvPr>
            <p:ph sz="half" idx="1"/>
          </p:nvPr>
        </p:nvSpPr>
        <p:spPr/>
        <p:txBody>
          <a:bodyPr>
            <a:normAutofit fontScale="92500" lnSpcReduction="10000"/>
          </a:bodyPr>
          <a:lstStyle/>
          <a:p>
            <a:r>
              <a:rPr lang="en-GB" dirty="0"/>
              <a:t>At this time, the system bus evolved</a:t>
            </a:r>
          </a:p>
          <a:p>
            <a:pPr lvl="1"/>
            <a:r>
              <a:rPr lang="en-GB" dirty="0"/>
              <a:t>Used in a lot of minicomputers</a:t>
            </a:r>
          </a:p>
          <a:p>
            <a:pPr marL="282575" lvl="1" indent="-282575">
              <a:spcBef>
                <a:spcPts val="1800"/>
              </a:spcBef>
            </a:pPr>
            <a:r>
              <a:rPr lang="en-US" sz="2800" dirty="0"/>
              <a:t>Provides for communication among processors, main memory, and I/O modules</a:t>
            </a:r>
          </a:p>
          <a:p>
            <a:r>
              <a:rPr lang="en-GB" dirty="0"/>
              <a:t>Replaced bundles of wires</a:t>
            </a:r>
          </a:p>
          <a:p>
            <a:pPr lvl="1"/>
            <a:r>
              <a:rPr lang="en-GB" dirty="0"/>
              <a:t>Particularly for I/O</a:t>
            </a:r>
          </a:p>
          <a:p>
            <a:pPr lvl="1"/>
            <a:r>
              <a:rPr lang="en-GB" dirty="0"/>
              <a:t>Cheaper and easier to manufacture</a:t>
            </a:r>
          </a:p>
          <a:p>
            <a:r>
              <a:rPr lang="en-GB" dirty="0"/>
              <a:t>Allowed for modularity</a:t>
            </a:r>
          </a:p>
          <a:p>
            <a:pPr lvl="1"/>
            <a:r>
              <a:rPr lang="en-GB" dirty="0"/>
              <a:t>New I/O modules can be easily added</a:t>
            </a:r>
          </a:p>
        </p:txBody>
      </p:sp>
      <p:pic>
        <p:nvPicPr>
          <p:cNvPr id="1026" name="Picture 2">
            <a:extLst>
              <a:ext uri="{FF2B5EF4-FFF2-40B4-BE49-F238E27FC236}">
                <a16:creationId xmlns:a16="http://schemas.microsoft.com/office/drawing/2014/main" id="{5897F749-DA9D-BCF0-605B-6DA90F3D18A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08434" y="2052084"/>
            <a:ext cx="5617539" cy="4124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974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A69AC8-807B-4BA1-3BA0-94315FD2C2F8}"/>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Modern PC System Bus</a:t>
            </a:r>
          </a:p>
        </p:txBody>
      </p:sp>
      <p:pic>
        <p:nvPicPr>
          <p:cNvPr id="4" name="Picture 2">
            <a:extLst>
              <a:ext uri="{FF2B5EF4-FFF2-40B4-BE49-F238E27FC236}">
                <a16:creationId xmlns:a16="http://schemas.microsoft.com/office/drawing/2014/main" id="{80C4C17E-155F-B4AA-6BAF-8128E9F3CD9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799551" y="12488"/>
            <a:ext cx="4709786" cy="6792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8974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1877BF-59A7-439D-6360-19B91EA3F587}"/>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dirty="0"/>
              <a:t>Memory</a:t>
            </a:r>
            <a:r>
              <a:rPr lang="en-US" sz="6600" kern="1200" dirty="0">
                <a:solidFill>
                  <a:schemeClr val="tx1"/>
                </a:solidFill>
                <a:latin typeface="+mj-lt"/>
                <a:ea typeface="+mj-ea"/>
                <a:cs typeface="+mj-cs"/>
              </a:rPr>
              <a:t> Bus</a:t>
            </a:r>
          </a:p>
        </p:txBody>
      </p:sp>
      <p:sp>
        <p:nvSpPr>
          <p:cNvPr id="3" name="Content Placeholder 2">
            <a:extLst>
              <a:ext uri="{FF2B5EF4-FFF2-40B4-BE49-F238E27FC236}">
                <a16:creationId xmlns:a16="http://schemas.microsoft.com/office/drawing/2014/main" id="{66B01F48-9FFC-F2B4-C707-AF9C731D4053}"/>
              </a:ext>
            </a:extLst>
          </p:cNvPr>
          <p:cNvSpPr>
            <a:spLocks noGrp="1"/>
          </p:cNvSpPr>
          <p:nvPr>
            <p:ph sz="half" idx="1"/>
          </p:nvPr>
        </p:nvSpPr>
        <p:spPr>
          <a:xfrm>
            <a:off x="638882" y="4631161"/>
            <a:ext cx="3571810" cy="1559327"/>
          </a:xfrm>
        </p:spPr>
        <p:txBody>
          <a:bodyPr vert="horz" lIns="91440" tIns="45720" rIns="91440" bIns="45720" rtlCol="0">
            <a:normAutofit/>
          </a:bodyPr>
          <a:lstStyle/>
          <a:p>
            <a:pPr marL="0" indent="0">
              <a:buNone/>
            </a:pPr>
            <a:r>
              <a:rPr lang="en-US" sz="2400" dirty="0"/>
              <a:t>Copper tracks are memory buses between memory modules and Northbridge</a:t>
            </a:r>
            <a:endParaRPr lang="en-US" sz="2400" kern="1200" dirty="0">
              <a:solidFill>
                <a:schemeClr val="tx1"/>
              </a:solidFill>
              <a:latin typeface="+mn-lt"/>
              <a:ea typeface="+mn-ea"/>
              <a:cs typeface="+mn-cs"/>
            </a:endParaRPr>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Close-up of a circuit board&#10;&#10;AI-generated content may be incorrect.">
            <a:extLst>
              <a:ext uri="{FF2B5EF4-FFF2-40B4-BE49-F238E27FC236}">
                <a16:creationId xmlns:a16="http://schemas.microsoft.com/office/drawing/2014/main" id="{1FC19F41-B62A-2027-4AFC-43970A7F14D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54296" y="709803"/>
            <a:ext cx="7214616" cy="5410962"/>
          </a:xfrm>
          <a:prstGeom prst="rect">
            <a:avLst/>
          </a:prstGeom>
        </p:spPr>
      </p:pic>
    </p:spTree>
    <p:extLst>
      <p:ext uri="{BB962C8B-B14F-4D97-AF65-F5344CB8AC3E}">
        <p14:creationId xmlns:p14="http://schemas.microsoft.com/office/powerpoint/2010/main" val="4217777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21B58-8BF7-0D14-9674-CE6CA9E907C2}"/>
              </a:ext>
            </a:extLst>
          </p:cNvPr>
          <p:cNvSpPr>
            <a:spLocks noGrp="1"/>
          </p:cNvSpPr>
          <p:nvPr>
            <p:ph type="title"/>
          </p:nvPr>
        </p:nvSpPr>
        <p:spPr/>
        <p:txBody>
          <a:bodyPr/>
          <a:lstStyle/>
          <a:p>
            <a:r>
              <a:rPr lang="en-GB" dirty="0"/>
              <a:t>Microprocessors</a:t>
            </a:r>
          </a:p>
        </p:txBody>
      </p:sp>
      <p:sp>
        <p:nvSpPr>
          <p:cNvPr id="3" name="Content Placeholder 2">
            <a:extLst>
              <a:ext uri="{FF2B5EF4-FFF2-40B4-BE49-F238E27FC236}">
                <a16:creationId xmlns:a16="http://schemas.microsoft.com/office/drawing/2014/main" id="{3E0F8236-59FF-CDBF-E5CE-E2E91A6590C6}"/>
              </a:ext>
            </a:extLst>
          </p:cNvPr>
          <p:cNvSpPr>
            <a:spLocks noGrp="1"/>
          </p:cNvSpPr>
          <p:nvPr>
            <p:ph sz="half" idx="1"/>
          </p:nvPr>
        </p:nvSpPr>
        <p:spPr/>
        <p:txBody>
          <a:bodyPr/>
          <a:lstStyle/>
          <a:p>
            <a:pPr marL="282575" lvl="1" indent="-282575">
              <a:spcBef>
                <a:spcPts val="1800"/>
              </a:spcBef>
            </a:pPr>
            <a:r>
              <a:rPr lang="en-US" sz="2800" dirty="0"/>
              <a:t>Invention that brought about desktop and handheld computing</a:t>
            </a:r>
          </a:p>
          <a:p>
            <a:pPr marL="282575" lvl="1" indent="-282575">
              <a:spcBef>
                <a:spcPts val="1800"/>
              </a:spcBef>
            </a:pPr>
            <a:r>
              <a:rPr lang="en-US" sz="2800" dirty="0"/>
              <a:t>Contains a processor(s) on a single chip</a:t>
            </a:r>
          </a:p>
          <a:p>
            <a:pPr marL="282575" lvl="1" indent="-282575">
              <a:spcBef>
                <a:spcPts val="1800"/>
              </a:spcBef>
            </a:pPr>
            <a:r>
              <a:rPr lang="en-US" sz="2800" dirty="0"/>
              <a:t>Fastest general-purpose processors</a:t>
            </a:r>
          </a:p>
          <a:p>
            <a:pPr marL="282575" lvl="1" indent="-282575">
              <a:spcBef>
                <a:spcPts val="1800"/>
              </a:spcBef>
            </a:pPr>
            <a:r>
              <a:rPr lang="en-US" sz="2800" dirty="0"/>
              <a:t>Modern chips contains multiple processors (cores)</a:t>
            </a:r>
          </a:p>
          <a:p>
            <a:endParaRPr lang="en-GB" dirty="0"/>
          </a:p>
        </p:txBody>
      </p:sp>
      <p:pic>
        <p:nvPicPr>
          <p:cNvPr id="3074" name="Picture 2" descr="upload.wikimedia.org/wikipedia/commons/b/ba/KL_Int...">
            <a:extLst>
              <a:ext uri="{FF2B5EF4-FFF2-40B4-BE49-F238E27FC236}">
                <a16:creationId xmlns:a16="http://schemas.microsoft.com/office/drawing/2014/main" id="{5AE4C11C-CDE6-EF48-03CE-F91DC43D798E}"/>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339748"/>
            <a:ext cx="5181600" cy="33230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C146CC7-7689-2D89-8A8E-6FA132213AED}"/>
              </a:ext>
            </a:extLst>
          </p:cNvPr>
          <p:cNvSpPr txBox="1"/>
          <p:nvPr/>
        </p:nvSpPr>
        <p:spPr>
          <a:xfrm>
            <a:off x="7279105" y="5233737"/>
            <a:ext cx="3031958" cy="369332"/>
          </a:xfrm>
          <a:prstGeom prst="rect">
            <a:avLst/>
          </a:prstGeom>
          <a:noFill/>
        </p:spPr>
        <p:txBody>
          <a:bodyPr wrap="square" rtlCol="0">
            <a:spAutoFit/>
          </a:bodyPr>
          <a:lstStyle/>
          <a:p>
            <a:pPr algn="ctr"/>
            <a:r>
              <a:rPr lang="en-GB" dirty="0"/>
              <a:t>Intel 8008 microprocessor</a:t>
            </a:r>
          </a:p>
        </p:txBody>
      </p:sp>
    </p:spTree>
    <p:extLst>
      <p:ext uri="{BB962C8B-B14F-4D97-AF65-F5344CB8AC3E}">
        <p14:creationId xmlns:p14="http://schemas.microsoft.com/office/powerpoint/2010/main" val="3847367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88164-1C9E-2873-431F-1677A7A45386}"/>
              </a:ext>
            </a:extLst>
          </p:cNvPr>
          <p:cNvSpPr>
            <a:spLocks noGrp="1"/>
          </p:cNvSpPr>
          <p:nvPr>
            <p:ph type="title"/>
          </p:nvPr>
        </p:nvSpPr>
        <p:spPr/>
        <p:txBody>
          <a:bodyPr/>
          <a:lstStyle/>
          <a:p>
            <a:r>
              <a:rPr lang="en-GB" dirty="0"/>
              <a:t>Microcomputers</a:t>
            </a:r>
          </a:p>
        </p:txBody>
      </p:sp>
      <p:sp>
        <p:nvSpPr>
          <p:cNvPr id="4" name="Content Placeholder 3">
            <a:extLst>
              <a:ext uri="{FF2B5EF4-FFF2-40B4-BE49-F238E27FC236}">
                <a16:creationId xmlns:a16="http://schemas.microsoft.com/office/drawing/2014/main" id="{65A70C36-589A-D178-71AC-139F256A66BE}"/>
              </a:ext>
            </a:extLst>
          </p:cNvPr>
          <p:cNvSpPr>
            <a:spLocks noGrp="1"/>
          </p:cNvSpPr>
          <p:nvPr>
            <p:ph sz="half" idx="1"/>
          </p:nvPr>
        </p:nvSpPr>
        <p:spPr>
          <a:xfrm>
            <a:off x="838200" y="1825625"/>
            <a:ext cx="3231294" cy="4351338"/>
          </a:xfrm>
        </p:spPr>
        <p:txBody>
          <a:bodyPr>
            <a:normAutofit fontScale="92500" lnSpcReduction="10000"/>
          </a:bodyPr>
          <a:lstStyle/>
          <a:p>
            <a:r>
              <a:rPr lang="en-GB" dirty="0"/>
              <a:t>By the mid 1970s, machines could be housed in a small box</a:t>
            </a:r>
          </a:p>
          <a:p>
            <a:r>
              <a:rPr lang="en-GB" dirty="0"/>
              <a:t>These devices were cheap enough that individuals could buy them.</a:t>
            </a:r>
          </a:p>
          <a:p>
            <a:r>
              <a:rPr lang="en-GB" dirty="0"/>
              <a:t>Used standard processors</a:t>
            </a:r>
          </a:p>
          <a:p>
            <a:pPr lvl="1"/>
            <a:r>
              <a:rPr lang="en-GB" dirty="0"/>
              <a:t>E.g. Intel 8080</a:t>
            </a:r>
          </a:p>
          <a:p>
            <a:pPr lvl="1"/>
            <a:r>
              <a:rPr lang="en-GB" dirty="0"/>
              <a:t>Motorola 6800</a:t>
            </a:r>
          </a:p>
          <a:p>
            <a:endParaRPr lang="en-GB" dirty="0"/>
          </a:p>
        </p:txBody>
      </p:sp>
      <p:pic>
        <p:nvPicPr>
          <p:cNvPr id="7170" name="Picture 2">
            <a:extLst>
              <a:ext uri="{FF2B5EF4-FFF2-40B4-BE49-F238E27FC236}">
                <a16:creationId xmlns:a16="http://schemas.microsoft.com/office/drawing/2014/main" id="{390A050C-C382-A37C-69CB-FE4A657696E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069494" y="1967023"/>
            <a:ext cx="7878401" cy="258151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A30DCC5-A782-B385-95AF-FBCC47267E52}"/>
              </a:ext>
            </a:extLst>
          </p:cNvPr>
          <p:cNvSpPr txBox="1"/>
          <p:nvPr/>
        </p:nvSpPr>
        <p:spPr>
          <a:xfrm>
            <a:off x="5038060" y="4824873"/>
            <a:ext cx="6315740" cy="369332"/>
          </a:xfrm>
          <a:prstGeom prst="rect">
            <a:avLst/>
          </a:prstGeom>
          <a:noFill/>
        </p:spPr>
        <p:txBody>
          <a:bodyPr wrap="square" rtlCol="0">
            <a:spAutoFit/>
          </a:bodyPr>
          <a:lstStyle/>
          <a:p>
            <a:r>
              <a:rPr lang="en-GB" b="0" i="0">
                <a:solidFill>
                  <a:srgbClr val="202122"/>
                </a:solidFill>
                <a:effectLst/>
                <a:latin typeface="Arial" panose="020B0604020202020204" pitchFamily="34" charset="0"/>
              </a:rPr>
              <a:t>The Commodore PET, the Apple II, and the TRS-80 Model I</a:t>
            </a:r>
            <a:endParaRPr lang="en-GB" dirty="0"/>
          </a:p>
        </p:txBody>
      </p:sp>
    </p:spTree>
    <p:extLst>
      <p:ext uri="{BB962C8B-B14F-4D97-AF65-F5344CB8AC3E}">
        <p14:creationId xmlns:p14="http://schemas.microsoft.com/office/powerpoint/2010/main" val="2846873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7947168-68CD-5D7B-24A6-DEC184EC0556}"/>
              </a:ext>
            </a:extLst>
          </p:cNvPr>
          <p:cNvSpPr>
            <a:spLocks noGrp="1"/>
          </p:cNvSpPr>
          <p:nvPr>
            <p:ph type="title"/>
          </p:nvPr>
        </p:nvSpPr>
        <p:spPr/>
        <p:txBody>
          <a:bodyPr/>
          <a:lstStyle/>
          <a:p>
            <a:r>
              <a:rPr lang="en-GB" dirty="0"/>
              <a:t>Instruction Sets</a:t>
            </a:r>
          </a:p>
        </p:txBody>
      </p:sp>
      <p:sp>
        <p:nvSpPr>
          <p:cNvPr id="6" name="Text Placeholder 5">
            <a:extLst>
              <a:ext uri="{FF2B5EF4-FFF2-40B4-BE49-F238E27FC236}">
                <a16:creationId xmlns:a16="http://schemas.microsoft.com/office/drawing/2014/main" id="{9575D347-731F-D59E-5352-57527BE08645}"/>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493062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5B46D-97B6-D38B-BCB0-B38B0348E725}"/>
              </a:ext>
            </a:extLst>
          </p:cNvPr>
          <p:cNvSpPr>
            <a:spLocks noGrp="1"/>
          </p:cNvSpPr>
          <p:nvPr>
            <p:ph type="title"/>
          </p:nvPr>
        </p:nvSpPr>
        <p:spPr/>
        <p:txBody>
          <a:bodyPr/>
          <a:lstStyle/>
          <a:p>
            <a:r>
              <a:rPr lang="en-GB" dirty="0"/>
              <a:t>Instruction Set Architecture (ISA)</a:t>
            </a:r>
          </a:p>
        </p:txBody>
      </p:sp>
      <p:sp>
        <p:nvSpPr>
          <p:cNvPr id="5" name="Content Placeholder 4">
            <a:extLst>
              <a:ext uri="{FF2B5EF4-FFF2-40B4-BE49-F238E27FC236}">
                <a16:creationId xmlns:a16="http://schemas.microsoft.com/office/drawing/2014/main" id="{0D883076-976E-2885-60F0-C23D03B33350}"/>
              </a:ext>
            </a:extLst>
          </p:cNvPr>
          <p:cNvSpPr>
            <a:spLocks noGrp="1"/>
          </p:cNvSpPr>
          <p:nvPr>
            <p:ph idx="1"/>
          </p:nvPr>
        </p:nvSpPr>
        <p:spPr/>
        <p:txBody>
          <a:bodyPr/>
          <a:lstStyle/>
          <a:p>
            <a:r>
              <a:rPr lang="en-GB" dirty="0"/>
              <a:t>In general, an ISA defines:</a:t>
            </a:r>
          </a:p>
          <a:p>
            <a:pPr lvl="1"/>
            <a:r>
              <a:rPr lang="en-GB" dirty="0"/>
              <a:t>supported instructions</a:t>
            </a:r>
          </a:p>
          <a:p>
            <a:pPr lvl="1"/>
            <a:r>
              <a:rPr lang="en-GB" dirty="0"/>
              <a:t>data types</a:t>
            </a:r>
          </a:p>
          <a:p>
            <a:pPr lvl="1"/>
            <a:r>
              <a:rPr lang="en-GB" dirty="0"/>
              <a:t>Registers</a:t>
            </a:r>
          </a:p>
          <a:p>
            <a:pPr lvl="1"/>
            <a:r>
              <a:rPr lang="en-GB" dirty="0"/>
              <a:t>the hardware support for managing main memory</a:t>
            </a:r>
          </a:p>
          <a:p>
            <a:pPr lvl="1"/>
            <a:r>
              <a:rPr lang="en-GB" dirty="0"/>
              <a:t>the input/output model of implementations of the ISA</a:t>
            </a:r>
          </a:p>
          <a:p>
            <a:r>
              <a:rPr lang="en-GB" dirty="0"/>
              <a:t>2 classifications</a:t>
            </a:r>
          </a:p>
          <a:p>
            <a:pPr lvl="1"/>
            <a:r>
              <a:rPr lang="en-GB" dirty="0"/>
              <a:t>CISC – Complex Instruction Set Computer</a:t>
            </a:r>
          </a:p>
          <a:p>
            <a:pPr lvl="1"/>
            <a:r>
              <a:rPr lang="en-GB" dirty="0"/>
              <a:t>RISC – Reduced Instruction Set Computer</a:t>
            </a:r>
          </a:p>
        </p:txBody>
      </p:sp>
    </p:spTree>
    <p:extLst>
      <p:ext uri="{BB962C8B-B14F-4D97-AF65-F5344CB8AC3E}">
        <p14:creationId xmlns:p14="http://schemas.microsoft.com/office/powerpoint/2010/main" val="34385181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4C73C-35E3-7557-E675-255EFE031ED3}"/>
              </a:ext>
            </a:extLst>
          </p:cNvPr>
          <p:cNvSpPr>
            <a:spLocks noGrp="1"/>
          </p:cNvSpPr>
          <p:nvPr>
            <p:ph type="title"/>
          </p:nvPr>
        </p:nvSpPr>
        <p:spPr/>
        <p:txBody>
          <a:bodyPr/>
          <a:lstStyle/>
          <a:p>
            <a:r>
              <a:rPr lang="en-GB" dirty="0"/>
              <a:t>x86 ISA</a:t>
            </a:r>
          </a:p>
        </p:txBody>
      </p:sp>
      <p:sp>
        <p:nvSpPr>
          <p:cNvPr id="5" name="Content Placeholder 4">
            <a:extLst>
              <a:ext uri="{FF2B5EF4-FFF2-40B4-BE49-F238E27FC236}">
                <a16:creationId xmlns:a16="http://schemas.microsoft.com/office/drawing/2014/main" id="{E12EC10B-A713-1765-AAE1-E12B7518052E}"/>
              </a:ext>
            </a:extLst>
          </p:cNvPr>
          <p:cNvSpPr>
            <a:spLocks noGrp="1"/>
          </p:cNvSpPr>
          <p:nvPr>
            <p:ph idx="1"/>
          </p:nvPr>
        </p:nvSpPr>
        <p:spPr/>
        <p:txBody>
          <a:bodyPr/>
          <a:lstStyle/>
          <a:p>
            <a:r>
              <a:rPr lang="en-GB" dirty="0"/>
              <a:t>Instruction Set Architecture called x86 after Intel 8086 processor (first in family)</a:t>
            </a:r>
          </a:p>
          <a:p>
            <a:r>
              <a:rPr lang="en-GB" dirty="0"/>
              <a:t>AMD processors compatible with x86 instruction set</a:t>
            </a:r>
          </a:p>
          <a:p>
            <a:r>
              <a:rPr lang="en-GB" dirty="0"/>
              <a:t>Complex Instruction Set Computer (CISC)</a:t>
            </a:r>
          </a:p>
          <a:p>
            <a:pPr lvl="1"/>
            <a:r>
              <a:rPr lang="en-GB" dirty="0"/>
              <a:t>Number of instructions increased as processors in family added more features</a:t>
            </a:r>
          </a:p>
          <a:p>
            <a:pPr lvl="1"/>
            <a:r>
              <a:rPr lang="en-GB" dirty="0"/>
              <a:t>Lots of instruction set extensions to handle special features</a:t>
            </a:r>
          </a:p>
          <a:p>
            <a:pPr lvl="2"/>
            <a:r>
              <a:rPr lang="en-GB" dirty="0"/>
              <a:t>Virtualization</a:t>
            </a:r>
          </a:p>
          <a:p>
            <a:pPr lvl="2"/>
            <a:r>
              <a:rPr lang="en-GB" dirty="0"/>
              <a:t>Cryptography, etc.</a:t>
            </a:r>
          </a:p>
          <a:p>
            <a:r>
              <a:rPr lang="en-GB" dirty="0"/>
              <a:t>x86 ISA for 64-bit machines often called x86_64 or x64 </a:t>
            </a:r>
          </a:p>
          <a:p>
            <a:pPr marL="0" indent="0">
              <a:buNone/>
            </a:pPr>
            <a:endParaRPr lang="en-GB" dirty="0"/>
          </a:p>
        </p:txBody>
      </p:sp>
    </p:spTree>
    <p:extLst>
      <p:ext uri="{BB962C8B-B14F-4D97-AF65-F5344CB8AC3E}">
        <p14:creationId xmlns:p14="http://schemas.microsoft.com/office/powerpoint/2010/main" val="624581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9CD7F-72DA-A9E3-D071-0AC395A8F802}"/>
              </a:ext>
            </a:extLst>
          </p:cNvPr>
          <p:cNvSpPr>
            <a:spLocks noGrp="1"/>
          </p:cNvSpPr>
          <p:nvPr>
            <p:ph type="title"/>
          </p:nvPr>
        </p:nvSpPr>
        <p:spPr/>
        <p:txBody>
          <a:bodyPr/>
          <a:lstStyle/>
          <a:p>
            <a:r>
              <a:rPr lang="en-GB" dirty="0"/>
              <a:t>RISC ISA</a:t>
            </a:r>
          </a:p>
        </p:txBody>
      </p:sp>
      <p:sp>
        <p:nvSpPr>
          <p:cNvPr id="3" name="Content Placeholder 2">
            <a:extLst>
              <a:ext uri="{FF2B5EF4-FFF2-40B4-BE49-F238E27FC236}">
                <a16:creationId xmlns:a16="http://schemas.microsoft.com/office/drawing/2014/main" id="{AC3B4085-30C0-8EF1-3FEA-8371B9DE6829}"/>
              </a:ext>
            </a:extLst>
          </p:cNvPr>
          <p:cNvSpPr>
            <a:spLocks noGrp="1"/>
          </p:cNvSpPr>
          <p:nvPr>
            <p:ph idx="1"/>
          </p:nvPr>
        </p:nvSpPr>
        <p:spPr/>
        <p:txBody>
          <a:bodyPr>
            <a:normAutofit/>
          </a:bodyPr>
          <a:lstStyle/>
          <a:p>
            <a:r>
              <a:rPr lang="en-GB" dirty="0"/>
              <a:t>Reduced instruction set computer</a:t>
            </a:r>
          </a:p>
          <a:p>
            <a:pPr lvl="1"/>
            <a:r>
              <a:rPr lang="en-GB" dirty="0"/>
              <a:t>Small number of basic instructions, e.g. load, add, multiply</a:t>
            </a:r>
          </a:p>
          <a:p>
            <a:pPr lvl="1"/>
            <a:r>
              <a:rPr lang="en-GB" dirty="0"/>
              <a:t>All features implemented using these basic instructions</a:t>
            </a:r>
          </a:p>
          <a:p>
            <a:pPr lvl="2"/>
            <a:r>
              <a:rPr lang="en-GB" dirty="0"/>
              <a:t>Compilation is more complicated</a:t>
            </a:r>
          </a:p>
          <a:p>
            <a:r>
              <a:rPr lang="en-GB" dirty="0"/>
              <a:t>Several RISC ISA standards</a:t>
            </a:r>
          </a:p>
          <a:p>
            <a:pPr lvl="1"/>
            <a:r>
              <a:rPr lang="en-GB" dirty="0"/>
              <a:t>RISC V</a:t>
            </a:r>
          </a:p>
          <a:p>
            <a:pPr lvl="2"/>
            <a:r>
              <a:rPr lang="en-GB" dirty="0"/>
              <a:t>Open standard</a:t>
            </a:r>
          </a:p>
          <a:p>
            <a:pPr lvl="1"/>
            <a:r>
              <a:rPr lang="en-GB" dirty="0"/>
              <a:t>ARM</a:t>
            </a:r>
          </a:p>
          <a:p>
            <a:pPr lvl="2"/>
            <a:r>
              <a:rPr lang="en-GB" dirty="0"/>
              <a:t>Amber (ARM v2) is open source</a:t>
            </a:r>
          </a:p>
          <a:p>
            <a:pPr lvl="1"/>
            <a:r>
              <a:rPr lang="en-GB" dirty="0" err="1"/>
              <a:t>OpenRISC</a:t>
            </a:r>
            <a:endParaRPr lang="en-GB" dirty="0"/>
          </a:p>
          <a:p>
            <a:pPr lvl="2"/>
            <a:r>
              <a:rPr lang="en-GB" dirty="0"/>
              <a:t>Another open standard</a:t>
            </a:r>
          </a:p>
        </p:txBody>
      </p:sp>
    </p:spTree>
    <p:extLst>
      <p:ext uri="{BB962C8B-B14F-4D97-AF65-F5344CB8AC3E}">
        <p14:creationId xmlns:p14="http://schemas.microsoft.com/office/powerpoint/2010/main" val="2540569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8E678-585E-93BB-7102-1D44F6C350AF}"/>
              </a:ext>
            </a:extLst>
          </p:cNvPr>
          <p:cNvSpPr>
            <a:spLocks noGrp="1"/>
          </p:cNvSpPr>
          <p:nvPr>
            <p:ph type="title"/>
          </p:nvPr>
        </p:nvSpPr>
        <p:spPr/>
        <p:txBody>
          <a:bodyPr/>
          <a:lstStyle/>
          <a:p>
            <a:r>
              <a:rPr lang="en-GB" dirty="0"/>
              <a:t>Break</a:t>
            </a:r>
          </a:p>
        </p:txBody>
      </p:sp>
      <p:sp>
        <p:nvSpPr>
          <p:cNvPr id="5" name="Content Placeholder 4">
            <a:extLst>
              <a:ext uri="{FF2B5EF4-FFF2-40B4-BE49-F238E27FC236}">
                <a16:creationId xmlns:a16="http://schemas.microsoft.com/office/drawing/2014/main" id="{9E2EC3CE-9115-40A0-BBB2-590A5EA9DD32}"/>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994891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F5537-9CF7-2556-96CA-2084B5B6A288}"/>
              </a:ext>
            </a:extLst>
          </p:cNvPr>
          <p:cNvSpPr>
            <a:spLocks noGrp="1"/>
          </p:cNvSpPr>
          <p:nvPr>
            <p:ph type="title"/>
          </p:nvPr>
        </p:nvSpPr>
        <p:spPr/>
        <p:txBody>
          <a:bodyPr/>
          <a:lstStyle/>
          <a:p>
            <a:r>
              <a:rPr lang="en-GB" dirty="0"/>
              <a:t>Embedded Systems</a:t>
            </a:r>
          </a:p>
        </p:txBody>
      </p:sp>
      <p:sp>
        <p:nvSpPr>
          <p:cNvPr id="5" name="Content Placeholder 4">
            <a:extLst>
              <a:ext uri="{FF2B5EF4-FFF2-40B4-BE49-F238E27FC236}">
                <a16:creationId xmlns:a16="http://schemas.microsoft.com/office/drawing/2014/main" id="{1E20856C-29D6-FEB4-3EC7-E6055912A074}"/>
              </a:ext>
            </a:extLst>
          </p:cNvPr>
          <p:cNvSpPr>
            <a:spLocks noGrp="1"/>
          </p:cNvSpPr>
          <p:nvPr>
            <p:ph idx="1"/>
          </p:nvPr>
        </p:nvSpPr>
        <p:spPr/>
        <p:txBody>
          <a:bodyPr>
            <a:normAutofit/>
          </a:bodyPr>
          <a:lstStyle/>
          <a:p>
            <a:r>
              <a:rPr lang="en-GB" dirty="0"/>
              <a:t>The use of electronics and software within a product</a:t>
            </a:r>
          </a:p>
          <a:p>
            <a:r>
              <a:rPr lang="en-GB" dirty="0"/>
              <a:t>Billions of computer systems are produced each year that are embedded within larger devices</a:t>
            </a:r>
          </a:p>
          <a:p>
            <a:r>
              <a:rPr lang="en-GB" dirty="0"/>
              <a:t>Today many devices that use electric power have an embedded computing system</a:t>
            </a:r>
          </a:p>
          <a:p>
            <a:r>
              <a:rPr lang="en-GB" dirty="0"/>
              <a:t>Tightly coupled to environment</a:t>
            </a:r>
          </a:p>
          <a:p>
            <a:pPr lvl="1"/>
            <a:r>
              <a:rPr lang="en-GB" dirty="0"/>
              <a:t>Real-time constraints such as required speeds of motion, required precision of measurement, and required time durations</a:t>
            </a:r>
          </a:p>
          <a:p>
            <a:pPr lvl="1"/>
            <a:r>
              <a:rPr lang="en-GB" dirty="0"/>
              <a:t>If multiple activities managed simultaneously imposes more complex real-time constraints</a:t>
            </a:r>
          </a:p>
          <a:p>
            <a:endParaRPr lang="en-GB" dirty="0"/>
          </a:p>
        </p:txBody>
      </p:sp>
    </p:spTree>
    <p:extLst>
      <p:ext uri="{BB962C8B-B14F-4D97-AF65-F5344CB8AC3E}">
        <p14:creationId xmlns:p14="http://schemas.microsoft.com/office/powerpoint/2010/main" val="11324001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B0903EA-E9BD-4DA9-114F-DE9308EB94A8}"/>
              </a:ext>
            </a:extLst>
          </p:cNvPr>
          <p:cNvSpPr>
            <a:spLocks noGrp="1"/>
          </p:cNvSpPr>
          <p:nvPr>
            <p:ph type="title"/>
          </p:nvPr>
        </p:nvSpPr>
        <p:spPr/>
        <p:txBody>
          <a:bodyPr/>
          <a:lstStyle/>
          <a:p>
            <a:r>
              <a:rPr lang="en-GB" dirty="0"/>
              <a:t>Embedded Systems: Organisation</a:t>
            </a:r>
          </a:p>
        </p:txBody>
      </p:sp>
      <p:sp>
        <p:nvSpPr>
          <p:cNvPr id="5" name="Content Placeholder 4">
            <a:extLst>
              <a:ext uri="{FF2B5EF4-FFF2-40B4-BE49-F238E27FC236}">
                <a16:creationId xmlns:a16="http://schemas.microsoft.com/office/drawing/2014/main" id="{FE139DDD-3890-85A3-2657-9991278CFFD1}"/>
              </a:ext>
            </a:extLst>
          </p:cNvPr>
          <p:cNvSpPr>
            <a:spLocks noGrp="1"/>
          </p:cNvSpPr>
          <p:nvPr>
            <p:ph sz="half" idx="1"/>
          </p:nvPr>
        </p:nvSpPr>
        <p:spPr>
          <a:xfrm>
            <a:off x="838199" y="1825625"/>
            <a:ext cx="6743959" cy="4351338"/>
          </a:xfrm>
        </p:spPr>
        <p:txBody>
          <a:bodyPr>
            <a:normAutofit fontScale="25000" lnSpcReduction="20000"/>
          </a:bodyPr>
          <a:lstStyle/>
          <a:p>
            <a:r>
              <a:rPr lang="en-GB" sz="8000" dirty="0"/>
              <a:t>Differ from the typical desktop or laptop computer:</a:t>
            </a:r>
          </a:p>
          <a:p>
            <a:pPr lvl="1"/>
            <a:r>
              <a:rPr lang="en-GB" sz="8000" dirty="0"/>
              <a:t>interfaces to measure (</a:t>
            </a:r>
            <a:r>
              <a:rPr lang="en-GB" sz="8000" b="1" dirty="0"/>
              <a:t>sensors</a:t>
            </a:r>
            <a:r>
              <a:rPr lang="en-GB" sz="8000" dirty="0"/>
              <a:t>), manipulate (</a:t>
            </a:r>
            <a:r>
              <a:rPr lang="en-GB" sz="8000" b="1" dirty="0"/>
              <a:t>actuators</a:t>
            </a:r>
            <a:r>
              <a:rPr lang="en-GB" sz="8000" dirty="0"/>
              <a:t>), and interact with environment.. </a:t>
            </a:r>
          </a:p>
          <a:p>
            <a:pPr lvl="1"/>
            <a:r>
              <a:rPr lang="en-GB" sz="8000" dirty="0"/>
              <a:t>The diagnostic port may be used for diagnosing the system that is being  controlled—not just for diagnosing the computer.</a:t>
            </a:r>
          </a:p>
          <a:p>
            <a:pPr lvl="1"/>
            <a:r>
              <a:rPr lang="en-GB" sz="8000" dirty="0"/>
              <a:t>Software often has a fixed function and is specific to the application.</a:t>
            </a:r>
          </a:p>
          <a:p>
            <a:pPr lvl="1"/>
            <a:r>
              <a:rPr lang="en-GB" sz="8000" dirty="0"/>
              <a:t>Optimized for energy, code size, execution time, weight and dimensions, and cost.</a:t>
            </a:r>
          </a:p>
          <a:p>
            <a:r>
              <a:rPr lang="en-GB" sz="8000" dirty="0"/>
              <a:t>Similar:</a:t>
            </a:r>
          </a:p>
          <a:p>
            <a:pPr lvl="1"/>
            <a:r>
              <a:rPr lang="en-GB" sz="8000" dirty="0"/>
              <a:t>Ability to upgrade to fix bugs, to improve security, and to add functionality, has become very important</a:t>
            </a:r>
          </a:p>
          <a:p>
            <a:pPr lvl="1"/>
            <a:r>
              <a:rPr lang="en-GB" sz="8000" dirty="0"/>
              <a:t>Recent development has been embedded system platforms that support a wide variety of apps. Examples: smartphones, smart TVs, smart speakers.</a:t>
            </a:r>
          </a:p>
          <a:p>
            <a:endParaRPr lang="en-GB" dirty="0"/>
          </a:p>
        </p:txBody>
      </p:sp>
      <p:pic>
        <p:nvPicPr>
          <p:cNvPr id="7" name="Content Placeholder 6" descr="The embedded system has a Processor that sends and receives information to and from the human interface, Analog to Digital convertor, Digital to Analog convertor, diagnostic port, memory, and custom logic. The custom logic also interacts with the memory and vice versa. Sensors send data to the Analog to Digital convertor to process the data. When that process is completed, the results from the Digital to Analog convertor are sent to the Actuators or indicators." title="A diagram illustrates the organization of an embedded system.">
            <a:extLst>
              <a:ext uri="{FF2B5EF4-FFF2-40B4-BE49-F238E27FC236}">
                <a16:creationId xmlns:a16="http://schemas.microsoft.com/office/drawing/2014/main" id="{6DB1C719-B0A8-950A-5BDB-000392C76C76}"/>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t="10031" b="14660"/>
          <a:stretch/>
        </p:blipFill>
        <p:spPr>
          <a:xfrm>
            <a:off x="7582159" y="1825625"/>
            <a:ext cx="4464802" cy="4351338"/>
          </a:xfrm>
          <a:prstGeom prst="rect">
            <a:avLst/>
          </a:prstGeom>
        </p:spPr>
      </p:pic>
    </p:spTree>
    <p:extLst>
      <p:ext uri="{BB962C8B-B14F-4D97-AF65-F5344CB8AC3E}">
        <p14:creationId xmlns:p14="http://schemas.microsoft.com/office/powerpoint/2010/main" val="4210513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548C0-55CE-E0ED-C79B-B2141014000E}"/>
              </a:ext>
            </a:extLst>
          </p:cNvPr>
          <p:cNvSpPr>
            <a:spLocks noGrp="1"/>
          </p:cNvSpPr>
          <p:nvPr>
            <p:ph type="title"/>
          </p:nvPr>
        </p:nvSpPr>
        <p:spPr/>
        <p:txBody>
          <a:bodyPr/>
          <a:lstStyle/>
          <a:p>
            <a:r>
              <a:rPr lang="en-GB" dirty="0"/>
              <a:t>Internet of Things</a:t>
            </a:r>
          </a:p>
        </p:txBody>
      </p:sp>
      <p:sp>
        <p:nvSpPr>
          <p:cNvPr id="5" name="Content Placeholder 4">
            <a:extLst>
              <a:ext uri="{FF2B5EF4-FFF2-40B4-BE49-F238E27FC236}">
                <a16:creationId xmlns:a16="http://schemas.microsoft.com/office/drawing/2014/main" id="{3FBF5862-7DFF-80A2-B3C4-2DE366891F14}"/>
              </a:ext>
            </a:extLst>
          </p:cNvPr>
          <p:cNvSpPr>
            <a:spLocks noGrp="1"/>
          </p:cNvSpPr>
          <p:nvPr>
            <p:ph idx="1"/>
          </p:nvPr>
        </p:nvSpPr>
        <p:spPr/>
        <p:txBody>
          <a:bodyPr>
            <a:normAutofit fontScale="85000" lnSpcReduction="20000"/>
          </a:bodyPr>
          <a:lstStyle/>
          <a:p>
            <a:r>
              <a:rPr lang="en-GB" dirty="0"/>
              <a:t>Term that refers to the expanding interconnection of smart devices, ranging from appliances to tiny sensors</a:t>
            </a:r>
          </a:p>
          <a:p>
            <a:r>
              <a:rPr lang="en-GB" dirty="0"/>
              <a:t>Is primarily driven by embedded devices</a:t>
            </a:r>
          </a:p>
          <a:p>
            <a:r>
              <a:rPr lang="en-GB" dirty="0"/>
              <a:t>Generations of deployment culminating in the IoT:</a:t>
            </a:r>
          </a:p>
          <a:p>
            <a:pPr lvl="1"/>
            <a:r>
              <a:rPr lang="en-GB" dirty="0"/>
              <a:t>PCs, servers, routers, firewalls, and so on, bought as IT devices by enterprise IT people and primarily using wired connectivity</a:t>
            </a:r>
          </a:p>
          <a:p>
            <a:pPr lvl="1"/>
            <a:r>
              <a:rPr lang="en-GB" dirty="0"/>
              <a:t>Operational technology (OT)</a:t>
            </a:r>
          </a:p>
          <a:p>
            <a:pPr lvl="1"/>
            <a:r>
              <a:rPr lang="en-GB" dirty="0"/>
              <a:t>Machines/appliances with embedded IT built by non-IT companies, such as medical machinery, SCADA, process control, and kiosks, bought as appliances by enterprise OT people and primarily using wired connectivity</a:t>
            </a:r>
          </a:p>
          <a:p>
            <a:pPr lvl="1"/>
            <a:r>
              <a:rPr lang="en-GB" dirty="0"/>
              <a:t>Smartphones, tablets, and eBook readers bought as IT devices by consumers exclusively using wireless connectivity and often multiple forms of wireless connectivity</a:t>
            </a:r>
          </a:p>
          <a:p>
            <a:pPr lvl="1"/>
            <a:r>
              <a:rPr lang="en-GB" dirty="0"/>
              <a:t>Sensor/actuator technology</a:t>
            </a:r>
          </a:p>
          <a:p>
            <a:pPr lvl="1"/>
            <a:r>
              <a:rPr lang="en-GB" dirty="0"/>
              <a:t>Single-purpose devices bought by consumers, IT, and OT people exclusively using wireless connectivity, generally of a single form, as part of larger systems</a:t>
            </a:r>
          </a:p>
          <a:p>
            <a:endParaRPr lang="en-GB" dirty="0"/>
          </a:p>
        </p:txBody>
      </p:sp>
    </p:spTree>
    <p:extLst>
      <p:ext uri="{BB962C8B-B14F-4D97-AF65-F5344CB8AC3E}">
        <p14:creationId xmlns:p14="http://schemas.microsoft.com/office/powerpoint/2010/main" val="13863854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3237D-DD23-1A94-376F-E4E6B6D15D3D}"/>
              </a:ext>
            </a:extLst>
          </p:cNvPr>
          <p:cNvSpPr>
            <a:spLocks noGrp="1"/>
          </p:cNvSpPr>
          <p:nvPr>
            <p:ph type="title"/>
          </p:nvPr>
        </p:nvSpPr>
        <p:spPr/>
        <p:txBody>
          <a:bodyPr/>
          <a:lstStyle/>
          <a:p>
            <a:r>
              <a:rPr lang="en-GB" dirty="0"/>
              <a:t>Microcontrollers</a:t>
            </a:r>
          </a:p>
        </p:txBody>
      </p:sp>
      <p:sp>
        <p:nvSpPr>
          <p:cNvPr id="7" name="Content Placeholder 6">
            <a:extLst>
              <a:ext uri="{FF2B5EF4-FFF2-40B4-BE49-F238E27FC236}">
                <a16:creationId xmlns:a16="http://schemas.microsoft.com/office/drawing/2014/main" id="{50D5EDE5-3343-D611-DE40-982315CB3BB5}"/>
              </a:ext>
            </a:extLst>
          </p:cNvPr>
          <p:cNvSpPr>
            <a:spLocks noGrp="1"/>
          </p:cNvSpPr>
          <p:nvPr>
            <p:ph sz="half" idx="1"/>
          </p:nvPr>
        </p:nvSpPr>
        <p:spPr/>
        <p:txBody>
          <a:bodyPr>
            <a:normAutofit fontScale="92500" lnSpcReduction="20000"/>
          </a:bodyPr>
          <a:lstStyle/>
          <a:p>
            <a:r>
              <a:rPr lang="en-GB" dirty="0"/>
              <a:t>Single chip that contains:</a:t>
            </a:r>
          </a:p>
          <a:p>
            <a:pPr lvl="1"/>
            <a:r>
              <a:rPr lang="en-GB" dirty="0"/>
              <a:t>Processor,</a:t>
            </a:r>
          </a:p>
          <a:p>
            <a:pPr lvl="1"/>
            <a:r>
              <a:rPr lang="en-GB" dirty="0"/>
              <a:t>non-volatile memory for the program (ROM)</a:t>
            </a:r>
          </a:p>
          <a:p>
            <a:pPr lvl="1"/>
            <a:r>
              <a:rPr lang="en-GB" dirty="0"/>
              <a:t>volatile memory for input and output (RAM)</a:t>
            </a:r>
          </a:p>
          <a:p>
            <a:pPr lvl="1"/>
            <a:r>
              <a:rPr lang="en-GB" dirty="0"/>
              <a:t>Clock</a:t>
            </a:r>
          </a:p>
          <a:p>
            <a:pPr lvl="1"/>
            <a:r>
              <a:rPr lang="en-GB" dirty="0"/>
              <a:t>I/O control unit.</a:t>
            </a:r>
          </a:p>
          <a:p>
            <a:r>
              <a:rPr lang="en-GB" dirty="0"/>
              <a:t>Smaller - much lower silicon area</a:t>
            </a:r>
          </a:p>
          <a:p>
            <a:r>
              <a:rPr lang="en-GB" dirty="0"/>
              <a:t>Higher energy efficiency</a:t>
            </a:r>
          </a:p>
          <a:p>
            <a:r>
              <a:rPr lang="en-GB" dirty="0"/>
              <a:t>Used to control system</a:t>
            </a:r>
          </a:p>
          <a:p>
            <a:pPr lvl="1"/>
            <a:r>
              <a:rPr lang="en-GB" dirty="0"/>
              <a:t>E.g. machinery</a:t>
            </a:r>
          </a:p>
          <a:p>
            <a:r>
              <a:rPr lang="en-GB" dirty="0"/>
              <a:t>Used in embedded devices</a:t>
            </a:r>
          </a:p>
          <a:p>
            <a:endParaRPr lang="en-GB" dirty="0"/>
          </a:p>
        </p:txBody>
      </p:sp>
      <p:pic>
        <p:nvPicPr>
          <p:cNvPr id="9" name="Content Placeholder 8" descr="The microcontroller chip contains a Processor which connects to the following elements. Random Access Memory for storing temporary data, Read Only Memory for storing program and data, Electrically Erasable Programmable Read Only Memory for storing permanent data, a timer to perform timing functions, parallel input output ports for connecting peripheral interfaces, serial input output ports to send and receive data, a Digital to Analog convertor to transmit analog data, and an Analog to Digital convertor for acquiring analog data. All elements in the chip are connected to a common bus." title="A block diagram of a microcontroller depicts the elements present in a microcontroller chip.">
            <a:extLst>
              <a:ext uri="{FF2B5EF4-FFF2-40B4-BE49-F238E27FC236}">
                <a16:creationId xmlns:a16="http://schemas.microsoft.com/office/drawing/2014/main" id="{B2D9DDB9-B332-AD2D-B2BD-AB88900E502C}"/>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t="10494" b="26852"/>
          <a:stretch/>
        </p:blipFill>
        <p:spPr>
          <a:xfrm>
            <a:off x="6077956" y="1825625"/>
            <a:ext cx="6114044" cy="4957367"/>
          </a:xfrm>
          <a:prstGeom prst="rect">
            <a:avLst/>
          </a:prstGeom>
        </p:spPr>
      </p:pic>
    </p:spTree>
    <p:extLst>
      <p:ext uri="{BB962C8B-B14F-4D97-AF65-F5344CB8AC3E}">
        <p14:creationId xmlns:p14="http://schemas.microsoft.com/office/powerpoint/2010/main" val="3388133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7B0BC-0C83-A43E-2FBB-607164FF3C09}"/>
              </a:ext>
            </a:extLst>
          </p:cNvPr>
          <p:cNvSpPr>
            <a:spLocks noGrp="1"/>
          </p:cNvSpPr>
          <p:nvPr>
            <p:ph type="title"/>
          </p:nvPr>
        </p:nvSpPr>
        <p:spPr/>
        <p:txBody>
          <a:bodyPr/>
          <a:lstStyle/>
          <a:p>
            <a:r>
              <a:rPr lang="en-GB" dirty="0"/>
              <a:t>Digital Signal Processors (DSPs)</a:t>
            </a:r>
          </a:p>
        </p:txBody>
      </p:sp>
      <p:sp>
        <p:nvSpPr>
          <p:cNvPr id="5" name="Content Placeholder 4">
            <a:extLst>
              <a:ext uri="{FF2B5EF4-FFF2-40B4-BE49-F238E27FC236}">
                <a16:creationId xmlns:a16="http://schemas.microsoft.com/office/drawing/2014/main" id="{67BBF556-98B1-0225-385E-3D4FE3550B0B}"/>
              </a:ext>
            </a:extLst>
          </p:cNvPr>
          <p:cNvSpPr>
            <a:spLocks noGrp="1"/>
          </p:cNvSpPr>
          <p:nvPr>
            <p:ph sz="half" idx="1"/>
          </p:nvPr>
        </p:nvSpPr>
        <p:spPr/>
        <p:txBody>
          <a:bodyPr>
            <a:normAutofit lnSpcReduction="10000"/>
          </a:bodyPr>
          <a:lstStyle/>
          <a:p>
            <a:pPr marL="282575" lvl="1" indent="-282575">
              <a:lnSpc>
                <a:spcPct val="80000"/>
              </a:lnSpc>
              <a:spcBef>
                <a:spcPts val="1800"/>
              </a:spcBef>
            </a:pPr>
            <a:r>
              <a:rPr lang="en-US" sz="3600" dirty="0"/>
              <a:t>Deal with streaming signals such as audio or video</a:t>
            </a:r>
          </a:p>
          <a:p>
            <a:pPr marL="282575" lvl="1" indent="-282575">
              <a:lnSpc>
                <a:spcPct val="80000"/>
              </a:lnSpc>
              <a:spcBef>
                <a:spcPts val="1800"/>
              </a:spcBef>
            </a:pPr>
            <a:r>
              <a:rPr lang="en-US" sz="3600" dirty="0"/>
              <a:t>Used to be embedded in I/O devices like modems</a:t>
            </a:r>
          </a:p>
          <a:p>
            <a:pPr marL="282575" lvl="1" indent="-282575">
              <a:lnSpc>
                <a:spcPct val="80000"/>
              </a:lnSpc>
              <a:spcBef>
                <a:spcPts val="1800"/>
              </a:spcBef>
            </a:pPr>
            <a:r>
              <a:rPr lang="en-US" sz="3600" dirty="0"/>
              <a:t>Encoding/decoding (codecs)</a:t>
            </a:r>
          </a:p>
          <a:p>
            <a:pPr marL="282575" lvl="1" indent="-282575">
              <a:lnSpc>
                <a:spcPct val="80000"/>
              </a:lnSpc>
              <a:spcBef>
                <a:spcPts val="1800"/>
              </a:spcBef>
            </a:pPr>
            <a:r>
              <a:rPr lang="en-US" sz="3600" dirty="0"/>
              <a:t>Provide support for encryption and security</a:t>
            </a:r>
          </a:p>
          <a:p>
            <a:endParaRPr lang="en-GB" dirty="0"/>
          </a:p>
        </p:txBody>
      </p:sp>
      <p:pic>
        <p:nvPicPr>
          <p:cNvPr id="8" name="Content Placeholder 7" descr="A close up of a computer chip&#10;&#10;AI-generated content may be incorrect.">
            <a:extLst>
              <a:ext uri="{FF2B5EF4-FFF2-40B4-BE49-F238E27FC236}">
                <a16:creationId xmlns:a16="http://schemas.microsoft.com/office/drawing/2014/main" id="{CE9CFE45-D03C-CE33-AAE2-FD339993D1A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19298" y="1825625"/>
            <a:ext cx="5142017" cy="3781360"/>
          </a:xfrm>
        </p:spPr>
      </p:pic>
    </p:spTree>
    <p:extLst>
      <p:ext uri="{BB962C8B-B14F-4D97-AF65-F5344CB8AC3E}">
        <p14:creationId xmlns:p14="http://schemas.microsoft.com/office/powerpoint/2010/main" val="5608191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descr="Apple M1 Processor">
            <a:extLst>
              <a:ext uri="{FF2B5EF4-FFF2-40B4-BE49-F238E27FC236}">
                <a16:creationId xmlns:a16="http://schemas.microsoft.com/office/drawing/2014/main" id="{2AE5D0F9-DE19-FE5A-1E43-A88437B253DE}"/>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771558" y="1903228"/>
            <a:ext cx="7427889" cy="390440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2DE0197-5E04-0DB0-B9BB-3C4357380D19}"/>
              </a:ext>
            </a:extLst>
          </p:cNvPr>
          <p:cNvSpPr>
            <a:spLocks noGrp="1"/>
          </p:cNvSpPr>
          <p:nvPr>
            <p:ph type="title"/>
          </p:nvPr>
        </p:nvSpPr>
        <p:spPr/>
        <p:txBody>
          <a:bodyPr/>
          <a:lstStyle/>
          <a:p>
            <a:r>
              <a:rPr lang="en-GB" dirty="0"/>
              <a:t>System-on-chip (SoC)</a:t>
            </a:r>
          </a:p>
        </p:txBody>
      </p:sp>
      <p:sp>
        <p:nvSpPr>
          <p:cNvPr id="3" name="Content Placeholder 2">
            <a:extLst>
              <a:ext uri="{FF2B5EF4-FFF2-40B4-BE49-F238E27FC236}">
                <a16:creationId xmlns:a16="http://schemas.microsoft.com/office/drawing/2014/main" id="{6DC2569C-64AD-1CFB-68B9-601829C3AB6E}"/>
              </a:ext>
            </a:extLst>
          </p:cNvPr>
          <p:cNvSpPr>
            <a:spLocks noGrp="1"/>
          </p:cNvSpPr>
          <p:nvPr>
            <p:ph sz="half" idx="1"/>
          </p:nvPr>
        </p:nvSpPr>
        <p:spPr/>
        <p:txBody>
          <a:bodyPr>
            <a:normAutofit fontScale="92500" lnSpcReduction="20000"/>
          </a:bodyPr>
          <a:lstStyle/>
          <a:p>
            <a:r>
              <a:rPr lang="en-GB" dirty="0"/>
              <a:t>Chip contains major components of a computer</a:t>
            </a:r>
          </a:p>
          <a:p>
            <a:pPr lvl="1"/>
            <a:r>
              <a:rPr lang="en-GB" dirty="0"/>
              <a:t>Processor</a:t>
            </a:r>
          </a:p>
          <a:p>
            <a:pPr lvl="1"/>
            <a:r>
              <a:rPr lang="en-GB" dirty="0"/>
              <a:t>Memory</a:t>
            </a:r>
          </a:p>
          <a:p>
            <a:pPr lvl="1"/>
            <a:r>
              <a:rPr lang="en-GB" dirty="0"/>
              <a:t>I/O</a:t>
            </a:r>
          </a:p>
          <a:p>
            <a:pPr lvl="1"/>
            <a:r>
              <a:rPr lang="en-GB" dirty="0"/>
              <a:t>GPU</a:t>
            </a:r>
          </a:p>
          <a:p>
            <a:r>
              <a:rPr lang="en-GB" dirty="0"/>
              <a:t>Examples: Apple A &amp; M series, Nvidia Tegra, Qualcomm Snapdragon</a:t>
            </a:r>
          </a:p>
          <a:p>
            <a:r>
              <a:rPr lang="en-GB" dirty="0"/>
              <a:t>Used in mobile devices</a:t>
            </a:r>
          </a:p>
          <a:p>
            <a:pPr lvl="1"/>
            <a:r>
              <a:rPr lang="en-GB" dirty="0"/>
              <a:t>Smartphones</a:t>
            </a:r>
          </a:p>
          <a:p>
            <a:pPr lvl="1"/>
            <a:r>
              <a:rPr lang="en-GB" dirty="0"/>
              <a:t>Tablets</a:t>
            </a:r>
          </a:p>
          <a:p>
            <a:pPr lvl="1"/>
            <a:r>
              <a:rPr lang="en-GB" dirty="0"/>
              <a:t>Game consoles</a:t>
            </a:r>
          </a:p>
        </p:txBody>
      </p:sp>
      <p:sp>
        <p:nvSpPr>
          <p:cNvPr id="6" name="TextBox 5">
            <a:extLst>
              <a:ext uri="{FF2B5EF4-FFF2-40B4-BE49-F238E27FC236}">
                <a16:creationId xmlns:a16="http://schemas.microsoft.com/office/drawing/2014/main" id="{D4815761-372A-05D2-5E8A-58898803DDAA}"/>
              </a:ext>
            </a:extLst>
          </p:cNvPr>
          <p:cNvSpPr txBox="1"/>
          <p:nvPr/>
        </p:nvSpPr>
        <p:spPr>
          <a:xfrm>
            <a:off x="8016949" y="5807631"/>
            <a:ext cx="1329070" cy="369332"/>
          </a:xfrm>
          <a:prstGeom prst="rect">
            <a:avLst/>
          </a:prstGeom>
          <a:noFill/>
        </p:spPr>
        <p:txBody>
          <a:bodyPr wrap="square" rtlCol="0">
            <a:spAutoFit/>
          </a:bodyPr>
          <a:lstStyle/>
          <a:p>
            <a:r>
              <a:rPr lang="en-GB" dirty="0"/>
              <a:t>Apple M1</a:t>
            </a:r>
          </a:p>
        </p:txBody>
      </p:sp>
    </p:spTree>
    <p:extLst>
      <p:ext uri="{BB962C8B-B14F-4D97-AF65-F5344CB8AC3E}">
        <p14:creationId xmlns:p14="http://schemas.microsoft.com/office/powerpoint/2010/main" val="39652851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C19A2-3280-4C0D-633B-3C4111495446}"/>
              </a:ext>
            </a:extLst>
          </p:cNvPr>
          <p:cNvSpPr>
            <a:spLocks noGrp="1"/>
          </p:cNvSpPr>
          <p:nvPr>
            <p:ph type="title"/>
          </p:nvPr>
        </p:nvSpPr>
        <p:spPr/>
        <p:txBody>
          <a:bodyPr/>
          <a:lstStyle/>
          <a:p>
            <a:r>
              <a:rPr lang="en-GB" dirty="0"/>
              <a:t>Field Programmable Gate Array (FPGA)</a:t>
            </a:r>
          </a:p>
        </p:txBody>
      </p:sp>
      <p:sp>
        <p:nvSpPr>
          <p:cNvPr id="5" name="Content Placeholder 4">
            <a:extLst>
              <a:ext uri="{FF2B5EF4-FFF2-40B4-BE49-F238E27FC236}">
                <a16:creationId xmlns:a16="http://schemas.microsoft.com/office/drawing/2014/main" id="{293EAB32-8451-F1F0-6BE4-0B717FEF7544}"/>
              </a:ext>
            </a:extLst>
          </p:cNvPr>
          <p:cNvSpPr>
            <a:spLocks noGrp="1"/>
          </p:cNvSpPr>
          <p:nvPr>
            <p:ph sz="half" idx="1"/>
          </p:nvPr>
        </p:nvSpPr>
        <p:spPr/>
        <p:txBody>
          <a:bodyPr>
            <a:normAutofit/>
          </a:bodyPr>
          <a:lstStyle/>
          <a:p>
            <a:r>
              <a:rPr lang="en-GB" dirty="0"/>
              <a:t>Logic units can be configured</a:t>
            </a:r>
          </a:p>
          <a:p>
            <a:r>
              <a:rPr lang="en-GB" dirty="0"/>
              <a:t>Circuit can be </a:t>
            </a:r>
            <a:r>
              <a:rPr lang="en-GB"/>
              <a:t>programmed </a:t>
            </a:r>
          </a:p>
          <a:p>
            <a:r>
              <a:rPr lang="en-GB"/>
              <a:t>Can </a:t>
            </a:r>
            <a:r>
              <a:rPr lang="en-GB" dirty="0"/>
              <a:t>be reprogrammed for different purpose</a:t>
            </a:r>
          </a:p>
        </p:txBody>
      </p:sp>
      <p:pic>
        <p:nvPicPr>
          <p:cNvPr id="1026" name="Picture 2" descr="Figure 1">
            <a:extLst>
              <a:ext uri="{FF2B5EF4-FFF2-40B4-BE49-F238E27FC236}">
                <a16:creationId xmlns:a16="http://schemas.microsoft.com/office/drawing/2014/main" id="{289B43AC-A9A3-E9E8-7EF5-6BA19ECD238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095999" y="2227738"/>
            <a:ext cx="5938683" cy="3949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7607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BBAEF-B692-B494-8319-97B297AF4637}"/>
              </a:ext>
            </a:extLst>
          </p:cNvPr>
          <p:cNvSpPr>
            <a:spLocks noGrp="1"/>
          </p:cNvSpPr>
          <p:nvPr>
            <p:ph type="title"/>
          </p:nvPr>
        </p:nvSpPr>
        <p:spPr/>
        <p:txBody>
          <a:bodyPr/>
          <a:lstStyle/>
          <a:p>
            <a:r>
              <a:rPr lang="en-GB" dirty="0"/>
              <a:t>Application-Specific Integrated Circuit (ASIC)</a:t>
            </a:r>
          </a:p>
        </p:txBody>
      </p:sp>
      <p:sp>
        <p:nvSpPr>
          <p:cNvPr id="3" name="Content Placeholder 2">
            <a:extLst>
              <a:ext uri="{FF2B5EF4-FFF2-40B4-BE49-F238E27FC236}">
                <a16:creationId xmlns:a16="http://schemas.microsoft.com/office/drawing/2014/main" id="{38B17147-4241-4F67-73E9-CF3E4F448FA8}"/>
              </a:ext>
            </a:extLst>
          </p:cNvPr>
          <p:cNvSpPr>
            <a:spLocks noGrp="1"/>
          </p:cNvSpPr>
          <p:nvPr>
            <p:ph sz="half" idx="1"/>
          </p:nvPr>
        </p:nvSpPr>
        <p:spPr/>
        <p:txBody>
          <a:bodyPr/>
          <a:lstStyle/>
          <a:p>
            <a:r>
              <a:rPr lang="en-GB" dirty="0"/>
              <a:t>IC customised for specific use</a:t>
            </a:r>
          </a:p>
          <a:p>
            <a:r>
              <a:rPr lang="en-GB" dirty="0"/>
              <a:t>E.g., highly efficient video codec</a:t>
            </a:r>
          </a:p>
          <a:p>
            <a:r>
              <a:rPr lang="en-GB" dirty="0"/>
              <a:t>Modern ASICs are typically microcontrollers/SoCs</a:t>
            </a:r>
          </a:p>
          <a:p>
            <a:r>
              <a:rPr lang="en-GB" dirty="0"/>
              <a:t>FPGAs sometime used in development of ASICs</a:t>
            </a:r>
          </a:p>
          <a:p>
            <a:endParaRPr lang="en-GB" dirty="0"/>
          </a:p>
        </p:txBody>
      </p:sp>
      <p:pic>
        <p:nvPicPr>
          <p:cNvPr id="1026" name="Picture 2">
            <a:extLst>
              <a:ext uri="{FF2B5EF4-FFF2-40B4-BE49-F238E27FC236}">
                <a16:creationId xmlns:a16="http://schemas.microsoft.com/office/drawing/2014/main" id="{82168485-CD15-4176-813A-DE7A1B111525}"/>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62179" y="2071344"/>
            <a:ext cx="4401635" cy="338045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FA1ED99-3793-8CFD-2AF2-A81FFC26F09F}"/>
              </a:ext>
            </a:extLst>
          </p:cNvPr>
          <p:cNvSpPr txBox="1"/>
          <p:nvPr/>
        </p:nvSpPr>
        <p:spPr>
          <a:xfrm>
            <a:off x="6915409" y="5530632"/>
            <a:ext cx="3695177" cy="646331"/>
          </a:xfrm>
          <a:prstGeom prst="rect">
            <a:avLst/>
          </a:prstGeom>
          <a:noFill/>
        </p:spPr>
        <p:txBody>
          <a:bodyPr wrap="square" rtlCol="0">
            <a:spAutoFit/>
          </a:bodyPr>
          <a:lstStyle/>
          <a:p>
            <a:r>
              <a:rPr lang="en-GB" b="0" i="0" dirty="0">
                <a:solidFill>
                  <a:srgbClr val="202122"/>
                </a:solidFill>
                <a:effectLst/>
                <a:latin typeface="Arial" panose="020B0604020202020204" pitchFamily="34" charset="0"/>
              </a:rPr>
              <a:t>A packet processing ASIC inside an Ethernet switch</a:t>
            </a:r>
            <a:endParaRPr lang="en-GB" dirty="0"/>
          </a:p>
        </p:txBody>
      </p:sp>
    </p:spTree>
    <p:extLst>
      <p:ext uri="{BB962C8B-B14F-4D97-AF65-F5344CB8AC3E}">
        <p14:creationId xmlns:p14="http://schemas.microsoft.com/office/powerpoint/2010/main" val="1164450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7173B-2C8F-7D15-8632-9E79AA5EDA76}"/>
              </a:ext>
            </a:extLst>
          </p:cNvPr>
          <p:cNvSpPr>
            <a:spLocks noGrp="1"/>
          </p:cNvSpPr>
          <p:nvPr>
            <p:ph type="title"/>
          </p:nvPr>
        </p:nvSpPr>
        <p:spPr/>
        <p:txBody>
          <a:bodyPr/>
          <a:lstStyle/>
          <a:p>
            <a:r>
              <a:rPr lang="en-GB" dirty="0"/>
              <a:t>ARM Processors</a:t>
            </a:r>
          </a:p>
        </p:txBody>
      </p:sp>
      <p:sp>
        <p:nvSpPr>
          <p:cNvPr id="3" name="Content Placeholder 2">
            <a:extLst>
              <a:ext uri="{FF2B5EF4-FFF2-40B4-BE49-F238E27FC236}">
                <a16:creationId xmlns:a16="http://schemas.microsoft.com/office/drawing/2014/main" id="{EE92C9BF-CCBB-C13A-36A3-5E5202C7C201}"/>
              </a:ext>
            </a:extLst>
          </p:cNvPr>
          <p:cNvSpPr>
            <a:spLocks noGrp="1"/>
          </p:cNvSpPr>
          <p:nvPr>
            <p:ph sz="half" idx="1"/>
          </p:nvPr>
        </p:nvSpPr>
        <p:spPr/>
        <p:txBody>
          <a:bodyPr>
            <a:normAutofit fontScale="92500" lnSpcReduction="20000"/>
          </a:bodyPr>
          <a:lstStyle/>
          <a:p>
            <a:r>
              <a:rPr lang="en-GB" dirty="0"/>
              <a:t>Embedded systems need cheap, efficient processors</a:t>
            </a:r>
          </a:p>
          <a:p>
            <a:r>
              <a:rPr lang="en-GB" dirty="0"/>
              <a:t>ARM design processor and architecture profiles</a:t>
            </a:r>
          </a:p>
          <a:p>
            <a:pPr lvl="1"/>
            <a:r>
              <a:rPr lang="en-GB" dirty="0"/>
              <a:t>Licenses design to manufacturers</a:t>
            </a:r>
          </a:p>
          <a:p>
            <a:r>
              <a:rPr lang="en-GB" dirty="0"/>
              <a:t>RISC based</a:t>
            </a:r>
          </a:p>
          <a:p>
            <a:pPr lvl="1"/>
            <a:r>
              <a:rPr lang="en-GB" dirty="0"/>
              <a:t>Reduced Instruction Set Computer</a:t>
            </a:r>
          </a:p>
          <a:p>
            <a:pPr lvl="1"/>
            <a:r>
              <a:rPr lang="en-GB" dirty="0"/>
              <a:t>Small set of processor instructions</a:t>
            </a:r>
          </a:p>
          <a:p>
            <a:r>
              <a:rPr lang="en-GB" dirty="0"/>
              <a:t>High speed</a:t>
            </a:r>
          </a:p>
          <a:p>
            <a:r>
              <a:rPr lang="en-GB" dirty="0"/>
              <a:t>Energy efficient</a:t>
            </a:r>
          </a:p>
          <a:p>
            <a:pPr lvl="1"/>
            <a:r>
              <a:rPr lang="en-GB" dirty="0"/>
              <a:t>Low power</a:t>
            </a:r>
          </a:p>
          <a:p>
            <a:pPr lvl="1"/>
            <a:r>
              <a:rPr lang="en-GB" dirty="0"/>
              <a:t>Low heat generation</a:t>
            </a:r>
          </a:p>
        </p:txBody>
      </p:sp>
      <p:pic>
        <p:nvPicPr>
          <p:cNvPr id="3074" name="Picture 2" descr="A Brief Introduction to the ARM Cortex M3 Processor - Copperhill">
            <a:extLst>
              <a:ext uri="{FF2B5EF4-FFF2-40B4-BE49-F238E27FC236}">
                <a16:creationId xmlns:a16="http://schemas.microsoft.com/office/drawing/2014/main" id="{BB091C5E-A77E-1178-30E2-3E3C1B1FDF95}"/>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34661" y="1825625"/>
            <a:ext cx="445667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516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7B5FC-9E4A-E0F5-BDD1-EA6294DD2E03}"/>
              </a:ext>
            </a:extLst>
          </p:cNvPr>
          <p:cNvSpPr>
            <a:spLocks noGrp="1"/>
          </p:cNvSpPr>
          <p:nvPr>
            <p:ph type="title"/>
          </p:nvPr>
        </p:nvSpPr>
        <p:spPr/>
        <p:txBody>
          <a:bodyPr/>
          <a:lstStyle/>
          <a:p>
            <a:r>
              <a:rPr lang="en-GB" dirty="0"/>
              <a:t>ARM Architecture Profiles</a:t>
            </a:r>
          </a:p>
        </p:txBody>
      </p:sp>
      <p:sp>
        <p:nvSpPr>
          <p:cNvPr id="5" name="Content Placeholder 4">
            <a:extLst>
              <a:ext uri="{FF2B5EF4-FFF2-40B4-BE49-F238E27FC236}">
                <a16:creationId xmlns:a16="http://schemas.microsoft.com/office/drawing/2014/main" id="{6FCC71F7-4A09-CE71-E831-5C975AEFBCE6}"/>
              </a:ext>
            </a:extLst>
          </p:cNvPr>
          <p:cNvSpPr>
            <a:spLocks noGrp="1"/>
          </p:cNvSpPr>
          <p:nvPr>
            <p:ph idx="1"/>
          </p:nvPr>
        </p:nvSpPr>
        <p:spPr/>
        <p:txBody>
          <a:bodyPr>
            <a:normAutofit/>
          </a:bodyPr>
          <a:lstStyle/>
          <a:p>
            <a:r>
              <a:rPr lang="pt-BR" dirty="0"/>
              <a:t>Cortex-A</a:t>
            </a:r>
          </a:p>
          <a:p>
            <a:pPr lvl="1"/>
            <a:r>
              <a:rPr lang="pt-BR" dirty="0"/>
              <a:t>Intended for mobile devices: smartphones, tablets, etc.</a:t>
            </a:r>
          </a:p>
          <a:p>
            <a:r>
              <a:rPr lang="pt-BR" dirty="0"/>
              <a:t>Cortex-R</a:t>
            </a:r>
          </a:p>
          <a:p>
            <a:pPr lvl="1"/>
            <a:r>
              <a:rPr lang="pt-BR" dirty="0"/>
              <a:t>Intended for real-time applications</a:t>
            </a:r>
          </a:p>
          <a:p>
            <a:pPr lvl="1"/>
            <a:r>
              <a:rPr lang="pt-BR" dirty="0"/>
              <a:t>Timing important</a:t>
            </a:r>
          </a:p>
          <a:p>
            <a:pPr lvl="1"/>
            <a:r>
              <a:rPr lang="pt-BR" dirty="0"/>
              <a:t>Fast response to events</a:t>
            </a:r>
          </a:p>
          <a:p>
            <a:r>
              <a:rPr lang="pt-BR" dirty="0"/>
              <a:t>Cortex-M</a:t>
            </a:r>
          </a:p>
          <a:p>
            <a:pPr lvl="1"/>
            <a:r>
              <a:rPr lang="en-GB" dirty="0"/>
              <a:t>Intended for microcontrollers</a:t>
            </a:r>
          </a:p>
        </p:txBody>
      </p:sp>
    </p:spTree>
    <p:extLst>
      <p:ext uri="{BB962C8B-B14F-4D97-AF65-F5344CB8AC3E}">
        <p14:creationId xmlns:p14="http://schemas.microsoft.com/office/powerpoint/2010/main" val="18926980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F24D97-3ED4-A903-BB5A-DA0345EF2BD2}"/>
              </a:ext>
            </a:extLst>
          </p:cNvPr>
          <p:cNvSpPr>
            <a:spLocks noGrp="1"/>
          </p:cNvSpPr>
          <p:nvPr>
            <p:ph type="title"/>
          </p:nvPr>
        </p:nvSpPr>
        <p:spPr>
          <a:xfrm>
            <a:off x="762000" y="761998"/>
            <a:ext cx="5334000" cy="1035271"/>
          </a:xfrm>
        </p:spPr>
        <p:txBody>
          <a:bodyPr vert="horz" lIns="91440" tIns="45720" rIns="91440" bIns="45720" rtlCol="0" anchor="ctr">
            <a:normAutofit fontScale="90000"/>
          </a:bodyPr>
          <a:lstStyle/>
          <a:p>
            <a:r>
              <a:rPr lang="en-US" sz="4000" kern="1200" dirty="0">
                <a:solidFill>
                  <a:schemeClr val="tx1"/>
                </a:solidFill>
                <a:latin typeface="+mj-lt"/>
                <a:ea typeface="+mj-ea"/>
                <a:cs typeface="+mj-cs"/>
              </a:rPr>
              <a:t>Example Cortex-M architecture</a:t>
            </a:r>
          </a:p>
        </p:txBody>
      </p:sp>
      <p:sp>
        <p:nvSpPr>
          <p:cNvPr id="5" name="Content Placeholder 4">
            <a:extLst>
              <a:ext uri="{FF2B5EF4-FFF2-40B4-BE49-F238E27FC236}">
                <a16:creationId xmlns:a16="http://schemas.microsoft.com/office/drawing/2014/main" id="{C1789905-E69A-8BE6-21A7-BBA362D8C309}"/>
              </a:ext>
            </a:extLst>
          </p:cNvPr>
          <p:cNvSpPr>
            <a:spLocks noGrp="1"/>
          </p:cNvSpPr>
          <p:nvPr>
            <p:ph sz="half" idx="1"/>
          </p:nvPr>
        </p:nvSpPr>
        <p:spPr>
          <a:xfrm>
            <a:off x="761994" y="1797269"/>
            <a:ext cx="5334006" cy="4442811"/>
          </a:xfrm>
        </p:spPr>
        <p:txBody>
          <a:bodyPr vert="horz" lIns="91440" tIns="45720" rIns="91440" bIns="45720" rtlCol="0" anchor="ctr">
            <a:normAutofit lnSpcReduction="10000"/>
          </a:bodyPr>
          <a:lstStyle/>
          <a:p>
            <a:r>
              <a:rPr lang="en-US" sz="1600" dirty="0"/>
              <a:t>Core and memory:</a:t>
            </a:r>
          </a:p>
          <a:p>
            <a:pPr lvl="1"/>
            <a:r>
              <a:rPr lang="en-US" sz="1600" dirty="0"/>
              <a:t>Cortex-M3  processor</a:t>
            </a:r>
          </a:p>
          <a:p>
            <a:pPr lvl="1"/>
            <a:r>
              <a:rPr lang="en-US" sz="1600" dirty="0"/>
              <a:t>Static RAM (SRAM) data memory</a:t>
            </a:r>
          </a:p>
          <a:p>
            <a:pPr lvl="1"/>
            <a:r>
              <a:rPr lang="en-US" sz="1600" dirty="0"/>
              <a:t>Flash memory for storing program instructions  and nonvarying application data.</a:t>
            </a:r>
          </a:p>
          <a:p>
            <a:r>
              <a:rPr lang="en-US" sz="1600" dirty="0"/>
              <a:t>Energy management</a:t>
            </a:r>
          </a:p>
          <a:p>
            <a:pPr lvl="1"/>
            <a:r>
              <a:rPr lang="en-US" sz="1600" dirty="0"/>
              <a:t>Manages the various low-energy modes of operation</a:t>
            </a:r>
          </a:p>
          <a:p>
            <a:r>
              <a:rPr lang="en-US" sz="1600" dirty="0"/>
              <a:t>Security</a:t>
            </a:r>
          </a:p>
          <a:p>
            <a:pPr lvl="1"/>
            <a:r>
              <a:rPr lang="en-US" sz="1600" dirty="0"/>
              <a:t>The chip includes a hardware implementation of the Advanced Encryption Standard (AES).</a:t>
            </a:r>
          </a:p>
          <a:p>
            <a:r>
              <a:rPr lang="en-US" sz="1600" dirty="0"/>
              <a:t>32-bit bus : Connects all of the components on the chip.</a:t>
            </a:r>
          </a:p>
          <a:p>
            <a:r>
              <a:rPr lang="en-US" sz="1600" dirty="0"/>
              <a:t>Peripheral bus</a:t>
            </a:r>
          </a:p>
          <a:p>
            <a:pPr lvl="1"/>
            <a:r>
              <a:rPr lang="en-US" sz="1600" dirty="0"/>
              <a:t>Allows modules to communicate directly with each other without involving the processor</a:t>
            </a:r>
          </a:p>
          <a:p>
            <a:pPr lvl="1"/>
            <a:r>
              <a:rPr lang="en-US" sz="1600" dirty="0"/>
              <a:t>Supports timing-critical operation and reduces software overhead.</a:t>
            </a:r>
          </a:p>
          <a:p>
            <a:endParaRPr lang="en-US" sz="1100" dirty="0"/>
          </a:p>
        </p:txBody>
      </p:sp>
      <p:sp>
        <p:nvSpPr>
          <p:cNvPr id="19" name="Rectangle 18">
            <a:extLst>
              <a:ext uri="{FF2B5EF4-FFF2-40B4-BE49-F238E27FC236}">
                <a16:creationId xmlns:a16="http://schemas.microsoft.com/office/drawing/2014/main" id="{0D05C9B4-B5C9-2D4D-23C9-CEE72646F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81800" y="-1"/>
            <a:ext cx="5410200" cy="6858001"/>
          </a:xfrm>
          <a:prstGeom prst="rect">
            <a:avLst/>
          </a:prstGeom>
          <a:solidFill>
            <a:srgbClr val="FFFFFF"/>
          </a:solidFill>
          <a:ln>
            <a:noFill/>
          </a:ln>
          <a:effectLst>
            <a:outerShdw blurRad="266700" dist="215900" dir="858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descr="The elements share a common peripheral bus and 32 bit bus. The security element is comprised of a hardware A E S. The analog interfaces include an analog to digital convertor and a digital to analog convertor. The timers and triggers include a peripheral bus interface, timer or counter, low energy, real time control, pulse counter, and watch dog timer. The parallel input output ports include a pin reset, general purpose input output, and external interrupts. The Energy management module includes a voltage regulator, voltage comparator, power on reset, and Brownout detector. The clock management unit is comprised of a high frequency R C oscillator, high frequency crystal oscillator, low frequency R C oscillator, and low frequency crystal oscillator. The Core and memory units include a flash memory unit with 64 kilobytes, a static random access memory unit with 64 kilobytes, a debug interface, a direct memory access controller, a memory protection unit, and a Cortex M 3 processor. The Cortex M 3 processor contains the following. An I Code interface, static random access memory and peripheral interfaces, I slash F units that share a common Bus matrix, debug logic, a device access port, or D A P, a memory protection unit, a Nested Vectored interrupt controller, or N V I C, an A R M core, and an Embedded Trace Macro cell, or E T M. The A R M core has the N V I C interface, E T M, and a 32 bit Arithmetic Logic Unit that consists of a hardware divider, a 32 bit multiplier, control logic, an instruction interface, thumb decode, and data interface." title="A block diagram of a microcontroller chip comprised of security elements, analog interfaces, timers and triggers, parallel input output ports, serial interfaces, energy management, clock management, and core and memory.">
            <a:extLst>
              <a:ext uri="{FF2B5EF4-FFF2-40B4-BE49-F238E27FC236}">
                <a16:creationId xmlns:a16="http://schemas.microsoft.com/office/drawing/2014/main" id="{E0D11A66-DA10-9905-3956-6C7B20E8C06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041932" y="263649"/>
            <a:ext cx="4960882" cy="6419965"/>
          </a:xfrm>
          <a:prstGeom prst="rect">
            <a:avLst/>
          </a:prstGeom>
        </p:spPr>
      </p:pic>
    </p:spTree>
    <p:extLst>
      <p:ext uri="{BB962C8B-B14F-4D97-AF65-F5344CB8AC3E}">
        <p14:creationId xmlns:p14="http://schemas.microsoft.com/office/powerpoint/2010/main" val="18966706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19DB86-C2A4-23D4-28EF-6323D1D3F47D}"/>
              </a:ext>
            </a:extLst>
          </p:cNvPr>
          <p:cNvSpPr>
            <a:spLocks noGrp="1"/>
          </p:cNvSpPr>
          <p:nvPr>
            <p:ph type="title"/>
          </p:nvPr>
        </p:nvSpPr>
        <p:spPr/>
        <p:txBody>
          <a:bodyPr/>
          <a:lstStyle/>
          <a:p>
            <a:r>
              <a:rPr lang="en-GB" dirty="0"/>
              <a:t>Parallelism</a:t>
            </a:r>
          </a:p>
        </p:txBody>
      </p:sp>
      <p:sp>
        <p:nvSpPr>
          <p:cNvPr id="6" name="Text Placeholder 5">
            <a:extLst>
              <a:ext uri="{FF2B5EF4-FFF2-40B4-BE49-F238E27FC236}">
                <a16:creationId xmlns:a16="http://schemas.microsoft.com/office/drawing/2014/main" id="{8BDB99A4-D350-1388-CF74-93317D5036E6}"/>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280164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5AC25-7C44-A57E-E45E-3AE34F432151}"/>
              </a:ext>
            </a:extLst>
          </p:cNvPr>
          <p:cNvSpPr>
            <a:spLocks noGrp="1"/>
          </p:cNvSpPr>
          <p:nvPr>
            <p:ph type="title"/>
          </p:nvPr>
        </p:nvSpPr>
        <p:spPr/>
        <p:txBody>
          <a:bodyPr/>
          <a:lstStyle/>
          <a:p>
            <a:r>
              <a:rPr lang="en-GB" dirty="0"/>
              <a:t>Parallelism</a:t>
            </a:r>
          </a:p>
        </p:txBody>
      </p:sp>
      <p:sp>
        <p:nvSpPr>
          <p:cNvPr id="5" name="Content Placeholder 4">
            <a:extLst>
              <a:ext uri="{FF2B5EF4-FFF2-40B4-BE49-F238E27FC236}">
                <a16:creationId xmlns:a16="http://schemas.microsoft.com/office/drawing/2014/main" id="{B1A6F5CD-C049-AD35-CF36-B40D15CEAE0F}"/>
              </a:ext>
            </a:extLst>
          </p:cNvPr>
          <p:cNvSpPr>
            <a:spLocks noGrp="1"/>
          </p:cNvSpPr>
          <p:nvPr>
            <p:ph idx="1"/>
          </p:nvPr>
        </p:nvSpPr>
        <p:spPr/>
        <p:txBody>
          <a:bodyPr>
            <a:normAutofit fontScale="92500" lnSpcReduction="10000"/>
          </a:bodyPr>
          <a:lstStyle/>
          <a:p>
            <a:r>
              <a:rPr lang="en-GB" dirty="0"/>
              <a:t>Tasks can be split up into smaller tasks which can be assigned to processor</a:t>
            </a:r>
          </a:p>
          <a:p>
            <a:r>
              <a:rPr lang="en-GB" dirty="0"/>
              <a:t>E.g., assembly line: each worker completes one step of the overall task and passes completed item to next worker while taking next item to work on</a:t>
            </a:r>
          </a:p>
          <a:p>
            <a:r>
              <a:rPr lang="en-GB" dirty="0"/>
              <a:t>A </a:t>
            </a:r>
            <a:r>
              <a:rPr lang="en-GB" dirty="0">
                <a:solidFill>
                  <a:schemeClr val="accent1"/>
                </a:solidFill>
              </a:rPr>
              <a:t>pipeline</a:t>
            </a:r>
            <a:r>
              <a:rPr lang="en-GB" dirty="0"/>
              <a:t> is computing version of this (streaming)</a:t>
            </a:r>
          </a:p>
          <a:p>
            <a:r>
              <a:rPr lang="en-GB" dirty="0"/>
              <a:t>E.g., same task to be repeated on lots of data: </a:t>
            </a:r>
            <a:r>
              <a:rPr lang="en-GB" dirty="0">
                <a:solidFill>
                  <a:schemeClr val="accent1"/>
                </a:solidFill>
              </a:rPr>
              <a:t>single instruction, multiple data (SIMD)</a:t>
            </a:r>
          </a:p>
          <a:p>
            <a:pPr lvl="1"/>
            <a:r>
              <a:rPr lang="en-GB" dirty="0"/>
              <a:t>Can divide data up and assign each batch to different processor</a:t>
            </a:r>
          </a:p>
          <a:p>
            <a:r>
              <a:rPr lang="en-GB" dirty="0"/>
              <a:t>Speeds up execution because tasks are running concurrently rather than consecutively</a:t>
            </a:r>
          </a:p>
          <a:p>
            <a:r>
              <a:rPr lang="en-GB" dirty="0"/>
              <a:t>Modern CPUs have multiple cores to try and exploit parallelism for speed up</a:t>
            </a:r>
          </a:p>
          <a:p>
            <a:pPr lvl="1"/>
            <a:endParaRPr lang="en-GB" dirty="0"/>
          </a:p>
        </p:txBody>
      </p:sp>
    </p:spTree>
    <p:extLst>
      <p:ext uri="{BB962C8B-B14F-4D97-AF65-F5344CB8AC3E}">
        <p14:creationId xmlns:p14="http://schemas.microsoft.com/office/powerpoint/2010/main" val="2018248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30B8E-D450-3561-9B27-CB7C2DF54FDE}"/>
              </a:ext>
            </a:extLst>
          </p:cNvPr>
          <p:cNvSpPr>
            <a:spLocks noGrp="1"/>
          </p:cNvSpPr>
          <p:nvPr>
            <p:ph type="title"/>
          </p:nvPr>
        </p:nvSpPr>
        <p:spPr/>
        <p:txBody>
          <a:bodyPr/>
          <a:lstStyle/>
          <a:p>
            <a:r>
              <a:rPr lang="en-GB" dirty="0"/>
              <a:t>Supercomputers</a:t>
            </a:r>
          </a:p>
        </p:txBody>
      </p:sp>
      <p:sp>
        <p:nvSpPr>
          <p:cNvPr id="5" name="Content Placeholder 4">
            <a:extLst>
              <a:ext uri="{FF2B5EF4-FFF2-40B4-BE49-F238E27FC236}">
                <a16:creationId xmlns:a16="http://schemas.microsoft.com/office/drawing/2014/main" id="{19E4AF22-FAEF-4749-949D-BFA8EDAD3A9D}"/>
              </a:ext>
            </a:extLst>
          </p:cNvPr>
          <p:cNvSpPr>
            <a:spLocks noGrp="1"/>
          </p:cNvSpPr>
          <p:nvPr>
            <p:ph sz="half" idx="1"/>
          </p:nvPr>
        </p:nvSpPr>
        <p:spPr/>
        <p:txBody>
          <a:bodyPr>
            <a:normAutofit fontScale="92500" lnSpcReduction="10000"/>
          </a:bodyPr>
          <a:lstStyle/>
          <a:p>
            <a:r>
              <a:rPr lang="en-GB" dirty="0"/>
              <a:t>Massively parallel computer</a:t>
            </a:r>
          </a:p>
          <a:p>
            <a:pPr lvl="1"/>
            <a:r>
              <a:rPr lang="en-GB" dirty="0"/>
              <a:t>Each processing unit works on small piece of overall task</a:t>
            </a:r>
          </a:p>
          <a:p>
            <a:r>
              <a:rPr lang="en-GB" dirty="0"/>
              <a:t>Used for computationally intensive tasks</a:t>
            </a:r>
          </a:p>
          <a:p>
            <a:pPr lvl="1"/>
            <a:r>
              <a:rPr lang="en-GB" dirty="0"/>
              <a:t>Weather forecasting</a:t>
            </a:r>
          </a:p>
          <a:p>
            <a:pPr lvl="1"/>
            <a:r>
              <a:rPr lang="en-GB" dirty="0"/>
              <a:t>Molecular modelling, </a:t>
            </a:r>
          </a:p>
          <a:p>
            <a:pPr lvl="1"/>
            <a:r>
              <a:rPr lang="en-GB" dirty="0"/>
              <a:t>Big data analysis, etc.</a:t>
            </a:r>
          </a:p>
          <a:p>
            <a:r>
              <a:rPr lang="en-GB" dirty="0"/>
              <a:t>Contain thousands of processing units (</a:t>
            </a:r>
            <a:r>
              <a:rPr lang="en-GB" b="1" dirty="0"/>
              <a:t>compute nodes</a:t>
            </a:r>
            <a:r>
              <a:rPr lang="en-GB" dirty="0"/>
              <a:t>)</a:t>
            </a:r>
          </a:p>
          <a:p>
            <a:r>
              <a:rPr lang="en-GB" dirty="0"/>
              <a:t>Use custom networking to connect compute nodes</a:t>
            </a:r>
          </a:p>
        </p:txBody>
      </p:sp>
      <p:pic>
        <p:nvPicPr>
          <p:cNvPr id="4102" name="Picture 6">
            <a:extLst>
              <a:ext uri="{FF2B5EF4-FFF2-40B4-BE49-F238E27FC236}">
                <a16:creationId xmlns:a16="http://schemas.microsoft.com/office/drawing/2014/main" id="{701CE59A-77FE-EF3A-5765-FF010CE38CE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919754" y="2062717"/>
            <a:ext cx="5929346" cy="404273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599A477-A376-93D0-F180-B57015C98F32}"/>
              </a:ext>
            </a:extLst>
          </p:cNvPr>
          <p:cNvSpPr txBox="1"/>
          <p:nvPr/>
        </p:nvSpPr>
        <p:spPr>
          <a:xfrm>
            <a:off x="6172202" y="6094010"/>
            <a:ext cx="5514310" cy="369332"/>
          </a:xfrm>
          <a:prstGeom prst="rect">
            <a:avLst/>
          </a:prstGeom>
          <a:noFill/>
        </p:spPr>
        <p:txBody>
          <a:bodyPr wrap="square" rtlCol="0">
            <a:spAutoFit/>
          </a:bodyPr>
          <a:lstStyle/>
          <a:p>
            <a:r>
              <a:rPr lang="en-GB" dirty="0"/>
              <a:t>Hierarchical design of IBM Blue/Gene processing units</a:t>
            </a:r>
          </a:p>
        </p:txBody>
      </p:sp>
    </p:spTree>
    <p:extLst>
      <p:ext uri="{BB962C8B-B14F-4D97-AF65-F5344CB8AC3E}">
        <p14:creationId xmlns:p14="http://schemas.microsoft.com/office/powerpoint/2010/main" val="32141014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BB984-12E0-BA63-DE98-EC5ECF93AC73}"/>
              </a:ext>
            </a:extLst>
          </p:cNvPr>
          <p:cNvSpPr>
            <a:spLocks noGrp="1"/>
          </p:cNvSpPr>
          <p:nvPr>
            <p:ph type="title"/>
          </p:nvPr>
        </p:nvSpPr>
        <p:spPr/>
        <p:txBody>
          <a:bodyPr/>
          <a:lstStyle/>
          <a:p>
            <a:r>
              <a:rPr lang="en-GB" dirty="0"/>
              <a:t>Computing Clusters</a:t>
            </a:r>
          </a:p>
        </p:txBody>
      </p:sp>
      <p:sp>
        <p:nvSpPr>
          <p:cNvPr id="3" name="Content Placeholder 2">
            <a:extLst>
              <a:ext uri="{FF2B5EF4-FFF2-40B4-BE49-F238E27FC236}">
                <a16:creationId xmlns:a16="http://schemas.microsoft.com/office/drawing/2014/main" id="{AA5408C2-5CF1-CFA3-8834-0EC7345B2496}"/>
              </a:ext>
            </a:extLst>
          </p:cNvPr>
          <p:cNvSpPr>
            <a:spLocks noGrp="1"/>
          </p:cNvSpPr>
          <p:nvPr>
            <p:ph sz="half" idx="1"/>
          </p:nvPr>
        </p:nvSpPr>
        <p:spPr/>
        <p:txBody>
          <a:bodyPr>
            <a:normAutofit lnSpcReduction="10000"/>
          </a:bodyPr>
          <a:lstStyle/>
          <a:p>
            <a:r>
              <a:rPr lang="en-GB" dirty="0"/>
              <a:t>Also, massively parallel</a:t>
            </a:r>
          </a:p>
          <a:p>
            <a:r>
              <a:rPr lang="en-GB" dirty="0"/>
              <a:t>Off-the-shelf components as compute nodes</a:t>
            </a:r>
          </a:p>
          <a:p>
            <a:pPr lvl="1"/>
            <a:r>
              <a:rPr lang="en-GB" dirty="0"/>
              <a:t>Servers</a:t>
            </a:r>
          </a:p>
          <a:p>
            <a:pPr lvl="1"/>
            <a:r>
              <a:rPr lang="en-GB" dirty="0"/>
              <a:t>GPUs</a:t>
            </a:r>
          </a:p>
          <a:p>
            <a:r>
              <a:rPr lang="en-GB" dirty="0"/>
              <a:t>Standard networking to connect compute nodes</a:t>
            </a:r>
          </a:p>
          <a:p>
            <a:r>
              <a:rPr lang="en-GB" dirty="0"/>
              <a:t>Control and scheduling is managed by software</a:t>
            </a:r>
          </a:p>
          <a:p>
            <a:r>
              <a:rPr lang="en-GB" dirty="0"/>
              <a:t>Cloud computing uses clusters</a:t>
            </a:r>
          </a:p>
        </p:txBody>
      </p:sp>
      <p:pic>
        <p:nvPicPr>
          <p:cNvPr id="5122" name="Picture 2" descr="undefined">
            <a:extLst>
              <a:ext uri="{FF2B5EF4-FFF2-40B4-BE49-F238E27FC236}">
                <a16:creationId xmlns:a16="http://schemas.microsoft.com/office/drawing/2014/main" id="{5968B62E-AAE5-4A72-31F7-426717B7DBD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242788"/>
            <a:ext cx="5181600" cy="3517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58871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1481A-AFCC-F29C-6E1B-C2E119D69840}"/>
              </a:ext>
            </a:extLst>
          </p:cNvPr>
          <p:cNvSpPr>
            <a:spLocks noGrp="1"/>
          </p:cNvSpPr>
          <p:nvPr>
            <p:ph type="title"/>
          </p:nvPr>
        </p:nvSpPr>
        <p:spPr/>
        <p:txBody>
          <a:bodyPr/>
          <a:lstStyle/>
          <a:p>
            <a:r>
              <a:rPr lang="en-GB" dirty="0"/>
              <a:t>Graphical Processing Units (GPUs)</a:t>
            </a:r>
          </a:p>
        </p:txBody>
      </p:sp>
      <p:sp>
        <p:nvSpPr>
          <p:cNvPr id="5" name="Content Placeholder 4">
            <a:extLst>
              <a:ext uri="{FF2B5EF4-FFF2-40B4-BE49-F238E27FC236}">
                <a16:creationId xmlns:a16="http://schemas.microsoft.com/office/drawing/2014/main" id="{7A72FA4E-ADC4-7089-54D3-DFB41F75C27B}"/>
              </a:ext>
            </a:extLst>
          </p:cNvPr>
          <p:cNvSpPr>
            <a:spLocks noGrp="1"/>
          </p:cNvSpPr>
          <p:nvPr>
            <p:ph idx="1"/>
          </p:nvPr>
        </p:nvSpPr>
        <p:spPr/>
        <p:txBody>
          <a:bodyPr>
            <a:normAutofit/>
          </a:bodyPr>
          <a:lstStyle/>
          <a:p>
            <a:pPr marL="282575" lvl="1" indent="-282575">
              <a:spcBef>
                <a:spcPts val="1800"/>
              </a:spcBef>
            </a:pPr>
            <a:r>
              <a:rPr lang="en-US" sz="3600" dirty="0"/>
              <a:t>Provide efficient computation on arrays of data using Single-Instruction Multiple Data (SIMD) techniques pioneered in supercomputers</a:t>
            </a:r>
            <a:endParaRPr lang="en-US" sz="3200" dirty="0"/>
          </a:p>
          <a:p>
            <a:pPr marL="282575" lvl="1" indent="-282575">
              <a:spcBef>
                <a:spcPts val="1800"/>
              </a:spcBef>
            </a:pPr>
            <a:r>
              <a:rPr lang="en-US" sz="3568" dirty="0"/>
              <a:t>No longer used just for rendering advanced graphics</a:t>
            </a:r>
          </a:p>
          <a:p>
            <a:pPr marL="107950" lvl="1">
              <a:lnSpc>
                <a:spcPct val="80000"/>
              </a:lnSpc>
              <a:spcBef>
                <a:spcPts val="1800"/>
              </a:spcBef>
            </a:pPr>
            <a:r>
              <a:rPr lang="en-US" sz="3427" dirty="0"/>
              <a:t>Also used for general numerical processing</a:t>
            </a:r>
          </a:p>
          <a:p>
            <a:pPr marL="673100" lvl="3">
              <a:lnSpc>
                <a:spcPct val="50000"/>
              </a:lnSpc>
              <a:spcBef>
                <a:spcPts val="1800"/>
              </a:spcBef>
            </a:pPr>
            <a:r>
              <a:rPr lang="en-US" sz="2800" dirty="0"/>
              <a:t>Physics simulations for games</a:t>
            </a:r>
          </a:p>
          <a:p>
            <a:pPr marL="673100" lvl="3">
              <a:lnSpc>
                <a:spcPct val="50000"/>
              </a:lnSpc>
              <a:spcBef>
                <a:spcPts val="1800"/>
              </a:spcBef>
            </a:pPr>
            <a:r>
              <a:rPr lang="en-US" sz="2800" dirty="0"/>
              <a:t>Computations on large spreadsheets</a:t>
            </a:r>
          </a:p>
          <a:p>
            <a:pPr marL="673100" lvl="3">
              <a:lnSpc>
                <a:spcPct val="50000"/>
              </a:lnSpc>
              <a:spcBef>
                <a:spcPts val="1800"/>
              </a:spcBef>
            </a:pPr>
            <a:r>
              <a:rPr lang="en-US" sz="2800" dirty="0"/>
              <a:t>AI model training</a:t>
            </a:r>
          </a:p>
          <a:p>
            <a:endParaRPr lang="en-GB" dirty="0"/>
          </a:p>
        </p:txBody>
      </p:sp>
    </p:spTree>
    <p:extLst>
      <p:ext uri="{BB962C8B-B14F-4D97-AF65-F5344CB8AC3E}">
        <p14:creationId xmlns:p14="http://schemas.microsoft.com/office/powerpoint/2010/main" val="14784616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DEDD1A-76E5-AC89-0A0A-882A67732914}"/>
              </a:ext>
            </a:extLst>
          </p:cNvPr>
          <p:cNvSpPr>
            <a:spLocks noGrp="1"/>
          </p:cNvSpPr>
          <p:nvPr>
            <p:ph type="title"/>
          </p:nvPr>
        </p:nvSpPr>
        <p:spPr/>
        <p:txBody>
          <a:bodyPr/>
          <a:lstStyle/>
          <a:p>
            <a:r>
              <a:rPr lang="en-GB" dirty="0"/>
              <a:t>Amdahl’s Law</a:t>
            </a:r>
          </a:p>
        </p:txBody>
      </p:sp>
      <p:sp>
        <p:nvSpPr>
          <p:cNvPr id="5" name="Content Placeholder 4">
            <a:extLst>
              <a:ext uri="{FF2B5EF4-FFF2-40B4-BE49-F238E27FC236}">
                <a16:creationId xmlns:a16="http://schemas.microsoft.com/office/drawing/2014/main" id="{9C595B04-8C1E-F2C7-9157-70402EEACD41}"/>
              </a:ext>
            </a:extLst>
          </p:cNvPr>
          <p:cNvSpPr>
            <a:spLocks noGrp="1"/>
          </p:cNvSpPr>
          <p:nvPr>
            <p:ph sz="half" idx="1"/>
          </p:nvPr>
        </p:nvSpPr>
        <p:spPr/>
        <p:txBody>
          <a:bodyPr>
            <a:normAutofit lnSpcReduction="10000"/>
          </a:bodyPr>
          <a:lstStyle/>
          <a:p>
            <a:r>
              <a:rPr lang="en-GB" dirty="0"/>
              <a:t>Amdahl’s Law</a:t>
            </a:r>
          </a:p>
          <a:p>
            <a:pPr lvl="1"/>
            <a:r>
              <a:rPr lang="en-GB" dirty="0"/>
              <a:t>"the overall performance improvement gained by optimizing a single part of a system is limited by the fraction of time that the improved part is actually used“</a:t>
            </a:r>
          </a:p>
          <a:p>
            <a:r>
              <a:rPr lang="en-GB" dirty="0"/>
              <a:t>So, we do not get a speed up simply by adding more processors</a:t>
            </a:r>
          </a:p>
          <a:p>
            <a:r>
              <a:rPr lang="en-GB" dirty="0"/>
              <a:t>Depends on how the task can be parallelised</a:t>
            </a:r>
          </a:p>
          <a:p>
            <a:endParaRPr lang="en-GB" dirty="0"/>
          </a:p>
        </p:txBody>
      </p:sp>
      <p:pic>
        <p:nvPicPr>
          <p:cNvPr id="6146" name="Picture 2">
            <a:extLst>
              <a:ext uri="{FF2B5EF4-FFF2-40B4-BE49-F238E27FC236}">
                <a16:creationId xmlns:a16="http://schemas.microsoft.com/office/drawing/2014/main" id="{6AE23C13-2916-C31C-1A12-8083971001A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982314" y="1825625"/>
            <a:ext cx="6209686" cy="4859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94930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3AF2B-6AC3-A147-B7ED-5E5CDCD9E25A}"/>
              </a:ext>
            </a:extLst>
          </p:cNvPr>
          <p:cNvSpPr>
            <a:spLocks noGrp="1"/>
          </p:cNvSpPr>
          <p:nvPr>
            <p:ph type="title"/>
          </p:nvPr>
        </p:nvSpPr>
        <p:spPr/>
        <p:txBody>
          <a:bodyPr/>
          <a:lstStyle/>
          <a:p>
            <a:r>
              <a:rPr lang="en-GB" dirty="0"/>
              <a:t>Break</a:t>
            </a:r>
          </a:p>
        </p:txBody>
      </p:sp>
      <p:sp>
        <p:nvSpPr>
          <p:cNvPr id="3" name="Content Placeholder 2">
            <a:extLst>
              <a:ext uri="{FF2B5EF4-FFF2-40B4-BE49-F238E27FC236}">
                <a16:creationId xmlns:a16="http://schemas.microsoft.com/office/drawing/2014/main" id="{4DB6C911-5683-C35F-5CA6-C96C6DC3E6B6}"/>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2727107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2118F-D8BA-B85A-88E5-7D8D0E89AF78}"/>
              </a:ext>
            </a:extLst>
          </p:cNvPr>
          <p:cNvSpPr>
            <a:spLocks noGrp="1"/>
          </p:cNvSpPr>
          <p:nvPr>
            <p:ph type="title"/>
          </p:nvPr>
        </p:nvSpPr>
        <p:spPr/>
        <p:txBody>
          <a:bodyPr/>
          <a:lstStyle/>
          <a:p>
            <a:r>
              <a:rPr lang="en-GB" dirty="0"/>
              <a:t>Hardware &amp; Software</a:t>
            </a:r>
          </a:p>
        </p:txBody>
      </p:sp>
      <p:sp>
        <p:nvSpPr>
          <p:cNvPr id="4" name="Text Placeholder 3">
            <a:extLst>
              <a:ext uri="{FF2B5EF4-FFF2-40B4-BE49-F238E27FC236}">
                <a16:creationId xmlns:a16="http://schemas.microsoft.com/office/drawing/2014/main" id="{22DF13A9-9F0F-8210-DA2F-840CFDB88887}"/>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7903858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9921A-7A63-462A-469F-65FE41230322}"/>
              </a:ext>
            </a:extLst>
          </p:cNvPr>
          <p:cNvSpPr>
            <a:spLocks noGrp="1"/>
          </p:cNvSpPr>
          <p:nvPr>
            <p:ph type="title"/>
          </p:nvPr>
        </p:nvSpPr>
        <p:spPr/>
        <p:txBody>
          <a:bodyPr/>
          <a:lstStyle/>
          <a:p>
            <a:r>
              <a:rPr lang="en-GB" dirty="0"/>
              <a:t>Hardware &amp; Software</a:t>
            </a:r>
          </a:p>
        </p:txBody>
      </p:sp>
      <p:sp>
        <p:nvSpPr>
          <p:cNvPr id="5" name="Content Placeholder 4">
            <a:extLst>
              <a:ext uri="{FF2B5EF4-FFF2-40B4-BE49-F238E27FC236}">
                <a16:creationId xmlns:a16="http://schemas.microsoft.com/office/drawing/2014/main" id="{517E0324-4152-7FA6-FDF3-23E49DF5907A}"/>
              </a:ext>
            </a:extLst>
          </p:cNvPr>
          <p:cNvSpPr>
            <a:spLocks noGrp="1"/>
          </p:cNvSpPr>
          <p:nvPr>
            <p:ph idx="1"/>
          </p:nvPr>
        </p:nvSpPr>
        <p:spPr/>
        <p:txBody>
          <a:bodyPr>
            <a:normAutofit fontScale="92500"/>
          </a:bodyPr>
          <a:lstStyle/>
          <a:p>
            <a:r>
              <a:rPr lang="en-GB" dirty="0"/>
              <a:t>In order to perform tasks, we need programs</a:t>
            </a:r>
          </a:p>
          <a:p>
            <a:r>
              <a:rPr lang="en-GB" dirty="0"/>
              <a:t>Machine instructions are the way the hardware is controlled to perform a task</a:t>
            </a:r>
          </a:p>
          <a:p>
            <a:r>
              <a:rPr lang="en-GB" dirty="0"/>
              <a:t>Programs written as machine instructions become increasingly complex </a:t>
            </a:r>
          </a:p>
          <a:p>
            <a:r>
              <a:rPr lang="en-GB" dirty="0"/>
              <a:t>Instead provide programmers with interfaces using high-level programming language</a:t>
            </a:r>
          </a:p>
          <a:p>
            <a:pPr lvl="1"/>
            <a:r>
              <a:rPr lang="en-GB" dirty="0"/>
              <a:t>Allows hardware to be controlled without providing set of machine instructions</a:t>
            </a:r>
          </a:p>
          <a:p>
            <a:pPr lvl="1"/>
            <a:r>
              <a:rPr lang="en-GB" dirty="0"/>
              <a:t>High-level program is translated to machine instructions</a:t>
            </a:r>
          </a:p>
          <a:p>
            <a:pPr lvl="2"/>
            <a:r>
              <a:rPr lang="en-GB" dirty="0"/>
              <a:t>Compilation</a:t>
            </a:r>
          </a:p>
          <a:p>
            <a:pPr lvl="2"/>
            <a:r>
              <a:rPr lang="en-GB" dirty="0"/>
              <a:t>Interpretation</a:t>
            </a:r>
          </a:p>
          <a:p>
            <a:endParaRPr lang="en-GB" dirty="0"/>
          </a:p>
        </p:txBody>
      </p:sp>
    </p:spTree>
    <p:extLst>
      <p:ext uri="{BB962C8B-B14F-4D97-AF65-F5344CB8AC3E}">
        <p14:creationId xmlns:p14="http://schemas.microsoft.com/office/powerpoint/2010/main" val="4859103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2E745-6827-1570-99CF-90132DB918C5}"/>
              </a:ext>
            </a:extLst>
          </p:cNvPr>
          <p:cNvSpPr>
            <a:spLocks noGrp="1"/>
          </p:cNvSpPr>
          <p:nvPr>
            <p:ph type="title"/>
          </p:nvPr>
        </p:nvSpPr>
        <p:spPr/>
        <p:txBody>
          <a:bodyPr/>
          <a:lstStyle/>
          <a:p>
            <a:r>
              <a:rPr lang="en-GB" dirty="0"/>
              <a:t>Hardware &amp; Software Structure</a:t>
            </a:r>
          </a:p>
        </p:txBody>
      </p:sp>
      <p:sp>
        <p:nvSpPr>
          <p:cNvPr id="6" name="Content Placeholder 5">
            <a:extLst>
              <a:ext uri="{FF2B5EF4-FFF2-40B4-BE49-F238E27FC236}">
                <a16:creationId xmlns:a16="http://schemas.microsoft.com/office/drawing/2014/main" id="{85D68360-68F2-2470-F491-7EF2EE705A46}"/>
              </a:ext>
            </a:extLst>
          </p:cNvPr>
          <p:cNvSpPr>
            <a:spLocks noGrp="1"/>
          </p:cNvSpPr>
          <p:nvPr>
            <p:ph sz="half" idx="1"/>
          </p:nvPr>
        </p:nvSpPr>
        <p:spPr/>
        <p:txBody>
          <a:bodyPr/>
          <a:lstStyle/>
          <a:p>
            <a:r>
              <a:rPr lang="en-GB" dirty="0"/>
              <a:t>Applications</a:t>
            </a:r>
          </a:p>
          <a:p>
            <a:pPr lvl="1"/>
            <a:r>
              <a:rPr lang="en-GB" dirty="0"/>
              <a:t>Programs users interact with</a:t>
            </a:r>
          </a:p>
          <a:p>
            <a:r>
              <a:rPr lang="en-GB" dirty="0"/>
              <a:t>Utilities</a:t>
            </a:r>
          </a:p>
          <a:p>
            <a:pPr lvl="1"/>
            <a:r>
              <a:rPr lang="en-GB" dirty="0"/>
              <a:t>System programs designed to perform certain functions</a:t>
            </a:r>
          </a:p>
          <a:p>
            <a:r>
              <a:rPr lang="en-GB" dirty="0"/>
              <a:t>Operating System</a:t>
            </a:r>
          </a:p>
          <a:p>
            <a:pPr lvl="1"/>
            <a:r>
              <a:rPr lang="en-GB" dirty="0"/>
              <a:t>Provides interface to system hardware</a:t>
            </a:r>
          </a:p>
          <a:p>
            <a:r>
              <a:rPr lang="en-GB" dirty="0"/>
              <a:t>Libraries</a:t>
            </a:r>
          </a:p>
          <a:p>
            <a:pPr lvl="1"/>
            <a:r>
              <a:rPr lang="en-GB" dirty="0"/>
              <a:t>Provides interface to OS</a:t>
            </a:r>
          </a:p>
          <a:p>
            <a:endParaRPr lang="en-GB" dirty="0"/>
          </a:p>
        </p:txBody>
      </p:sp>
      <p:pic>
        <p:nvPicPr>
          <p:cNvPr id="8" name="Content Placeholder 6" descr="f1.pdf">
            <a:extLst>
              <a:ext uri="{FF2B5EF4-FFF2-40B4-BE49-F238E27FC236}">
                <a16:creationId xmlns:a16="http://schemas.microsoft.com/office/drawing/2014/main" id="{D09C24CB-7BAB-5C33-8364-79E31CFA75A6}"/>
              </a:ext>
            </a:extLst>
          </p:cNvPr>
          <p:cNvPicPr>
            <a:picLocks noGrp="1" noChangeAspect="1"/>
          </p:cNvPicPr>
          <p:nvPr>
            <p:ph sz="half" idx="2"/>
          </p:nvPr>
        </p:nvPicPr>
        <p:blipFill>
          <a:blip r:embed="rId3" cstate="print"/>
          <a:srcRect t="20000" b="25455"/>
          <a:stretch>
            <a:fillRect/>
          </a:stretch>
        </p:blipFill>
        <p:spPr>
          <a:xfrm>
            <a:off x="6172199" y="2172509"/>
            <a:ext cx="5673025" cy="4004454"/>
          </a:xfrm>
          <a:prstGeom prst="rect">
            <a:avLst/>
          </a:prstGeom>
        </p:spPr>
      </p:pic>
    </p:spTree>
    <p:extLst>
      <p:ext uri="{BB962C8B-B14F-4D97-AF65-F5344CB8AC3E}">
        <p14:creationId xmlns:p14="http://schemas.microsoft.com/office/powerpoint/2010/main" val="30501690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473DB-D22F-101A-E20B-A4647868C6FD}"/>
              </a:ext>
            </a:extLst>
          </p:cNvPr>
          <p:cNvSpPr>
            <a:spLocks noGrp="1"/>
          </p:cNvSpPr>
          <p:nvPr>
            <p:ph type="title"/>
          </p:nvPr>
        </p:nvSpPr>
        <p:spPr/>
        <p:txBody>
          <a:bodyPr/>
          <a:lstStyle/>
          <a:p>
            <a:r>
              <a:rPr lang="en-GB" dirty="0"/>
              <a:t>Operating System</a:t>
            </a:r>
          </a:p>
        </p:txBody>
      </p:sp>
      <p:sp>
        <p:nvSpPr>
          <p:cNvPr id="6" name="Content Placeholder 5">
            <a:extLst>
              <a:ext uri="{FF2B5EF4-FFF2-40B4-BE49-F238E27FC236}">
                <a16:creationId xmlns:a16="http://schemas.microsoft.com/office/drawing/2014/main" id="{5F101ADE-D404-D167-5114-B6317C16E3DD}"/>
              </a:ext>
            </a:extLst>
          </p:cNvPr>
          <p:cNvSpPr>
            <a:spLocks noGrp="1"/>
          </p:cNvSpPr>
          <p:nvPr>
            <p:ph idx="1"/>
          </p:nvPr>
        </p:nvSpPr>
        <p:spPr/>
        <p:txBody>
          <a:bodyPr/>
          <a:lstStyle/>
          <a:p>
            <a:r>
              <a:rPr lang="en-US" sz="2800" dirty="0"/>
              <a:t>A program that controls the execution of application programs</a:t>
            </a:r>
          </a:p>
          <a:p>
            <a:r>
              <a:rPr lang="en-US" sz="2800" dirty="0"/>
              <a:t>An interface between applications and hardware</a:t>
            </a:r>
          </a:p>
          <a:p>
            <a:endParaRPr lang="en-GB" dirty="0"/>
          </a:p>
        </p:txBody>
      </p:sp>
      <p:graphicFrame>
        <p:nvGraphicFramePr>
          <p:cNvPr id="7" name="Diagram 6">
            <a:extLst>
              <a:ext uri="{FF2B5EF4-FFF2-40B4-BE49-F238E27FC236}">
                <a16:creationId xmlns:a16="http://schemas.microsoft.com/office/drawing/2014/main" id="{FFFFFE5C-3C08-09C9-4567-57F754442927}"/>
              </a:ext>
            </a:extLst>
          </p:cNvPr>
          <p:cNvGraphicFramePr/>
          <p:nvPr>
            <p:extLst>
              <p:ext uri="{D42A27DB-BD31-4B8C-83A1-F6EECF244321}">
                <p14:modId xmlns:p14="http://schemas.microsoft.com/office/powerpoint/2010/main" val="4002272353"/>
              </p:ext>
            </p:extLst>
          </p:nvPr>
        </p:nvGraphicFramePr>
        <p:xfrm>
          <a:off x="3467100" y="3163614"/>
          <a:ext cx="5257800" cy="226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20421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A6A34-E90E-8214-6496-1F315EFF38FD}"/>
              </a:ext>
            </a:extLst>
          </p:cNvPr>
          <p:cNvSpPr>
            <a:spLocks noGrp="1"/>
          </p:cNvSpPr>
          <p:nvPr>
            <p:ph type="title"/>
          </p:nvPr>
        </p:nvSpPr>
        <p:spPr/>
        <p:txBody>
          <a:bodyPr/>
          <a:lstStyle/>
          <a:p>
            <a:r>
              <a:rPr lang="en-GB" dirty="0"/>
              <a:t>Operating System Services</a:t>
            </a:r>
          </a:p>
        </p:txBody>
      </p:sp>
      <p:sp>
        <p:nvSpPr>
          <p:cNvPr id="3" name="Content Placeholder 2">
            <a:extLst>
              <a:ext uri="{FF2B5EF4-FFF2-40B4-BE49-F238E27FC236}">
                <a16:creationId xmlns:a16="http://schemas.microsoft.com/office/drawing/2014/main" id="{86D51D88-7FE9-B7B2-CBD7-29D915648C9B}"/>
              </a:ext>
            </a:extLst>
          </p:cNvPr>
          <p:cNvSpPr>
            <a:spLocks noGrp="1"/>
          </p:cNvSpPr>
          <p:nvPr>
            <p:ph idx="1"/>
          </p:nvPr>
        </p:nvSpPr>
        <p:spPr/>
        <p:txBody>
          <a:bodyPr/>
          <a:lstStyle/>
          <a:p>
            <a:pPr>
              <a:spcBef>
                <a:spcPts val="600"/>
              </a:spcBef>
            </a:pPr>
            <a:r>
              <a:rPr lang="en-US" sz="2800" dirty="0"/>
              <a:t>Program development</a:t>
            </a:r>
          </a:p>
          <a:p>
            <a:pPr>
              <a:spcBef>
                <a:spcPts val="600"/>
              </a:spcBef>
            </a:pPr>
            <a:r>
              <a:rPr lang="en-US" sz="2800" dirty="0"/>
              <a:t>Program execution</a:t>
            </a:r>
          </a:p>
          <a:p>
            <a:pPr>
              <a:spcBef>
                <a:spcPts val="600"/>
              </a:spcBef>
            </a:pPr>
            <a:r>
              <a:rPr lang="en-US" sz="2800" dirty="0"/>
              <a:t>Access I/O devices</a:t>
            </a:r>
          </a:p>
          <a:p>
            <a:pPr>
              <a:spcBef>
                <a:spcPts val="600"/>
              </a:spcBef>
            </a:pPr>
            <a:r>
              <a:rPr lang="en-US" sz="2800" dirty="0"/>
              <a:t>Controlled access to files</a:t>
            </a:r>
          </a:p>
          <a:p>
            <a:pPr>
              <a:spcBef>
                <a:spcPts val="600"/>
              </a:spcBef>
            </a:pPr>
            <a:r>
              <a:rPr lang="en-US" sz="2800" dirty="0"/>
              <a:t>System access</a:t>
            </a:r>
          </a:p>
          <a:p>
            <a:pPr>
              <a:spcBef>
                <a:spcPts val="600"/>
              </a:spcBef>
            </a:pPr>
            <a:r>
              <a:rPr lang="en-US" sz="2800" dirty="0"/>
              <a:t>Error detection and response</a:t>
            </a:r>
          </a:p>
          <a:p>
            <a:pPr>
              <a:spcBef>
                <a:spcPts val="600"/>
              </a:spcBef>
            </a:pPr>
            <a:r>
              <a:rPr lang="en-US" sz="2800" dirty="0"/>
              <a:t>Accounting</a:t>
            </a:r>
          </a:p>
          <a:p>
            <a:endParaRPr lang="en-GB" dirty="0"/>
          </a:p>
        </p:txBody>
      </p:sp>
    </p:spTree>
    <p:extLst>
      <p:ext uri="{BB962C8B-B14F-4D97-AF65-F5344CB8AC3E}">
        <p14:creationId xmlns:p14="http://schemas.microsoft.com/office/powerpoint/2010/main" val="22270447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709B4-65C1-A704-CB0A-53D5E4DD504C}"/>
              </a:ext>
            </a:extLst>
          </p:cNvPr>
          <p:cNvSpPr>
            <a:spLocks noGrp="1"/>
          </p:cNvSpPr>
          <p:nvPr>
            <p:ph type="title"/>
          </p:nvPr>
        </p:nvSpPr>
        <p:spPr/>
        <p:txBody>
          <a:bodyPr/>
          <a:lstStyle/>
          <a:p>
            <a:r>
              <a:rPr lang="en-GB" dirty="0"/>
              <a:t>Key Interfaces</a:t>
            </a:r>
          </a:p>
        </p:txBody>
      </p:sp>
      <p:sp>
        <p:nvSpPr>
          <p:cNvPr id="3" name="Content Placeholder 2">
            <a:extLst>
              <a:ext uri="{FF2B5EF4-FFF2-40B4-BE49-F238E27FC236}">
                <a16:creationId xmlns:a16="http://schemas.microsoft.com/office/drawing/2014/main" id="{0599F84D-1EE0-7A4C-9DE5-4A96B77985AC}"/>
              </a:ext>
            </a:extLst>
          </p:cNvPr>
          <p:cNvSpPr>
            <a:spLocks noGrp="1"/>
          </p:cNvSpPr>
          <p:nvPr>
            <p:ph idx="1"/>
          </p:nvPr>
        </p:nvSpPr>
        <p:spPr/>
        <p:txBody>
          <a:bodyPr>
            <a:normAutofit fontScale="92500" lnSpcReduction="20000"/>
          </a:bodyPr>
          <a:lstStyle/>
          <a:p>
            <a:r>
              <a:rPr lang="en-US" sz="2800" dirty="0"/>
              <a:t>Instruction set architecture (ISA)</a:t>
            </a:r>
          </a:p>
          <a:p>
            <a:pPr lvl="1"/>
            <a:r>
              <a:rPr lang="en-US" dirty="0"/>
              <a:t>Machine instructions</a:t>
            </a:r>
          </a:p>
          <a:p>
            <a:pPr lvl="1"/>
            <a:r>
              <a:rPr lang="en-US" dirty="0"/>
              <a:t>Some programs may access ISA directly (contain machine instructions)</a:t>
            </a:r>
          </a:p>
          <a:p>
            <a:r>
              <a:rPr lang="en-US" sz="2800" dirty="0"/>
              <a:t>Application binary interface (ABI)</a:t>
            </a:r>
          </a:p>
          <a:p>
            <a:pPr lvl="1"/>
            <a:r>
              <a:rPr lang="en-US" dirty="0"/>
              <a:t>System call interface to OS and hardware</a:t>
            </a:r>
          </a:p>
          <a:p>
            <a:pPr lvl="1"/>
            <a:r>
              <a:rPr lang="en-US" dirty="0"/>
              <a:t>Typically implemented as libraries or device drivers</a:t>
            </a:r>
          </a:p>
          <a:p>
            <a:pPr lvl="1"/>
            <a:r>
              <a:rPr lang="en-US" dirty="0"/>
              <a:t>Allows programs to be independent of hardware and OS changes – binary code compatibility</a:t>
            </a:r>
          </a:p>
          <a:p>
            <a:r>
              <a:rPr lang="en-US" sz="2800" dirty="0"/>
              <a:t>Application programming interface (API)</a:t>
            </a:r>
          </a:p>
          <a:p>
            <a:pPr lvl="1"/>
            <a:r>
              <a:rPr lang="en-US" dirty="0"/>
              <a:t>High-level programming language interface to hardware resources and system services</a:t>
            </a:r>
          </a:p>
          <a:p>
            <a:pPr lvl="1"/>
            <a:r>
              <a:rPr lang="en-US" dirty="0"/>
              <a:t>Implemented as libraries</a:t>
            </a:r>
          </a:p>
          <a:p>
            <a:pPr lvl="1"/>
            <a:r>
              <a:rPr lang="en-US" dirty="0"/>
              <a:t>Allows program to be ported to other systems that support same API – source code compatibility</a:t>
            </a:r>
          </a:p>
          <a:p>
            <a:endParaRPr lang="en-GB" dirty="0"/>
          </a:p>
        </p:txBody>
      </p:sp>
    </p:spTree>
    <p:extLst>
      <p:ext uri="{BB962C8B-B14F-4D97-AF65-F5344CB8AC3E}">
        <p14:creationId xmlns:p14="http://schemas.microsoft.com/office/powerpoint/2010/main" val="28415171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B485F-855B-5605-6219-2D4EF92D2277}"/>
              </a:ext>
            </a:extLst>
          </p:cNvPr>
          <p:cNvSpPr>
            <a:spLocks noGrp="1"/>
          </p:cNvSpPr>
          <p:nvPr>
            <p:ph type="title"/>
          </p:nvPr>
        </p:nvSpPr>
        <p:spPr/>
        <p:txBody>
          <a:bodyPr/>
          <a:lstStyle/>
          <a:p>
            <a:r>
              <a:rPr lang="en-GB" dirty="0"/>
              <a:t>The Operating System as Resource Manager</a:t>
            </a:r>
          </a:p>
        </p:txBody>
      </p:sp>
      <p:sp>
        <p:nvSpPr>
          <p:cNvPr id="3" name="Content Placeholder 2">
            <a:extLst>
              <a:ext uri="{FF2B5EF4-FFF2-40B4-BE49-F238E27FC236}">
                <a16:creationId xmlns:a16="http://schemas.microsoft.com/office/drawing/2014/main" id="{0A1D1009-005D-7EEA-1693-1018F43CBCA7}"/>
              </a:ext>
            </a:extLst>
          </p:cNvPr>
          <p:cNvSpPr>
            <a:spLocks noGrp="1"/>
          </p:cNvSpPr>
          <p:nvPr>
            <p:ph sz="half" idx="1"/>
          </p:nvPr>
        </p:nvSpPr>
        <p:spPr/>
        <p:txBody>
          <a:bodyPr/>
          <a:lstStyle/>
          <a:p>
            <a:r>
              <a:rPr lang="en-NZ" sz="2800" dirty="0"/>
              <a:t>The OS is responsible for controlling the use of a computer’s resources, such as I/O, main and secondary memory, and processor execution time</a:t>
            </a:r>
          </a:p>
          <a:p>
            <a:r>
              <a:rPr lang="en-NZ" sz="2800" dirty="0"/>
              <a:t>Portion of OS</a:t>
            </a:r>
            <a:r>
              <a:rPr lang="en-NZ" dirty="0"/>
              <a:t>, the </a:t>
            </a:r>
            <a:r>
              <a:rPr lang="en-NZ" b="1" dirty="0"/>
              <a:t>kernel</a:t>
            </a:r>
            <a:r>
              <a:rPr lang="en-NZ" dirty="0"/>
              <a:t> is in main memory</a:t>
            </a:r>
          </a:p>
          <a:p>
            <a:r>
              <a:rPr lang="en-NZ" dirty="0"/>
              <a:t>Remainder is user programs and data</a:t>
            </a:r>
            <a:endParaRPr lang="en-NZ" sz="2800" dirty="0"/>
          </a:p>
          <a:p>
            <a:endParaRPr lang="en-GB" dirty="0"/>
          </a:p>
        </p:txBody>
      </p:sp>
      <p:pic>
        <p:nvPicPr>
          <p:cNvPr id="5" name="Content Placeholder 4" descr="f2.pdf">
            <a:extLst>
              <a:ext uri="{FF2B5EF4-FFF2-40B4-BE49-F238E27FC236}">
                <a16:creationId xmlns:a16="http://schemas.microsoft.com/office/drawing/2014/main" id="{A273EE35-9AE1-DDB2-2958-C43B2AEFA09C}"/>
              </a:ext>
            </a:extLst>
          </p:cNvPr>
          <p:cNvPicPr>
            <a:picLocks noGrp="1" noChangeAspect="1"/>
          </p:cNvPicPr>
          <p:nvPr>
            <p:ph sz="half" idx="2"/>
          </p:nvPr>
        </p:nvPicPr>
        <p:blipFill>
          <a:blip r:embed="rId3" cstate="print"/>
          <a:stretch>
            <a:fillRect/>
          </a:stretch>
        </p:blipFill>
        <p:spPr>
          <a:xfrm>
            <a:off x="5847347" y="1748290"/>
            <a:ext cx="6285591" cy="4857047"/>
          </a:xfrm>
          <a:prstGeom prst="rect">
            <a:avLst/>
          </a:prstGeom>
        </p:spPr>
      </p:pic>
    </p:spTree>
    <p:extLst>
      <p:ext uri="{BB962C8B-B14F-4D97-AF65-F5344CB8AC3E}">
        <p14:creationId xmlns:p14="http://schemas.microsoft.com/office/powerpoint/2010/main" val="27463371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DB4E-F67A-C5E4-01FF-9BEA9E77CDF3}"/>
              </a:ext>
            </a:extLst>
          </p:cNvPr>
          <p:cNvSpPr>
            <a:spLocks noGrp="1"/>
          </p:cNvSpPr>
          <p:nvPr>
            <p:ph type="title"/>
          </p:nvPr>
        </p:nvSpPr>
        <p:spPr/>
        <p:txBody>
          <a:bodyPr/>
          <a:lstStyle/>
          <a:p>
            <a:r>
              <a:rPr lang="en-GB" dirty="0"/>
              <a:t>OS Evolution</a:t>
            </a:r>
          </a:p>
        </p:txBody>
      </p:sp>
      <p:sp>
        <p:nvSpPr>
          <p:cNvPr id="5" name="Content Placeholder 4">
            <a:extLst>
              <a:ext uri="{FF2B5EF4-FFF2-40B4-BE49-F238E27FC236}">
                <a16:creationId xmlns:a16="http://schemas.microsoft.com/office/drawing/2014/main" id="{B2E694AE-7CBF-BC17-A57A-A0B94CDA1DAB}"/>
              </a:ext>
            </a:extLst>
          </p:cNvPr>
          <p:cNvSpPr>
            <a:spLocks noGrp="1"/>
          </p:cNvSpPr>
          <p:nvPr>
            <p:ph idx="1"/>
          </p:nvPr>
        </p:nvSpPr>
        <p:spPr/>
        <p:txBody>
          <a:bodyPr/>
          <a:lstStyle/>
          <a:p>
            <a:r>
              <a:rPr lang="en-NZ" sz="2800" dirty="0"/>
              <a:t>A major OS will evolve over time for a number of reasons:</a:t>
            </a:r>
            <a:endParaRPr lang="en-US" sz="2800" dirty="0"/>
          </a:p>
          <a:p>
            <a:r>
              <a:rPr lang="en-GB" dirty="0"/>
              <a:t>Hardware upgrades</a:t>
            </a:r>
          </a:p>
          <a:p>
            <a:pPr lvl="1"/>
            <a:r>
              <a:rPr lang="en-GB" dirty="0"/>
              <a:t>E.g. graphical interfaces</a:t>
            </a:r>
          </a:p>
          <a:p>
            <a:r>
              <a:rPr lang="en-GB" dirty="0"/>
              <a:t>New types of hardware</a:t>
            </a:r>
          </a:p>
          <a:p>
            <a:r>
              <a:rPr lang="en-GB" dirty="0"/>
              <a:t>New services</a:t>
            </a:r>
          </a:p>
          <a:p>
            <a:r>
              <a:rPr lang="en-GB" dirty="0"/>
              <a:t>Fixes</a:t>
            </a:r>
          </a:p>
          <a:p>
            <a:endParaRPr lang="en-GB" dirty="0"/>
          </a:p>
        </p:txBody>
      </p:sp>
    </p:spTree>
    <p:extLst>
      <p:ext uri="{BB962C8B-B14F-4D97-AF65-F5344CB8AC3E}">
        <p14:creationId xmlns:p14="http://schemas.microsoft.com/office/powerpoint/2010/main" val="1472689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D98C9-927E-2E7A-8CF1-4A3EF3D4506A}"/>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DB548189-6166-752E-46AC-5EF3B8661EE0}"/>
              </a:ext>
            </a:extLst>
          </p:cNvPr>
          <p:cNvSpPr>
            <a:spLocks noGrp="1"/>
          </p:cNvSpPr>
          <p:nvPr>
            <p:ph idx="1"/>
          </p:nvPr>
        </p:nvSpPr>
        <p:spPr/>
        <p:txBody>
          <a:bodyPr/>
          <a:lstStyle/>
          <a:p>
            <a:r>
              <a:rPr lang="en-GB" dirty="0"/>
              <a:t>Building blocks of computer hardware</a:t>
            </a:r>
          </a:p>
          <a:p>
            <a:r>
              <a:rPr lang="en-GB" dirty="0"/>
              <a:t>History of computer hardware (part 2)</a:t>
            </a:r>
          </a:p>
          <a:p>
            <a:r>
              <a:rPr lang="en-GB"/>
              <a:t>Instruction Set Architectures</a:t>
            </a:r>
            <a:endParaRPr lang="en-GB" dirty="0"/>
          </a:p>
          <a:p>
            <a:r>
              <a:rPr lang="en-GB" dirty="0"/>
              <a:t>Embedded Systems</a:t>
            </a:r>
          </a:p>
          <a:p>
            <a:r>
              <a:rPr lang="en-GB" dirty="0"/>
              <a:t>Parallelism</a:t>
            </a:r>
          </a:p>
          <a:p>
            <a:r>
              <a:rPr lang="en-GB" dirty="0"/>
              <a:t>Hardware &amp; Software</a:t>
            </a:r>
          </a:p>
        </p:txBody>
      </p:sp>
    </p:spTree>
    <p:extLst>
      <p:ext uri="{BB962C8B-B14F-4D97-AF65-F5344CB8AC3E}">
        <p14:creationId xmlns:p14="http://schemas.microsoft.com/office/powerpoint/2010/main" val="935435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F120C89-F03D-4BE6-88B0-A6567DC6BDAD}">
  <we:reference id="3e0fcce7-415c-4081-926c-b4e449c650e4" version="1.1.0.2" store="EXCatalog" storeType="EXCatalog"/>
  <we:alternateReferences>
    <we:reference id="WA200004709" version="1.1.0.2" store="en-GB"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677</TotalTime>
  <Words>4025</Words>
  <Application>Microsoft Office PowerPoint</Application>
  <PresentationFormat>Widescreen</PresentationFormat>
  <Paragraphs>449</Paragraphs>
  <Slides>54</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Arial</vt:lpstr>
      <vt:lpstr>Calibri</vt:lpstr>
      <vt:lpstr>Calibri Light</vt:lpstr>
      <vt:lpstr>Office Theme</vt:lpstr>
      <vt:lpstr>COMP1860 Building our Digital World: Computer Systems &amp; Architecture</vt:lpstr>
      <vt:lpstr>PowerPoint Presentation</vt:lpstr>
      <vt:lpstr>Learning Outcomes</vt:lpstr>
      <vt:lpstr>Text Book</vt:lpstr>
      <vt:lpstr>Overview</vt:lpstr>
      <vt:lpstr>Building Blocks of Computers</vt:lpstr>
      <vt:lpstr>Computer Building Blocks</vt:lpstr>
      <vt:lpstr>Function &amp; Structure</vt:lpstr>
      <vt:lpstr>Transistors</vt:lpstr>
      <vt:lpstr>Integrated Circuit</vt:lpstr>
      <vt:lpstr>Integrated Circuit</vt:lpstr>
      <vt:lpstr>Integrated Circuit</vt:lpstr>
      <vt:lpstr>PowerPoint Presentation</vt:lpstr>
      <vt:lpstr>Moore’s Law</vt:lpstr>
      <vt:lpstr>Break</vt:lpstr>
      <vt:lpstr>Mainframe Computers</vt:lpstr>
      <vt:lpstr>Minicomputers</vt:lpstr>
      <vt:lpstr>System Bus</vt:lpstr>
      <vt:lpstr>Modern PC System Bus</vt:lpstr>
      <vt:lpstr>Memory Bus</vt:lpstr>
      <vt:lpstr>Microprocessors</vt:lpstr>
      <vt:lpstr>Microcomputers</vt:lpstr>
      <vt:lpstr>Instruction Sets</vt:lpstr>
      <vt:lpstr>Instruction Set Architecture (ISA)</vt:lpstr>
      <vt:lpstr>x86 ISA</vt:lpstr>
      <vt:lpstr>RISC ISA</vt:lpstr>
      <vt:lpstr>Break</vt:lpstr>
      <vt:lpstr>Embedded Systems</vt:lpstr>
      <vt:lpstr>Embedded Systems: Organisation</vt:lpstr>
      <vt:lpstr>Internet of Things</vt:lpstr>
      <vt:lpstr>Microcontrollers</vt:lpstr>
      <vt:lpstr>Digital Signal Processors (DSPs)</vt:lpstr>
      <vt:lpstr>System-on-chip (SoC)</vt:lpstr>
      <vt:lpstr>Field Programmable Gate Array (FPGA)</vt:lpstr>
      <vt:lpstr>Application-Specific Integrated Circuit (ASIC)</vt:lpstr>
      <vt:lpstr>ARM Processors</vt:lpstr>
      <vt:lpstr>ARM Architecture Profiles</vt:lpstr>
      <vt:lpstr>Example Cortex-M architecture</vt:lpstr>
      <vt:lpstr>Parallelism</vt:lpstr>
      <vt:lpstr>Parallelism</vt:lpstr>
      <vt:lpstr>Supercomputers</vt:lpstr>
      <vt:lpstr>Computing Clusters</vt:lpstr>
      <vt:lpstr>Graphical Processing Units (GPUs)</vt:lpstr>
      <vt:lpstr>Amdahl’s Law</vt:lpstr>
      <vt:lpstr>Break</vt:lpstr>
      <vt:lpstr>Hardware &amp; Software</vt:lpstr>
      <vt:lpstr>Hardware &amp; Software</vt:lpstr>
      <vt:lpstr>Hardware &amp; Software Structure</vt:lpstr>
      <vt:lpstr>Operating System</vt:lpstr>
      <vt:lpstr>Operating System Services</vt:lpstr>
      <vt:lpstr>Key Interfaces</vt:lpstr>
      <vt:lpstr>The Operating System as Resource Manager</vt:lpstr>
      <vt:lpstr>OS Evolution</vt:lpstr>
      <vt:lpstr>Summary</vt:lpstr>
    </vt:vector>
  </TitlesOfParts>
  <Company>University of Leeds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Dyer</dc:creator>
  <cp:lastModifiedBy>James Dyer</cp:lastModifiedBy>
  <cp:revision>13</cp:revision>
  <dcterms:created xsi:type="dcterms:W3CDTF">2024-09-13T11:57:59Z</dcterms:created>
  <dcterms:modified xsi:type="dcterms:W3CDTF">2026-09-24T11:49:25Z</dcterms:modified>
</cp:coreProperties>
</file>