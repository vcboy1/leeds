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69" r:id="rId3"/>
    <p:sldId id="257" r:id="rId4"/>
    <p:sldId id="339" r:id="rId5"/>
    <p:sldId id="258" r:id="rId6"/>
    <p:sldId id="341" r:id="rId7"/>
    <p:sldId id="286" r:id="rId8"/>
    <p:sldId id="287" r:id="rId9"/>
    <p:sldId id="288" r:id="rId10"/>
    <p:sldId id="291" r:id="rId11"/>
    <p:sldId id="292" r:id="rId12"/>
    <p:sldId id="343" r:id="rId13"/>
    <p:sldId id="293" r:id="rId14"/>
    <p:sldId id="294" r:id="rId15"/>
    <p:sldId id="295" r:id="rId16"/>
    <p:sldId id="289" r:id="rId17"/>
    <p:sldId id="297" r:id="rId18"/>
    <p:sldId id="290" r:id="rId19"/>
    <p:sldId id="298" r:id="rId20"/>
    <p:sldId id="299" r:id="rId21"/>
    <p:sldId id="306" r:id="rId22"/>
    <p:sldId id="300" r:id="rId23"/>
    <p:sldId id="301" r:id="rId24"/>
    <p:sldId id="302" r:id="rId25"/>
    <p:sldId id="303" r:id="rId26"/>
    <p:sldId id="304" r:id="rId27"/>
    <p:sldId id="305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7" r:id="rId37"/>
    <p:sldId id="318" r:id="rId38"/>
    <p:sldId id="319" r:id="rId39"/>
    <p:sldId id="315" r:id="rId40"/>
    <p:sldId id="321" r:id="rId41"/>
    <p:sldId id="342" r:id="rId42"/>
    <p:sldId id="277" r:id="rId43"/>
    <p:sldId id="340" r:id="rId44"/>
    <p:sldId id="278" r:id="rId45"/>
    <p:sldId id="322" r:id="rId46"/>
    <p:sldId id="280" r:id="rId47"/>
    <p:sldId id="279" r:id="rId48"/>
    <p:sldId id="281" r:id="rId49"/>
    <p:sldId id="282" r:id="rId50"/>
    <p:sldId id="284" r:id="rId51"/>
    <p:sldId id="344" r:id="rId52"/>
    <p:sldId id="285" r:id="rId53"/>
    <p:sldId id="337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912C58-E0E7-48D3-BF73-2AB9E09C3DD8}" v="4" dt="2026-03-23T12:35:51.4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61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Dyer" userId="c78f284b-7e37-4191-b5a6-8e3806eb7037" providerId="ADAL" clId="{F60D56F0-411A-464A-9766-F9A63ABC936F}"/>
    <pc:docChg chg="custSel delSld modSld">
      <pc:chgData name="James Dyer" userId="c78f284b-7e37-4191-b5a6-8e3806eb7037" providerId="ADAL" clId="{F60D56F0-411A-464A-9766-F9A63ABC936F}" dt="2026-03-23T12:35:51.445" v="14" actId="6549"/>
      <pc:docMkLst>
        <pc:docMk/>
      </pc:docMkLst>
      <pc:sldChg chg="addSp delSp modSp mod delAnim">
        <pc:chgData name="James Dyer" userId="c78f284b-7e37-4191-b5a6-8e3806eb7037" providerId="ADAL" clId="{F60D56F0-411A-464A-9766-F9A63ABC936F}" dt="2026-03-23T12:31:47.929" v="2" actId="478"/>
        <pc:sldMkLst>
          <pc:docMk/>
          <pc:sldMk cId="1422884393" sldId="297"/>
        </pc:sldMkLst>
        <pc:spChg chg="del">
          <ac:chgData name="James Dyer" userId="c78f284b-7e37-4191-b5a6-8e3806eb7037" providerId="ADAL" clId="{F60D56F0-411A-464A-9766-F9A63ABC936F}" dt="2026-03-23T12:31:40.938" v="1" actId="478"/>
          <ac:spMkLst>
            <pc:docMk/>
            <pc:sldMk cId="1422884393" sldId="297"/>
            <ac:spMk id="3" creationId="{E04A1A48-EC59-D506-8811-B2BB9B57B579}"/>
          </ac:spMkLst>
        </pc:spChg>
        <pc:spChg chg="add del mod">
          <ac:chgData name="James Dyer" userId="c78f284b-7e37-4191-b5a6-8e3806eb7037" providerId="ADAL" clId="{F60D56F0-411A-464A-9766-F9A63ABC936F}" dt="2026-03-23T12:31:47.929" v="2" actId="478"/>
          <ac:spMkLst>
            <pc:docMk/>
            <pc:sldMk cId="1422884393" sldId="297"/>
            <ac:spMk id="7" creationId="{EF63BDDC-1B5C-E78B-98C3-68C94755284E}"/>
          </ac:spMkLst>
        </pc:spChg>
        <pc:graphicFrameChg chg="del">
          <ac:chgData name="James Dyer" userId="c78f284b-7e37-4191-b5a6-8e3806eb7037" providerId="ADAL" clId="{F60D56F0-411A-464A-9766-F9A63ABC936F}" dt="2026-03-23T12:31:35.315" v="0" actId="478"/>
          <ac:graphicFrameMkLst>
            <pc:docMk/>
            <pc:sldMk cId="1422884393" sldId="297"/>
            <ac:graphicFrameMk id="4" creationId="{CD9587BC-1300-23AB-CFC7-04D461D9E9F2}"/>
          </ac:graphicFrameMkLst>
        </pc:graphicFrameChg>
      </pc:sldChg>
      <pc:sldChg chg="addSp delSp modSp mod delAnim">
        <pc:chgData name="James Dyer" userId="c78f284b-7e37-4191-b5a6-8e3806eb7037" providerId="ADAL" clId="{F60D56F0-411A-464A-9766-F9A63ABC936F}" dt="2026-03-23T12:32:07.833" v="5" actId="478"/>
        <pc:sldMkLst>
          <pc:docMk/>
          <pc:sldMk cId="2036332417" sldId="298"/>
        </pc:sldMkLst>
        <pc:spChg chg="del">
          <ac:chgData name="James Dyer" userId="c78f284b-7e37-4191-b5a6-8e3806eb7037" providerId="ADAL" clId="{F60D56F0-411A-464A-9766-F9A63ABC936F}" dt="2026-03-23T12:32:04.520" v="4" actId="478"/>
          <ac:spMkLst>
            <pc:docMk/>
            <pc:sldMk cId="2036332417" sldId="298"/>
            <ac:spMk id="5" creationId="{10B48596-843E-FC98-672A-8FE9EFE5E2F3}"/>
          </ac:spMkLst>
        </pc:spChg>
        <pc:spChg chg="add del mod">
          <ac:chgData name="James Dyer" userId="c78f284b-7e37-4191-b5a6-8e3806eb7037" providerId="ADAL" clId="{F60D56F0-411A-464A-9766-F9A63ABC936F}" dt="2026-03-23T12:32:07.833" v="5" actId="478"/>
          <ac:spMkLst>
            <pc:docMk/>
            <pc:sldMk cId="2036332417" sldId="298"/>
            <ac:spMk id="7" creationId="{39995C80-9B4A-A896-544A-AEEF143046E5}"/>
          </ac:spMkLst>
        </pc:spChg>
        <pc:graphicFrameChg chg="del">
          <ac:chgData name="James Dyer" userId="c78f284b-7e37-4191-b5a6-8e3806eb7037" providerId="ADAL" clId="{F60D56F0-411A-464A-9766-F9A63ABC936F}" dt="2026-03-23T12:32:01.973" v="3" actId="478"/>
          <ac:graphicFrameMkLst>
            <pc:docMk/>
            <pc:sldMk cId="2036332417" sldId="298"/>
            <ac:graphicFrameMk id="6" creationId="{FD7E049C-6564-4536-86EB-FB48284A5BF7}"/>
          </ac:graphicFrameMkLst>
        </pc:graphicFrameChg>
      </pc:sldChg>
      <pc:sldChg chg="delSp modSp mod delAnim modAnim">
        <pc:chgData name="James Dyer" userId="c78f284b-7e37-4191-b5a6-8e3806eb7037" providerId="ADAL" clId="{F60D56F0-411A-464A-9766-F9A63ABC936F}" dt="2026-03-23T12:35:06.350" v="8" actId="478"/>
        <pc:sldMkLst>
          <pc:docMk/>
          <pc:sldMk cId="2995070123" sldId="302"/>
        </pc:sldMkLst>
        <pc:spChg chg="del mod">
          <ac:chgData name="James Dyer" userId="c78f284b-7e37-4191-b5a6-8e3806eb7037" providerId="ADAL" clId="{F60D56F0-411A-464A-9766-F9A63ABC936F}" dt="2026-03-23T12:35:06.350" v="8" actId="478"/>
          <ac:spMkLst>
            <pc:docMk/>
            <pc:sldMk cId="2995070123" sldId="302"/>
            <ac:spMk id="5" creationId="{C882DDD0-E69A-0A79-E094-DA5CD7FF6409}"/>
          </ac:spMkLst>
        </pc:spChg>
        <pc:graphicFrameChg chg="del">
          <ac:chgData name="James Dyer" userId="c78f284b-7e37-4191-b5a6-8e3806eb7037" providerId="ADAL" clId="{F60D56F0-411A-464A-9766-F9A63ABC936F}" dt="2026-03-23T12:34:58.401" v="6" actId="478"/>
          <ac:graphicFrameMkLst>
            <pc:docMk/>
            <pc:sldMk cId="2995070123" sldId="302"/>
            <ac:graphicFrameMk id="4" creationId="{0C4B6234-CA25-6908-9221-A3DB9A2049EB}"/>
          </ac:graphicFrameMkLst>
        </pc:graphicFrameChg>
      </pc:sldChg>
      <pc:sldChg chg="delSp modSp mod delAnim modAnim">
        <pc:chgData name="James Dyer" userId="c78f284b-7e37-4191-b5a6-8e3806eb7037" providerId="ADAL" clId="{F60D56F0-411A-464A-9766-F9A63ABC936F}" dt="2026-03-23T12:35:16.918" v="10" actId="20577"/>
        <pc:sldMkLst>
          <pc:docMk/>
          <pc:sldMk cId="3418103306" sldId="305"/>
        </pc:sldMkLst>
        <pc:spChg chg="mod">
          <ac:chgData name="James Dyer" userId="c78f284b-7e37-4191-b5a6-8e3806eb7037" providerId="ADAL" clId="{F60D56F0-411A-464A-9766-F9A63ABC936F}" dt="2026-03-23T12:35:16.918" v="10" actId="20577"/>
          <ac:spMkLst>
            <pc:docMk/>
            <pc:sldMk cId="3418103306" sldId="305"/>
            <ac:spMk id="3" creationId="{3532486D-2C1B-1D0C-7E4E-72A19FA0F6CF}"/>
          </ac:spMkLst>
        </pc:spChg>
        <pc:graphicFrameChg chg="del">
          <ac:chgData name="James Dyer" userId="c78f284b-7e37-4191-b5a6-8e3806eb7037" providerId="ADAL" clId="{F60D56F0-411A-464A-9766-F9A63ABC936F}" dt="2026-03-23T12:35:14.386" v="9" actId="478"/>
          <ac:graphicFrameMkLst>
            <pc:docMk/>
            <pc:sldMk cId="3418103306" sldId="305"/>
            <ac:graphicFrameMk id="4" creationId="{EC35BC15-E96A-3372-86AB-C474886C6D87}"/>
          </ac:graphicFrameMkLst>
        </pc:graphicFrameChg>
      </pc:sldChg>
      <pc:sldChg chg="modSp modAnim">
        <pc:chgData name="James Dyer" userId="c78f284b-7e37-4191-b5a6-8e3806eb7037" providerId="ADAL" clId="{F60D56F0-411A-464A-9766-F9A63ABC936F}" dt="2026-03-23T12:35:24.070" v="11" actId="20577"/>
        <pc:sldMkLst>
          <pc:docMk/>
          <pc:sldMk cId="3953660804" sldId="310"/>
        </pc:sldMkLst>
        <pc:spChg chg="mod">
          <ac:chgData name="James Dyer" userId="c78f284b-7e37-4191-b5a6-8e3806eb7037" providerId="ADAL" clId="{F60D56F0-411A-464A-9766-F9A63ABC936F}" dt="2026-03-23T12:35:24.070" v="11" actId="20577"/>
          <ac:spMkLst>
            <pc:docMk/>
            <pc:sldMk cId="3953660804" sldId="310"/>
            <ac:spMk id="3" creationId="{9B9B6C3A-444D-D78C-B689-EB9CF97E65A2}"/>
          </ac:spMkLst>
        </pc:spChg>
      </pc:sldChg>
      <pc:sldChg chg="del">
        <pc:chgData name="James Dyer" userId="c78f284b-7e37-4191-b5a6-8e3806eb7037" providerId="ADAL" clId="{F60D56F0-411A-464A-9766-F9A63ABC936F}" dt="2026-03-23T12:35:37.556" v="12" actId="47"/>
        <pc:sldMkLst>
          <pc:docMk/>
          <pc:sldMk cId="3095360524" sldId="316"/>
        </pc:sldMkLst>
      </pc:sldChg>
      <pc:sldChg chg="del">
        <pc:chgData name="James Dyer" userId="c78f284b-7e37-4191-b5a6-8e3806eb7037" providerId="ADAL" clId="{F60D56F0-411A-464A-9766-F9A63ABC936F}" dt="2026-03-23T12:35:40.728" v="13" actId="47"/>
        <pc:sldMkLst>
          <pc:docMk/>
          <pc:sldMk cId="4285875320" sldId="320"/>
        </pc:sldMkLst>
      </pc:sldChg>
      <pc:sldChg chg="modSp modAnim">
        <pc:chgData name="James Dyer" userId="c78f284b-7e37-4191-b5a6-8e3806eb7037" providerId="ADAL" clId="{F60D56F0-411A-464A-9766-F9A63ABC936F}" dt="2026-03-23T12:35:51.445" v="14" actId="6549"/>
        <pc:sldMkLst>
          <pc:docMk/>
          <pc:sldMk cId="3264698873" sldId="322"/>
        </pc:sldMkLst>
        <pc:spChg chg="mod">
          <ac:chgData name="James Dyer" userId="c78f284b-7e37-4191-b5a6-8e3806eb7037" providerId="ADAL" clId="{F60D56F0-411A-464A-9766-F9A63ABC936F}" dt="2026-03-23T12:35:51.445" v="14" actId="6549"/>
          <ac:spMkLst>
            <pc:docMk/>
            <pc:sldMk cId="3264698873" sldId="322"/>
            <ac:spMk id="3" creationId="{02C0680D-F70D-BFBD-D7E5-E4DFECD591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13AE8-A0E4-4F1F-9580-770EB244677C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36AA19-E215-4B21-98AA-C85DA14488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85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6AA19-E215-4B21-98AA-C85DA1448827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224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2F41-531D-6A56-E767-71F8EAEA6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1197FD-BB86-AA00-BF43-A2AD2FC7B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D87AE-4201-06B4-1EAF-1159C9A5C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26109-4B64-467B-8757-ABD07F902EB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E8697-00C3-8A57-1981-BC13033E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0573E-F3AF-FF7A-790D-40D3E8FE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DBFA-FC43-48BA-AA47-7E8FBE4FFE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95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E446-2704-5367-1E40-544D2D285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34064-3577-9037-6447-FC5421B35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5E7D3-749E-DA48-85FF-46674F99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26109-4B64-467B-8757-ABD07F902EB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44A8E-301E-91A8-A243-195E55D0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F20A7-AC73-FF38-3823-919F68E0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DBFA-FC43-48BA-AA47-7E8FBE4FFE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382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10A4-DCDA-8862-2F8C-5CCE36BF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B6B2B-053F-7673-9013-3294EF820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09EFA-7994-9322-7BD4-2BB980BF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26109-4B64-467B-8757-ABD07F902EB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5AC75-E702-2F2F-CD74-D93D41992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BB686-E8E5-A0B3-BE17-B47CA3448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DBFA-FC43-48BA-AA47-7E8FBE4FFE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475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3FC9-637A-BD25-8E50-73EB66191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2DEB2-1A9E-B201-CB18-A6C7A5999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BDB8A8-42BA-C24E-134F-B3CE0B8B2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F8433-118F-B31F-FB2C-D3D7A25A2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26109-4B64-467B-8757-ABD07F902EB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3E2DD-6D30-06F6-86FD-612210391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069A8-82C1-DBAF-42AF-D2A5BC5D6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DBFA-FC43-48BA-AA47-7E8FBE4FFE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83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8340F-8516-DEAD-3C97-D6EDDED12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C82FB-2683-0163-5D7F-3112B5E7D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BB982-3152-9C84-04B4-94AA114A5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C2297-EAD5-217A-F84B-A3E0B3450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F3A079-2E38-8C35-5769-427565F31D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BEC2E8-ADE4-5E23-A220-E4EED3B11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26109-4B64-467B-8757-ABD07F902EB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674DD-C003-DAFE-A0A7-550F8746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E800D4-5135-91AB-CDCF-09AEF76B2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DBFA-FC43-48BA-AA47-7E8FBE4FFE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865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BF467-A69D-3B88-2226-71EB3CCC4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1EB87-754B-10D3-2048-701AC68E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26109-4B64-467B-8757-ABD07F902EB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1107CF-992B-D340-D290-5290E546E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02F632-35C2-85F9-CFF4-6F0400E5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DBFA-FC43-48BA-AA47-7E8FBE4FFE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71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DC774F-08CE-2B16-2C3F-1AF4630B2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26109-4B64-467B-8757-ABD07F902EB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6F2FFA-BDC6-7CD0-438D-519F717E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C64E3-489E-9D52-B85C-CF119ED9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DBFA-FC43-48BA-AA47-7E8FBE4FFE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547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0F486-E1AD-3654-B06E-AA94D6BAF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FA079-6EC7-96EE-CFDD-323E2F209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39BD5-5730-A0D8-134C-BA5B669F6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7CB6D-8891-CCD8-DE27-6CB516C3D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26109-4B64-467B-8757-ABD07F902EB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5AF93-B5FA-1319-A142-5DE04B72B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EB924-979C-C936-33E9-B5250DFC7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DBFA-FC43-48BA-AA47-7E8FBE4FFE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458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A6EFE-49E9-322F-AF0F-47D4447F1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AD5A43-5009-1C82-A1C1-40E6552375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C5EA7-FDBE-DB13-304B-986A76123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5F1B6-A11E-D0D3-6C24-19F90F44F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26109-4B64-467B-8757-ABD07F902EB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B1928-0C1E-2C61-C750-E5F585732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C7AE2-A378-5E1B-13C5-8A9AC4230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DBFA-FC43-48BA-AA47-7E8FBE4FFE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55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EAF4-ADBE-4862-8A40-559AB5E2E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C77DC-4D47-2F0F-3C9E-BD0FB1697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801A0-53E9-588F-0197-08693B389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26109-4B64-467B-8757-ABD07F902EB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949F7-B094-FCDB-35FF-8B8C7D58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F00A9-80CE-BD3C-3743-D38C97211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DBFA-FC43-48BA-AA47-7E8FBE4FFE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03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A5F7C1-91A6-8DA3-1AEA-A8CBAA3DA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61DF5-EBAD-BE19-A870-6370069CB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23D08-5251-959B-2A40-B672EC3E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26109-4B64-467B-8757-ABD07F902EB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102FA-750A-2FD1-AADD-3BE63CB5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92A1B-8491-7898-3195-4AFA938B5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DBFA-FC43-48BA-AA47-7E8FBE4FFE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699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0226DA-EF65-A9BB-F2C5-4113AB3CC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8D4C5-4FA5-876E-1374-AD57A236D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391BC-087B-8D13-45F1-277B7B1268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26109-4B64-467B-8757-ABD07F902EB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6138B-7260-1ED3-BA6A-2471E1DBB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CE162-0400-C149-2022-6E8B9C0D0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4DBFA-FC43-48BA-AA47-7E8FBE4FFE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287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844F7-2FF2-D93E-880E-DB5EE5B2E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604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COMP1860 Building our Digital World: Computer Systems &amp;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611523-4BD3-8F1A-5769-0467FEE65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656"/>
            <a:ext cx="9144000" cy="1655762"/>
          </a:xfrm>
        </p:spPr>
        <p:txBody>
          <a:bodyPr>
            <a:normAutofit/>
          </a:bodyPr>
          <a:lstStyle/>
          <a:p>
            <a:r>
              <a:rPr lang="en-GB" sz="3200"/>
              <a:t>S1.W2.L1: </a:t>
            </a:r>
            <a:r>
              <a:rPr lang="en-GB" sz="3200" dirty="0"/>
              <a:t>Number Systems &amp; Integer Representations</a:t>
            </a:r>
          </a:p>
          <a:p>
            <a:r>
              <a:rPr lang="en-GB" sz="3200" dirty="0"/>
              <a:t>Dr James Dyer</a:t>
            </a:r>
          </a:p>
        </p:txBody>
      </p:sp>
    </p:spTree>
    <p:extLst>
      <p:ext uri="{BB962C8B-B14F-4D97-AF65-F5344CB8AC3E}">
        <p14:creationId xmlns:p14="http://schemas.microsoft.com/office/powerpoint/2010/main" val="4049463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3D9B-F031-E9EE-57A2-70751E22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cartoon of a child standing in front of a sign&#10;&#10;Description automatically generated">
            <a:extLst>
              <a:ext uri="{FF2B5EF4-FFF2-40B4-BE49-F238E27FC236}">
                <a16:creationId xmlns:a16="http://schemas.microsoft.com/office/drawing/2014/main" id="{87730293-1A6A-F43C-466F-7BE8B3723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828" cy="6858000"/>
          </a:xfrm>
        </p:spPr>
      </p:pic>
    </p:spTree>
    <p:extLst>
      <p:ext uri="{BB962C8B-B14F-4D97-AF65-F5344CB8AC3E}">
        <p14:creationId xmlns:p14="http://schemas.microsoft.com/office/powerpoint/2010/main" val="1400862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B20D0-DF3B-02D3-262A-EF4055807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F18FE-EF7E-04AE-D8C6-A9AA0D3D2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b="1" dirty="0"/>
              <a:t>Explain the bit-level representations of fixed-length numbers.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Translate numerical data from one format to another.</a:t>
            </a:r>
          </a:p>
        </p:txBody>
      </p:sp>
    </p:spTree>
    <p:extLst>
      <p:ext uri="{BB962C8B-B14F-4D97-AF65-F5344CB8AC3E}">
        <p14:creationId xmlns:p14="http://schemas.microsoft.com/office/powerpoint/2010/main" val="3431639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1253-F723-4782-FA6E-E4EFCFD9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Text Book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ABFD0-C792-9EF3-3BED-4AA7BDB2C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lecture covers material similar to chapters 10 &amp; 11 of </a:t>
            </a:r>
            <a:r>
              <a:rPr lang="en-US" sz="2800" b="1" dirty="0"/>
              <a:t>Stallings. </a:t>
            </a:r>
            <a:r>
              <a:rPr lang="en-US" sz="2800" b="1" i="1" dirty="0"/>
              <a:t>Computer </a:t>
            </a:r>
            <a:r>
              <a:rPr lang="en-US" sz="2800" b="1" i="1" dirty="0" err="1"/>
              <a:t>Organisation</a:t>
            </a:r>
            <a:r>
              <a:rPr lang="en-US" sz="2800" b="1" i="1" dirty="0"/>
              <a:t> &amp; Architecture</a:t>
            </a:r>
            <a:endParaRPr lang="en-GB" sz="2800" b="1" i="1" dirty="0"/>
          </a:p>
          <a:p>
            <a:pPr lvl="1"/>
            <a:r>
              <a:rPr lang="en-GB" dirty="0"/>
              <a:t>It covers the entirety of chapter 10</a:t>
            </a:r>
          </a:p>
          <a:p>
            <a:pPr lvl="1"/>
            <a:r>
              <a:rPr lang="en-GB" dirty="0"/>
              <a:t>It </a:t>
            </a:r>
            <a:r>
              <a:rPr lang="en-GB"/>
              <a:t>covers section 11.2 of chapter 11 up to two’ complement representations 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8435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1AA97-569B-B7D5-9BB0-EEFA9D1D5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51CB8-6F26-CBEA-B2EB-CB1072B69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Number Systems</a:t>
            </a:r>
          </a:p>
          <a:p>
            <a:r>
              <a:rPr lang="en-GB" dirty="0"/>
              <a:t>Integer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3492701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09C8-1EEE-486B-4E96-E4B16EDD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Number Systems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433AB-18C1-A16E-130D-0D81C7816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540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C4D26-58A4-E073-A70D-60AE95AA7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Number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033A-FC41-FA78-1EF8-4E35A5C52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Denary/Decimal </a:t>
            </a:r>
            <a:r>
              <a:rPr lang="en-GB" dirty="0"/>
              <a:t>or base </a:t>
            </a:r>
            <a:r>
              <a:rPr lang="en-GB" dirty="0">
                <a:solidFill>
                  <a:schemeClr val="accent1"/>
                </a:solidFill>
              </a:rPr>
              <a:t>ten</a:t>
            </a:r>
            <a:r>
              <a:rPr lang="en-GB" dirty="0"/>
              <a:t> - ten symbols</a:t>
            </a:r>
          </a:p>
          <a:p>
            <a:pPr lvl="1"/>
            <a:r>
              <a:rPr lang="en-GB" dirty="0"/>
              <a:t>0, 1, 2, 3, 4, 5, 6, 7, 8, 9</a:t>
            </a:r>
          </a:p>
          <a:p>
            <a:r>
              <a:rPr lang="en-GB" dirty="0">
                <a:solidFill>
                  <a:schemeClr val="accent1"/>
                </a:solidFill>
              </a:rPr>
              <a:t>Binary</a:t>
            </a:r>
            <a:r>
              <a:rPr lang="en-GB" dirty="0"/>
              <a:t> or base </a:t>
            </a:r>
            <a:r>
              <a:rPr lang="en-GB" dirty="0">
                <a:solidFill>
                  <a:schemeClr val="accent1"/>
                </a:solidFill>
              </a:rPr>
              <a:t>two</a:t>
            </a:r>
            <a:r>
              <a:rPr lang="en-GB" dirty="0"/>
              <a:t> - two symbols</a:t>
            </a:r>
          </a:p>
          <a:p>
            <a:pPr lvl="1"/>
            <a:r>
              <a:rPr lang="en-GB" dirty="0"/>
              <a:t>0, 1</a:t>
            </a:r>
          </a:p>
          <a:p>
            <a:r>
              <a:rPr lang="en-GB" dirty="0">
                <a:solidFill>
                  <a:schemeClr val="accent1"/>
                </a:solidFill>
              </a:rPr>
              <a:t>Hexadecimal</a:t>
            </a:r>
            <a:r>
              <a:rPr lang="en-GB" dirty="0"/>
              <a:t> or base </a:t>
            </a:r>
            <a:r>
              <a:rPr lang="en-GB" dirty="0">
                <a:solidFill>
                  <a:schemeClr val="accent1"/>
                </a:solidFill>
              </a:rPr>
              <a:t>16</a:t>
            </a:r>
            <a:r>
              <a:rPr lang="en-GB" dirty="0"/>
              <a:t> - sixteen symbols</a:t>
            </a:r>
          </a:p>
          <a:p>
            <a:pPr lvl="1"/>
            <a:r>
              <a:rPr lang="en-GB" dirty="0"/>
              <a:t>0, 1, 2, 3, 4, 5, 6, 7, 8, 9, A, B, C, D, E, F</a:t>
            </a:r>
          </a:p>
          <a:p>
            <a:r>
              <a:rPr lang="en-GB" dirty="0">
                <a:solidFill>
                  <a:schemeClr val="accent1"/>
                </a:solidFill>
              </a:rPr>
              <a:t>Octal</a:t>
            </a:r>
            <a:r>
              <a:rPr lang="en-GB" dirty="0"/>
              <a:t> or base </a:t>
            </a:r>
            <a:r>
              <a:rPr lang="en-GB" dirty="0">
                <a:solidFill>
                  <a:schemeClr val="accent1"/>
                </a:solidFill>
              </a:rPr>
              <a:t>8</a:t>
            </a:r>
            <a:r>
              <a:rPr lang="en-GB" dirty="0"/>
              <a:t> - eight symbols</a:t>
            </a:r>
          </a:p>
          <a:p>
            <a:pPr lvl="1"/>
            <a:r>
              <a:rPr lang="en-GB" dirty="0"/>
              <a:t>0, 1, 2, 3, 4, 5, 6, 7.</a:t>
            </a:r>
          </a:p>
        </p:txBody>
      </p:sp>
    </p:spTree>
    <p:extLst>
      <p:ext uri="{BB962C8B-B14F-4D97-AF65-F5344CB8AC3E}">
        <p14:creationId xmlns:p14="http://schemas.microsoft.com/office/powerpoint/2010/main" val="4242077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1D1D7-E41D-DF57-086F-4AE037A3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Binary?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C8754F7-74A3-C7CF-4756-8925DE8BE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74428" y="3651605"/>
            <a:ext cx="1287517" cy="2525358"/>
          </a:xfrm>
        </p:spPr>
        <p:txBody>
          <a:bodyPr/>
          <a:lstStyle/>
          <a:p>
            <a:r>
              <a:rPr lang="en-GB" dirty="0"/>
              <a:t>On</a:t>
            </a:r>
          </a:p>
          <a:p>
            <a:r>
              <a:rPr lang="en-GB" dirty="0"/>
              <a:t>True</a:t>
            </a:r>
          </a:p>
          <a:p>
            <a:r>
              <a:rPr lang="en-GB" dirty="0"/>
              <a:t>Yes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D7267E8-7BE7-0334-EF89-426621377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50620" y="3651604"/>
            <a:ext cx="1665891" cy="2525358"/>
          </a:xfrm>
        </p:spPr>
        <p:txBody>
          <a:bodyPr/>
          <a:lstStyle/>
          <a:p>
            <a:r>
              <a:rPr lang="en-GB" dirty="0"/>
              <a:t>Off</a:t>
            </a:r>
          </a:p>
          <a:p>
            <a:r>
              <a:rPr lang="en-GB" dirty="0"/>
              <a:t>False</a:t>
            </a:r>
          </a:p>
          <a:p>
            <a:r>
              <a:rPr lang="en-GB" dirty="0"/>
              <a:t>No</a:t>
            </a:r>
          </a:p>
        </p:txBody>
      </p:sp>
      <p:pic>
        <p:nvPicPr>
          <p:cNvPr id="19" name="Graphic 18" descr="Lightbulb outline">
            <a:extLst>
              <a:ext uri="{FF2B5EF4-FFF2-40B4-BE49-F238E27FC236}">
                <a16:creationId xmlns:a16="http://schemas.microsoft.com/office/drawing/2014/main" id="{C86C258E-035E-3040-B005-EE9B210EA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4290" y="1892584"/>
            <a:ext cx="1568356" cy="1568356"/>
          </a:xfrm>
          <a:prstGeom prst="rect">
            <a:avLst/>
          </a:prstGeom>
        </p:spPr>
      </p:pic>
      <p:pic>
        <p:nvPicPr>
          <p:cNvPr id="21" name="Graphic 20" descr="Lightbulb with solid fill">
            <a:extLst>
              <a:ext uri="{FF2B5EF4-FFF2-40B4-BE49-F238E27FC236}">
                <a16:creationId xmlns:a16="http://schemas.microsoft.com/office/drawing/2014/main" id="{FBD10B78-2666-22F8-9F40-EB2ADECC45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4008" y="1886969"/>
            <a:ext cx="1568355" cy="156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64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AF0D-3FE1-6568-1E16-90BD7F677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Bits, Bytes and Words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63B40F-5B39-8E5F-E854-C119CA99A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Bit</a:t>
            </a:r>
            <a:r>
              <a:rPr lang="en-GB" dirty="0"/>
              <a:t> - binary digit</a:t>
            </a:r>
          </a:p>
          <a:p>
            <a:r>
              <a:rPr lang="en-GB" dirty="0">
                <a:solidFill>
                  <a:schemeClr val="accent1"/>
                </a:solidFill>
              </a:rPr>
              <a:t>Byte</a:t>
            </a:r>
            <a:r>
              <a:rPr lang="en-GB" dirty="0"/>
              <a:t> - 8 bits</a:t>
            </a:r>
          </a:p>
          <a:p>
            <a:r>
              <a:rPr lang="en-GB" dirty="0">
                <a:solidFill>
                  <a:schemeClr val="accent1"/>
                </a:solidFill>
              </a:rPr>
              <a:t>Word</a:t>
            </a:r>
            <a:r>
              <a:rPr lang="en-GB" dirty="0"/>
              <a:t> - 32 bits or 64 bits (in most systems).</a:t>
            </a:r>
          </a:p>
          <a:p>
            <a:r>
              <a:rPr lang="en-GB" dirty="0"/>
              <a:t>The number of bits used to store numbers will determine the size of the numbers which can be stored and their precision.</a:t>
            </a:r>
          </a:p>
        </p:txBody>
      </p:sp>
    </p:spTree>
    <p:extLst>
      <p:ext uri="{BB962C8B-B14F-4D97-AF65-F5344CB8AC3E}">
        <p14:creationId xmlns:p14="http://schemas.microsoft.com/office/powerpoint/2010/main" val="3360188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82E5-E382-5CC2-BF8A-175140D3A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Positional notation: Base 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BA0C9A4-5F07-8950-3B2A-BFEDE5CD2FC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10515600" cy="574675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527 = 5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/>
                  <a:t> 10</a:t>
                </a:r>
                <a:r>
                  <a:rPr lang="en-GB" baseline="30000" dirty="0"/>
                  <a:t>2</a:t>
                </a:r>
                <a:r>
                  <a:rPr lang="en-GB" dirty="0"/>
                  <a:t> + 2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/>
                  <a:t> 10</a:t>
                </a:r>
                <a:r>
                  <a:rPr lang="en-GB" baseline="30000" dirty="0"/>
                  <a:t>1</a:t>
                </a:r>
                <a:r>
                  <a:rPr lang="en-GB" dirty="0"/>
                  <a:t> + 7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/>
                  <a:t> 10</a:t>
                </a:r>
                <a:r>
                  <a:rPr lang="en-GB" baseline="30000" dirty="0"/>
                  <a:t>0</a:t>
                </a:r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BA0C9A4-5F07-8950-3B2A-BFEDE5CD2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10515600" cy="574675"/>
              </a:xfrm>
              <a:blipFill>
                <a:blip r:embed="rId2"/>
                <a:stretch>
                  <a:fillRect t="-16842" b="-12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Content Placeholder 3">
                <a:extLst>
                  <a:ext uri="{FF2B5EF4-FFF2-40B4-BE49-F238E27FC236}">
                    <a16:creationId xmlns:a16="http://schemas.microsoft.com/office/drawing/2014/main" id="{2489B54F-FA36-13FB-3959-2573633F1ECA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527804997"/>
                  </p:ext>
                </p:extLst>
              </p:nvPr>
            </p:nvGraphicFramePr>
            <p:xfrm>
              <a:off x="838200" y="2625836"/>
              <a:ext cx="10515600" cy="25908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4267595785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8013336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85241836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94072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100’s place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10’s place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1’s place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714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Place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10</a:t>
                          </a:r>
                          <a:r>
                            <a:rPr lang="en-GB" sz="2800" baseline="30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10</a:t>
                          </a:r>
                          <a:r>
                            <a:rPr lang="en-GB" sz="2800" baseline="30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10</a:t>
                          </a:r>
                          <a:r>
                            <a:rPr lang="en-GB" sz="2800" baseline="30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02164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37445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Evaluate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5 </a:t>
                          </a:r>
                          <a14:m>
                            <m:oMath xmlns:m="http://schemas.openxmlformats.org/officeDocument/2006/math">
                              <m:r>
                                <a:rPr lang="en-GB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sz="2800" dirty="0"/>
                            <a:t>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2 </a:t>
                          </a:r>
                          <a14:m>
                            <m:oMath xmlns:m="http://schemas.openxmlformats.org/officeDocument/2006/math">
                              <m:r>
                                <a:rPr lang="en-GB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sz="2800" dirty="0"/>
                            <a:t> 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7 </a:t>
                          </a:r>
                          <a14:m>
                            <m:oMath xmlns:m="http://schemas.openxmlformats.org/officeDocument/2006/math">
                              <m:r>
                                <a:rPr lang="en-GB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sz="2800" dirty="0"/>
                            <a:t> 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8388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Sum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500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22244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Content Placeholder 3">
                <a:extLst>
                  <a:ext uri="{FF2B5EF4-FFF2-40B4-BE49-F238E27FC236}">
                    <a16:creationId xmlns:a16="http://schemas.microsoft.com/office/drawing/2014/main" id="{2489B54F-FA36-13FB-3959-2573633F1ECA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527804997"/>
                  </p:ext>
                </p:extLst>
              </p:nvPr>
            </p:nvGraphicFramePr>
            <p:xfrm>
              <a:off x="838200" y="2625836"/>
              <a:ext cx="10515600" cy="25908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4267595785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8013336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85241836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940729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GB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100’s place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10’s place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1’s place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71441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Place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10</a:t>
                          </a:r>
                          <a:r>
                            <a:rPr lang="en-GB" sz="2800" baseline="30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10</a:t>
                          </a:r>
                          <a:r>
                            <a:rPr lang="en-GB" sz="2800" baseline="30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10</a:t>
                          </a:r>
                          <a:r>
                            <a:rPr lang="en-GB" sz="2800" baseline="30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021648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374451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Evaluate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464" t="-311765" r="-200464" b="-1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11765" r="-100000" b="-1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96" t="-311765" r="-232" b="-13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83883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Sum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500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22244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76068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9FCC-BBEB-252D-BF63-1D613C54E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Positional notation: Base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0CFA6-DF60-308B-F7CC-D405497D5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800211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1101 0110</a:t>
            </a:r>
            <a:r>
              <a:rPr lang="en-GB" baseline="-25000" dirty="0"/>
              <a:t>2</a:t>
            </a:r>
            <a:r>
              <a:rPr lang="en-GB" dirty="0"/>
              <a:t> = 214</a:t>
            </a:r>
            <a:r>
              <a:rPr lang="en-GB" baseline="-250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1920476C-5FB0-DD80-C99C-D7C574DC375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67191802"/>
                  </p:ext>
                </p:extLst>
              </p:nvPr>
            </p:nvGraphicFramePr>
            <p:xfrm>
              <a:off x="838200" y="2625836"/>
              <a:ext cx="10515600" cy="158496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4267595785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1627777576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1804863025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2409373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272328225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1825775861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1801333668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85241836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12794072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Place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baseline="0" dirty="0"/>
                            <a:t>2</a:t>
                          </a:r>
                          <a:r>
                            <a:rPr lang="en-GB" sz="2000" baseline="30000" dirty="0"/>
                            <a:t>7</a:t>
                          </a:r>
                          <a:endParaRPr lang="en-GB" sz="20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baseline="0" dirty="0"/>
                            <a:t>2</a:t>
                          </a:r>
                          <a:r>
                            <a:rPr lang="en-GB" sz="2000" baseline="30000" dirty="0"/>
                            <a:t>6</a:t>
                          </a:r>
                          <a:endParaRPr lang="en-GB" sz="20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baseline="0" dirty="0"/>
                            <a:t>2</a:t>
                          </a:r>
                          <a:r>
                            <a:rPr lang="en-GB" sz="2000" baseline="30000" dirty="0"/>
                            <a:t>5</a:t>
                          </a:r>
                          <a:endParaRPr lang="en-GB" sz="20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baseline="0" dirty="0"/>
                            <a:t>2</a:t>
                          </a:r>
                          <a:r>
                            <a:rPr lang="en-GB" sz="2000" baseline="30000" dirty="0"/>
                            <a:t>4</a:t>
                          </a:r>
                          <a:endParaRPr lang="en-GB" sz="20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baseline="0" dirty="0"/>
                            <a:t>2</a:t>
                          </a:r>
                          <a:r>
                            <a:rPr lang="en-GB" sz="2000" baseline="30000" dirty="0"/>
                            <a:t>3</a:t>
                          </a:r>
                          <a:endParaRPr lang="en-GB" sz="20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2</a:t>
                          </a:r>
                          <a:r>
                            <a:rPr lang="en-GB" sz="2000" baseline="30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2</a:t>
                          </a:r>
                          <a:r>
                            <a:rPr lang="en-GB" sz="2000" baseline="30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2</a:t>
                          </a:r>
                          <a:r>
                            <a:rPr lang="en-GB" sz="2000" baseline="30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02164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37445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Evaluate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sz="2000" dirty="0"/>
                            <a:t> 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sz="2000" dirty="0"/>
                            <a:t> 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dirty="0"/>
                            <a:t>0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sz="2000" dirty="0"/>
                            <a:t> 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sz="2000" dirty="0"/>
                            <a:t> 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dirty="0"/>
                            <a:t>0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sz="2000" dirty="0"/>
                            <a:t> 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sz="2000" dirty="0"/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sz="2000" dirty="0"/>
                            <a:t>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0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sz="2000" dirty="0"/>
                            <a:t> 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8388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Sum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22244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1920476C-5FB0-DD80-C99C-D7C574DC375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67191802"/>
                  </p:ext>
                </p:extLst>
              </p:nvPr>
            </p:nvGraphicFramePr>
            <p:xfrm>
              <a:off x="838200" y="2625836"/>
              <a:ext cx="10515600" cy="158496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4267595785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1627777576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1804863025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2409373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272328225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1825775861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1801333668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85241836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127940729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Place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baseline="0" dirty="0"/>
                            <a:t>2</a:t>
                          </a:r>
                          <a:r>
                            <a:rPr lang="en-GB" sz="2000" baseline="30000" dirty="0"/>
                            <a:t>7</a:t>
                          </a:r>
                          <a:endParaRPr lang="en-GB" sz="20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baseline="0" dirty="0"/>
                            <a:t>2</a:t>
                          </a:r>
                          <a:r>
                            <a:rPr lang="en-GB" sz="2000" baseline="30000" dirty="0"/>
                            <a:t>6</a:t>
                          </a:r>
                          <a:endParaRPr lang="en-GB" sz="20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baseline="0" dirty="0"/>
                            <a:t>2</a:t>
                          </a:r>
                          <a:r>
                            <a:rPr lang="en-GB" sz="2000" baseline="30000" dirty="0"/>
                            <a:t>5</a:t>
                          </a:r>
                          <a:endParaRPr lang="en-GB" sz="20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baseline="0" dirty="0"/>
                            <a:t>2</a:t>
                          </a:r>
                          <a:r>
                            <a:rPr lang="en-GB" sz="2000" baseline="30000" dirty="0"/>
                            <a:t>4</a:t>
                          </a:r>
                          <a:endParaRPr lang="en-GB" sz="20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baseline="0" dirty="0"/>
                            <a:t>2</a:t>
                          </a:r>
                          <a:r>
                            <a:rPr lang="en-GB" sz="2000" baseline="30000" dirty="0"/>
                            <a:t>3</a:t>
                          </a:r>
                          <a:endParaRPr lang="en-GB" sz="20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2</a:t>
                          </a:r>
                          <a:r>
                            <a:rPr lang="en-GB" sz="2000" baseline="30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2</a:t>
                          </a:r>
                          <a:r>
                            <a:rPr lang="en-GB" sz="2000" baseline="30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2</a:t>
                          </a:r>
                          <a:r>
                            <a:rPr lang="en-GB" sz="2000" baseline="30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021648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374451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Evaluate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21" t="-209231" r="-699479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571" t="-209231" r="-603141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209231" r="-500000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209231" r="-400000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209231" r="-300000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3141" t="-209231" r="-201571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9479" t="-209231" r="-100521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99479" t="-209231" r="-521" b="-1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8388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Sum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22244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22476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9FCC-BBEB-252D-BF63-1D613C54E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Positional notation: Base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0CFA6-DF60-308B-F7CC-D405497D571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br>
                  <a:rPr lang="en-GB" b="0" i="1" dirty="0">
                    <a:latin typeface="Cambria Math" panose="02040503050406030204" pitchFamily="18" charset="0"/>
                  </a:rPr>
                </a:b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×1</m:t>
                      </m:r>
                    </m:oMath>
                  </m:oMathPara>
                </a14:m>
                <a:br>
                  <a:rPr lang="en-GB" b="0" i="1" dirty="0">
                    <a:latin typeface="Cambria Math" panose="02040503050406030204" pitchFamily="18" charset="0"/>
                  </a:rPr>
                </a:b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chr m:val="∑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baseline="-25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0CFA6-DF60-308B-F7CC-D405497D5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256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67556-E52D-D636-CC3B-AFFF77551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Range of possible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7C71C0C-6994-74A4-C806-9E6556D6D7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GB" i="1" baseline="30000" dirty="0"/>
              </a:p>
              <a:p>
                <a:pPr marL="0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 = range,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= base,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= number of digits.</a:t>
                </a:r>
              </a:p>
              <a:p>
                <a:r>
                  <a:rPr lang="en-GB" dirty="0"/>
                  <a:t>Example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 = 10</a:t>
                </a:r>
                <a:r>
                  <a:rPr lang="en-GB" baseline="30000" dirty="0"/>
                  <a:t>2</a:t>
                </a:r>
                <a:r>
                  <a:rPr lang="en-GB" dirty="0"/>
                  <a:t> = 100 different numbers (0 . . . 99)</a:t>
                </a:r>
              </a:p>
              <a:p>
                <a:r>
                  <a:rPr lang="en-GB" dirty="0"/>
                  <a:t>Example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 = 2</a:t>
                </a:r>
                <a:r>
                  <a:rPr lang="en-GB" baseline="30000" dirty="0"/>
                  <a:t>16</a:t>
                </a:r>
                <a:r>
                  <a:rPr lang="en-GB" dirty="0"/>
                  <a:t> = 65 536 or 64K (64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GB" dirty="0"/>
                  <a:t>1024)</a:t>
                </a:r>
              </a:p>
              <a:p>
                <a:r>
                  <a:rPr lang="en-GB" dirty="0"/>
                  <a:t>16-bit Program Counter can store 65 536 different numbers.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7C71C0C-6994-74A4-C806-9E6556D6D7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7824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47D4-EC90-FBCA-AC66-2FB69A82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Bit widths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A734B3-0FE1-E43C-1F73-54E34A0FD4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4147931"/>
              </p:ext>
            </p:extLst>
          </p:nvPr>
        </p:nvGraphicFramePr>
        <p:xfrm>
          <a:off x="3363310" y="1951749"/>
          <a:ext cx="5465380" cy="435445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32690">
                  <a:extLst>
                    <a:ext uri="{9D8B030D-6E8A-4147-A177-3AD203B41FA5}">
                      <a16:colId xmlns:a16="http://schemas.microsoft.com/office/drawing/2014/main" val="2652336315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495734618"/>
                    </a:ext>
                  </a:extLst>
                </a:gridCol>
              </a:tblGrid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Width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654895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2 (0 and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695592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16 (0 to 15)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34139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81970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1024 (</a:t>
                      </a:r>
                      <a:r>
                        <a:rPr lang="en-GB" sz="2400" dirty="0">
                          <a:solidFill>
                            <a:schemeClr val="accent1"/>
                          </a:solidFill>
                        </a:rPr>
                        <a:t>1K</a:t>
                      </a:r>
                      <a:r>
                        <a:rPr lang="en-GB" sz="2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770117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65536 (</a:t>
                      </a:r>
                      <a:r>
                        <a:rPr lang="en-GB" sz="2400" dirty="0">
                          <a:solidFill>
                            <a:schemeClr val="accent1"/>
                          </a:solidFill>
                        </a:rPr>
                        <a:t>64K</a:t>
                      </a:r>
                      <a:r>
                        <a:rPr lang="en-GB" sz="2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188659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1 048 576 (</a:t>
                      </a:r>
                      <a:r>
                        <a:rPr lang="en-GB" sz="2400" dirty="0">
                          <a:solidFill>
                            <a:schemeClr val="accent1"/>
                          </a:solidFill>
                        </a:rPr>
                        <a:t>1M</a:t>
                      </a:r>
                      <a:r>
                        <a:rPr lang="en-GB" sz="2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220449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sz="2400" dirty="0"/>
                        <a:t>4 294 967 296 (</a:t>
                      </a:r>
                      <a:r>
                        <a:rPr lang="nn-NO" sz="2400" dirty="0">
                          <a:solidFill>
                            <a:schemeClr val="accent1"/>
                          </a:solidFill>
                        </a:rPr>
                        <a:t>4G</a:t>
                      </a:r>
                      <a:r>
                        <a:rPr lang="nn-NO" sz="2400" dirty="0"/>
                        <a:t>)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12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2027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FF5A-8A0A-5911-68C4-8301CE343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Counting in base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E272710-DBC3-0F86-4CE7-96C66C92242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88775685"/>
                  </p:ext>
                </p:extLst>
              </p:nvPr>
            </p:nvGraphicFramePr>
            <p:xfrm>
              <a:off x="838200" y="1825625"/>
              <a:ext cx="10515600" cy="3708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3161807752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6722248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642929894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691107199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55798777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9493892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Binary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8’s (2</a:t>
                          </a:r>
                          <a:r>
                            <a:rPr lang="en-GB" baseline="30000" dirty="0"/>
                            <a:t>3</a:t>
                          </a:r>
                          <a:r>
                            <a:rPr lang="en-GB" baseline="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4’s (2</a:t>
                          </a:r>
                          <a:r>
                            <a:rPr lang="en-GB" baseline="30000" dirty="0"/>
                            <a:t>2</a:t>
                          </a:r>
                          <a:r>
                            <a:rPr lang="en-GB" baseline="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2’s (2</a:t>
                          </a:r>
                          <a:r>
                            <a:rPr lang="en-GB" baseline="30000" dirty="0"/>
                            <a:t>1</a:t>
                          </a:r>
                          <a:r>
                            <a:rPr lang="en-GB" baseline="0" dirty="0"/>
                            <a:t>)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1’s (2</a:t>
                          </a:r>
                          <a:r>
                            <a:rPr lang="en-GB" baseline="30000" dirty="0"/>
                            <a:t>0</a:t>
                          </a:r>
                          <a:r>
                            <a:rPr lang="en-GB" baseline="0" dirty="0"/>
                            <a:t>)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Decimal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8647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4538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70911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1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7205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1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58910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1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97348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1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0198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1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8648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1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6598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3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1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 </a:t>
                          </a:r>
                          <a14:m>
                            <m:oMath xmlns:m="http://schemas.openxmlformats.org/officeDocument/2006/math"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2</a:t>
                          </a:r>
                          <a:r>
                            <a:rPr lang="en-GB" baseline="30000" dirty="0"/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87171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E272710-DBC3-0F86-4CE7-96C66C92242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88775685"/>
                  </p:ext>
                </p:extLst>
              </p:nvPr>
            </p:nvGraphicFramePr>
            <p:xfrm>
              <a:off x="838200" y="1825625"/>
              <a:ext cx="10515600" cy="3708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3161807752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6722248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642929894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691107199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55798777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9493892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Binary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8’s (2</a:t>
                          </a:r>
                          <a:r>
                            <a:rPr lang="en-GB" baseline="30000" dirty="0"/>
                            <a:t>3</a:t>
                          </a:r>
                          <a:r>
                            <a:rPr lang="en-GB" baseline="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4’s (2</a:t>
                          </a:r>
                          <a:r>
                            <a:rPr lang="en-GB" baseline="30000" dirty="0"/>
                            <a:t>2</a:t>
                          </a:r>
                          <a:r>
                            <a:rPr lang="en-GB" baseline="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2’s (2</a:t>
                          </a:r>
                          <a:r>
                            <a:rPr lang="en-GB" baseline="30000" dirty="0"/>
                            <a:t>1</a:t>
                          </a:r>
                          <a:r>
                            <a:rPr lang="en-GB" baseline="0" dirty="0"/>
                            <a:t>)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1’s (2</a:t>
                          </a:r>
                          <a:r>
                            <a:rPr lang="en-GB" baseline="30000" dirty="0"/>
                            <a:t>0</a:t>
                          </a:r>
                          <a:r>
                            <a:rPr lang="en-GB" baseline="0" dirty="0"/>
                            <a:t>)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Decimal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8647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1394" t="-108197" r="-100697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4538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1394" t="-208197" r="-100697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70911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308197" r="-20000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1394" t="-308197" r="-100697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7205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408197" r="-200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1394" t="-408197" r="-100697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58910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16667" r="-300000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516667" r="-200000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1394" t="-516667" r="-100697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97348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606557" r="-300000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606557" r="-200000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1394" t="-606557" r="-100697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0198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706557" r="-30000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706557" r="-20000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1394" t="-706557" r="-10069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8648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806557" r="-300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806557" r="-200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1394" t="-806557" r="-10069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6598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697" t="-906557" r="-40139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906557" r="-3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906557" r="-2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1394" t="-906557" r="-10069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87171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A64E9BE-5FFD-5E78-330F-7DDAE5CE217B}"/>
              </a:ext>
            </a:extLst>
          </p:cNvPr>
          <p:cNvSpPr txBox="1"/>
          <p:nvPr/>
        </p:nvSpPr>
        <p:spPr>
          <a:xfrm>
            <a:off x="838200" y="5885793"/>
            <a:ext cx="6119648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3200" dirty="0"/>
              <a:t>Now You: Expand the table up to 15</a:t>
            </a:r>
          </a:p>
        </p:txBody>
      </p:sp>
    </p:spTree>
    <p:extLst>
      <p:ext uri="{BB962C8B-B14F-4D97-AF65-F5344CB8AC3E}">
        <p14:creationId xmlns:p14="http://schemas.microsoft.com/office/powerpoint/2010/main" val="3178409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D7ACE-181F-44FD-52EE-69DC66042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6DDE0-5019-48D2-12DE-E15B1D2C90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  <a:p>
            <a:pPr lvl="1"/>
            <a:r>
              <a:rPr lang="en-GB" dirty="0"/>
              <a:t>Compute (110 1101)</a:t>
            </a:r>
            <a:r>
              <a:rPr lang="en-GB" baseline="-25000" dirty="0"/>
              <a:t>2</a:t>
            </a:r>
            <a:r>
              <a:rPr lang="en-GB" dirty="0"/>
              <a:t> + (1 0110)</a:t>
            </a:r>
            <a:r>
              <a:rPr lang="en-GB" baseline="-25000" dirty="0"/>
              <a:t>2</a:t>
            </a:r>
            <a:r>
              <a:rPr lang="en-GB" dirty="0"/>
              <a:t>.</a:t>
            </a:r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A89EDE6-09FC-F746-3608-854C72C4D0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3987017"/>
                  </p:ext>
                </p:extLst>
              </p:nvPr>
            </p:nvGraphicFramePr>
            <p:xfrm>
              <a:off x="1184164" y="3155731"/>
              <a:ext cx="9823672" cy="2603940"/>
            </p:xfrm>
            <a:graphic>
              <a:graphicData uri="http://schemas.openxmlformats.org/drawingml/2006/table">
                <a:tbl>
                  <a:tblPr lastRow="1">
                    <a:tableStyleId>{5202B0CA-FC54-4496-8BCA-5EF66A818D29}</a:tableStyleId>
                  </a:tblPr>
                  <a:tblGrid>
                    <a:gridCol w="1227959">
                      <a:extLst>
                        <a:ext uri="{9D8B030D-6E8A-4147-A177-3AD203B41FA5}">
                          <a16:colId xmlns:a16="http://schemas.microsoft.com/office/drawing/2014/main" val="890338283"/>
                        </a:ext>
                      </a:extLst>
                    </a:gridCol>
                    <a:gridCol w="1227959">
                      <a:extLst>
                        <a:ext uri="{9D8B030D-6E8A-4147-A177-3AD203B41FA5}">
                          <a16:colId xmlns:a16="http://schemas.microsoft.com/office/drawing/2014/main" val="455926256"/>
                        </a:ext>
                      </a:extLst>
                    </a:gridCol>
                    <a:gridCol w="1227959">
                      <a:extLst>
                        <a:ext uri="{9D8B030D-6E8A-4147-A177-3AD203B41FA5}">
                          <a16:colId xmlns:a16="http://schemas.microsoft.com/office/drawing/2014/main" val="1227145441"/>
                        </a:ext>
                      </a:extLst>
                    </a:gridCol>
                    <a:gridCol w="1227959">
                      <a:extLst>
                        <a:ext uri="{9D8B030D-6E8A-4147-A177-3AD203B41FA5}">
                          <a16:colId xmlns:a16="http://schemas.microsoft.com/office/drawing/2014/main" val="707870695"/>
                        </a:ext>
                      </a:extLst>
                    </a:gridCol>
                    <a:gridCol w="1227959">
                      <a:extLst>
                        <a:ext uri="{9D8B030D-6E8A-4147-A177-3AD203B41FA5}">
                          <a16:colId xmlns:a16="http://schemas.microsoft.com/office/drawing/2014/main" val="1702779359"/>
                        </a:ext>
                      </a:extLst>
                    </a:gridCol>
                    <a:gridCol w="1227959">
                      <a:extLst>
                        <a:ext uri="{9D8B030D-6E8A-4147-A177-3AD203B41FA5}">
                          <a16:colId xmlns:a16="http://schemas.microsoft.com/office/drawing/2014/main" val="2518074309"/>
                        </a:ext>
                      </a:extLst>
                    </a:gridCol>
                    <a:gridCol w="1227959">
                      <a:extLst>
                        <a:ext uri="{9D8B030D-6E8A-4147-A177-3AD203B41FA5}">
                          <a16:colId xmlns:a16="http://schemas.microsoft.com/office/drawing/2014/main" val="568128916"/>
                        </a:ext>
                      </a:extLst>
                    </a:gridCol>
                    <a:gridCol w="1227959">
                      <a:extLst>
                        <a:ext uri="{9D8B030D-6E8A-4147-A177-3AD203B41FA5}">
                          <a16:colId xmlns:a16="http://schemas.microsoft.com/office/drawing/2014/main" val="1828945988"/>
                        </a:ext>
                      </a:extLst>
                    </a:gridCol>
                  </a:tblGrid>
                  <a:tr h="6509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aseline="-250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aseline="-250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aseline="-250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aseline="-250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aseline="-250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80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9504764"/>
                      </a:ext>
                    </a:extLst>
                  </a:tr>
                  <a:tr h="650985">
                    <a:tc>
                      <a:txBody>
                        <a:bodyPr/>
                        <a:lstStyle/>
                        <a:p>
                          <a:pPr algn="ctr"/>
                          <a:endParaRPr lang="en-GB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613992"/>
                      </a:ext>
                    </a:extLst>
                  </a:tr>
                  <a:tr h="65098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134483"/>
                      </a:ext>
                    </a:extLst>
                  </a:tr>
                  <a:tr h="6509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5276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A89EDE6-09FC-F746-3608-854C72C4D0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3987017"/>
                  </p:ext>
                </p:extLst>
              </p:nvPr>
            </p:nvGraphicFramePr>
            <p:xfrm>
              <a:off x="1184164" y="3155731"/>
              <a:ext cx="9823672" cy="2603940"/>
            </p:xfrm>
            <a:graphic>
              <a:graphicData uri="http://schemas.openxmlformats.org/drawingml/2006/table">
                <a:tbl>
                  <a:tblPr lastRow="1">
                    <a:tableStyleId>{5202B0CA-FC54-4496-8BCA-5EF66A818D29}</a:tableStyleId>
                  </a:tblPr>
                  <a:tblGrid>
                    <a:gridCol w="1227959">
                      <a:extLst>
                        <a:ext uri="{9D8B030D-6E8A-4147-A177-3AD203B41FA5}">
                          <a16:colId xmlns:a16="http://schemas.microsoft.com/office/drawing/2014/main" val="890338283"/>
                        </a:ext>
                      </a:extLst>
                    </a:gridCol>
                    <a:gridCol w="1227959">
                      <a:extLst>
                        <a:ext uri="{9D8B030D-6E8A-4147-A177-3AD203B41FA5}">
                          <a16:colId xmlns:a16="http://schemas.microsoft.com/office/drawing/2014/main" val="455926256"/>
                        </a:ext>
                      </a:extLst>
                    </a:gridCol>
                    <a:gridCol w="1227959">
                      <a:extLst>
                        <a:ext uri="{9D8B030D-6E8A-4147-A177-3AD203B41FA5}">
                          <a16:colId xmlns:a16="http://schemas.microsoft.com/office/drawing/2014/main" val="1227145441"/>
                        </a:ext>
                      </a:extLst>
                    </a:gridCol>
                    <a:gridCol w="1227959">
                      <a:extLst>
                        <a:ext uri="{9D8B030D-6E8A-4147-A177-3AD203B41FA5}">
                          <a16:colId xmlns:a16="http://schemas.microsoft.com/office/drawing/2014/main" val="707870695"/>
                        </a:ext>
                      </a:extLst>
                    </a:gridCol>
                    <a:gridCol w="1227959">
                      <a:extLst>
                        <a:ext uri="{9D8B030D-6E8A-4147-A177-3AD203B41FA5}">
                          <a16:colId xmlns:a16="http://schemas.microsoft.com/office/drawing/2014/main" val="1702779359"/>
                        </a:ext>
                      </a:extLst>
                    </a:gridCol>
                    <a:gridCol w="1227959">
                      <a:extLst>
                        <a:ext uri="{9D8B030D-6E8A-4147-A177-3AD203B41FA5}">
                          <a16:colId xmlns:a16="http://schemas.microsoft.com/office/drawing/2014/main" val="2518074309"/>
                        </a:ext>
                      </a:extLst>
                    </a:gridCol>
                    <a:gridCol w="1227959">
                      <a:extLst>
                        <a:ext uri="{9D8B030D-6E8A-4147-A177-3AD203B41FA5}">
                          <a16:colId xmlns:a16="http://schemas.microsoft.com/office/drawing/2014/main" val="568128916"/>
                        </a:ext>
                      </a:extLst>
                    </a:gridCol>
                    <a:gridCol w="1227959">
                      <a:extLst>
                        <a:ext uri="{9D8B030D-6E8A-4147-A177-3AD203B41FA5}">
                          <a16:colId xmlns:a16="http://schemas.microsoft.com/office/drawing/2014/main" val="1828945988"/>
                        </a:ext>
                      </a:extLst>
                    </a:gridCol>
                  </a:tblGrid>
                  <a:tr h="6509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aseline="-250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aseline="-250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aseline="-250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aseline="-250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aseline="-250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80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9504764"/>
                      </a:ext>
                    </a:extLst>
                  </a:tr>
                  <a:tr h="650985">
                    <a:tc>
                      <a:txBody>
                        <a:bodyPr/>
                        <a:lstStyle/>
                        <a:p>
                          <a:pPr algn="ctr"/>
                          <a:endParaRPr lang="en-GB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613992"/>
                      </a:ext>
                    </a:extLst>
                  </a:tr>
                  <a:tr h="6509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200000" r="-700000" b="-106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134483"/>
                      </a:ext>
                    </a:extLst>
                  </a:tr>
                  <a:tr h="6509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5276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283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187AD-AF14-3E9E-C94E-5C43C4F8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Binary Arithmetic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7F006E-DB37-A9FA-E55F-321D43451CC4}"/>
              </a:ext>
            </a:extLst>
          </p:cNvPr>
          <p:cNvSpPr txBox="1"/>
          <p:nvPr/>
        </p:nvSpPr>
        <p:spPr>
          <a:xfrm>
            <a:off x="838200" y="2081048"/>
            <a:ext cx="10515600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800" dirty="0"/>
              <a:t>Now You: </a:t>
            </a:r>
          </a:p>
          <a:p>
            <a:r>
              <a:rPr lang="en-GB" sz="2800" dirty="0"/>
              <a:t>Compute (1010)</a:t>
            </a:r>
            <a:r>
              <a:rPr lang="en-GB" sz="2800" baseline="-25000" dirty="0"/>
              <a:t>2</a:t>
            </a:r>
            <a:r>
              <a:rPr lang="en-GB" sz="2800" dirty="0"/>
              <a:t> + (1110)</a:t>
            </a:r>
            <a:r>
              <a:rPr lang="en-GB" sz="2800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22884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8861-EEED-F1D7-CC2C-AA69B8900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BA819-BD50-7101-A8AB-E06BF7BBC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  <a:p>
            <a:pPr lvl="1"/>
            <a:r>
              <a:rPr lang="en-GB" dirty="0"/>
              <a:t>Compute 1101</a:t>
            </a:r>
            <a:r>
              <a:rPr lang="en-GB" baseline="-25000" dirty="0"/>
              <a:t>2</a:t>
            </a:r>
            <a:r>
              <a:rPr lang="en-GB" dirty="0"/>
              <a:t> × 101</a:t>
            </a:r>
            <a:r>
              <a:rPr lang="en-GB" baseline="-25000" dirty="0"/>
              <a:t>2</a:t>
            </a:r>
            <a:r>
              <a:rPr lang="en-GB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49386D7-08E3-85F7-CF70-D774E56051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54180"/>
                  </p:ext>
                </p:extLst>
              </p:nvPr>
            </p:nvGraphicFramePr>
            <p:xfrm>
              <a:off x="1566042" y="2690647"/>
              <a:ext cx="8849712" cy="3905436"/>
            </p:xfrm>
            <a:graphic>
              <a:graphicData uri="http://schemas.openxmlformats.org/drawingml/2006/table">
                <a:tbl>
                  <a:tblPr lastRow="1">
                    <a:tableStyleId>{5202B0CA-FC54-4496-8BCA-5EF66A818D29}</a:tableStyleId>
                  </a:tblPr>
                  <a:tblGrid>
                    <a:gridCol w="914453">
                      <a:extLst>
                        <a:ext uri="{9D8B030D-6E8A-4147-A177-3AD203B41FA5}">
                          <a16:colId xmlns:a16="http://schemas.microsoft.com/office/drawing/2014/main" val="455926256"/>
                        </a:ext>
                      </a:extLst>
                    </a:gridCol>
                    <a:gridCol w="914453">
                      <a:extLst>
                        <a:ext uri="{9D8B030D-6E8A-4147-A177-3AD203B41FA5}">
                          <a16:colId xmlns:a16="http://schemas.microsoft.com/office/drawing/2014/main" val="1227145441"/>
                        </a:ext>
                      </a:extLst>
                    </a:gridCol>
                    <a:gridCol w="914453">
                      <a:extLst>
                        <a:ext uri="{9D8B030D-6E8A-4147-A177-3AD203B41FA5}">
                          <a16:colId xmlns:a16="http://schemas.microsoft.com/office/drawing/2014/main" val="707870695"/>
                        </a:ext>
                      </a:extLst>
                    </a:gridCol>
                    <a:gridCol w="914453">
                      <a:extLst>
                        <a:ext uri="{9D8B030D-6E8A-4147-A177-3AD203B41FA5}">
                          <a16:colId xmlns:a16="http://schemas.microsoft.com/office/drawing/2014/main" val="1702779359"/>
                        </a:ext>
                      </a:extLst>
                    </a:gridCol>
                    <a:gridCol w="914453">
                      <a:extLst>
                        <a:ext uri="{9D8B030D-6E8A-4147-A177-3AD203B41FA5}">
                          <a16:colId xmlns:a16="http://schemas.microsoft.com/office/drawing/2014/main" val="2518074309"/>
                        </a:ext>
                      </a:extLst>
                    </a:gridCol>
                    <a:gridCol w="914453">
                      <a:extLst>
                        <a:ext uri="{9D8B030D-6E8A-4147-A177-3AD203B41FA5}">
                          <a16:colId xmlns:a16="http://schemas.microsoft.com/office/drawing/2014/main" val="568128916"/>
                        </a:ext>
                      </a:extLst>
                    </a:gridCol>
                    <a:gridCol w="914453">
                      <a:extLst>
                        <a:ext uri="{9D8B030D-6E8A-4147-A177-3AD203B41FA5}">
                          <a16:colId xmlns:a16="http://schemas.microsoft.com/office/drawing/2014/main" val="1828945988"/>
                        </a:ext>
                      </a:extLst>
                    </a:gridCol>
                    <a:gridCol w="2448541">
                      <a:extLst>
                        <a:ext uri="{9D8B030D-6E8A-4147-A177-3AD203B41FA5}">
                          <a16:colId xmlns:a16="http://schemas.microsoft.com/office/drawing/2014/main" val="1897396238"/>
                        </a:ext>
                      </a:extLst>
                    </a:gridCol>
                  </a:tblGrid>
                  <a:tr h="513746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613992"/>
                      </a:ext>
                    </a:extLst>
                  </a:tr>
                  <a:tr h="513746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134483"/>
                      </a:ext>
                    </a:extLst>
                  </a:tr>
                  <a:tr h="513746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aseline="-25000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aseline="-25000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aseline="-25000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6851462"/>
                      </a:ext>
                    </a:extLst>
                  </a:tr>
                  <a:tr h="513746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dirty="0"/>
                            <a:t>1’s place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527620"/>
                      </a:ext>
                    </a:extLst>
                  </a:tr>
                  <a:tr h="513746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dirty="0"/>
                            <a:t>2’s place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5408665"/>
                      </a:ext>
                    </a:extLst>
                  </a:tr>
                  <a:tr h="7407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/>
                            <a:t>+</a:t>
                          </a:r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4’s place (bits left shifted twice)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0494297"/>
                      </a:ext>
                    </a:extLst>
                  </a:tr>
                  <a:tr h="513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Result (sum)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594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49386D7-08E3-85F7-CF70-D774E56051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54180"/>
                  </p:ext>
                </p:extLst>
              </p:nvPr>
            </p:nvGraphicFramePr>
            <p:xfrm>
              <a:off x="1566042" y="2690647"/>
              <a:ext cx="8849712" cy="3905436"/>
            </p:xfrm>
            <a:graphic>
              <a:graphicData uri="http://schemas.openxmlformats.org/drawingml/2006/table">
                <a:tbl>
                  <a:tblPr lastRow="1">
                    <a:tableStyleId>{5202B0CA-FC54-4496-8BCA-5EF66A818D29}</a:tableStyleId>
                  </a:tblPr>
                  <a:tblGrid>
                    <a:gridCol w="914453">
                      <a:extLst>
                        <a:ext uri="{9D8B030D-6E8A-4147-A177-3AD203B41FA5}">
                          <a16:colId xmlns:a16="http://schemas.microsoft.com/office/drawing/2014/main" val="455926256"/>
                        </a:ext>
                      </a:extLst>
                    </a:gridCol>
                    <a:gridCol w="914453">
                      <a:extLst>
                        <a:ext uri="{9D8B030D-6E8A-4147-A177-3AD203B41FA5}">
                          <a16:colId xmlns:a16="http://schemas.microsoft.com/office/drawing/2014/main" val="1227145441"/>
                        </a:ext>
                      </a:extLst>
                    </a:gridCol>
                    <a:gridCol w="914453">
                      <a:extLst>
                        <a:ext uri="{9D8B030D-6E8A-4147-A177-3AD203B41FA5}">
                          <a16:colId xmlns:a16="http://schemas.microsoft.com/office/drawing/2014/main" val="707870695"/>
                        </a:ext>
                      </a:extLst>
                    </a:gridCol>
                    <a:gridCol w="914453">
                      <a:extLst>
                        <a:ext uri="{9D8B030D-6E8A-4147-A177-3AD203B41FA5}">
                          <a16:colId xmlns:a16="http://schemas.microsoft.com/office/drawing/2014/main" val="1702779359"/>
                        </a:ext>
                      </a:extLst>
                    </a:gridCol>
                    <a:gridCol w="914453">
                      <a:extLst>
                        <a:ext uri="{9D8B030D-6E8A-4147-A177-3AD203B41FA5}">
                          <a16:colId xmlns:a16="http://schemas.microsoft.com/office/drawing/2014/main" val="2518074309"/>
                        </a:ext>
                      </a:extLst>
                    </a:gridCol>
                    <a:gridCol w="914453">
                      <a:extLst>
                        <a:ext uri="{9D8B030D-6E8A-4147-A177-3AD203B41FA5}">
                          <a16:colId xmlns:a16="http://schemas.microsoft.com/office/drawing/2014/main" val="568128916"/>
                        </a:ext>
                      </a:extLst>
                    </a:gridCol>
                    <a:gridCol w="914453">
                      <a:extLst>
                        <a:ext uri="{9D8B030D-6E8A-4147-A177-3AD203B41FA5}">
                          <a16:colId xmlns:a16="http://schemas.microsoft.com/office/drawing/2014/main" val="1828945988"/>
                        </a:ext>
                      </a:extLst>
                    </a:gridCol>
                    <a:gridCol w="2448541">
                      <a:extLst>
                        <a:ext uri="{9D8B030D-6E8A-4147-A177-3AD203B41FA5}">
                          <a16:colId xmlns:a16="http://schemas.microsoft.com/office/drawing/2014/main" val="1897396238"/>
                        </a:ext>
                      </a:extLst>
                    </a:gridCol>
                  </a:tblGrid>
                  <a:tr h="513746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613992"/>
                      </a:ext>
                    </a:extLst>
                  </a:tr>
                  <a:tr h="513746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8235" r="-671333" b="-57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134483"/>
                      </a:ext>
                    </a:extLst>
                  </a:tr>
                  <a:tr h="513746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aseline="-25000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aseline="-25000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aseline="-25000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6851462"/>
                      </a:ext>
                    </a:extLst>
                  </a:tr>
                  <a:tr h="513746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dirty="0"/>
                            <a:t>1’s place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527620"/>
                      </a:ext>
                    </a:extLst>
                  </a:tr>
                  <a:tr h="513746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dirty="0"/>
                            <a:t>2’s place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5408665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/>
                            <a:t>+</a:t>
                          </a:r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4’s place (bits left shifted twice)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0494297"/>
                      </a:ext>
                    </a:extLst>
                  </a:tr>
                  <a:tr h="513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/>
                            <a:t>Result (sum)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594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4400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9EE8-CAF2-E666-ACBA-5B638FE7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Binary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EEE3BBA-2827-E3A0-6DCA-89DE0AD31A4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4269828" cy="1054209"/>
              </a:xfr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sz="2800" dirty="0"/>
                  <a:t>Now You: </a:t>
                </a:r>
              </a:p>
              <a:p>
                <a:pPr marL="0" indent="0">
                  <a:buNone/>
                </a:pPr>
                <a:r>
                  <a:rPr lang="en-GB" sz="2800" dirty="0"/>
                  <a:t>Compute (1010)</a:t>
                </a:r>
                <a:r>
                  <a:rPr lang="en-GB" sz="2800" baseline="-25000" dirty="0"/>
                  <a:t>2</a:t>
                </a:r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r>
                      <a:rPr lang="en-GB" sz="2800" i="1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sz="2800" dirty="0"/>
                  <a:t> (1110)</a:t>
                </a:r>
                <a:r>
                  <a:rPr lang="en-GB" sz="2800" baseline="-25000" dirty="0"/>
                  <a:t>2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EEE3BBA-2827-E3A0-6DCA-89DE0AD31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4269828" cy="1054209"/>
              </a:xfrm>
              <a:blipFill>
                <a:blip r:embed="rId2"/>
                <a:stretch>
                  <a:fillRect l="-3000" t="-9249" b="-104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6332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13B4-2A5C-A5D7-6FE6-5CCE5116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Converting decimal to binary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9A24B4-4804-D8D1-1141-D7A8AB249F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Algorithm, to convert decimal number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to binary: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Divide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by 2 to get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Remainder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is the rightmost bit (least significant bit)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Divide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by 2 to get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baseline="-25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Remainder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is the next rightmost bit</a:t>
                </a:r>
              </a:p>
              <a:p>
                <a:pPr marL="0" indent="0">
                  <a:buNone/>
                </a:pPr>
                <a:r>
                  <a:rPr lang="en-GB" dirty="0"/>
                  <a:t>And so on, until</a:t>
                </a:r>
              </a:p>
              <a:p>
                <a:pPr marL="514350" indent="-514350">
                  <a:buFont typeface="+mj-lt"/>
                  <a:buAutoNum type="arabicPeriod" startAt="5"/>
                </a:pPr>
                <a:r>
                  <a:rPr lang="en-GB" dirty="0"/>
                  <a:t>Divide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by 2 to get 0</a:t>
                </a:r>
              </a:p>
              <a:p>
                <a:pPr marL="514350" indent="-514350">
                  <a:buFont typeface="+mj-lt"/>
                  <a:buAutoNum type="arabicPeriod" startAt="5"/>
                </a:pPr>
                <a:r>
                  <a:rPr lang="en-GB" dirty="0"/>
                  <a:t>Remainder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is the leftmost bit (most significant bit)</a:t>
                </a:r>
              </a:p>
              <a:p>
                <a:pPr marL="514350" indent="-514350">
                  <a:buFont typeface="+mj-lt"/>
                  <a:buAutoNum type="arabicPeriod" startAt="5"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9A24B4-4804-D8D1-1141-D7A8AB249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8324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ED35-C5C5-D7CB-27DE-54237DAEC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8C3BBC5-8469-5AE6-40FB-8C4B1DB976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=2×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=2×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2×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+2×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×2×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2×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+2×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+2×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⋮</m:t>
                    </m:r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b="0" dirty="0"/>
              </a:p>
              <a:p>
                <a:r>
                  <a:rPr lang="en-GB" b="0" dirty="0"/>
                  <a:t>Therefore,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b="0" dirty="0"/>
                  <a:t> is a bit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8C3BBC5-8469-5AE6-40FB-8C4B1DB97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DAAD1FD-8D81-005A-8A6C-51FB4F68656C}"/>
              </a:ext>
            </a:extLst>
          </p:cNvPr>
          <p:cNvSpPr txBox="1"/>
          <p:nvPr/>
        </p:nvSpPr>
        <p:spPr>
          <a:xfrm>
            <a:off x="5638800" y="297442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3988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35DB-22C6-3FD8-D286-9BF0E54BE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converting decimal to binary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60E57-9A5D-C376-9019-71F8FD58D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42</a:t>
            </a:r>
            <a:r>
              <a:rPr lang="en-GB" baseline="-25000" dirty="0"/>
              <a:t>10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42 / 2 = 21, remainder 0. Rightmost bit is 0.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21 / 2 = 10, remainder 1. Next rightmost bit is 1.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10 / 2 = 5, remainder 0. Next bit is 0.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5 / 2 = 2. remainder 1. Next bit is 1.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2 / 2 = 1, remainder 0. Next bit is 0.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1 / 2 = 0, remainder 1. Last bit is 1.</a:t>
            </a:r>
          </a:p>
          <a:p>
            <a:r>
              <a:rPr lang="en-GB" dirty="0"/>
              <a:t>Put these in reverse order (because we go right to left) to get 101010</a:t>
            </a:r>
            <a:r>
              <a:rPr lang="en-GB" baseline="-25000" dirty="0"/>
              <a:t>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027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E81F1-3319-0E78-19D7-21E5F5E9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alternative solution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E88FE3-32CB-FA2D-832D-4CABA08D93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946318"/>
              </p:ext>
            </p:extLst>
          </p:nvPr>
        </p:nvGraphicFramePr>
        <p:xfrm>
          <a:off x="754117" y="2360393"/>
          <a:ext cx="10515600" cy="237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45479107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14807315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6890926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23404537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56570444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70388296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24693087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232142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Power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0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Base 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55601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918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Integer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42 / 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 / 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 / 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2 / 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2 / 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 / 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9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= 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= 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= 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= 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= 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= 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9601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Remainder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2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2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33472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407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64C2D-855D-FC57-867E-86020DDA3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converting decimal to binary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0FC0-7FC0-A3D7-BC6B-D9D5B59E10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938596"/>
          </a:xfrm>
        </p:spPr>
        <p:txBody>
          <a:bodyPr/>
          <a:lstStyle/>
          <a:p>
            <a:r>
              <a:rPr lang="en-GB" dirty="0"/>
              <a:t>Now You: Convert 115</a:t>
            </a:r>
            <a:r>
              <a:rPr lang="en-GB" baseline="-25000" dirty="0"/>
              <a:t>10</a:t>
            </a:r>
            <a:r>
              <a:rPr lang="en-GB" dirty="0"/>
              <a:t> to binary</a:t>
            </a:r>
          </a:p>
        </p:txBody>
      </p:sp>
    </p:spTree>
    <p:extLst>
      <p:ext uri="{BB962C8B-B14F-4D97-AF65-F5344CB8AC3E}">
        <p14:creationId xmlns:p14="http://schemas.microsoft.com/office/powerpoint/2010/main" val="2995070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8F476-EFC0-5E53-833E-2D333F3FF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Converting decimal to hexadecimal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8CCD97C-F3C1-F7E9-0348-52F36AD52B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same principal applies, except we divide by 16 rather than 2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Divide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by 16 to get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Remainder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is the rightmost digit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Divide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by 16 to get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baseline="-25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Remainder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is the next rightmost digit</a:t>
                </a:r>
              </a:p>
              <a:p>
                <a:pPr marL="0" indent="0">
                  <a:buNone/>
                </a:pPr>
                <a:r>
                  <a:rPr lang="en-GB" dirty="0"/>
                  <a:t>And so on, until</a:t>
                </a:r>
              </a:p>
              <a:p>
                <a:pPr marL="514350" indent="-514350">
                  <a:buFont typeface="+mj-lt"/>
                  <a:buAutoNum type="arabicPeriod" startAt="5"/>
                </a:pPr>
                <a:r>
                  <a:rPr lang="en-GB" dirty="0"/>
                  <a:t>Divide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by 16 to get 0</a:t>
                </a:r>
              </a:p>
              <a:p>
                <a:pPr marL="514350" indent="-514350">
                  <a:buFont typeface="+mj-lt"/>
                  <a:buAutoNum type="arabicPeriod" startAt="5"/>
                </a:pPr>
                <a:r>
                  <a:rPr lang="en-GB" dirty="0"/>
                  <a:t>Remainder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i="1" baseline="-25000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is the leftmost digit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8CCD97C-F3C1-F7E9-0348-52F36AD52B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8607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C6A3-2F2C-FBA8-976C-48F1332C4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converting decimal to hexadecimal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FCAF1-AA51-C2F8-03AB-D587FE723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Show 8039</a:t>
            </a:r>
            <a:r>
              <a:rPr lang="en-GB" baseline="-25000" dirty="0"/>
              <a:t>10</a:t>
            </a:r>
            <a:r>
              <a:rPr lang="en-GB" dirty="0"/>
              <a:t> = 1F67</a:t>
            </a:r>
            <a:r>
              <a:rPr lang="en-GB" baseline="-25000" dirty="0"/>
              <a:t>16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Divide 8039 by 16 to get 502, remainder 7. Rightmost digit is 7.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Divide 502 by 16 to get 31, remainder 6. Next digit is 6.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Divide 31 by 16 to get 1, remainder 15. Next digit is F (15).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Divide 1 by 16 to get 0, remainder 1. Last digit is 1.</a:t>
            </a:r>
          </a:p>
          <a:p>
            <a:r>
              <a:rPr lang="en-GB" dirty="0"/>
              <a:t>Reverse order to get 1F67.</a:t>
            </a:r>
          </a:p>
        </p:txBody>
      </p:sp>
    </p:spTree>
    <p:extLst>
      <p:ext uri="{BB962C8B-B14F-4D97-AF65-F5344CB8AC3E}">
        <p14:creationId xmlns:p14="http://schemas.microsoft.com/office/powerpoint/2010/main" val="2229278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BFCD-A3B4-F2AF-F946-3A2393284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converting decimal to hexadecimal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2486D-2C1B-1D0C-7E4E-72A19FA0F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Now you: Convert 65261</a:t>
            </a:r>
            <a:r>
              <a:rPr lang="en-GB" baseline="-25000" dirty="0"/>
              <a:t>10</a:t>
            </a:r>
            <a:r>
              <a:rPr lang="en-GB" dirty="0"/>
              <a:t> to hexadecimal</a:t>
            </a:r>
          </a:p>
        </p:txBody>
      </p:sp>
    </p:spTree>
    <p:extLst>
      <p:ext uri="{BB962C8B-B14F-4D97-AF65-F5344CB8AC3E}">
        <p14:creationId xmlns:p14="http://schemas.microsoft.com/office/powerpoint/2010/main" val="3418103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119E-D1D6-8170-B307-543161C4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Converting hexadecimal to binary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D2357-81FE-2A30-8551-71FD2133F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Converting between binary and hexadecimal is much easier</a:t>
            </a:r>
          </a:p>
          <a:p>
            <a:r>
              <a:rPr lang="en-GB" dirty="0"/>
              <a:t>Remember that 4 bits give 16 possible values (2</a:t>
            </a:r>
            <a:r>
              <a:rPr lang="en-GB" baseline="30000" dirty="0"/>
              <a:t>4</a:t>
            </a:r>
            <a:r>
              <a:rPr lang="en-GB" dirty="0"/>
              <a:t>): 0 to 15.</a:t>
            </a:r>
          </a:p>
          <a:p>
            <a:pPr lvl="1"/>
            <a:r>
              <a:rPr lang="en-GB" dirty="0"/>
              <a:t>Hexadecimal has 16 digits representing 0 to 15</a:t>
            </a:r>
          </a:p>
          <a:p>
            <a:r>
              <a:rPr lang="en-GB" dirty="0"/>
              <a:t>Hex to binary: Convert each hex digit to 4-bit binary and concatenate (from left to right)</a:t>
            </a:r>
          </a:p>
          <a:p>
            <a:r>
              <a:rPr lang="en-GB" dirty="0"/>
              <a:t>Binary to hex: Split binary into groups of 4 bits (from right) and convert each group of 4 bits to a hex digit</a:t>
            </a:r>
          </a:p>
        </p:txBody>
      </p:sp>
    </p:spTree>
    <p:extLst>
      <p:ext uri="{BB962C8B-B14F-4D97-AF65-F5344CB8AC3E}">
        <p14:creationId xmlns:p14="http://schemas.microsoft.com/office/powerpoint/2010/main" val="23237861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460B-F47A-0CA1-F291-F0A7F152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C58A1-C449-5A49-0FF0-2704E1241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1F67</a:t>
            </a:r>
            <a:r>
              <a:rPr lang="en-GB" baseline="-25000" dirty="0"/>
              <a:t>16</a:t>
            </a:r>
            <a:r>
              <a:rPr lang="en-GB" dirty="0"/>
              <a:t> to binary</a:t>
            </a:r>
          </a:p>
          <a:p>
            <a:r>
              <a:rPr lang="en-GB" dirty="0"/>
              <a:t>1 is 0001 as 4 binary digits</a:t>
            </a:r>
          </a:p>
          <a:p>
            <a:r>
              <a:rPr lang="en-GB" dirty="0"/>
              <a:t>F(15) is 1111</a:t>
            </a:r>
          </a:p>
          <a:p>
            <a:r>
              <a:rPr lang="en-GB" dirty="0"/>
              <a:t>6 is 0110</a:t>
            </a:r>
          </a:p>
          <a:p>
            <a:r>
              <a:rPr lang="en-GB" dirty="0"/>
              <a:t>7 is 0111</a:t>
            </a:r>
          </a:p>
          <a:p>
            <a:r>
              <a:rPr lang="en-GB" dirty="0"/>
              <a:t>Concatenated, from left to right, gives 0001 1111 0110 0111</a:t>
            </a:r>
          </a:p>
          <a:p>
            <a:r>
              <a:rPr lang="en-GB" dirty="0"/>
              <a:t>Removing leading zeroes gives 1 1111 0110 0111</a:t>
            </a:r>
            <a:r>
              <a:rPr lang="en-GB" baseline="-25000" dirty="0"/>
              <a:t>2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08734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21CA-5DB5-8D71-4FB1-F5D4DF8F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converting hexadecimal to binary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C5D09-FD51-15AD-67E6-F2F8F180C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Convert 1100000000111010</a:t>
            </a:r>
            <a:r>
              <a:rPr lang="en-GB" baseline="-25000" dirty="0"/>
              <a:t>2</a:t>
            </a:r>
            <a:r>
              <a:rPr lang="en-GB" dirty="0"/>
              <a:t> to hexadecimal</a:t>
            </a:r>
          </a:p>
          <a:p>
            <a:r>
              <a:rPr lang="en-GB" dirty="0"/>
              <a:t>Split into groups of four bits: 1100 0000 0011 1010</a:t>
            </a:r>
          </a:p>
          <a:p>
            <a:r>
              <a:rPr lang="en-GB" dirty="0"/>
              <a:t>Convert each group:</a:t>
            </a:r>
          </a:p>
          <a:p>
            <a:pPr lvl="1"/>
            <a:r>
              <a:rPr lang="en-GB" dirty="0"/>
              <a:t>1100 is C (12)</a:t>
            </a:r>
          </a:p>
          <a:p>
            <a:pPr lvl="1"/>
            <a:r>
              <a:rPr lang="en-GB" dirty="0"/>
              <a:t>0000 is 0</a:t>
            </a:r>
          </a:p>
          <a:p>
            <a:pPr lvl="1"/>
            <a:r>
              <a:rPr lang="en-GB" dirty="0"/>
              <a:t>0011 is 3</a:t>
            </a:r>
          </a:p>
          <a:p>
            <a:pPr lvl="1"/>
            <a:r>
              <a:rPr lang="en-GB" dirty="0"/>
              <a:t>1010 is A (10)</a:t>
            </a:r>
          </a:p>
          <a:p>
            <a:r>
              <a:rPr lang="en-GB" dirty="0"/>
              <a:t>Hence, C03A</a:t>
            </a:r>
            <a:r>
              <a:rPr lang="en-GB" baseline="-25000" dirty="0"/>
              <a:t>16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2137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ECA0E-14D7-D875-25F6-8E8F324C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converting hexadecimal to binary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B6C3A-444D-D78C-B689-EB9CF97E6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Now You: Convert 789</a:t>
            </a:r>
            <a:r>
              <a:rPr lang="en-GB" baseline="-25000" dirty="0"/>
              <a:t>16</a:t>
            </a:r>
            <a:r>
              <a:rPr lang="en-GB" dirty="0"/>
              <a:t> to binary</a:t>
            </a:r>
          </a:p>
        </p:txBody>
      </p:sp>
    </p:spTree>
    <p:extLst>
      <p:ext uri="{BB962C8B-B14F-4D97-AF65-F5344CB8AC3E}">
        <p14:creationId xmlns:p14="http://schemas.microsoft.com/office/powerpoint/2010/main" val="39536608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20EA7-74B5-BBBF-C99D-FFEBEA6B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Fractions: Radix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B2B5D-5A0F-0E4A-AB7F-214120F28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Decimal point in base 10</a:t>
            </a:r>
          </a:p>
          <a:p>
            <a:r>
              <a:rPr lang="en-GB" dirty="0"/>
              <a:t>Binary point in base 2</a:t>
            </a:r>
          </a:p>
          <a:p>
            <a:r>
              <a:rPr lang="en-GB" dirty="0"/>
              <a:t>Some numbers cannot be represented (exactly) in some bases (with terminating, finite representations). Exact conversion may be impossible.</a:t>
            </a:r>
          </a:p>
        </p:txBody>
      </p:sp>
    </p:spTree>
    <p:extLst>
      <p:ext uri="{BB962C8B-B14F-4D97-AF65-F5344CB8AC3E}">
        <p14:creationId xmlns:p14="http://schemas.microsoft.com/office/powerpoint/2010/main" val="28812680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AF7E2-48E3-33F4-0BC0-CF45EDFE5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Decimal Fractions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24252-AF41-DC65-3995-CCA7E88D9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Move the number point one place to the right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Effect multiplies the number by the base number</a:t>
            </a:r>
          </a:p>
          <a:p>
            <a:pPr lvl="1"/>
            <a:r>
              <a:rPr lang="en-GB" dirty="0"/>
              <a:t>Example 139.0</a:t>
            </a:r>
            <a:r>
              <a:rPr lang="en-GB" baseline="-25000" dirty="0"/>
              <a:t>10</a:t>
            </a:r>
            <a:r>
              <a:rPr lang="en-GB" dirty="0"/>
              <a:t> → 1390</a:t>
            </a:r>
            <a:r>
              <a:rPr lang="en-GB" baseline="-25000" dirty="0"/>
              <a:t>10</a:t>
            </a:r>
          </a:p>
          <a:p>
            <a:r>
              <a:rPr lang="en-GB" dirty="0">
                <a:solidFill>
                  <a:schemeClr val="accent1"/>
                </a:solidFill>
              </a:rPr>
              <a:t>Move the number point one place to the left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Effect divides the number by the base number</a:t>
            </a:r>
          </a:p>
          <a:p>
            <a:pPr lvl="1"/>
            <a:r>
              <a:rPr lang="en-GB" dirty="0"/>
              <a:t>Example 139.0</a:t>
            </a:r>
            <a:r>
              <a:rPr lang="en-GB" baseline="-25000" dirty="0"/>
              <a:t>10</a:t>
            </a:r>
            <a:r>
              <a:rPr lang="en-GB" dirty="0"/>
              <a:t> → 13.9</a:t>
            </a:r>
            <a:r>
              <a:rPr lang="en-GB" baseline="-250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392669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885C3-711F-EB74-AD60-9B8EF74DA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Fractions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A2891-8D0C-DE6D-57BF-74E09D086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68306"/>
          </a:xfrm>
        </p:spPr>
        <p:txBody>
          <a:bodyPr/>
          <a:lstStyle/>
          <a:p>
            <a:r>
              <a:rPr lang="en-GB" dirty="0"/>
              <a:t>0.2589</a:t>
            </a:r>
            <a:r>
              <a:rPr lang="en-GB" baseline="-25000" dirty="0"/>
              <a:t>10</a:t>
            </a:r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B923D05-441F-2EE1-B0EB-1CDED52C0D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290330"/>
                  </p:ext>
                </p:extLst>
              </p:nvPr>
            </p:nvGraphicFramePr>
            <p:xfrm>
              <a:off x="1643117" y="2348769"/>
              <a:ext cx="8128000" cy="148336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1047531">
                      <a:extLst>
                        <a:ext uri="{9D8B030D-6E8A-4147-A177-3AD203B41FA5}">
                          <a16:colId xmlns:a16="http://schemas.microsoft.com/office/drawing/2014/main" val="20000877"/>
                        </a:ext>
                      </a:extLst>
                    </a:gridCol>
                    <a:gridCol w="578069">
                      <a:extLst>
                        <a:ext uri="{9D8B030D-6E8A-4147-A177-3AD203B41FA5}">
                          <a16:colId xmlns:a16="http://schemas.microsoft.com/office/drawing/2014/main" val="93220297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55857156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6484753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14943699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629659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Place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</a:t>
                          </a:r>
                          <a:r>
                            <a:rPr lang="en-GB" baseline="30000" dirty="0"/>
                            <a:t>-1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</a:t>
                          </a:r>
                          <a:r>
                            <a:rPr lang="en-GB" baseline="30000" dirty="0"/>
                            <a:t>-2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</a:t>
                          </a:r>
                          <a:r>
                            <a:rPr lang="en-GB" baseline="30000" dirty="0"/>
                            <a:t>-3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</a:t>
                          </a:r>
                          <a:r>
                            <a:rPr lang="en-GB" baseline="30000" dirty="0"/>
                            <a:t>-4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1528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Value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1/10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1/100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1/1000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1/10000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865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Evaluate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1/10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5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1/100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1/1000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9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GB" dirty="0"/>
                            <a:t> 1/10000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3065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Result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0.008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0.0009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79000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B923D05-441F-2EE1-B0EB-1CDED52C0D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290330"/>
                  </p:ext>
                </p:extLst>
              </p:nvPr>
            </p:nvGraphicFramePr>
            <p:xfrm>
              <a:off x="1643117" y="2348769"/>
              <a:ext cx="8128000" cy="148336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1047531">
                      <a:extLst>
                        <a:ext uri="{9D8B030D-6E8A-4147-A177-3AD203B41FA5}">
                          <a16:colId xmlns:a16="http://schemas.microsoft.com/office/drawing/2014/main" val="20000877"/>
                        </a:ext>
                      </a:extLst>
                    </a:gridCol>
                    <a:gridCol w="578069">
                      <a:extLst>
                        <a:ext uri="{9D8B030D-6E8A-4147-A177-3AD203B41FA5}">
                          <a16:colId xmlns:a16="http://schemas.microsoft.com/office/drawing/2014/main" val="93220297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55857156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6484753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14943699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629659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Place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</a:t>
                          </a:r>
                          <a:r>
                            <a:rPr lang="en-GB" baseline="30000" dirty="0"/>
                            <a:t>-1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</a:t>
                          </a:r>
                          <a:r>
                            <a:rPr lang="en-GB" baseline="30000" dirty="0"/>
                            <a:t>-2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</a:t>
                          </a:r>
                          <a:r>
                            <a:rPr lang="en-GB" baseline="30000" dirty="0"/>
                            <a:t>-3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</a:t>
                          </a:r>
                          <a:r>
                            <a:rPr lang="en-GB" baseline="30000" dirty="0"/>
                            <a:t>-4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1528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Value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1/10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1/100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1/1000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1/10000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865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Evaluate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08197" r="-29962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752" t="-208197" r="-20075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9625" t="-208197" r="-100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9625" t="-208197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065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Result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0.008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0.0009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79000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6FD231-AB5E-2AF3-62DF-F32D09A12C2C}"/>
              </a:ext>
            </a:extLst>
          </p:cNvPr>
          <p:cNvSpPr txBox="1">
            <a:spLocks/>
          </p:cNvSpPr>
          <p:nvPr/>
        </p:nvSpPr>
        <p:spPr>
          <a:xfrm>
            <a:off x="838200" y="3996011"/>
            <a:ext cx="10515600" cy="216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0.10101</a:t>
            </a:r>
            <a:r>
              <a:rPr lang="en-GB" baseline="-25000" dirty="0"/>
              <a:t>2</a:t>
            </a:r>
            <a:r>
              <a:rPr lang="en-GB" dirty="0"/>
              <a:t> = 0.65625</a:t>
            </a:r>
            <a:r>
              <a:rPr lang="en-GB" baseline="-250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38CBC8B-0894-D390-A1C3-849591E65E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7506593"/>
                  </p:ext>
                </p:extLst>
              </p:nvPr>
            </p:nvGraphicFramePr>
            <p:xfrm>
              <a:off x="1643116" y="4680957"/>
              <a:ext cx="9045905" cy="1641476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971525">
                      <a:extLst>
                        <a:ext uri="{9D8B030D-6E8A-4147-A177-3AD203B41FA5}">
                          <a16:colId xmlns:a16="http://schemas.microsoft.com/office/drawing/2014/main" val="20000877"/>
                        </a:ext>
                      </a:extLst>
                    </a:gridCol>
                    <a:gridCol w="536125">
                      <a:extLst>
                        <a:ext uri="{9D8B030D-6E8A-4147-A177-3AD203B41FA5}">
                          <a16:colId xmlns:a16="http://schemas.microsoft.com/office/drawing/2014/main" val="932202970"/>
                        </a:ext>
                      </a:extLst>
                    </a:gridCol>
                    <a:gridCol w="1507651">
                      <a:extLst>
                        <a:ext uri="{9D8B030D-6E8A-4147-A177-3AD203B41FA5}">
                          <a16:colId xmlns:a16="http://schemas.microsoft.com/office/drawing/2014/main" val="558571569"/>
                        </a:ext>
                      </a:extLst>
                    </a:gridCol>
                    <a:gridCol w="1507651">
                      <a:extLst>
                        <a:ext uri="{9D8B030D-6E8A-4147-A177-3AD203B41FA5}">
                          <a16:colId xmlns:a16="http://schemas.microsoft.com/office/drawing/2014/main" val="3964847538"/>
                        </a:ext>
                      </a:extLst>
                    </a:gridCol>
                    <a:gridCol w="1507651">
                      <a:extLst>
                        <a:ext uri="{9D8B030D-6E8A-4147-A177-3AD203B41FA5}">
                          <a16:colId xmlns:a16="http://schemas.microsoft.com/office/drawing/2014/main" val="3149436993"/>
                        </a:ext>
                      </a:extLst>
                    </a:gridCol>
                    <a:gridCol w="1507651">
                      <a:extLst>
                        <a:ext uri="{9D8B030D-6E8A-4147-A177-3AD203B41FA5}">
                          <a16:colId xmlns:a16="http://schemas.microsoft.com/office/drawing/2014/main" val="2662965903"/>
                        </a:ext>
                      </a:extLst>
                    </a:gridCol>
                    <a:gridCol w="1507651">
                      <a:extLst>
                        <a:ext uri="{9D8B030D-6E8A-4147-A177-3AD203B41FA5}">
                          <a16:colId xmlns:a16="http://schemas.microsoft.com/office/drawing/2014/main" val="36692780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Place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  <a:r>
                            <a:rPr lang="en-GB" baseline="30000" dirty="0"/>
                            <a:t>-1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  <a:r>
                            <a:rPr lang="en-GB" baseline="30000" dirty="0"/>
                            <a:t>-2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  <a:r>
                            <a:rPr lang="en-GB" baseline="30000" dirty="0"/>
                            <a:t>-3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  <a:r>
                            <a:rPr lang="en-GB" baseline="30000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aseline="0" dirty="0"/>
                            <a:t>2</a:t>
                          </a:r>
                          <a:r>
                            <a:rPr lang="en-GB" baseline="30000" dirty="0"/>
                            <a:t>-5</a:t>
                          </a:r>
                          <a:endParaRPr lang="en-GB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1528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Value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865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Evaluate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1×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3065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Result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0.125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0.03125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79000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38CBC8B-0894-D390-A1C3-849591E65E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7506593"/>
                  </p:ext>
                </p:extLst>
              </p:nvPr>
            </p:nvGraphicFramePr>
            <p:xfrm>
              <a:off x="1643116" y="4680957"/>
              <a:ext cx="9045905" cy="1641476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971525">
                      <a:extLst>
                        <a:ext uri="{9D8B030D-6E8A-4147-A177-3AD203B41FA5}">
                          <a16:colId xmlns:a16="http://schemas.microsoft.com/office/drawing/2014/main" val="20000877"/>
                        </a:ext>
                      </a:extLst>
                    </a:gridCol>
                    <a:gridCol w="536125">
                      <a:extLst>
                        <a:ext uri="{9D8B030D-6E8A-4147-A177-3AD203B41FA5}">
                          <a16:colId xmlns:a16="http://schemas.microsoft.com/office/drawing/2014/main" val="932202970"/>
                        </a:ext>
                      </a:extLst>
                    </a:gridCol>
                    <a:gridCol w="1507651">
                      <a:extLst>
                        <a:ext uri="{9D8B030D-6E8A-4147-A177-3AD203B41FA5}">
                          <a16:colId xmlns:a16="http://schemas.microsoft.com/office/drawing/2014/main" val="558571569"/>
                        </a:ext>
                      </a:extLst>
                    </a:gridCol>
                    <a:gridCol w="1507651">
                      <a:extLst>
                        <a:ext uri="{9D8B030D-6E8A-4147-A177-3AD203B41FA5}">
                          <a16:colId xmlns:a16="http://schemas.microsoft.com/office/drawing/2014/main" val="3964847538"/>
                        </a:ext>
                      </a:extLst>
                    </a:gridCol>
                    <a:gridCol w="1507651">
                      <a:extLst>
                        <a:ext uri="{9D8B030D-6E8A-4147-A177-3AD203B41FA5}">
                          <a16:colId xmlns:a16="http://schemas.microsoft.com/office/drawing/2014/main" val="3149436993"/>
                        </a:ext>
                      </a:extLst>
                    </a:gridCol>
                    <a:gridCol w="1507651">
                      <a:extLst>
                        <a:ext uri="{9D8B030D-6E8A-4147-A177-3AD203B41FA5}">
                          <a16:colId xmlns:a16="http://schemas.microsoft.com/office/drawing/2014/main" val="2662965903"/>
                        </a:ext>
                      </a:extLst>
                    </a:gridCol>
                    <a:gridCol w="1507651">
                      <a:extLst>
                        <a:ext uri="{9D8B030D-6E8A-4147-A177-3AD203B41FA5}">
                          <a16:colId xmlns:a16="http://schemas.microsoft.com/office/drawing/2014/main" val="36692780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Place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  <a:r>
                            <a:rPr lang="en-GB" baseline="30000" dirty="0"/>
                            <a:t>-1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  <a:r>
                            <a:rPr lang="en-GB" baseline="30000" dirty="0"/>
                            <a:t>-2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  <a:r>
                            <a:rPr lang="en-GB" baseline="30000" dirty="0"/>
                            <a:t>-3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  <a:r>
                            <a:rPr lang="en-GB" baseline="30000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aseline="0" dirty="0"/>
                            <a:t>2</a:t>
                          </a:r>
                          <a:r>
                            <a:rPr lang="en-GB" baseline="30000" dirty="0"/>
                            <a:t>-5</a:t>
                          </a:r>
                          <a:endParaRPr lang="en-GB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152843"/>
                      </a:ext>
                    </a:extLst>
                  </a:tr>
                  <a:tr h="449898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Value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597" t="-117333" r="-399194" b="-28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405" t="-117333" r="-300810" b="-28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194" t="-117333" r="-199597" b="-28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810" t="-117333" r="-100405" b="-28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8790" t="-117333" b="-28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865363"/>
                      </a:ext>
                    </a:extLst>
                  </a:tr>
                  <a:tr h="449898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Evaluate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597" t="-220270" r="-399194" b="-1878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405" t="-220270" r="-300810" b="-1878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194" t="-220270" r="-199597" b="-1878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810" t="-220270" r="-100405" b="-1878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8790" t="-220270" b="-1878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065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Result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0.125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0.03125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79000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903699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319F0-F787-9C7C-D71A-7B73AAE6A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and Decimal Fractions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1524D-D767-5579-E934-378381A26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is no general relationship between fractions of types 1/10</a:t>
            </a:r>
            <a:r>
              <a:rPr lang="en-GB" baseline="30000" dirty="0"/>
              <a:t>k</a:t>
            </a:r>
            <a:r>
              <a:rPr lang="en-GB" dirty="0"/>
              <a:t> and 1/2</a:t>
            </a:r>
            <a:r>
              <a:rPr lang="en-GB" baseline="30000" dirty="0"/>
              <a:t>k</a:t>
            </a:r>
            <a:r>
              <a:rPr lang="en-GB" dirty="0"/>
              <a:t>.</a:t>
            </a:r>
          </a:p>
          <a:p>
            <a:r>
              <a:rPr lang="en-GB" dirty="0"/>
              <a:t>Therefore, a number representable in base 10 may not be representable in base 2.</a:t>
            </a:r>
          </a:p>
          <a:p>
            <a:r>
              <a:rPr lang="en-GB" dirty="0"/>
              <a:t>But the converse is true: all fractions of the form 1/2</a:t>
            </a:r>
            <a:r>
              <a:rPr lang="en-GB" baseline="30000" dirty="0"/>
              <a:t>k</a:t>
            </a:r>
            <a:r>
              <a:rPr lang="en-GB" dirty="0"/>
              <a:t> can be represented in base 10.</a:t>
            </a:r>
          </a:p>
        </p:txBody>
      </p:sp>
    </p:spTree>
    <p:extLst>
      <p:ext uri="{BB962C8B-B14F-4D97-AF65-F5344CB8AC3E}">
        <p14:creationId xmlns:p14="http://schemas.microsoft.com/office/powerpoint/2010/main" val="39487073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9731A-10B3-3D96-46B1-124EED69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Converting decimal fractions to binary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AD9732-4423-B545-E7FA-45E8835818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Take the decimal fraction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Multiply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by 2 to get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, 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dirty="0"/>
                  <a:t>, record 1 as first binary digit to right of point, 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&lt; 1</m:t>
                    </m:r>
                  </m:oMath>
                </a14:m>
                <a:r>
                  <a:rPr lang="en-GB" dirty="0"/>
                  <a:t>, record 0.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stop.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Otherwise, set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to be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, 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Multiply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by 2 to get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/>
                  <a:t>, 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dirty="0"/>
                  <a:t>, record 1 as next binary digit to right of point, 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dirty="0"/>
                  <a:t>, record 0.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stop.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Otherwise, set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/>
                  <a:t> to be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/>
                  <a:t> 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And so on, until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baseline="-25000" dirty="0"/>
              </a:p>
              <a:p>
                <a:pPr marL="514350" indent="-514350">
                  <a:buFont typeface="+mj-lt"/>
                  <a:buAutoNum type="arabicPeriod"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AD9732-4423-B545-E7FA-45E8835818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8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12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B61B-7DF9-F87F-D3B0-A39A6EA04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3BE16-6D33-189E-5E79-2A214C4D3B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9589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0.81</a:t>
                </a:r>
                <a:r>
                  <a:rPr lang="en-GB" baseline="-25000" dirty="0"/>
                  <a:t>10</a:t>
                </a:r>
                <a:r>
                  <a:rPr lang="en-GB" dirty="0"/>
                  <a:t> = 0.110011</a:t>
                </a:r>
                <a:r>
                  <a:rPr lang="en-GB" baseline="-25000" dirty="0"/>
                  <a:t>2</a:t>
                </a:r>
                <a:r>
                  <a:rPr lang="en-GB" dirty="0"/>
                  <a:t> (truncated to 6 binary places)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Check: 0.110011</a:t>
                </a:r>
                <a:r>
                  <a:rPr lang="en-GB" baseline="-25000" dirty="0"/>
                  <a:t>2</a:t>
                </a:r>
                <a:r>
                  <a:rPr lang="en-GB" dirty="0"/>
                  <a:t> = 1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/>
                  <a:t> 0.5 + 1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GB" dirty="0"/>
                  <a:t>0.25 + 0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GB" dirty="0"/>
                  <a:t>0.125 + 0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GB" dirty="0"/>
                  <a:t>0.0625 + 1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GB" dirty="0"/>
                  <a:t>0.03125 + 1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GB" dirty="0"/>
                  <a:t>0.015625 = 0.796875</a:t>
                </a:r>
                <a:r>
                  <a:rPr lang="en-GB" baseline="-25000" dirty="0"/>
                  <a:t>10</a:t>
                </a:r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3BE16-6D33-189E-5E79-2A214C4D3B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95892"/>
              </a:xfrm>
              <a:blipFill>
                <a:blip r:embed="rId2"/>
                <a:stretch>
                  <a:fillRect l="-928" t="-2541" b="-20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1C8898-6C3A-9514-0CC9-4FFDEA707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780916"/>
              </p:ext>
            </p:extLst>
          </p:nvPr>
        </p:nvGraphicFramePr>
        <p:xfrm>
          <a:off x="1422399" y="2380300"/>
          <a:ext cx="8678040" cy="333732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69510">
                  <a:extLst>
                    <a:ext uri="{9D8B030D-6E8A-4147-A177-3AD203B41FA5}">
                      <a16:colId xmlns:a16="http://schemas.microsoft.com/office/drawing/2014/main" val="1651191740"/>
                    </a:ext>
                  </a:extLst>
                </a:gridCol>
                <a:gridCol w="2169510">
                  <a:extLst>
                    <a:ext uri="{9D8B030D-6E8A-4147-A177-3AD203B41FA5}">
                      <a16:colId xmlns:a16="http://schemas.microsoft.com/office/drawing/2014/main" val="192566494"/>
                    </a:ext>
                  </a:extLst>
                </a:gridCol>
                <a:gridCol w="2169510">
                  <a:extLst>
                    <a:ext uri="{9D8B030D-6E8A-4147-A177-3AD203B41FA5}">
                      <a16:colId xmlns:a16="http://schemas.microsoft.com/office/drawing/2014/main" val="1298698823"/>
                    </a:ext>
                  </a:extLst>
                </a:gridCol>
                <a:gridCol w="2169510">
                  <a:extLst>
                    <a:ext uri="{9D8B030D-6E8A-4147-A177-3AD203B41FA5}">
                      <a16:colId xmlns:a16="http://schemas.microsoft.com/office/drawing/2014/main" val="3808791574"/>
                    </a:ext>
                  </a:extLst>
                </a:gridCol>
              </a:tblGrid>
              <a:tr h="476761">
                <a:tc>
                  <a:txBody>
                    <a:bodyPr/>
                    <a:lstStyle/>
                    <a:p>
                      <a:r>
                        <a:rPr lang="en-GB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101115"/>
                  </a:ext>
                </a:extLst>
              </a:tr>
              <a:tr h="476761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838527"/>
                  </a:ext>
                </a:extLst>
              </a:tr>
              <a:tr h="476761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709627"/>
                  </a:ext>
                </a:extLst>
              </a:tr>
              <a:tr h="476761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084847"/>
                  </a:ext>
                </a:extLst>
              </a:tr>
              <a:tr h="476761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910918"/>
                  </a:ext>
                </a:extLst>
              </a:tr>
              <a:tr h="476761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080340"/>
                  </a:ext>
                </a:extLst>
              </a:tr>
              <a:tr h="476761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68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841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E08C-F354-6250-EE4D-C8691395E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1A259-8B36-A6F9-5C7F-5BF551524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0.25</a:t>
            </a:r>
            <a:r>
              <a:rPr lang="en-GB" baseline="-25000" dirty="0"/>
              <a:t>10</a:t>
            </a:r>
            <a:r>
              <a:rPr lang="en-GB" dirty="0"/>
              <a:t> = 0.01</a:t>
            </a:r>
            <a:r>
              <a:rPr lang="en-GB" baseline="-25000" dirty="0"/>
              <a:t>2</a:t>
            </a:r>
            <a:r>
              <a:rPr lang="en-GB" dirty="0"/>
              <a:t> (exactly)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7ED4DD-DB2F-2BC8-933D-00C722E92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316683"/>
              </p:ext>
            </p:extLst>
          </p:nvPr>
        </p:nvGraphicFramePr>
        <p:xfrm>
          <a:off x="1422399" y="2380300"/>
          <a:ext cx="8678040" cy="143028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69510">
                  <a:extLst>
                    <a:ext uri="{9D8B030D-6E8A-4147-A177-3AD203B41FA5}">
                      <a16:colId xmlns:a16="http://schemas.microsoft.com/office/drawing/2014/main" val="1651191740"/>
                    </a:ext>
                  </a:extLst>
                </a:gridCol>
                <a:gridCol w="2169510">
                  <a:extLst>
                    <a:ext uri="{9D8B030D-6E8A-4147-A177-3AD203B41FA5}">
                      <a16:colId xmlns:a16="http://schemas.microsoft.com/office/drawing/2014/main" val="192566494"/>
                    </a:ext>
                  </a:extLst>
                </a:gridCol>
                <a:gridCol w="2169510">
                  <a:extLst>
                    <a:ext uri="{9D8B030D-6E8A-4147-A177-3AD203B41FA5}">
                      <a16:colId xmlns:a16="http://schemas.microsoft.com/office/drawing/2014/main" val="1298698823"/>
                    </a:ext>
                  </a:extLst>
                </a:gridCol>
                <a:gridCol w="2169510">
                  <a:extLst>
                    <a:ext uri="{9D8B030D-6E8A-4147-A177-3AD203B41FA5}">
                      <a16:colId xmlns:a16="http://schemas.microsoft.com/office/drawing/2014/main" val="3808791574"/>
                    </a:ext>
                  </a:extLst>
                </a:gridCol>
              </a:tblGrid>
              <a:tr h="476761">
                <a:tc>
                  <a:txBody>
                    <a:bodyPr/>
                    <a:lstStyle/>
                    <a:p>
                      <a:r>
                        <a:rPr lang="en-GB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101115"/>
                  </a:ext>
                </a:extLst>
              </a:tr>
              <a:tr h="476761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838527"/>
                  </a:ext>
                </a:extLst>
              </a:tr>
              <a:tr h="476761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709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3535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F99BB-3646-823E-BEE1-47441C50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Mixed number conversion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643FAC-7C39-98F3-568E-76C500763D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Integer and fractional parts must be converted separately</a:t>
                </a:r>
              </a:p>
              <a:p>
                <a:r>
                  <a:rPr lang="en-GB" dirty="0"/>
                  <a:t>Radix point: fixed reference for the conversion</a:t>
                </a:r>
              </a:p>
              <a:p>
                <a:r>
                  <a:rPr lang="en-GB" dirty="0"/>
                  <a:t>Digit to the left is a unit digit in every base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baseline="30000" dirty="0"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is always 1 regardless of the base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643FAC-7C39-98F3-568E-76C500763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81888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B62B-2DB9-0D0F-893E-C8D976AE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960AD-F688-9F98-515E-016E1626E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Convert (8.375)</a:t>
            </a:r>
            <a:r>
              <a:rPr lang="en-GB" baseline="-25000" dirty="0"/>
              <a:t>10</a:t>
            </a:r>
            <a:r>
              <a:rPr lang="en-GB" dirty="0"/>
              <a:t> to binary.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Convert (1.101)</a:t>
            </a:r>
            <a:r>
              <a:rPr lang="en-GB" baseline="-25000" dirty="0"/>
              <a:t>2</a:t>
            </a:r>
            <a:r>
              <a:rPr lang="en-GB" dirty="0"/>
              <a:t> to decimal.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72789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3D275-8FD9-64AE-2D12-0EAD55234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Integer Representations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C5FEA-376F-3665-CA8A-2A292C6E7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7204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B8B240-29C5-E050-3672-998E3E31F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Integer Representation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E3CF13-5867-D5F2-3046-5E2B370EA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6863" indent="-296863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/>
              <a:t>In the binary number system arbitrary numbers can be represented with: </a:t>
            </a:r>
          </a:p>
          <a:p>
            <a:pPr marL="628650" lvl="1" indent="-320675"/>
            <a:r>
              <a:rPr lang="en-US" sz="1800" dirty="0"/>
              <a:t>The digits zero and one</a:t>
            </a:r>
          </a:p>
          <a:p>
            <a:pPr marL="628650" lvl="1" indent="-320675"/>
            <a:r>
              <a:rPr lang="en-US" sz="1800" dirty="0"/>
              <a:t>The minus sign (for negative numbers)</a:t>
            </a:r>
          </a:p>
          <a:p>
            <a:pPr marL="628650" lvl="1" indent="-320675"/>
            <a:r>
              <a:rPr lang="en-US" sz="1800" dirty="0"/>
              <a:t>The period, or </a:t>
            </a:r>
            <a:r>
              <a:rPr lang="en-US" sz="1800" b="1" i="1" dirty="0"/>
              <a:t>radix point </a:t>
            </a:r>
            <a:r>
              <a:rPr lang="en-US" sz="1800" dirty="0"/>
              <a:t>(for numbers with a fractional component)</a:t>
            </a:r>
          </a:p>
          <a:p>
            <a:pPr marL="296863" lvl="1" indent="-296863">
              <a:spcBef>
                <a:spcPts val="20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/>
              <a:t>For purposes of computer storage and processing we do not have the benefit of special symbols for the minus sign and radix point</a:t>
            </a:r>
          </a:p>
          <a:p>
            <a:pPr marL="296863" lvl="1" indent="-296863">
              <a:spcBef>
                <a:spcPts val="20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/>
              <a:t>Only binary digits (0,1) may be used to represent numbers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36614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181CB-0D8F-4BA0-446A-93E2DB32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Unsigned Integer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2075CF-5ABF-9679-011F-8004904ABE4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GB" dirty="0"/>
                  <a:t>An unsigned integer represent values from 0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number of bits for representation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2075CF-5ABF-9679-011F-8004904ABE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BCC5612-6237-7AC0-6018-6BB90DD5A2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5543457"/>
              </p:ext>
            </p:extLst>
          </p:nvPr>
        </p:nvGraphicFramePr>
        <p:xfrm>
          <a:off x="6096000" y="1822507"/>
          <a:ext cx="5465379" cy="435445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4657">
                  <a:extLst>
                    <a:ext uri="{9D8B030D-6E8A-4147-A177-3AD203B41FA5}">
                      <a16:colId xmlns:a16="http://schemas.microsoft.com/office/drawing/2014/main" val="2652336315"/>
                    </a:ext>
                  </a:extLst>
                </a:gridCol>
                <a:gridCol w="1719943">
                  <a:extLst>
                    <a:ext uri="{9D8B030D-6E8A-4147-A177-3AD203B41FA5}">
                      <a16:colId xmlns:a16="http://schemas.microsoft.com/office/drawing/2014/main" val="1987753571"/>
                    </a:ext>
                  </a:extLst>
                </a:gridCol>
                <a:gridCol w="2950779">
                  <a:extLst>
                    <a:ext uri="{9D8B030D-6E8A-4147-A177-3AD203B41FA5}">
                      <a16:colId xmlns:a16="http://schemas.microsoft.com/office/drawing/2014/main" val="495734618"/>
                    </a:ext>
                  </a:extLst>
                </a:gridCol>
              </a:tblGrid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Min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654895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695592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34139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81970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1023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770117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188659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1 048 575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220449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sz="2400" dirty="0"/>
                        <a:t>4 294 967 295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12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3425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7BD91-879A-DCEB-41D1-1EBC77193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Coded 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B5876-28B8-D231-6642-C2F686EF9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Complicated to do binary conversion to display numbers</a:t>
            </a:r>
          </a:p>
          <a:p>
            <a:r>
              <a:rPr lang="en-GB" dirty="0"/>
              <a:t>Unsigned integer</a:t>
            </a:r>
          </a:p>
          <a:p>
            <a:r>
              <a:rPr lang="en-GB" dirty="0"/>
              <a:t>Integers are stored as decimal numbers</a:t>
            </a:r>
          </a:p>
          <a:p>
            <a:pPr lvl="1"/>
            <a:r>
              <a:rPr lang="en-GB" dirty="0"/>
              <a:t>Sequence of binary encodings of decimal digits</a:t>
            </a:r>
          </a:p>
          <a:p>
            <a:r>
              <a:rPr lang="en-GB" dirty="0"/>
              <a:t>Each decimal digit is stored as its 4-bit binary equivalent</a:t>
            </a:r>
          </a:p>
          <a:p>
            <a:r>
              <a:rPr lang="en-GB" dirty="0"/>
              <a:t>E.g., 478</a:t>
            </a:r>
            <a:r>
              <a:rPr lang="en-GB" baseline="-25000" dirty="0"/>
              <a:t>10</a:t>
            </a:r>
            <a:endParaRPr lang="en-GB" dirty="0"/>
          </a:p>
          <a:p>
            <a:pPr lvl="1"/>
            <a:r>
              <a:rPr lang="en-GB" dirty="0"/>
              <a:t>Convert 4, 7, &amp; 8 to binary – 100, 111, 1000 respectively</a:t>
            </a:r>
          </a:p>
          <a:p>
            <a:pPr lvl="1"/>
            <a:r>
              <a:rPr lang="en-GB" dirty="0"/>
              <a:t>Prepend values less then 4 bits with zeroes, i.e. 0100, 0111, 1000</a:t>
            </a:r>
          </a:p>
          <a:p>
            <a:pPr lvl="1"/>
            <a:r>
              <a:rPr lang="en-GB" dirty="0"/>
              <a:t>Concatenate these values, i.e. 478 is represented as 0100 0111 1000</a:t>
            </a:r>
          </a:p>
        </p:txBody>
      </p:sp>
    </p:spTree>
    <p:extLst>
      <p:ext uri="{BB962C8B-B14F-4D97-AF65-F5344CB8AC3E}">
        <p14:creationId xmlns:p14="http://schemas.microsoft.com/office/powerpoint/2010/main" val="7026500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DD3F-0854-77F8-228A-D6B75B52B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0680D-F70D-BFBD-D7E5-E4DFECD59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Convert 251</a:t>
            </a:r>
            <a:r>
              <a:rPr lang="en-GB" baseline="-25000" dirty="0"/>
              <a:t>10</a:t>
            </a:r>
            <a:r>
              <a:rPr lang="en-GB" dirty="0"/>
              <a:t> to BCD</a:t>
            </a:r>
          </a:p>
        </p:txBody>
      </p:sp>
    </p:spTree>
    <p:extLst>
      <p:ext uri="{BB962C8B-B14F-4D97-AF65-F5344CB8AC3E}">
        <p14:creationId xmlns:p14="http://schemas.microsoft.com/office/powerpoint/2010/main" val="32646988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497D4-E7A9-AEA2-BFEC-C2A376ECE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vs BCD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239A54-3719-3C94-4B5C-2B2EB42ED7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4482626"/>
              </p:ext>
            </p:extLst>
          </p:nvPr>
        </p:nvGraphicFramePr>
        <p:xfrm>
          <a:off x="838200" y="1825625"/>
          <a:ext cx="10515600" cy="2072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21524">
                  <a:extLst>
                    <a:ext uri="{9D8B030D-6E8A-4147-A177-3AD203B41FA5}">
                      <a16:colId xmlns:a16="http://schemas.microsoft.com/office/drawing/2014/main" val="1631517240"/>
                    </a:ext>
                  </a:extLst>
                </a:gridCol>
                <a:gridCol w="1870842">
                  <a:extLst>
                    <a:ext uri="{9D8B030D-6E8A-4147-A177-3AD203B41FA5}">
                      <a16:colId xmlns:a16="http://schemas.microsoft.com/office/drawing/2014/main" val="2730089507"/>
                    </a:ext>
                  </a:extLst>
                </a:gridCol>
                <a:gridCol w="2711668">
                  <a:extLst>
                    <a:ext uri="{9D8B030D-6E8A-4147-A177-3AD203B41FA5}">
                      <a16:colId xmlns:a16="http://schemas.microsoft.com/office/drawing/2014/main" val="3081198187"/>
                    </a:ext>
                  </a:extLst>
                </a:gridCol>
                <a:gridCol w="4511566">
                  <a:extLst>
                    <a:ext uri="{9D8B030D-6E8A-4147-A177-3AD203B41FA5}">
                      <a16:colId xmlns:a16="http://schemas.microsoft.com/office/drawing/2014/main" val="58457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34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0100 0100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0110 1000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575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0110 0011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1001 1001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Largest 8-bit 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679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1111 1111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0010 0101 0101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Largest 8-bit 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448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7532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6962A-DA34-0C67-4B51-EE4CC9E8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Value range: binary vs BCD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110A98B-2CE5-F579-8FC7-7C98B22201D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36985796"/>
                  </p:ext>
                </p:extLst>
              </p:nvPr>
            </p:nvGraphicFramePr>
            <p:xfrm>
              <a:off x="838200" y="2761046"/>
              <a:ext cx="10515600" cy="333756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933522646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743980902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79149448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098720249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807365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No. of bits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BCD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No. Decimal Digits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Binary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No. Decimal Digits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8400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65701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0-255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5152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0-999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0-4095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636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0-9999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0-65535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17551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0-99 999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0-1 million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18495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0-999 999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0-16.8 million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53486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0-99 999 999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0-4.3 billion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5742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0-(10</a:t>
                          </a:r>
                          <a:r>
                            <a:rPr lang="en-GB" baseline="30000" dirty="0"/>
                            <a:t>16 </a:t>
                          </a:r>
                          <a:r>
                            <a:rPr lang="en-GB" dirty="0"/>
                            <a:t>− 1)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0-1.84 </a:t>
                          </a:r>
                          <a14:m>
                            <m:oMath xmlns:m="http://schemas.openxmlformats.org/officeDocument/2006/math">
                              <m:r>
                                <a:rPr lang="en-GB" dirty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dirty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b="0" dirty="0" smtClean="0">
                                      <a:latin typeface="Cambria Math" panose="02040503050406030204" pitchFamily="18" charset="0"/>
                                    </a:rPr>
                                    <m:t>19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63350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110A98B-2CE5-F579-8FC7-7C98B22201D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36985796"/>
                  </p:ext>
                </p:extLst>
              </p:nvPr>
            </p:nvGraphicFramePr>
            <p:xfrm>
              <a:off x="838200" y="2761046"/>
              <a:ext cx="10515600" cy="333864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933522646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743980902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79149448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098720249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807365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No. of bits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BCD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No. Decimal Digits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Binary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No. Decimal Digits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8400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65701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0-255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5152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0-999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0-4095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636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0-9999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0-65535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17551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0-99 999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0-1 million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18495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0-999 999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0-16.8 million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53486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0-99 999 999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0-4.3 billion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5742000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0-(10</a:t>
                          </a:r>
                          <a:r>
                            <a:rPr lang="en-GB" baseline="30000" dirty="0"/>
                            <a:t>16 </a:t>
                          </a:r>
                          <a:r>
                            <a:rPr lang="en-GB" dirty="0"/>
                            <a:t>− 1)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80" t="-808197" r="-10029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63350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472E60C-744F-2EB5-90D4-5AEC9B187BD4}"/>
              </a:ext>
            </a:extLst>
          </p:cNvPr>
          <p:cNvSpPr txBox="1"/>
          <p:nvPr/>
        </p:nvSpPr>
        <p:spPr>
          <a:xfrm>
            <a:off x="838200" y="1902701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Binary: 4 bits can hold 16 values (0 to 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BCD: 4 bits used to hold only 10 different values (0 to 9)</a:t>
            </a:r>
          </a:p>
        </p:txBody>
      </p:sp>
    </p:spTree>
    <p:extLst>
      <p:ext uri="{BB962C8B-B14F-4D97-AF65-F5344CB8AC3E}">
        <p14:creationId xmlns:p14="http://schemas.microsoft.com/office/powerpoint/2010/main" val="37251710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EDD77-7535-E771-9378-55658859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vs BCD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54E1-32AE-8507-ACC8-596DE9C73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binary representation is general preferred.</a:t>
            </a:r>
          </a:p>
          <a:p>
            <a:r>
              <a:rPr lang="en-GB" dirty="0"/>
              <a:t>BCD for integers only used by certain business applications where input and output are more common than calculations</a:t>
            </a:r>
          </a:p>
        </p:txBody>
      </p:sp>
    </p:spTree>
    <p:extLst>
      <p:ext uri="{BB962C8B-B14F-4D97-AF65-F5344CB8AC3E}">
        <p14:creationId xmlns:p14="http://schemas.microsoft.com/office/powerpoint/2010/main" val="7753011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A8038-0D7E-EBFB-229C-1A528E61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Signed integer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B9386-BC52-01E3-E81B-EBE37BDC7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Sign-magnitude representation</a:t>
            </a:r>
          </a:p>
          <a:p>
            <a:r>
              <a:rPr lang="en-GB" dirty="0"/>
              <a:t>2’s complement</a:t>
            </a:r>
          </a:p>
        </p:txBody>
      </p:sp>
    </p:spTree>
    <p:extLst>
      <p:ext uri="{BB962C8B-B14F-4D97-AF65-F5344CB8AC3E}">
        <p14:creationId xmlns:p14="http://schemas.microsoft.com/office/powerpoint/2010/main" val="39007386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9313-2F50-9C67-344F-91B37B38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Sign-magnitude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AE3E3-0651-A2F3-5528-A1DEE7D9F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Left most bit is the sign bit</a:t>
            </a:r>
          </a:p>
          <a:p>
            <a:r>
              <a:rPr lang="en-GB" dirty="0"/>
              <a:t>0 means positive</a:t>
            </a:r>
          </a:p>
          <a:p>
            <a:r>
              <a:rPr lang="en-GB" dirty="0"/>
              <a:t>1 means negative</a:t>
            </a:r>
          </a:p>
          <a:p>
            <a:r>
              <a:rPr lang="en-GB" dirty="0"/>
              <a:t>+18 = 00010010</a:t>
            </a:r>
          </a:p>
          <a:p>
            <a:r>
              <a:rPr lang="en-GB" dirty="0"/>
              <a:t>−18 = 10010010</a:t>
            </a:r>
          </a:p>
          <a:p>
            <a:r>
              <a:rPr lang="en-GB" dirty="0"/>
              <a:t>Problems:</a:t>
            </a:r>
          </a:p>
          <a:p>
            <a:pPr lvl="1"/>
            <a:r>
              <a:rPr lang="en-GB" dirty="0"/>
              <a:t>We need to consider both sign and magnitude in arithmetic</a:t>
            </a:r>
          </a:p>
          <a:p>
            <a:pPr lvl="1"/>
            <a:r>
              <a:rPr lang="en-GB" dirty="0"/>
              <a:t>Two representations of zero (+0 and −0)</a:t>
            </a:r>
          </a:p>
          <a:p>
            <a:r>
              <a:rPr lang="en-GB" dirty="0"/>
              <a:t>Because of these drawbacks, sign-magnitude representation is rarely used in implementing the integer portion of the ALU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3084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78C32-9924-70A0-1699-5DB033BD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 magnitude arithmetic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375AF5-B9FD-18BC-60E5-E12B5BA255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Addition</a:t>
                </a:r>
              </a:p>
              <a:p>
                <a:pPr lvl="1"/>
                <a:r>
                  <a:rPr lang="en-GB" dirty="0"/>
                  <a:t>Check sign bits: if both same then addition, different treat as subtraction  </a:t>
                </a:r>
              </a:p>
              <a:p>
                <a:pPr lvl="1"/>
                <a:r>
                  <a:rPr lang="en-GB" dirty="0"/>
                  <a:t>Remove sign bits and add using standard binary arithmetic</a:t>
                </a:r>
              </a:p>
              <a:p>
                <a:pPr lvl="1"/>
                <a:r>
                  <a:rPr lang="en-GB" dirty="0"/>
                  <a:t>Sign bit is positive or negative depending on sign bits of operands</a:t>
                </a:r>
              </a:p>
              <a:p>
                <a:r>
                  <a:rPr lang="en-GB" dirty="0"/>
                  <a:t>Subtraction</a:t>
                </a:r>
              </a:p>
              <a:p>
                <a:pPr lvl="1"/>
                <a:r>
                  <a:rPr lang="en-GB" dirty="0"/>
                  <a:t>Given operands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&amp;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i="1" dirty="0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Compute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using standard binary arithmetic (remove sign bits)</a:t>
                </a:r>
              </a:p>
              <a:p>
                <a:pPr lvl="1"/>
                <a:r>
                  <a:rPr lang="en-GB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Compute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Negate result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375AF5-B9FD-18BC-60E5-E12B5BA25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08575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4305B-9C70-6A60-39A6-B123CBA37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 magnitude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C3D4C-BA2B-FECB-79F6-D34EF5A98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Multiplication</a:t>
            </a:r>
          </a:p>
          <a:p>
            <a:pPr lvl="1"/>
            <a:r>
              <a:rPr lang="en-GB" dirty="0"/>
              <a:t>Check if the two numbers have the same sign</a:t>
            </a:r>
          </a:p>
          <a:p>
            <a:pPr lvl="1"/>
            <a:r>
              <a:rPr lang="en-GB" dirty="0"/>
              <a:t>Remove the signs and multiply the numbers</a:t>
            </a:r>
          </a:p>
          <a:p>
            <a:pPr lvl="1"/>
            <a:r>
              <a:rPr lang="en-GB" dirty="0"/>
              <a:t>If the numbers had different signs originally, negate the answer.</a:t>
            </a:r>
          </a:p>
          <a:p>
            <a:r>
              <a:rPr lang="en-GB" dirty="0"/>
              <a:t>Division</a:t>
            </a:r>
          </a:p>
          <a:p>
            <a:pPr lvl="1"/>
            <a:r>
              <a:rPr lang="en-GB" dirty="0"/>
              <a:t>Check if the two numbers have the same sign</a:t>
            </a:r>
          </a:p>
          <a:p>
            <a:pPr lvl="1"/>
            <a:r>
              <a:rPr lang="en-GB" dirty="0"/>
              <a:t>Remove the signs and divide </a:t>
            </a:r>
            <a:r>
              <a:rPr lang="en-GB"/>
              <a:t>the numbers</a:t>
            </a:r>
            <a:endParaRPr lang="en-GB" dirty="0"/>
          </a:p>
          <a:p>
            <a:pPr lvl="1"/>
            <a:r>
              <a:rPr lang="en-GB" dirty="0"/>
              <a:t>If the numbers had different signs originally, negate the answer.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60322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DF01C-39CC-185D-4CCF-36A9103B6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488B1-9B94-C143-4AD2-587280573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Binary &amp; Hexadecimal number systems</a:t>
            </a:r>
          </a:p>
          <a:p>
            <a:pPr lvl="1"/>
            <a:r>
              <a:rPr lang="en-GB" dirty="0"/>
              <a:t>Conversion</a:t>
            </a:r>
          </a:p>
          <a:p>
            <a:pPr lvl="1"/>
            <a:r>
              <a:rPr lang="en-GB" dirty="0"/>
              <a:t>Arithmetic</a:t>
            </a:r>
          </a:p>
          <a:p>
            <a:r>
              <a:rPr lang="en-GB" dirty="0"/>
              <a:t>Representations of integers</a:t>
            </a:r>
          </a:p>
          <a:p>
            <a:pPr lvl="1"/>
            <a:r>
              <a:rPr lang="en-GB" dirty="0"/>
              <a:t>Unsigned integer</a:t>
            </a:r>
          </a:p>
          <a:p>
            <a:pPr lvl="1"/>
            <a:r>
              <a:rPr lang="en-GB" dirty="0"/>
              <a:t>BCD</a:t>
            </a:r>
          </a:p>
          <a:p>
            <a:pPr lvl="1"/>
            <a:r>
              <a:rPr lang="en-GB" dirty="0"/>
              <a:t>Sign-magnitude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664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3FD075-42FB-4CCC-8670-4F68BD777946}">
  <we:reference id="4b785c87-866c-4bad-85d8-5d1ae467ac9a" version="3.14.3.0" store="EXCatalog" storeType="EXCatalog"/>
  <we:alternateReferences>
    <we:reference id="WA104381909" version="3.14.3.0" store="en-GB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2090</TotalTime>
  <Words>2516</Words>
  <Application>Microsoft Office PowerPoint</Application>
  <PresentationFormat>Widescreen</PresentationFormat>
  <Paragraphs>640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Arial</vt:lpstr>
      <vt:lpstr>Calibri</vt:lpstr>
      <vt:lpstr>Calibri Light</vt:lpstr>
      <vt:lpstr>Cambria Math</vt:lpstr>
      <vt:lpstr>Office Theme</vt:lpstr>
      <vt:lpstr>COMP1860 Building our Digital World: Computer Systems &amp; Architecture</vt:lpstr>
      <vt:lpstr>PowerPoint Presentation</vt:lpstr>
      <vt:lpstr>Learning Outcomes</vt:lpstr>
      <vt:lpstr>Text Book</vt:lpstr>
      <vt:lpstr>Overview</vt:lpstr>
      <vt:lpstr>Number Systems</vt:lpstr>
      <vt:lpstr>Number Systems</vt:lpstr>
      <vt:lpstr>Why Binary?</vt:lpstr>
      <vt:lpstr>Bits, Bytes and Words</vt:lpstr>
      <vt:lpstr>Positional notation: Base 10</vt:lpstr>
      <vt:lpstr>Positional notation: Base 2</vt:lpstr>
      <vt:lpstr>Positional notation: Base B</vt:lpstr>
      <vt:lpstr>Range of possible numbers</vt:lpstr>
      <vt:lpstr>Bit widths</vt:lpstr>
      <vt:lpstr>Counting in base 2</vt:lpstr>
      <vt:lpstr>Binary Arithmetic</vt:lpstr>
      <vt:lpstr>Exercise: Binary Arithmetic</vt:lpstr>
      <vt:lpstr>Binary Multiplication</vt:lpstr>
      <vt:lpstr>Exercise: Binary Multiplication</vt:lpstr>
      <vt:lpstr>Converting decimal to binary</vt:lpstr>
      <vt:lpstr>Why does this work?</vt:lpstr>
      <vt:lpstr>Example: converting decimal to binary</vt:lpstr>
      <vt:lpstr>Example: alternative solution</vt:lpstr>
      <vt:lpstr>Exercise: converting decimal to binary</vt:lpstr>
      <vt:lpstr>Converting decimal to hexadecimal</vt:lpstr>
      <vt:lpstr>Example: converting decimal to hexadecimal</vt:lpstr>
      <vt:lpstr>Exercise: converting decimal to hexadecimal</vt:lpstr>
      <vt:lpstr>Converting hexadecimal to binary</vt:lpstr>
      <vt:lpstr>Example</vt:lpstr>
      <vt:lpstr>Example: converting hexadecimal to binary</vt:lpstr>
      <vt:lpstr>Exercise: converting hexadecimal to binary</vt:lpstr>
      <vt:lpstr>Binary Fractions: Radix Point</vt:lpstr>
      <vt:lpstr>Decimal Fractions</vt:lpstr>
      <vt:lpstr>Binary Fractions</vt:lpstr>
      <vt:lpstr>Binary and Decimal Fractions</vt:lpstr>
      <vt:lpstr>Converting decimal fractions to binary</vt:lpstr>
      <vt:lpstr>Example</vt:lpstr>
      <vt:lpstr>Example</vt:lpstr>
      <vt:lpstr>Mixed number conversion</vt:lpstr>
      <vt:lpstr>Exercise</vt:lpstr>
      <vt:lpstr>Integer Representations</vt:lpstr>
      <vt:lpstr>Integer Representation</vt:lpstr>
      <vt:lpstr>Unsigned Integer</vt:lpstr>
      <vt:lpstr>Binary Coded Decimal</vt:lpstr>
      <vt:lpstr>Exercise</vt:lpstr>
      <vt:lpstr>Binary vs BCD</vt:lpstr>
      <vt:lpstr>Value range: binary vs BCD</vt:lpstr>
      <vt:lpstr>Binary vs BCD</vt:lpstr>
      <vt:lpstr>Signed integer representation</vt:lpstr>
      <vt:lpstr>Sign-magnitude</vt:lpstr>
      <vt:lpstr>Sign magnitude arithmetic</vt:lpstr>
      <vt:lpstr>Sign magnitude arithmetic</vt:lpstr>
      <vt:lpstr>Summary</vt:lpstr>
    </vt:vector>
  </TitlesOfParts>
  <Company>University of Leeds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Dyer</dc:creator>
  <cp:lastModifiedBy>James Dyer</cp:lastModifiedBy>
  <cp:revision>5</cp:revision>
  <dcterms:created xsi:type="dcterms:W3CDTF">2024-09-17T16:37:18Z</dcterms:created>
  <dcterms:modified xsi:type="dcterms:W3CDTF">2026-03-23T12:35:58Z</dcterms:modified>
</cp:coreProperties>
</file>