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webextensions/taskpanes.xml" ContentType="application/vnd.ms-office.webextensiontaskpanes+xml"/>
  <Override PartName="/ppt/webextensions/webextension1.xml" ContentType="application/vnd.ms-office.webextension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thumbnail" Target="docProps/thumbnail.jpeg"/><Relationship Id="rId2" Type="http://schemas.openxmlformats.org/officeDocument/2006/relationships/officeDocument" Target="ppt/presentation.xml"/><Relationship Id="rId1" Type="http://schemas.microsoft.com/office/2011/relationships/webextensiontaskpanes" Target="ppt/webextensions/taskpanes.xml"/><Relationship Id="rId5" Type="http://schemas.openxmlformats.org/officeDocument/2006/relationships/extended-properties" Target="docProps/app.xml"/><Relationship Id="rId4" Type="http://schemas.openxmlformats.org/package/2006/relationships/metadata/core-properties" Target="docProps/core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55"/>
  </p:notesMasterIdLst>
  <p:sldIdLst>
    <p:sldId id="256" r:id="rId2"/>
    <p:sldId id="269" r:id="rId3"/>
    <p:sldId id="257" r:id="rId4"/>
    <p:sldId id="339" r:id="rId5"/>
    <p:sldId id="258" r:id="rId6"/>
    <p:sldId id="341" r:id="rId7"/>
    <p:sldId id="286" r:id="rId8"/>
    <p:sldId id="287" r:id="rId9"/>
    <p:sldId id="288" r:id="rId10"/>
    <p:sldId id="291" r:id="rId11"/>
    <p:sldId id="292" r:id="rId12"/>
    <p:sldId id="343" r:id="rId13"/>
    <p:sldId id="293" r:id="rId14"/>
    <p:sldId id="294" r:id="rId15"/>
    <p:sldId id="295" r:id="rId16"/>
    <p:sldId id="289" r:id="rId17"/>
    <p:sldId id="297" r:id="rId18"/>
    <p:sldId id="290" r:id="rId19"/>
    <p:sldId id="298" r:id="rId20"/>
    <p:sldId id="299" r:id="rId21"/>
    <p:sldId id="306" r:id="rId22"/>
    <p:sldId id="300" r:id="rId23"/>
    <p:sldId id="301" r:id="rId24"/>
    <p:sldId id="302" r:id="rId25"/>
    <p:sldId id="303" r:id="rId26"/>
    <p:sldId id="304" r:id="rId27"/>
    <p:sldId id="305" r:id="rId28"/>
    <p:sldId id="307" r:id="rId29"/>
    <p:sldId id="308" r:id="rId30"/>
    <p:sldId id="309" r:id="rId31"/>
    <p:sldId id="310" r:id="rId32"/>
    <p:sldId id="311" r:id="rId33"/>
    <p:sldId id="312" r:id="rId34"/>
    <p:sldId id="313" r:id="rId35"/>
    <p:sldId id="314" r:id="rId36"/>
    <p:sldId id="317" r:id="rId37"/>
    <p:sldId id="318" r:id="rId38"/>
    <p:sldId id="319" r:id="rId39"/>
    <p:sldId id="315" r:id="rId40"/>
    <p:sldId id="321" r:id="rId41"/>
    <p:sldId id="342" r:id="rId42"/>
    <p:sldId id="277" r:id="rId43"/>
    <p:sldId id="340" r:id="rId44"/>
    <p:sldId id="278" r:id="rId45"/>
    <p:sldId id="322" r:id="rId46"/>
    <p:sldId id="280" r:id="rId47"/>
    <p:sldId id="279" r:id="rId48"/>
    <p:sldId id="281" r:id="rId49"/>
    <p:sldId id="282" r:id="rId50"/>
    <p:sldId id="284" r:id="rId51"/>
    <p:sldId id="344" r:id="rId52"/>
    <p:sldId id="285" r:id="rId53"/>
    <p:sldId id="337" r:id="rId5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78912C58-E0E7-48D3-BF73-2AB9E09C3DD8}" v="4" dt="2026-03-23T12:35:51.445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5202B0CA-FC54-4496-8BCA-5EF66A818D29}" styleName="Dark Style 2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dk1">
              <a:tint val="20000"/>
            </a:schemeClr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Row>
  </a:tblStyle>
  <a:tblStyle styleId="{F2DE63D5-997A-4646-A377-4702673A728D}" styleName="Light Style 2 - Accent 3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</a:tcBdr>
      </a:tcStyle>
    </a:band1H>
    <a:band1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1V>
    <a:band2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3"/>
        </a:fillRef>
      </a:tcStyle>
    </a:firstRow>
  </a:tblStyle>
  <a:tblStyle styleId="{7E9639D4-E3E2-4D34-9284-5A2195B3D0D7}" styleName="Light Style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  <a:top>
            <a:lnRef idx="1">
              <a:schemeClr val="tx1"/>
            </a:lnRef>
          </a:top>
          <a:bottom>
            <a:lnRef idx="1">
              <a:schemeClr val="tx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tx1"/>
            </a:lnRef>
          </a:top>
          <a:bottom>
            <a:lnRef idx="1">
              <a:schemeClr val="tx1"/>
            </a:lnRef>
          </a:bottom>
        </a:tcBdr>
      </a:tcStyle>
    </a:band1H>
    <a:band1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1V>
    <a:band2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tx1"/>
        </a:fillRef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>
        <p:scale>
          <a:sx n="66" d="100"/>
          <a:sy n="66" d="100"/>
        </p:scale>
        <p:origin x="2274" y="100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slide" Target="slides/slide49.xml"/><Relationship Id="rId55" Type="http://schemas.openxmlformats.org/officeDocument/2006/relationships/notesMaster" Target="notesMasters/notesMaster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viewProps" Target="viewProps.xml"/><Relationship Id="rId61" Type="http://schemas.microsoft.com/office/2015/10/relationships/revisionInfo" Target="revisionInfo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microsoft.com/office/2016/11/relationships/changesInfo" Target="changesInfos/changesInfo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presProps" Target="presProps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tableStyles" Target="tableStyle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James Dyer" userId="c78f284b-7e37-4191-b5a6-8e3806eb7037" providerId="ADAL" clId="{F60D56F0-411A-464A-9766-F9A63ABC936F}"/>
    <pc:docChg chg="custSel delSld modSld">
      <pc:chgData name="James Dyer" userId="c78f284b-7e37-4191-b5a6-8e3806eb7037" providerId="ADAL" clId="{F60D56F0-411A-464A-9766-F9A63ABC936F}" dt="2026-03-23T12:35:51.445" v="14" actId="6549"/>
      <pc:docMkLst>
        <pc:docMk/>
      </pc:docMkLst>
      <pc:sldChg chg="addSp delSp modSp mod delAnim">
        <pc:chgData name="James Dyer" userId="c78f284b-7e37-4191-b5a6-8e3806eb7037" providerId="ADAL" clId="{F60D56F0-411A-464A-9766-F9A63ABC936F}" dt="2026-03-23T12:31:47.929" v="2" actId="478"/>
        <pc:sldMkLst>
          <pc:docMk/>
          <pc:sldMk cId="1422884393" sldId="297"/>
        </pc:sldMkLst>
        <pc:spChg chg="del">
          <ac:chgData name="James Dyer" userId="c78f284b-7e37-4191-b5a6-8e3806eb7037" providerId="ADAL" clId="{F60D56F0-411A-464A-9766-F9A63ABC936F}" dt="2026-03-23T12:31:40.938" v="1" actId="478"/>
          <ac:spMkLst>
            <pc:docMk/>
            <pc:sldMk cId="1422884393" sldId="297"/>
            <ac:spMk id="3" creationId="{E04A1A48-EC59-D506-8811-B2BB9B57B579}"/>
          </ac:spMkLst>
        </pc:spChg>
        <pc:spChg chg="add del mod">
          <ac:chgData name="James Dyer" userId="c78f284b-7e37-4191-b5a6-8e3806eb7037" providerId="ADAL" clId="{F60D56F0-411A-464A-9766-F9A63ABC936F}" dt="2026-03-23T12:31:47.929" v="2" actId="478"/>
          <ac:spMkLst>
            <pc:docMk/>
            <pc:sldMk cId="1422884393" sldId="297"/>
            <ac:spMk id="7" creationId="{EF63BDDC-1B5C-E78B-98C3-68C94755284E}"/>
          </ac:spMkLst>
        </pc:spChg>
        <pc:graphicFrameChg chg="del">
          <ac:chgData name="James Dyer" userId="c78f284b-7e37-4191-b5a6-8e3806eb7037" providerId="ADAL" clId="{F60D56F0-411A-464A-9766-F9A63ABC936F}" dt="2026-03-23T12:31:35.315" v="0" actId="478"/>
          <ac:graphicFrameMkLst>
            <pc:docMk/>
            <pc:sldMk cId="1422884393" sldId="297"/>
            <ac:graphicFrameMk id="4" creationId="{CD9587BC-1300-23AB-CFC7-04D461D9E9F2}"/>
          </ac:graphicFrameMkLst>
        </pc:graphicFrameChg>
      </pc:sldChg>
      <pc:sldChg chg="addSp delSp modSp mod delAnim">
        <pc:chgData name="James Dyer" userId="c78f284b-7e37-4191-b5a6-8e3806eb7037" providerId="ADAL" clId="{F60D56F0-411A-464A-9766-F9A63ABC936F}" dt="2026-03-23T12:32:07.833" v="5" actId="478"/>
        <pc:sldMkLst>
          <pc:docMk/>
          <pc:sldMk cId="2036332417" sldId="298"/>
        </pc:sldMkLst>
        <pc:spChg chg="del">
          <ac:chgData name="James Dyer" userId="c78f284b-7e37-4191-b5a6-8e3806eb7037" providerId="ADAL" clId="{F60D56F0-411A-464A-9766-F9A63ABC936F}" dt="2026-03-23T12:32:04.520" v="4" actId="478"/>
          <ac:spMkLst>
            <pc:docMk/>
            <pc:sldMk cId="2036332417" sldId="298"/>
            <ac:spMk id="5" creationId="{10B48596-843E-FC98-672A-8FE9EFE5E2F3}"/>
          </ac:spMkLst>
        </pc:spChg>
        <pc:spChg chg="add del mod">
          <ac:chgData name="James Dyer" userId="c78f284b-7e37-4191-b5a6-8e3806eb7037" providerId="ADAL" clId="{F60D56F0-411A-464A-9766-F9A63ABC936F}" dt="2026-03-23T12:32:07.833" v="5" actId="478"/>
          <ac:spMkLst>
            <pc:docMk/>
            <pc:sldMk cId="2036332417" sldId="298"/>
            <ac:spMk id="7" creationId="{39995C80-9B4A-A896-544A-AEEF143046E5}"/>
          </ac:spMkLst>
        </pc:spChg>
        <pc:graphicFrameChg chg="del">
          <ac:chgData name="James Dyer" userId="c78f284b-7e37-4191-b5a6-8e3806eb7037" providerId="ADAL" clId="{F60D56F0-411A-464A-9766-F9A63ABC936F}" dt="2026-03-23T12:32:01.973" v="3" actId="478"/>
          <ac:graphicFrameMkLst>
            <pc:docMk/>
            <pc:sldMk cId="2036332417" sldId="298"/>
            <ac:graphicFrameMk id="6" creationId="{FD7E049C-6564-4536-86EB-FB48284A5BF7}"/>
          </ac:graphicFrameMkLst>
        </pc:graphicFrameChg>
      </pc:sldChg>
      <pc:sldChg chg="delSp modSp mod delAnim modAnim">
        <pc:chgData name="James Dyer" userId="c78f284b-7e37-4191-b5a6-8e3806eb7037" providerId="ADAL" clId="{F60D56F0-411A-464A-9766-F9A63ABC936F}" dt="2026-03-23T12:35:06.350" v="8" actId="478"/>
        <pc:sldMkLst>
          <pc:docMk/>
          <pc:sldMk cId="2995070123" sldId="302"/>
        </pc:sldMkLst>
        <pc:spChg chg="del mod">
          <ac:chgData name="James Dyer" userId="c78f284b-7e37-4191-b5a6-8e3806eb7037" providerId="ADAL" clId="{F60D56F0-411A-464A-9766-F9A63ABC936F}" dt="2026-03-23T12:35:06.350" v="8" actId="478"/>
          <ac:spMkLst>
            <pc:docMk/>
            <pc:sldMk cId="2995070123" sldId="302"/>
            <ac:spMk id="5" creationId="{C882DDD0-E69A-0A79-E094-DA5CD7FF6409}"/>
          </ac:spMkLst>
        </pc:spChg>
        <pc:graphicFrameChg chg="del">
          <ac:chgData name="James Dyer" userId="c78f284b-7e37-4191-b5a6-8e3806eb7037" providerId="ADAL" clId="{F60D56F0-411A-464A-9766-F9A63ABC936F}" dt="2026-03-23T12:34:58.401" v="6" actId="478"/>
          <ac:graphicFrameMkLst>
            <pc:docMk/>
            <pc:sldMk cId="2995070123" sldId="302"/>
            <ac:graphicFrameMk id="4" creationId="{0C4B6234-CA25-6908-9221-A3DB9A2049EB}"/>
          </ac:graphicFrameMkLst>
        </pc:graphicFrameChg>
      </pc:sldChg>
      <pc:sldChg chg="delSp modSp mod delAnim modAnim">
        <pc:chgData name="James Dyer" userId="c78f284b-7e37-4191-b5a6-8e3806eb7037" providerId="ADAL" clId="{F60D56F0-411A-464A-9766-F9A63ABC936F}" dt="2026-03-23T12:35:16.918" v="10" actId="20577"/>
        <pc:sldMkLst>
          <pc:docMk/>
          <pc:sldMk cId="3418103306" sldId="305"/>
        </pc:sldMkLst>
        <pc:spChg chg="mod">
          <ac:chgData name="James Dyer" userId="c78f284b-7e37-4191-b5a6-8e3806eb7037" providerId="ADAL" clId="{F60D56F0-411A-464A-9766-F9A63ABC936F}" dt="2026-03-23T12:35:16.918" v="10" actId="20577"/>
          <ac:spMkLst>
            <pc:docMk/>
            <pc:sldMk cId="3418103306" sldId="305"/>
            <ac:spMk id="3" creationId="{3532486D-2C1B-1D0C-7E4E-72A19FA0F6CF}"/>
          </ac:spMkLst>
        </pc:spChg>
        <pc:graphicFrameChg chg="del">
          <ac:chgData name="James Dyer" userId="c78f284b-7e37-4191-b5a6-8e3806eb7037" providerId="ADAL" clId="{F60D56F0-411A-464A-9766-F9A63ABC936F}" dt="2026-03-23T12:35:14.386" v="9" actId="478"/>
          <ac:graphicFrameMkLst>
            <pc:docMk/>
            <pc:sldMk cId="3418103306" sldId="305"/>
            <ac:graphicFrameMk id="4" creationId="{EC35BC15-E96A-3372-86AB-C474886C6D87}"/>
          </ac:graphicFrameMkLst>
        </pc:graphicFrameChg>
      </pc:sldChg>
      <pc:sldChg chg="modSp modAnim">
        <pc:chgData name="James Dyer" userId="c78f284b-7e37-4191-b5a6-8e3806eb7037" providerId="ADAL" clId="{F60D56F0-411A-464A-9766-F9A63ABC936F}" dt="2026-03-23T12:35:24.070" v="11" actId="20577"/>
        <pc:sldMkLst>
          <pc:docMk/>
          <pc:sldMk cId="3953660804" sldId="310"/>
        </pc:sldMkLst>
        <pc:spChg chg="mod">
          <ac:chgData name="James Dyer" userId="c78f284b-7e37-4191-b5a6-8e3806eb7037" providerId="ADAL" clId="{F60D56F0-411A-464A-9766-F9A63ABC936F}" dt="2026-03-23T12:35:24.070" v="11" actId="20577"/>
          <ac:spMkLst>
            <pc:docMk/>
            <pc:sldMk cId="3953660804" sldId="310"/>
            <ac:spMk id="3" creationId="{9B9B6C3A-444D-D78C-B689-EB9CF97E65A2}"/>
          </ac:spMkLst>
        </pc:spChg>
      </pc:sldChg>
      <pc:sldChg chg="del">
        <pc:chgData name="James Dyer" userId="c78f284b-7e37-4191-b5a6-8e3806eb7037" providerId="ADAL" clId="{F60D56F0-411A-464A-9766-F9A63ABC936F}" dt="2026-03-23T12:35:37.556" v="12" actId="47"/>
        <pc:sldMkLst>
          <pc:docMk/>
          <pc:sldMk cId="3095360524" sldId="316"/>
        </pc:sldMkLst>
      </pc:sldChg>
      <pc:sldChg chg="del">
        <pc:chgData name="James Dyer" userId="c78f284b-7e37-4191-b5a6-8e3806eb7037" providerId="ADAL" clId="{F60D56F0-411A-464A-9766-F9A63ABC936F}" dt="2026-03-23T12:35:40.728" v="13" actId="47"/>
        <pc:sldMkLst>
          <pc:docMk/>
          <pc:sldMk cId="4285875320" sldId="320"/>
        </pc:sldMkLst>
      </pc:sldChg>
      <pc:sldChg chg="modSp modAnim">
        <pc:chgData name="James Dyer" userId="c78f284b-7e37-4191-b5a6-8e3806eb7037" providerId="ADAL" clId="{F60D56F0-411A-464A-9766-F9A63ABC936F}" dt="2026-03-23T12:35:51.445" v="14" actId="6549"/>
        <pc:sldMkLst>
          <pc:docMk/>
          <pc:sldMk cId="3264698873" sldId="322"/>
        </pc:sldMkLst>
        <pc:spChg chg="mod">
          <ac:chgData name="James Dyer" userId="c78f284b-7e37-4191-b5a6-8e3806eb7037" providerId="ADAL" clId="{F60D56F0-411A-464A-9766-F9A63ABC936F}" dt="2026-03-23T12:35:51.445" v="14" actId="6549"/>
          <ac:spMkLst>
            <pc:docMk/>
            <pc:sldMk cId="3264698873" sldId="322"/>
            <ac:spMk id="3" creationId="{02C0680D-F70D-BFBD-D7E5-E4DFECD591AE}"/>
          </ac:spMkLst>
        </pc:sp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AF13AE8-A0E4-4F1F-9580-770EB244677C}" type="datetimeFigureOut">
              <a:rPr lang="en-GB" smtClean="0"/>
              <a:t>05/10/2026</a:t>
            </a:fld>
            <a:endParaRPr lang="en-GB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GB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536AA19-E215-4B21-98AA-C85DA1448827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3118556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536AA19-E215-4B21-98AA-C85DA1448827}" type="slidenum">
              <a:rPr lang="en-GB" smtClean="0"/>
              <a:t>51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5222487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8D52F41-531D-6A56-E767-71F8EAEA63B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951197FD-BB86-AA00-BF43-A2AD2FC7BCC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F0D87AE-4201-06B4-1EAF-1159C9A5CE6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426109-4B64-467B-8757-ABD07F902EB6}" type="datetimeFigureOut">
              <a:rPr lang="en-GB" smtClean="0"/>
              <a:t>05/10/2026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D8E8697-00C3-8A57-1981-BC13033E4D6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720573E-F3AF-FF7A-790D-40D3E8FE774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D4DBFA-FC43-48BA-AA47-7E8FBE4FFE9F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95395111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367E446-2704-5367-1E40-544D2D285B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6734064-3577-9037-6447-FC5421B3550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A95E7D3-749E-DA48-85FF-46674F99A2D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426109-4B64-467B-8757-ABD07F902EB6}" type="datetimeFigureOut">
              <a:rPr lang="en-GB" smtClean="0"/>
              <a:t>05/10/2026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9344A8E-301E-91A8-A243-195E55D0C8E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CBF20A7-AC73-FF38-3823-919F68E0D8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D4DBFA-FC43-48BA-AA47-7E8FBE4FFE9F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4038262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25210A4-DCDA-8862-2F8C-5CCE36BFC6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AAB6B2B-053F-7673-9013-3294EF8204C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0E09EFA-7994-9322-7BD4-2BB980BF598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426109-4B64-467B-8757-ABD07F902EB6}" type="datetimeFigureOut">
              <a:rPr lang="en-GB" smtClean="0"/>
              <a:t>05/10/2026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DD5AC75-E702-2F2F-CD74-D93D4199238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FABB686-E8E5-A0B3-BE17-B47CA3448C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D4DBFA-FC43-48BA-AA47-7E8FBE4FFE9F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82475874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513FC9-637A-BD25-8E50-73EB661911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252DEB2-1A9E-B201-CB18-A6C7A599914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FBDB8A8-42BA-C24E-134F-B3CE0B8B2A5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AFF8433-118F-B31F-FB2C-D3D7A25A27B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426109-4B64-467B-8757-ABD07F902EB6}" type="datetimeFigureOut">
              <a:rPr lang="en-GB" smtClean="0"/>
              <a:t>05/10/2026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6E3E2DD-6D30-06F6-86FD-6122103919C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67069A8-82C1-DBAF-42AF-D2A5BC5D64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D4DBFA-FC43-48BA-AA47-7E8FBE4FFE9F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4883403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D28340F-8516-DEAD-3C97-D6EDDED1243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97C82FB-2683-0163-5D7F-3112B5E7D81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F1BB982-3152-9C84-04B4-94AA114A5DB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71C2297-EAD5-217A-F84B-A3E0B34503A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DBF3A079-2E38-8C35-5769-427565F31D64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F6BEC2E8-ADE4-5E23-A220-E4EED3B1171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426109-4B64-467B-8757-ABD07F902EB6}" type="datetimeFigureOut">
              <a:rPr lang="en-GB" smtClean="0"/>
              <a:t>05/10/2026</a:t>
            </a:fld>
            <a:endParaRPr lang="en-GB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870674DD-C003-DAFE-A0A7-550F8746050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CEE800D4-5135-91AB-CDCF-09AEF76B24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D4DBFA-FC43-48BA-AA47-7E8FBE4FFE9F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2986578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BBF467-A69D-3B88-2226-71EB3CCC42D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3A1EB87-754B-10D3-2048-701AC68E9CB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426109-4B64-467B-8757-ABD07F902EB6}" type="datetimeFigureOut">
              <a:rPr lang="en-GB" smtClean="0"/>
              <a:t>05/10/2026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51107CF-992B-D340-D290-5290E546E6C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102F632-35C2-85F9-CFF4-6F0400E55A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D4DBFA-FC43-48BA-AA47-7E8FBE4FFE9F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3371489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14DC774F-08CE-2B16-2C3F-1AF4630B232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426109-4B64-467B-8757-ABD07F902EB6}" type="datetimeFigureOut">
              <a:rPr lang="en-GB" smtClean="0"/>
              <a:t>05/10/2026</a:t>
            </a:fld>
            <a:endParaRPr lang="en-GB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A56F2FFA-BDC6-7CD0-438D-519F717E05B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07C64E3-489E-9D52-B85C-CF119ED961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D4DBFA-FC43-48BA-AA47-7E8FBE4FFE9F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954710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4D0F486-E1AD-3654-B06E-AA94D6BAF59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5DFA079-6EC7-96EE-CFDD-323E2F209B7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8139BD5-5730-A0D8-134C-BA5B669F63F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237CB6D-8891-CCD8-DE27-6CB516C3DE6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426109-4B64-467B-8757-ABD07F902EB6}" type="datetimeFigureOut">
              <a:rPr lang="en-GB" smtClean="0"/>
              <a:t>05/10/2026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635AF93-B5FA-1319-A142-5DE04B72B9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F0EB924-979C-C936-33E9-B5250DFC7A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D4DBFA-FC43-48BA-AA47-7E8FBE4FFE9F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7945819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F8A6EFE-49E9-322F-AF0F-47D4447F157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D1AD5A43-5009-1C82-A1C1-40E65523752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6FC5EA7-FDBE-DB13-304B-986A76123F4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0E5F1B6-A11E-D0D3-6C24-19F90F44F7A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426109-4B64-467B-8757-ABD07F902EB6}" type="datetimeFigureOut">
              <a:rPr lang="en-GB" smtClean="0"/>
              <a:t>05/10/2026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AAB1928-0C1E-2C61-C750-E5F585732C4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F8C7AE2-A378-5E1B-13C5-8A9AC42303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D4DBFA-FC43-48BA-AA47-7E8FBE4FFE9F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2955053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330EAF4-ADBE-4862-8A40-559AB5E2E4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4DC77DC-4D47-2F0F-3C9E-BD0FB16972A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16801A0-53E9-588F-0197-08693B3894E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426109-4B64-467B-8757-ABD07F902EB6}" type="datetimeFigureOut">
              <a:rPr lang="en-GB" smtClean="0"/>
              <a:t>05/10/2026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E3949F7-B094-FCDB-35FF-8B8C7D58891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A2F00A9-80CE-BD3C-3743-D38C97211FB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D4DBFA-FC43-48BA-AA47-7E8FBE4FFE9F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8503222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94A5F7C1-91A6-8DA3-1AEA-A8CBAA3DA76B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8361DF5-EBAD-BE19-A870-6370069CB6E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3823D08-5251-959B-2A40-B672EC3E9FD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426109-4B64-467B-8757-ABD07F902EB6}" type="datetimeFigureOut">
              <a:rPr lang="en-GB" smtClean="0"/>
              <a:t>05/10/2026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3A102FA-750A-2FD1-AADD-3BE63CB5B07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D192A1B-8491-7898-3195-4AFA938B5CB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D4DBFA-FC43-48BA-AA47-7E8FBE4FFE9F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9469910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jp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E30226DA-EF65-A9BB-F2C5-4113AB3CC3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FD8D4C5-4FA5-876E-1374-AD57A236DD1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C3391BC-087B-8D13-45F1-277B7B1268D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2426109-4B64-467B-8757-ABD07F902EB6}" type="datetimeFigureOut">
              <a:rPr lang="en-GB" smtClean="0"/>
              <a:t>05/10/2026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456138B-7260-1ED3-BA6A-2471E1DBB3E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D8CE162-0400-C149-2022-6E8B9C0D027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FD4DBFA-FC43-48BA-AA47-7E8FBE4FFE9F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68228740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6.svg"/><Relationship Id="rId4" Type="http://schemas.openxmlformats.org/officeDocument/2006/relationships/image" Target="../media/image5.png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4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4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4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0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1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0.png"/><Relationship Id="rId1" Type="http://schemas.openxmlformats.org/officeDocument/2006/relationships/slideLayout" Target="../slideLayouts/slideLayout4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0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0.png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4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0.png"/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56844F7-2FF2-D93E-880E-DB5EE5B2ED5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816046"/>
            <a:ext cx="9144000" cy="2387600"/>
          </a:xfrm>
        </p:spPr>
        <p:txBody>
          <a:bodyPr>
            <a:normAutofit fontScale="90000"/>
          </a:bodyPr>
          <a:lstStyle/>
          <a:p>
            <a:r>
              <a:rPr lang="en-GB" dirty="0"/>
              <a:t>COMP1860 Building our Digital World: Computer Systems &amp; Architecture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C611523-4BD3-8F1A-5769-0467FEE659E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4221656"/>
            <a:ext cx="9144000" cy="1655762"/>
          </a:xfrm>
        </p:spPr>
        <p:txBody>
          <a:bodyPr>
            <a:normAutofit/>
          </a:bodyPr>
          <a:lstStyle/>
          <a:p>
            <a:r>
              <a:rPr lang="en-GB" sz="3200"/>
              <a:t>S1.W2.L1: </a:t>
            </a:r>
            <a:r>
              <a:rPr lang="en-GB" sz="3200" dirty="0"/>
              <a:t>Number Systems &amp; Integer Representations</a:t>
            </a:r>
          </a:p>
          <a:p>
            <a:r>
              <a:rPr lang="en-GB" sz="3200" dirty="0"/>
              <a:t>Dr James Dyer</a:t>
            </a:r>
          </a:p>
        </p:txBody>
      </p:sp>
    </p:spTree>
    <p:extLst>
      <p:ext uri="{BB962C8B-B14F-4D97-AF65-F5344CB8AC3E}">
        <p14:creationId xmlns:p14="http://schemas.microsoft.com/office/powerpoint/2010/main" val="404946381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DCD3D9B-F031-E9EE-57A2-70751E22A9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GB"/>
          </a:p>
        </p:txBody>
      </p:sp>
      <p:pic>
        <p:nvPicPr>
          <p:cNvPr id="5" name="Content Placeholder 4" descr="A cartoon of a child standing in front of a sign&#10;&#10;Description automatically generated">
            <a:extLst>
              <a:ext uri="{FF2B5EF4-FFF2-40B4-BE49-F238E27FC236}">
                <a16:creationId xmlns:a16="http://schemas.microsoft.com/office/drawing/2014/main" id="{87730293-1A6A-F43C-466F-7BE8B3723069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9145828" cy="6858000"/>
          </a:xfrm>
        </p:spPr>
      </p:pic>
    </p:spTree>
    <p:extLst>
      <p:ext uri="{BB962C8B-B14F-4D97-AF65-F5344CB8AC3E}">
        <p14:creationId xmlns:p14="http://schemas.microsoft.com/office/powerpoint/2010/main" val="140086258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FCB20D0-DF3B-02D3-262A-EF4055807A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Learning Outcomes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B2F18FE-EF7E-04AE-D8C6-A9AA0D3D230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514350" indent="-514350">
              <a:buFont typeface="+mj-lt"/>
              <a:buAutoNum type="arabicPeriod"/>
            </a:pPr>
            <a:r>
              <a:rPr lang="en-GB" b="1" dirty="0"/>
              <a:t>Explain the bit-level representations of fixed-length numbers.</a:t>
            </a:r>
          </a:p>
          <a:p>
            <a:pPr marL="514350" indent="-514350">
              <a:buFont typeface="+mj-lt"/>
              <a:buAutoNum type="arabicPeriod"/>
            </a:pPr>
            <a:r>
              <a:rPr lang="en-GB" b="1" dirty="0"/>
              <a:t>Translate numerical data from one format to another.</a:t>
            </a:r>
          </a:p>
        </p:txBody>
      </p:sp>
    </p:spTree>
    <p:extLst>
      <p:ext uri="{BB962C8B-B14F-4D97-AF65-F5344CB8AC3E}">
        <p14:creationId xmlns:p14="http://schemas.microsoft.com/office/powerpoint/2010/main" val="343163965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0921253-F723-4782-FA6E-E4EFCFD9AC6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Text Book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30ABFD0-C792-9EF3-3BED-4AA7BDB2C59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This lecture covers material similar to chapters 10 &amp; 11 of </a:t>
            </a:r>
            <a:r>
              <a:rPr lang="en-US" sz="2800" b="1" dirty="0"/>
              <a:t>Stallings. </a:t>
            </a:r>
            <a:r>
              <a:rPr lang="en-US" sz="2800" b="1" i="1" dirty="0"/>
              <a:t>Computer </a:t>
            </a:r>
            <a:r>
              <a:rPr lang="en-US" sz="2800" b="1" i="1" dirty="0" err="1"/>
              <a:t>Organisation</a:t>
            </a:r>
            <a:r>
              <a:rPr lang="en-US" sz="2800" b="1" i="1" dirty="0"/>
              <a:t> &amp; Architecture</a:t>
            </a:r>
            <a:endParaRPr lang="en-GB" sz="2800" b="1" i="1" dirty="0"/>
          </a:p>
          <a:p>
            <a:pPr lvl="1"/>
            <a:r>
              <a:rPr lang="en-GB" dirty="0"/>
              <a:t>It covers the entirety of chapter 10</a:t>
            </a:r>
          </a:p>
          <a:p>
            <a:pPr lvl="1"/>
            <a:r>
              <a:rPr lang="en-GB" dirty="0"/>
              <a:t>It </a:t>
            </a:r>
            <a:r>
              <a:rPr lang="en-GB"/>
              <a:t>covers section 11.2 of chapter 11 up to two’ complement representations </a:t>
            </a:r>
            <a:endParaRPr lang="en-GB" dirty="0"/>
          </a:p>
          <a:p>
            <a:endParaRPr lang="en-GB" dirty="0"/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45843557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451AA97-569B-B7D5-9BB0-EEFA9D1D5BE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Overview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5151CB8-6F26-CBEA-B2EB-CB1072B69C9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Number Systems</a:t>
            </a:r>
          </a:p>
          <a:p>
            <a:r>
              <a:rPr lang="en-GB" dirty="0"/>
              <a:t>Integer Representations</a:t>
            </a:r>
          </a:p>
        </p:txBody>
      </p:sp>
    </p:spTree>
    <p:extLst>
      <p:ext uri="{BB962C8B-B14F-4D97-AF65-F5344CB8AC3E}">
        <p14:creationId xmlns:p14="http://schemas.microsoft.com/office/powerpoint/2010/main" val="349270184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3309C8-1EEE-486B-4E96-E4B16EDD857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Number Systems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41433AB-18C1-A16E-130D-0D81C781665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8054048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AFC4D26-58A4-E073-A70D-60AE95AA77E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Number Systems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5D2033A-FC41-FA78-1EF8-4E35A5C52CB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>
                <a:solidFill>
                  <a:schemeClr val="accent1"/>
                </a:solidFill>
              </a:rPr>
              <a:t>Denary/Decimal </a:t>
            </a:r>
            <a:r>
              <a:rPr lang="en-GB" dirty="0"/>
              <a:t>or base </a:t>
            </a:r>
            <a:r>
              <a:rPr lang="en-GB" dirty="0">
                <a:solidFill>
                  <a:schemeClr val="accent1"/>
                </a:solidFill>
              </a:rPr>
              <a:t>ten</a:t>
            </a:r>
            <a:r>
              <a:rPr lang="en-GB" dirty="0"/>
              <a:t> - ten symbols</a:t>
            </a:r>
          </a:p>
          <a:p>
            <a:pPr lvl="1"/>
            <a:r>
              <a:rPr lang="en-GB" dirty="0"/>
              <a:t>0, 1, 2, 3, 4, 5, 6, 7, 8, 9</a:t>
            </a:r>
          </a:p>
          <a:p>
            <a:r>
              <a:rPr lang="en-GB" dirty="0">
                <a:solidFill>
                  <a:schemeClr val="accent1"/>
                </a:solidFill>
              </a:rPr>
              <a:t>Binary</a:t>
            </a:r>
            <a:r>
              <a:rPr lang="en-GB" dirty="0"/>
              <a:t> or base </a:t>
            </a:r>
            <a:r>
              <a:rPr lang="en-GB" dirty="0">
                <a:solidFill>
                  <a:schemeClr val="accent1"/>
                </a:solidFill>
              </a:rPr>
              <a:t>two</a:t>
            </a:r>
            <a:r>
              <a:rPr lang="en-GB" dirty="0"/>
              <a:t> - two symbols</a:t>
            </a:r>
          </a:p>
          <a:p>
            <a:pPr lvl="1"/>
            <a:r>
              <a:rPr lang="en-GB" dirty="0"/>
              <a:t>0, 1</a:t>
            </a:r>
          </a:p>
          <a:p>
            <a:r>
              <a:rPr lang="en-GB" dirty="0">
                <a:solidFill>
                  <a:schemeClr val="accent1"/>
                </a:solidFill>
              </a:rPr>
              <a:t>Hexadecimal</a:t>
            </a:r>
            <a:r>
              <a:rPr lang="en-GB" dirty="0"/>
              <a:t> or base </a:t>
            </a:r>
            <a:r>
              <a:rPr lang="en-GB" dirty="0">
                <a:solidFill>
                  <a:schemeClr val="accent1"/>
                </a:solidFill>
              </a:rPr>
              <a:t>16</a:t>
            </a:r>
            <a:r>
              <a:rPr lang="en-GB" dirty="0"/>
              <a:t> - sixteen symbols</a:t>
            </a:r>
          </a:p>
          <a:p>
            <a:pPr lvl="1"/>
            <a:r>
              <a:rPr lang="en-GB" dirty="0"/>
              <a:t>0, 1, 2, 3, 4, 5, 6, 7, 8, 9, A, B, C, D, E, F</a:t>
            </a:r>
          </a:p>
          <a:p>
            <a:r>
              <a:rPr lang="en-GB" dirty="0">
                <a:solidFill>
                  <a:schemeClr val="accent1"/>
                </a:solidFill>
              </a:rPr>
              <a:t>Octal</a:t>
            </a:r>
            <a:r>
              <a:rPr lang="en-GB" dirty="0"/>
              <a:t> or base </a:t>
            </a:r>
            <a:r>
              <a:rPr lang="en-GB" dirty="0">
                <a:solidFill>
                  <a:schemeClr val="accent1"/>
                </a:solidFill>
              </a:rPr>
              <a:t>8</a:t>
            </a:r>
            <a:r>
              <a:rPr lang="en-GB" dirty="0"/>
              <a:t> - eight symbols</a:t>
            </a:r>
          </a:p>
          <a:p>
            <a:pPr lvl="1"/>
            <a:r>
              <a:rPr lang="en-GB" dirty="0"/>
              <a:t>0, 1, 2, 3, 4, 5, 6, 7.</a:t>
            </a:r>
          </a:p>
        </p:txBody>
      </p:sp>
    </p:spTree>
    <p:extLst>
      <p:ext uri="{BB962C8B-B14F-4D97-AF65-F5344CB8AC3E}">
        <p14:creationId xmlns:p14="http://schemas.microsoft.com/office/powerpoint/2010/main" val="424207742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FA1D1D7-E41D-DF57-086F-4AE037A32A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Why Binary?</a:t>
            </a:r>
          </a:p>
        </p:txBody>
      </p:sp>
      <p:sp>
        <p:nvSpPr>
          <p:cNvPr id="12" name="Content Placeholder 11">
            <a:extLst>
              <a:ext uri="{FF2B5EF4-FFF2-40B4-BE49-F238E27FC236}">
                <a16:creationId xmlns:a16="http://schemas.microsoft.com/office/drawing/2014/main" id="{CC8754F7-74A3-C7CF-4756-8925DE8BE0A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2974428" y="3651605"/>
            <a:ext cx="1287517" cy="2525358"/>
          </a:xfrm>
        </p:spPr>
        <p:txBody>
          <a:bodyPr/>
          <a:lstStyle/>
          <a:p>
            <a:r>
              <a:rPr lang="en-GB" dirty="0"/>
              <a:t>On</a:t>
            </a:r>
          </a:p>
          <a:p>
            <a:r>
              <a:rPr lang="en-GB" dirty="0"/>
              <a:t>True</a:t>
            </a:r>
          </a:p>
          <a:p>
            <a:r>
              <a:rPr lang="en-GB" dirty="0"/>
              <a:t>Yes</a:t>
            </a:r>
          </a:p>
        </p:txBody>
      </p:sp>
      <p:sp>
        <p:nvSpPr>
          <p:cNvPr id="13" name="Content Placeholder 12">
            <a:extLst>
              <a:ext uri="{FF2B5EF4-FFF2-40B4-BE49-F238E27FC236}">
                <a16:creationId xmlns:a16="http://schemas.microsoft.com/office/drawing/2014/main" id="{CD7267E8-7BE7-0334-EF89-42662137705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250620" y="3651604"/>
            <a:ext cx="1665891" cy="2525358"/>
          </a:xfrm>
        </p:spPr>
        <p:txBody>
          <a:bodyPr/>
          <a:lstStyle/>
          <a:p>
            <a:r>
              <a:rPr lang="en-GB" dirty="0"/>
              <a:t>Off</a:t>
            </a:r>
          </a:p>
          <a:p>
            <a:r>
              <a:rPr lang="en-GB" dirty="0"/>
              <a:t>False</a:t>
            </a:r>
          </a:p>
          <a:p>
            <a:r>
              <a:rPr lang="en-GB" dirty="0"/>
              <a:t>No</a:t>
            </a:r>
          </a:p>
        </p:txBody>
      </p:sp>
      <p:pic>
        <p:nvPicPr>
          <p:cNvPr id="19" name="Graphic 18" descr="Lightbulb outline">
            <a:extLst>
              <a:ext uri="{FF2B5EF4-FFF2-40B4-BE49-F238E27FC236}">
                <a16:creationId xmlns:a16="http://schemas.microsoft.com/office/drawing/2014/main" id="{C86C258E-035E-3040-B005-EE9B210EAFB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914290" y="1892584"/>
            <a:ext cx="1568356" cy="1568356"/>
          </a:xfrm>
          <a:prstGeom prst="rect">
            <a:avLst/>
          </a:prstGeom>
        </p:spPr>
      </p:pic>
      <p:pic>
        <p:nvPicPr>
          <p:cNvPr id="21" name="Graphic 20" descr="Lightbulb with solid fill">
            <a:extLst>
              <a:ext uri="{FF2B5EF4-FFF2-40B4-BE49-F238E27FC236}">
                <a16:creationId xmlns:a16="http://schemas.microsoft.com/office/drawing/2014/main" id="{FBD10B78-2666-22F8-9F40-EB2ADECC455D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2834008" y="1886969"/>
            <a:ext cx="1568355" cy="15683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3176455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DC9AF0D-3FE1-6568-1E16-90BD7F677E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Bits, Bytes and Words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0D63B40F-5B39-8E5F-E854-C119CA99A43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>
                <a:solidFill>
                  <a:schemeClr val="accent1"/>
                </a:solidFill>
              </a:rPr>
              <a:t>Bit</a:t>
            </a:r>
            <a:r>
              <a:rPr lang="en-GB" dirty="0"/>
              <a:t> - binary digit</a:t>
            </a:r>
          </a:p>
          <a:p>
            <a:r>
              <a:rPr lang="en-GB" dirty="0">
                <a:solidFill>
                  <a:schemeClr val="accent1"/>
                </a:solidFill>
              </a:rPr>
              <a:t>Byte</a:t>
            </a:r>
            <a:r>
              <a:rPr lang="en-GB" dirty="0"/>
              <a:t> - 8 bits</a:t>
            </a:r>
          </a:p>
          <a:p>
            <a:r>
              <a:rPr lang="en-GB" dirty="0">
                <a:solidFill>
                  <a:schemeClr val="accent1"/>
                </a:solidFill>
              </a:rPr>
              <a:t>Word</a:t>
            </a:r>
            <a:r>
              <a:rPr lang="en-GB" dirty="0"/>
              <a:t> - 32 bits or 64 bits (in most systems).</a:t>
            </a:r>
          </a:p>
          <a:p>
            <a:r>
              <a:rPr lang="en-GB" dirty="0"/>
              <a:t>The number of bits used to store numbers will determine the size of the numbers which can be stored and their precision.</a:t>
            </a:r>
          </a:p>
        </p:txBody>
      </p:sp>
    </p:spTree>
    <p:extLst>
      <p:ext uri="{BB962C8B-B14F-4D97-AF65-F5344CB8AC3E}">
        <p14:creationId xmlns:p14="http://schemas.microsoft.com/office/powerpoint/2010/main" val="336018882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59782E5-E382-5CC2-BF8A-175140D3A4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Positional notation: Base 10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Content Placeholder 6">
                <a:extLst>
                  <a:ext uri="{FF2B5EF4-FFF2-40B4-BE49-F238E27FC236}">
                    <a16:creationId xmlns:a16="http://schemas.microsoft.com/office/drawing/2014/main" id="{0BA0C9A4-5F07-8950-3B2A-BFEDE5CD2FC3}"/>
                  </a:ext>
                </a:extLst>
              </p:cNvPr>
              <p:cNvSpPr>
                <a:spLocks noGrp="1"/>
              </p:cNvSpPr>
              <p:nvPr>
                <p:ph sz="half" idx="1"/>
              </p:nvPr>
            </p:nvSpPr>
            <p:spPr>
              <a:xfrm>
                <a:off x="838200" y="1825625"/>
                <a:ext cx="10515600" cy="574675"/>
              </a:xfrm>
            </p:spPr>
            <p:txBody>
              <a:bodyPr/>
              <a:lstStyle/>
              <a:p>
                <a:pPr marL="0" indent="0" algn="ctr">
                  <a:buNone/>
                </a:pPr>
                <a:r>
                  <a:rPr lang="en-GB" dirty="0"/>
                  <a:t>527 = 5 </a:t>
                </a:r>
                <a14:m>
                  <m:oMath xmlns:m="http://schemas.openxmlformats.org/officeDocument/2006/math">
                    <m:r>
                      <a:rPr lang="en-GB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×</m:t>
                    </m:r>
                  </m:oMath>
                </a14:m>
                <a:r>
                  <a:rPr lang="en-GB" dirty="0"/>
                  <a:t> 10</a:t>
                </a:r>
                <a:r>
                  <a:rPr lang="en-GB" baseline="30000" dirty="0"/>
                  <a:t>2</a:t>
                </a:r>
                <a:r>
                  <a:rPr lang="en-GB" dirty="0"/>
                  <a:t> + 2 </a:t>
                </a:r>
                <a14:m>
                  <m:oMath xmlns:m="http://schemas.openxmlformats.org/officeDocument/2006/math">
                    <m:r>
                      <a:rPr lang="en-GB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×</m:t>
                    </m:r>
                  </m:oMath>
                </a14:m>
                <a:r>
                  <a:rPr lang="en-GB" dirty="0"/>
                  <a:t> 10</a:t>
                </a:r>
                <a:r>
                  <a:rPr lang="en-GB" baseline="30000" dirty="0"/>
                  <a:t>1</a:t>
                </a:r>
                <a:r>
                  <a:rPr lang="en-GB" dirty="0"/>
                  <a:t> + 7 </a:t>
                </a:r>
                <a14:m>
                  <m:oMath xmlns:m="http://schemas.openxmlformats.org/officeDocument/2006/math">
                    <m:r>
                      <a:rPr lang="en-GB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×</m:t>
                    </m:r>
                  </m:oMath>
                </a14:m>
                <a:r>
                  <a:rPr lang="en-GB" dirty="0"/>
                  <a:t> 10</a:t>
                </a:r>
                <a:r>
                  <a:rPr lang="en-GB" baseline="30000" dirty="0"/>
                  <a:t>0</a:t>
                </a:r>
                <a:r>
                  <a:rPr lang="en-GB" dirty="0"/>
                  <a:t> </a:t>
                </a:r>
              </a:p>
            </p:txBody>
          </p:sp>
        </mc:Choice>
        <mc:Fallback xmlns="">
          <p:sp>
            <p:nvSpPr>
              <p:cNvPr id="7" name="Content Placeholder 6">
                <a:extLst>
                  <a:ext uri="{FF2B5EF4-FFF2-40B4-BE49-F238E27FC236}">
                    <a16:creationId xmlns:a16="http://schemas.microsoft.com/office/drawing/2014/main" id="{0BA0C9A4-5F07-8950-3B2A-BFEDE5CD2FC3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1"/>
              </p:nvPr>
            </p:nvSpPr>
            <p:spPr>
              <a:xfrm>
                <a:off x="838200" y="1825625"/>
                <a:ext cx="10515600" cy="574675"/>
              </a:xfrm>
              <a:blipFill>
                <a:blip r:embed="rId2"/>
                <a:stretch>
                  <a:fillRect t="-16842" b="-12632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9" name="Content Placeholder 3">
                <a:extLst>
                  <a:ext uri="{FF2B5EF4-FFF2-40B4-BE49-F238E27FC236}">
                    <a16:creationId xmlns:a16="http://schemas.microsoft.com/office/drawing/2014/main" id="{2489B54F-FA36-13FB-3959-2573633F1ECA}"/>
                  </a:ext>
                </a:extLst>
              </p:cNvPr>
              <p:cNvGraphicFramePr>
                <a:graphicFrameLocks noGrp="1"/>
              </p:cNvGraphicFramePr>
              <p:nvPr>
                <p:ph sz="half" idx="2"/>
                <p:extLst>
                  <p:ext uri="{D42A27DB-BD31-4B8C-83A1-F6EECF244321}">
                    <p14:modId xmlns:p14="http://schemas.microsoft.com/office/powerpoint/2010/main" val="3527804997"/>
                  </p:ext>
                </p:extLst>
              </p:nvPr>
            </p:nvGraphicFramePr>
            <p:xfrm>
              <a:off x="838200" y="2625836"/>
              <a:ext cx="10515600" cy="2590800"/>
            </p:xfrm>
            <a:graphic>
              <a:graphicData uri="http://schemas.openxmlformats.org/drawingml/2006/table">
                <a:tbl>
                  <a:tblPr firstRow="1" bandRow="1">
                    <a:tableStyleId>{7E9639D4-E3E2-4D34-9284-5A2195B3D0D7}</a:tableStyleId>
                  </a:tblPr>
                  <a:tblGrid>
                    <a:gridCol w="2628900">
                      <a:extLst>
                        <a:ext uri="{9D8B030D-6E8A-4147-A177-3AD203B41FA5}">
                          <a16:colId xmlns:a16="http://schemas.microsoft.com/office/drawing/2014/main" val="4267595785"/>
                        </a:ext>
                      </a:extLst>
                    </a:gridCol>
                    <a:gridCol w="2628900">
                      <a:extLst>
                        <a:ext uri="{9D8B030D-6E8A-4147-A177-3AD203B41FA5}">
                          <a16:colId xmlns:a16="http://schemas.microsoft.com/office/drawing/2014/main" val="1801333668"/>
                        </a:ext>
                      </a:extLst>
                    </a:gridCol>
                    <a:gridCol w="2628900">
                      <a:extLst>
                        <a:ext uri="{9D8B030D-6E8A-4147-A177-3AD203B41FA5}">
                          <a16:colId xmlns:a16="http://schemas.microsoft.com/office/drawing/2014/main" val="385241836"/>
                        </a:ext>
                      </a:extLst>
                    </a:gridCol>
                    <a:gridCol w="2628900">
                      <a:extLst>
                        <a:ext uri="{9D8B030D-6E8A-4147-A177-3AD203B41FA5}">
                          <a16:colId xmlns:a16="http://schemas.microsoft.com/office/drawing/2014/main" val="1279407291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endParaRPr lang="en-GB" sz="28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GB" sz="2800" dirty="0"/>
                            <a:t>100’s place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GB" sz="2800" dirty="0"/>
                            <a:t>10’s place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GB" sz="2800" dirty="0"/>
                            <a:t>1’s place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79714418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GB" sz="2800" dirty="0"/>
                            <a:t>Place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GB" sz="2800" dirty="0"/>
                            <a:t>10</a:t>
                          </a:r>
                          <a:r>
                            <a:rPr lang="en-GB" sz="2800" baseline="30000" dirty="0"/>
                            <a:t>2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GB" sz="2800" dirty="0"/>
                            <a:t>10</a:t>
                          </a:r>
                          <a:r>
                            <a:rPr lang="en-GB" sz="2800" baseline="30000" dirty="0"/>
                            <a:t>1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GB" sz="2800" dirty="0"/>
                            <a:t>10</a:t>
                          </a:r>
                          <a:r>
                            <a:rPr lang="en-GB" sz="2800" baseline="30000" dirty="0"/>
                            <a:t>0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580216486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GB" sz="2800" dirty="0"/>
                            <a:t>Value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GB" sz="2800" dirty="0"/>
                            <a:t>100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GB" sz="2800" dirty="0"/>
                            <a:t>10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GB" sz="2800" dirty="0"/>
                            <a:t>1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543744514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GB" sz="2800" dirty="0"/>
                            <a:t>Evaluate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GB" sz="2800" dirty="0"/>
                            <a:t>5 </a:t>
                          </a:r>
                          <a14:m>
                            <m:oMath xmlns:m="http://schemas.openxmlformats.org/officeDocument/2006/math">
                              <m:r>
                                <a:rPr lang="en-GB" sz="2800" i="1" dirty="0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×</m:t>
                              </m:r>
                            </m:oMath>
                          </a14:m>
                          <a:r>
                            <a:rPr lang="en-GB" sz="2800" dirty="0"/>
                            <a:t> 100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GB" sz="2800" dirty="0"/>
                            <a:t>2 </a:t>
                          </a:r>
                          <a14:m>
                            <m:oMath xmlns:m="http://schemas.openxmlformats.org/officeDocument/2006/math">
                              <m:r>
                                <a:rPr lang="en-GB" sz="2800" i="1" dirty="0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×</m:t>
                              </m:r>
                            </m:oMath>
                          </a14:m>
                          <a:r>
                            <a:rPr lang="en-GB" sz="2800" dirty="0"/>
                            <a:t> 10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GB" sz="2800" dirty="0"/>
                            <a:t>7 </a:t>
                          </a:r>
                          <a14:m>
                            <m:oMath xmlns:m="http://schemas.openxmlformats.org/officeDocument/2006/math">
                              <m:r>
                                <a:rPr lang="en-GB" sz="2800" i="1" dirty="0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×</m:t>
                              </m:r>
                            </m:oMath>
                          </a14:m>
                          <a:r>
                            <a:rPr lang="en-GB" sz="2800" dirty="0"/>
                            <a:t> 1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624838832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GB" sz="2800" dirty="0"/>
                            <a:t>Sum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GB" sz="2800" dirty="0"/>
                            <a:t>500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GB" sz="2800" dirty="0"/>
                            <a:t>20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GB" sz="2800" dirty="0"/>
                            <a:t>7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4242224453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9" name="Content Placeholder 3">
                <a:extLst>
                  <a:ext uri="{FF2B5EF4-FFF2-40B4-BE49-F238E27FC236}">
                    <a16:creationId xmlns:a16="http://schemas.microsoft.com/office/drawing/2014/main" id="{2489B54F-FA36-13FB-3959-2573633F1ECA}"/>
                  </a:ext>
                </a:extLst>
              </p:cNvPr>
              <p:cNvGraphicFramePr>
                <a:graphicFrameLocks noGrp="1"/>
              </p:cNvGraphicFramePr>
              <p:nvPr>
                <p:ph sz="half" idx="2"/>
                <p:extLst>
                  <p:ext uri="{D42A27DB-BD31-4B8C-83A1-F6EECF244321}">
                    <p14:modId xmlns:p14="http://schemas.microsoft.com/office/powerpoint/2010/main" val="3527804997"/>
                  </p:ext>
                </p:extLst>
              </p:nvPr>
            </p:nvGraphicFramePr>
            <p:xfrm>
              <a:off x="838200" y="2625836"/>
              <a:ext cx="10515600" cy="2590800"/>
            </p:xfrm>
            <a:graphic>
              <a:graphicData uri="http://schemas.openxmlformats.org/drawingml/2006/table">
                <a:tbl>
                  <a:tblPr firstRow="1" bandRow="1">
                    <a:tableStyleId>{7E9639D4-E3E2-4D34-9284-5A2195B3D0D7}</a:tableStyleId>
                  </a:tblPr>
                  <a:tblGrid>
                    <a:gridCol w="2628900">
                      <a:extLst>
                        <a:ext uri="{9D8B030D-6E8A-4147-A177-3AD203B41FA5}">
                          <a16:colId xmlns:a16="http://schemas.microsoft.com/office/drawing/2014/main" val="4267595785"/>
                        </a:ext>
                      </a:extLst>
                    </a:gridCol>
                    <a:gridCol w="2628900">
                      <a:extLst>
                        <a:ext uri="{9D8B030D-6E8A-4147-A177-3AD203B41FA5}">
                          <a16:colId xmlns:a16="http://schemas.microsoft.com/office/drawing/2014/main" val="1801333668"/>
                        </a:ext>
                      </a:extLst>
                    </a:gridCol>
                    <a:gridCol w="2628900">
                      <a:extLst>
                        <a:ext uri="{9D8B030D-6E8A-4147-A177-3AD203B41FA5}">
                          <a16:colId xmlns:a16="http://schemas.microsoft.com/office/drawing/2014/main" val="385241836"/>
                        </a:ext>
                      </a:extLst>
                    </a:gridCol>
                    <a:gridCol w="2628900">
                      <a:extLst>
                        <a:ext uri="{9D8B030D-6E8A-4147-A177-3AD203B41FA5}">
                          <a16:colId xmlns:a16="http://schemas.microsoft.com/office/drawing/2014/main" val="1279407291"/>
                        </a:ext>
                      </a:extLst>
                    </a:gridCol>
                  </a:tblGrid>
                  <a:tr h="518160">
                    <a:tc>
                      <a:txBody>
                        <a:bodyPr/>
                        <a:lstStyle/>
                        <a:p>
                          <a:endParaRPr lang="en-GB" sz="28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GB" sz="2800" dirty="0"/>
                            <a:t>100’s place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GB" sz="2800" dirty="0"/>
                            <a:t>10’s place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GB" sz="2800" dirty="0"/>
                            <a:t>1’s place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79714418"/>
                      </a:ext>
                    </a:extLst>
                  </a:tr>
                  <a:tr h="518160">
                    <a:tc>
                      <a:txBody>
                        <a:bodyPr/>
                        <a:lstStyle/>
                        <a:p>
                          <a:r>
                            <a:rPr lang="en-GB" sz="2800" dirty="0"/>
                            <a:t>Place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GB" sz="2800" dirty="0"/>
                            <a:t>10</a:t>
                          </a:r>
                          <a:r>
                            <a:rPr lang="en-GB" sz="2800" baseline="30000" dirty="0"/>
                            <a:t>2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GB" sz="2800" dirty="0"/>
                            <a:t>10</a:t>
                          </a:r>
                          <a:r>
                            <a:rPr lang="en-GB" sz="2800" baseline="30000" dirty="0"/>
                            <a:t>1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GB" sz="2800" dirty="0"/>
                            <a:t>10</a:t>
                          </a:r>
                          <a:r>
                            <a:rPr lang="en-GB" sz="2800" baseline="30000" dirty="0"/>
                            <a:t>0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580216486"/>
                      </a:ext>
                    </a:extLst>
                  </a:tr>
                  <a:tr h="518160">
                    <a:tc>
                      <a:txBody>
                        <a:bodyPr/>
                        <a:lstStyle/>
                        <a:p>
                          <a:r>
                            <a:rPr lang="en-GB" sz="2800" dirty="0"/>
                            <a:t>Value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GB" sz="2800" dirty="0"/>
                            <a:t>100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GB" sz="2800" dirty="0"/>
                            <a:t>10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GB" sz="2800" dirty="0"/>
                            <a:t>1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543744514"/>
                      </a:ext>
                    </a:extLst>
                  </a:tr>
                  <a:tr h="518160">
                    <a:tc>
                      <a:txBody>
                        <a:bodyPr/>
                        <a:lstStyle/>
                        <a:p>
                          <a:r>
                            <a:rPr lang="en-GB" sz="2800" dirty="0"/>
                            <a:t>Evaluate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100464" t="-311765" r="-200464" b="-134118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200000" t="-311765" r="-100000" b="-134118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300696" t="-311765" r="-232" b="-134118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624838832"/>
                      </a:ext>
                    </a:extLst>
                  </a:tr>
                  <a:tr h="518160">
                    <a:tc>
                      <a:txBody>
                        <a:bodyPr/>
                        <a:lstStyle/>
                        <a:p>
                          <a:r>
                            <a:rPr lang="en-GB" sz="2800" dirty="0"/>
                            <a:t>Sum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GB" sz="2800" dirty="0"/>
                            <a:t>500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GB" sz="2800" dirty="0"/>
                            <a:t>20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GB" sz="2800" dirty="0"/>
                            <a:t>7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4242224453"/>
                      </a:ext>
                    </a:extLst>
                  </a:tr>
                </a:tbl>
              </a:graphicData>
            </a:graphic>
          </p:graphicFrame>
        </mc:Fallback>
      </mc:AlternateContent>
    </p:spTree>
    <p:extLst>
      <p:ext uri="{BB962C8B-B14F-4D97-AF65-F5344CB8AC3E}">
        <p14:creationId xmlns:p14="http://schemas.microsoft.com/office/powerpoint/2010/main" val="97606868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77D9FCC-BBEB-252D-BF63-1D613C54E7E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Positional notation: Base 2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6F0CFA6-DF60-308B-F7CC-D405497D571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10515600" cy="800211"/>
          </a:xfrm>
        </p:spPr>
        <p:txBody>
          <a:bodyPr/>
          <a:lstStyle/>
          <a:p>
            <a:pPr marL="0" indent="0" algn="ctr">
              <a:buNone/>
            </a:pPr>
            <a:r>
              <a:rPr lang="en-GB" dirty="0"/>
              <a:t>1101 0110</a:t>
            </a:r>
            <a:r>
              <a:rPr lang="en-GB" baseline="-25000" dirty="0"/>
              <a:t>2</a:t>
            </a:r>
            <a:r>
              <a:rPr lang="en-GB" dirty="0"/>
              <a:t> = 214</a:t>
            </a:r>
            <a:r>
              <a:rPr lang="en-GB" baseline="-25000" dirty="0"/>
              <a:t>10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5" name="Content Placeholder 3">
                <a:extLst>
                  <a:ext uri="{FF2B5EF4-FFF2-40B4-BE49-F238E27FC236}">
                    <a16:creationId xmlns:a16="http://schemas.microsoft.com/office/drawing/2014/main" id="{1920476C-5FB0-DD80-C99C-D7C574DC3751}"/>
                  </a:ext>
                </a:extLst>
              </p:cNvPr>
              <p:cNvGraphicFramePr>
                <a:graphicFrameLocks/>
              </p:cNvGraphicFramePr>
              <p:nvPr>
                <p:extLst>
                  <p:ext uri="{D42A27DB-BD31-4B8C-83A1-F6EECF244321}">
                    <p14:modId xmlns:p14="http://schemas.microsoft.com/office/powerpoint/2010/main" val="2967191802"/>
                  </p:ext>
                </p:extLst>
              </p:nvPr>
            </p:nvGraphicFramePr>
            <p:xfrm>
              <a:off x="838200" y="2625836"/>
              <a:ext cx="10515600" cy="1584960"/>
            </p:xfrm>
            <a:graphic>
              <a:graphicData uri="http://schemas.openxmlformats.org/drawingml/2006/table">
                <a:tbl>
                  <a:tblPr firstRow="1" bandRow="1">
                    <a:tableStyleId>{7E9639D4-E3E2-4D34-9284-5A2195B3D0D7}</a:tableStyleId>
                  </a:tblPr>
                  <a:tblGrid>
                    <a:gridCol w="1168400">
                      <a:extLst>
                        <a:ext uri="{9D8B030D-6E8A-4147-A177-3AD203B41FA5}">
                          <a16:colId xmlns:a16="http://schemas.microsoft.com/office/drawing/2014/main" val="4267595785"/>
                        </a:ext>
                      </a:extLst>
                    </a:gridCol>
                    <a:gridCol w="1168400">
                      <a:extLst>
                        <a:ext uri="{9D8B030D-6E8A-4147-A177-3AD203B41FA5}">
                          <a16:colId xmlns:a16="http://schemas.microsoft.com/office/drawing/2014/main" val="1627777576"/>
                        </a:ext>
                      </a:extLst>
                    </a:gridCol>
                    <a:gridCol w="1168400">
                      <a:extLst>
                        <a:ext uri="{9D8B030D-6E8A-4147-A177-3AD203B41FA5}">
                          <a16:colId xmlns:a16="http://schemas.microsoft.com/office/drawing/2014/main" val="1804863025"/>
                        </a:ext>
                      </a:extLst>
                    </a:gridCol>
                    <a:gridCol w="1168400">
                      <a:extLst>
                        <a:ext uri="{9D8B030D-6E8A-4147-A177-3AD203B41FA5}">
                          <a16:colId xmlns:a16="http://schemas.microsoft.com/office/drawing/2014/main" val="3424093730"/>
                        </a:ext>
                      </a:extLst>
                    </a:gridCol>
                    <a:gridCol w="1168400">
                      <a:extLst>
                        <a:ext uri="{9D8B030D-6E8A-4147-A177-3AD203B41FA5}">
                          <a16:colId xmlns:a16="http://schemas.microsoft.com/office/drawing/2014/main" val="3272328225"/>
                        </a:ext>
                      </a:extLst>
                    </a:gridCol>
                    <a:gridCol w="1168400">
                      <a:extLst>
                        <a:ext uri="{9D8B030D-6E8A-4147-A177-3AD203B41FA5}">
                          <a16:colId xmlns:a16="http://schemas.microsoft.com/office/drawing/2014/main" val="1825775861"/>
                        </a:ext>
                      </a:extLst>
                    </a:gridCol>
                    <a:gridCol w="1168400">
                      <a:extLst>
                        <a:ext uri="{9D8B030D-6E8A-4147-A177-3AD203B41FA5}">
                          <a16:colId xmlns:a16="http://schemas.microsoft.com/office/drawing/2014/main" val="1801333668"/>
                        </a:ext>
                      </a:extLst>
                    </a:gridCol>
                    <a:gridCol w="1168400">
                      <a:extLst>
                        <a:ext uri="{9D8B030D-6E8A-4147-A177-3AD203B41FA5}">
                          <a16:colId xmlns:a16="http://schemas.microsoft.com/office/drawing/2014/main" val="385241836"/>
                        </a:ext>
                      </a:extLst>
                    </a:gridCol>
                    <a:gridCol w="1168400">
                      <a:extLst>
                        <a:ext uri="{9D8B030D-6E8A-4147-A177-3AD203B41FA5}">
                          <a16:colId xmlns:a16="http://schemas.microsoft.com/office/drawing/2014/main" val="1279407291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r>
                            <a:rPr lang="en-GB" sz="2000" dirty="0"/>
                            <a:t>Place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GB" sz="2000" baseline="0" dirty="0"/>
                            <a:t>2</a:t>
                          </a:r>
                          <a:r>
                            <a:rPr lang="en-GB" sz="2000" baseline="30000" dirty="0"/>
                            <a:t>7</a:t>
                          </a:r>
                          <a:endParaRPr lang="en-GB" sz="2000" baseline="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GB" sz="2000" baseline="0" dirty="0"/>
                            <a:t>2</a:t>
                          </a:r>
                          <a:r>
                            <a:rPr lang="en-GB" sz="2000" baseline="30000" dirty="0"/>
                            <a:t>6</a:t>
                          </a:r>
                          <a:endParaRPr lang="en-GB" sz="2000" baseline="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GB" sz="2000" baseline="0" dirty="0"/>
                            <a:t>2</a:t>
                          </a:r>
                          <a:r>
                            <a:rPr lang="en-GB" sz="2000" baseline="30000" dirty="0"/>
                            <a:t>5</a:t>
                          </a:r>
                          <a:endParaRPr lang="en-GB" sz="2000" baseline="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GB" sz="2000" baseline="0" dirty="0"/>
                            <a:t>2</a:t>
                          </a:r>
                          <a:r>
                            <a:rPr lang="en-GB" sz="2000" baseline="30000" dirty="0"/>
                            <a:t>4</a:t>
                          </a:r>
                          <a:endParaRPr lang="en-GB" sz="2000" baseline="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GB" sz="2000" baseline="0" dirty="0"/>
                            <a:t>2</a:t>
                          </a:r>
                          <a:r>
                            <a:rPr lang="en-GB" sz="2000" baseline="30000" dirty="0"/>
                            <a:t>3</a:t>
                          </a:r>
                          <a:endParaRPr lang="en-GB" sz="2000" baseline="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GB" sz="2000" dirty="0"/>
                            <a:t>2</a:t>
                          </a:r>
                          <a:r>
                            <a:rPr lang="en-GB" sz="2000" baseline="30000" dirty="0"/>
                            <a:t>2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GB" sz="2000" dirty="0"/>
                            <a:t>2</a:t>
                          </a:r>
                          <a:r>
                            <a:rPr lang="en-GB" sz="2000" baseline="30000" dirty="0"/>
                            <a:t>1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GB" sz="2000" dirty="0"/>
                            <a:t>2</a:t>
                          </a:r>
                          <a:r>
                            <a:rPr lang="en-GB" sz="2000" baseline="30000" dirty="0"/>
                            <a:t>0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580216486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GB" sz="2000" dirty="0"/>
                            <a:t>Value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GB" sz="2000" dirty="0"/>
                            <a:t>128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GB" sz="2000" dirty="0"/>
                            <a:t>64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GB" sz="2000" dirty="0"/>
                            <a:t>32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GB" sz="2000" dirty="0"/>
                            <a:t>16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GB" sz="2000" dirty="0"/>
                            <a:t>8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GB" sz="2000" dirty="0"/>
                            <a:t>4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GB" sz="2000" dirty="0"/>
                            <a:t>2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GB" sz="2000" dirty="0"/>
                            <a:t>1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543744514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GB" sz="2000" dirty="0"/>
                            <a:t>Evaluate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GB" sz="2000" dirty="0"/>
                            <a:t>1 </a:t>
                          </a:r>
                          <a14:m>
                            <m:oMath xmlns:m="http://schemas.openxmlformats.org/officeDocument/2006/math">
                              <m:r>
                                <a:rPr lang="en-GB" sz="2000" i="1" dirty="0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×</m:t>
                              </m:r>
                            </m:oMath>
                          </a14:m>
                          <a:r>
                            <a:rPr lang="en-GB" sz="2000" dirty="0"/>
                            <a:t> 128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GB" sz="2000" dirty="0"/>
                            <a:t>1 </a:t>
                          </a:r>
                          <a14:m>
                            <m:oMath xmlns:m="http://schemas.openxmlformats.org/officeDocument/2006/math">
                              <m:r>
                                <a:rPr lang="en-GB" sz="2000" i="1" dirty="0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×</m:t>
                              </m:r>
                            </m:oMath>
                          </a14:m>
                          <a:r>
                            <a:rPr lang="en-GB" sz="2000" dirty="0"/>
                            <a:t> 64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GB" sz="2000" dirty="0"/>
                            <a:t>0 </a:t>
                          </a:r>
                          <a14:m>
                            <m:oMath xmlns:m="http://schemas.openxmlformats.org/officeDocument/2006/math">
                              <m:r>
                                <a:rPr lang="en-GB" sz="2000" i="1" dirty="0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×</m:t>
                              </m:r>
                            </m:oMath>
                          </a14:m>
                          <a:r>
                            <a:rPr lang="en-GB" sz="2000" dirty="0"/>
                            <a:t> 32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GB" sz="2000" dirty="0"/>
                            <a:t>1 </a:t>
                          </a:r>
                          <a14:m>
                            <m:oMath xmlns:m="http://schemas.openxmlformats.org/officeDocument/2006/math">
                              <m:r>
                                <a:rPr lang="en-GB" sz="2000" i="1" dirty="0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×</m:t>
                              </m:r>
                            </m:oMath>
                          </a14:m>
                          <a:r>
                            <a:rPr lang="en-GB" sz="2000" dirty="0"/>
                            <a:t> 16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GB" sz="2000" dirty="0"/>
                            <a:t>0 </a:t>
                          </a:r>
                          <a14:m>
                            <m:oMath xmlns:m="http://schemas.openxmlformats.org/officeDocument/2006/math">
                              <m:r>
                                <a:rPr lang="en-GB" sz="2000" i="1" dirty="0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×</m:t>
                              </m:r>
                            </m:oMath>
                          </a14:m>
                          <a:r>
                            <a:rPr lang="en-GB" sz="2000" dirty="0"/>
                            <a:t> 8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GB" sz="2000" dirty="0"/>
                            <a:t>1 </a:t>
                          </a:r>
                          <a14:m>
                            <m:oMath xmlns:m="http://schemas.openxmlformats.org/officeDocument/2006/math">
                              <m:r>
                                <a:rPr lang="en-GB" sz="2000" i="1" dirty="0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×</m:t>
                              </m:r>
                            </m:oMath>
                          </a14:m>
                          <a:r>
                            <a:rPr lang="en-GB" sz="2000" dirty="0"/>
                            <a:t> 4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GB" sz="2000" dirty="0"/>
                            <a:t>1 </a:t>
                          </a:r>
                          <a14:m>
                            <m:oMath xmlns:m="http://schemas.openxmlformats.org/officeDocument/2006/math">
                              <m:r>
                                <a:rPr lang="en-GB" sz="2000" i="1" dirty="0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×</m:t>
                              </m:r>
                            </m:oMath>
                          </a14:m>
                          <a:r>
                            <a:rPr lang="en-GB" sz="2000" dirty="0"/>
                            <a:t> 2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GB" sz="2000" dirty="0"/>
                            <a:t>0 </a:t>
                          </a:r>
                          <a14:m>
                            <m:oMath xmlns:m="http://schemas.openxmlformats.org/officeDocument/2006/math">
                              <m:r>
                                <a:rPr lang="en-GB" sz="2000" i="1" dirty="0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×</m:t>
                              </m:r>
                            </m:oMath>
                          </a14:m>
                          <a:r>
                            <a:rPr lang="en-GB" sz="2000" dirty="0"/>
                            <a:t> 1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624838832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GB" sz="2000" dirty="0"/>
                            <a:t>Sum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GB" sz="2000" dirty="0"/>
                            <a:t>128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GB" sz="2000" dirty="0"/>
                            <a:t>64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GB" sz="2000" dirty="0"/>
                            <a:t>0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GB" sz="2000" dirty="0"/>
                            <a:t>16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GB" sz="2000" dirty="0"/>
                            <a:t>0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GB" sz="2000" dirty="0"/>
                            <a:t>4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GB" sz="2000" dirty="0"/>
                            <a:t>2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GB" sz="2000" dirty="0"/>
                            <a:t>0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4242224453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5" name="Content Placeholder 3">
                <a:extLst>
                  <a:ext uri="{FF2B5EF4-FFF2-40B4-BE49-F238E27FC236}">
                    <a16:creationId xmlns:a16="http://schemas.microsoft.com/office/drawing/2014/main" id="{1920476C-5FB0-DD80-C99C-D7C574DC3751}"/>
                  </a:ext>
                </a:extLst>
              </p:cNvPr>
              <p:cNvGraphicFramePr>
                <a:graphicFrameLocks/>
              </p:cNvGraphicFramePr>
              <p:nvPr>
                <p:extLst>
                  <p:ext uri="{D42A27DB-BD31-4B8C-83A1-F6EECF244321}">
                    <p14:modId xmlns:p14="http://schemas.microsoft.com/office/powerpoint/2010/main" val="2967191802"/>
                  </p:ext>
                </p:extLst>
              </p:nvPr>
            </p:nvGraphicFramePr>
            <p:xfrm>
              <a:off x="838200" y="2625836"/>
              <a:ext cx="10515600" cy="1584960"/>
            </p:xfrm>
            <a:graphic>
              <a:graphicData uri="http://schemas.openxmlformats.org/drawingml/2006/table">
                <a:tbl>
                  <a:tblPr firstRow="1" bandRow="1">
                    <a:tableStyleId>{7E9639D4-E3E2-4D34-9284-5A2195B3D0D7}</a:tableStyleId>
                  </a:tblPr>
                  <a:tblGrid>
                    <a:gridCol w="1168400">
                      <a:extLst>
                        <a:ext uri="{9D8B030D-6E8A-4147-A177-3AD203B41FA5}">
                          <a16:colId xmlns:a16="http://schemas.microsoft.com/office/drawing/2014/main" val="4267595785"/>
                        </a:ext>
                      </a:extLst>
                    </a:gridCol>
                    <a:gridCol w="1168400">
                      <a:extLst>
                        <a:ext uri="{9D8B030D-6E8A-4147-A177-3AD203B41FA5}">
                          <a16:colId xmlns:a16="http://schemas.microsoft.com/office/drawing/2014/main" val="1627777576"/>
                        </a:ext>
                      </a:extLst>
                    </a:gridCol>
                    <a:gridCol w="1168400">
                      <a:extLst>
                        <a:ext uri="{9D8B030D-6E8A-4147-A177-3AD203B41FA5}">
                          <a16:colId xmlns:a16="http://schemas.microsoft.com/office/drawing/2014/main" val="1804863025"/>
                        </a:ext>
                      </a:extLst>
                    </a:gridCol>
                    <a:gridCol w="1168400">
                      <a:extLst>
                        <a:ext uri="{9D8B030D-6E8A-4147-A177-3AD203B41FA5}">
                          <a16:colId xmlns:a16="http://schemas.microsoft.com/office/drawing/2014/main" val="3424093730"/>
                        </a:ext>
                      </a:extLst>
                    </a:gridCol>
                    <a:gridCol w="1168400">
                      <a:extLst>
                        <a:ext uri="{9D8B030D-6E8A-4147-A177-3AD203B41FA5}">
                          <a16:colId xmlns:a16="http://schemas.microsoft.com/office/drawing/2014/main" val="3272328225"/>
                        </a:ext>
                      </a:extLst>
                    </a:gridCol>
                    <a:gridCol w="1168400">
                      <a:extLst>
                        <a:ext uri="{9D8B030D-6E8A-4147-A177-3AD203B41FA5}">
                          <a16:colId xmlns:a16="http://schemas.microsoft.com/office/drawing/2014/main" val="1825775861"/>
                        </a:ext>
                      </a:extLst>
                    </a:gridCol>
                    <a:gridCol w="1168400">
                      <a:extLst>
                        <a:ext uri="{9D8B030D-6E8A-4147-A177-3AD203B41FA5}">
                          <a16:colId xmlns:a16="http://schemas.microsoft.com/office/drawing/2014/main" val="1801333668"/>
                        </a:ext>
                      </a:extLst>
                    </a:gridCol>
                    <a:gridCol w="1168400">
                      <a:extLst>
                        <a:ext uri="{9D8B030D-6E8A-4147-A177-3AD203B41FA5}">
                          <a16:colId xmlns:a16="http://schemas.microsoft.com/office/drawing/2014/main" val="385241836"/>
                        </a:ext>
                      </a:extLst>
                    </a:gridCol>
                    <a:gridCol w="1168400">
                      <a:extLst>
                        <a:ext uri="{9D8B030D-6E8A-4147-A177-3AD203B41FA5}">
                          <a16:colId xmlns:a16="http://schemas.microsoft.com/office/drawing/2014/main" val="1279407291"/>
                        </a:ext>
                      </a:extLst>
                    </a:gridCol>
                  </a:tblGrid>
                  <a:tr h="396240">
                    <a:tc>
                      <a:txBody>
                        <a:bodyPr/>
                        <a:lstStyle/>
                        <a:p>
                          <a:r>
                            <a:rPr lang="en-GB" sz="2000" dirty="0"/>
                            <a:t>Place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GB" sz="2000" baseline="0" dirty="0"/>
                            <a:t>2</a:t>
                          </a:r>
                          <a:r>
                            <a:rPr lang="en-GB" sz="2000" baseline="30000" dirty="0"/>
                            <a:t>7</a:t>
                          </a:r>
                          <a:endParaRPr lang="en-GB" sz="2000" baseline="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GB" sz="2000" baseline="0" dirty="0"/>
                            <a:t>2</a:t>
                          </a:r>
                          <a:r>
                            <a:rPr lang="en-GB" sz="2000" baseline="30000" dirty="0"/>
                            <a:t>6</a:t>
                          </a:r>
                          <a:endParaRPr lang="en-GB" sz="2000" baseline="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GB" sz="2000" baseline="0" dirty="0"/>
                            <a:t>2</a:t>
                          </a:r>
                          <a:r>
                            <a:rPr lang="en-GB" sz="2000" baseline="30000" dirty="0"/>
                            <a:t>5</a:t>
                          </a:r>
                          <a:endParaRPr lang="en-GB" sz="2000" baseline="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GB" sz="2000" baseline="0" dirty="0"/>
                            <a:t>2</a:t>
                          </a:r>
                          <a:r>
                            <a:rPr lang="en-GB" sz="2000" baseline="30000" dirty="0"/>
                            <a:t>4</a:t>
                          </a:r>
                          <a:endParaRPr lang="en-GB" sz="2000" baseline="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GB" sz="2000" baseline="0" dirty="0"/>
                            <a:t>2</a:t>
                          </a:r>
                          <a:r>
                            <a:rPr lang="en-GB" sz="2000" baseline="30000" dirty="0"/>
                            <a:t>3</a:t>
                          </a:r>
                          <a:endParaRPr lang="en-GB" sz="2000" baseline="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GB" sz="2000" dirty="0"/>
                            <a:t>2</a:t>
                          </a:r>
                          <a:r>
                            <a:rPr lang="en-GB" sz="2000" baseline="30000" dirty="0"/>
                            <a:t>2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GB" sz="2000" dirty="0"/>
                            <a:t>2</a:t>
                          </a:r>
                          <a:r>
                            <a:rPr lang="en-GB" sz="2000" baseline="30000" dirty="0"/>
                            <a:t>1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GB" sz="2000" dirty="0"/>
                            <a:t>2</a:t>
                          </a:r>
                          <a:r>
                            <a:rPr lang="en-GB" sz="2000" baseline="30000" dirty="0"/>
                            <a:t>0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580216486"/>
                      </a:ext>
                    </a:extLst>
                  </a:tr>
                  <a:tr h="396240">
                    <a:tc>
                      <a:txBody>
                        <a:bodyPr/>
                        <a:lstStyle/>
                        <a:p>
                          <a:r>
                            <a:rPr lang="en-GB" sz="2000" dirty="0"/>
                            <a:t>Value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GB" sz="2000" dirty="0"/>
                            <a:t>128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GB" sz="2000" dirty="0"/>
                            <a:t>64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GB" sz="2000" dirty="0"/>
                            <a:t>32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GB" sz="2000" dirty="0"/>
                            <a:t>16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GB" sz="2000" dirty="0"/>
                            <a:t>8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GB" sz="2000" dirty="0"/>
                            <a:t>4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GB" sz="2000" dirty="0"/>
                            <a:t>2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GB" sz="2000" dirty="0"/>
                            <a:t>1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543744514"/>
                      </a:ext>
                    </a:extLst>
                  </a:tr>
                  <a:tr h="396240">
                    <a:tc>
                      <a:txBody>
                        <a:bodyPr/>
                        <a:lstStyle/>
                        <a:p>
                          <a:r>
                            <a:rPr lang="en-GB" sz="2000" dirty="0"/>
                            <a:t>Evaluate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100521" t="-209231" r="-699479" b="-127692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201571" t="-209231" r="-603141" b="-127692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300000" t="-209231" r="-500000" b="-127692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400000" t="-209231" r="-400000" b="-127692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500000" t="-209231" r="-300000" b="-127692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603141" t="-209231" r="-201571" b="-127692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699479" t="-209231" r="-100521" b="-127692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799479" t="-209231" r="-521" b="-127692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624838832"/>
                      </a:ext>
                    </a:extLst>
                  </a:tr>
                  <a:tr h="396240">
                    <a:tc>
                      <a:txBody>
                        <a:bodyPr/>
                        <a:lstStyle/>
                        <a:p>
                          <a:r>
                            <a:rPr lang="en-GB" sz="2000" dirty="0"/>
                            <a:t>Sum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GB" sz="2000" dirty="0"/>
                            <a:t>128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GB" sz="2000" dirty="0"/>
                            <a:t>64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GB" sz="2000" dirty="0"/>
                            <a:t>0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GB" sz="2000" dirty="0"/>
                            <a:t>16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GB" sz="2000" dirty="0"/>
                            <a:t>0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GB" sz="2000" dirty="0"/>
                            <a:t>4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GB" sz="2000" dirty="0"/>
                            <a:t>2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GB" sz="2000" dirty="0"/>
                            <a:t>0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4242224453"/>
                      </a:ext>
                    </a:extLst>
                  </a:tr>
                </a:tbl>
              </a:graphicData>
            </a:graphic>
          </p:graphicFrame>
        </mc:Fallback>
      </mc:AlternateContent>
    </p:spTree>
    <p:extLst>
      <p:ext uri="{BB962C8B-B14F-4D97-AF65-F5344CB8AC3E}">
        <p14:creationId xmlns:p14="http://schemas.microsoft.com/office/powerpoint/2010/main" val="62247622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77D9FCC-BBEB-252D-BF63-1D613C54E7E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Positional notation: Base B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6F0CFA6-DF60-308B-F7CC-D405497D5714}"/>
                  </a:ext>
                </a:extLst>
              </p:cNvPr>
              <p:cNvSpPr>
                <a:spLocks noGrp="1"/>
              </p:cNvSpPr>
              <p:nvPr>
                <p:ph sz="half" idx="1"/>
              </p:nvPr>
            </p:nvSpPr>
            <p:spPr>
              <a:xfrm>
                <a:off x="838200" y="1825625"/>
                <a:ext cx="10515600" cy="4667250"/>
              </a:xfrm>
            </p:spPr>
            <p:txBody>
              <a:bodyPr>
                <a:normAutofit/>
              </a:bodyPr>
              <a:lstStyle/>
              <a:p>
                <a:pPr marL="0" indent="0" algn="ctr">
                  <a:lnSpc>
                    <a:spcPct val="100000"/>
                  </a:lnSpc>
                  <a:spcAft>
                    <a:spcPts val="1000"/>
                  </a:spcAft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GB" b="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sSub>
                            <m:sSubPr>
                              <m:ctrlPr>
                                <a:rPr lang="en-GB" b="0" i="1" dirty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GB" b="0" i="1" dirty="0" smtClean="0">
                                  <a:latin typeface="Cambria Math" panose="02040503050406030204" pitchFamily="18" charset="0"/>
                                </a:rPr>
                                <m:t>𝑑</m:t>
                              </m:r>
                            </m:e>
                            <m:sub>
                              <m:r>
                                <a:rPr lang="en-GB" b="0" i="1" dirty="0" smtClean="0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  <m:sSub>
                            <m:sSubPr>
                              <m:ctrlPr>
                                <a:rPr lang="en-GB" b="0" i="1" dirty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GB" b="0" i="1" dirty="0" smtClean="0">
                                  <a:latin typeface="Cambria Math" panose="02040503050406030204" pitchFamily="18" charset="0"/>
                                </a:rPr>
                                <m:t>𝑑</m:t>
                              </m:r>
                            </m:e>
                            <m:sub>
                              <m:r>
                                <a:rPr lang="en-GB" b="0" i="1" dirty="0" smtClean="0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  <m:r>
                                <a:rPr lang="en-GB" b="0" i="1" dirty="0" smtClean="0">
                                  <a:latin typeface="Cambria Math" panose="02040503050406030204" pitchFamily="18" charset="0"/>
                                </a:rPr>
                                <m:t>−1</m:t>
                              </m:r>
                            </m:sub>
                          </m:sSub>
                          <m:r>
                            <a:rPr lang="en-GB" b="0" i="1" dirty="0" smtClean="0">
                              <a:latin typeface="Cambria Math" panose="02040503050406030204" pitchFamily="18" charset="0"/>
                            </a:rPr>
                            <m:t>…</m:t>
                          </m:r>
                          <m:r>
                            <a:rPr lang="en-GB" b="0" i="1" dirty="0" smtClean="0">
                              <a:latin typeface="Cambria Math" panose="02040503050406030204" pitchFamily="18" charset="0"/>
                            </a:rPr>
                            <m:t>𝑑</m:t>
                          </m:r>
                        </m:e>
                        <m:sub>
                          <m:r>
                            <a:rPr lang="en-GB" b="0" i="1" dirty="0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sSub>
                        <m:sSubPr>
                          <m:ctrlPr>
                            <a:rPr lang="en-GB" b="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b="0" i="1" dirty="0" smtClean="0">
                              <a:latin typeface="Cambria Math" panose="02040503050406030204" pitchFamily="18" charset="0"/>
                            </a:rPr>
                            <m:t>𝑑</m:t>
                          </m:r>
                        </m:e>
                        <m:sub>
                          <m:r>
                            <a:rPr lang="en-GB" b="0" i="1" dirty="0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sSub>
                        <m:sSubPr>
                          <m:ctrlPr>
                            <a:rPr lang="en-GB" b="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b="0" i="1" dirty="0" smtClean="0">
                              <a:latin typeface="Cambria Math" panose="02040503050406030204" pitchFamily="18" charset="0"/>
                            </a:rPr>
                            <m:t>𝑑</m:t>
                          </m:r>
                        </m:e>
                        <m:sub>
                          <m:r>
                            <a:rPr lang="en-GB" b="0" i="1" dirty="0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</m:oMath>
                  </m:oMathPara>
                </a14:m>
                <a:br>
                  <a:rPr lang="en-GB" b="0" i="1" dirty="0">
                    <a:latin typeface="Cambria Math" panose="02040503050406030204" pitchFamily="18" charset="0"/>
                  </a:rPr>
                </a:br>
                <a:endParaRPr lang="en-GB" b="0" i="1" dirty="0">
                  <a:latin typeface="Cambria Math" panose="02040503050406030204" pitchFamily="18" charset="0"/>
                </a:endParaRPr>
              </a:p>
              <a:p>
                <a:pPr marL="0" indent="0">
                  <a:lnSpc>
                    <a:spcPct val="100000"/>
                  </a:lnSpc>
                  <a:spcAft>
                    <a:spcPts val="1000"/>
                  </a:spcAft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GB" b="0" i="1" dirty="0" smtClean="0">
                          <a:latin typeface="Cambria Math" panose="02040503050406030204" pitchFamily="18" charset="0"/>
                        </a:rPr>
                        <m:t>≡</m:t>
                      </m:r>
                      <m:sSub>
                        <m:sSubPr>
                          <m:ctrlPr>
                            <a:rPr lang="en-GB" b="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b="0" i="1" dirty="0" smtClean="0">
                              <a:latin typeface="Cambria Math" panose="02040503050406030204" pitchFamily="18" charset="0"/>
                            </a:rPr>
                            <m:t>𝑑</m:t>
                          </m:r>
                        </m:e>
                        <m:sub>
                          <m:r>
                            <a:rPr lang="en-GB" b="0" i="1" dirty="0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</m:sSub>
                      <m:r>
                        <a:rPr lang="en-GB" b="0" i="1" dirty="0" smtClean="0">
                          <a:latin typeface="Cambria Math" panose="02040503050406030204" pitchFamily="18" charset="0"/>
                        </a:rPr>
                        <m:t>×</m:t>
                      </m:r>
                      <m:sSup>
                        <m:sSupPr>
                          <m:ctrlPr>
                            <a:rPr lang="en-GB" b="0" i="1" dirty="0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GB" b="0" i="1" dirty="0" smtClean="0"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  <m:sup>
                          <m:r>
                            <a:rPr lang="en-GB" b="0" i="1" dirty="0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sup>
                      </m:sSup>
                      <m:r>
                        <a:rPr lang="en-GB" b="0" i="1" dirty="0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GB" b="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b="0" i="1" dirty="0" smtClean="0">
                              <a:latin typeface="Cambria Math" panose="02040503050406030204" pitchFamily="18" charset="0"/>
                            </a:rPr>
                            <m:t>𝑑</m:t>
                          </m:r>
                        </m:e>
                        <m:sub>
                          <m:r>
                            <a:rPr lang="en-GB" b="0" i="1" dirty="0" smtClean="0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en-GB" b="0" i="1" dirty="0" smtClean="0">
                              <a:latin typeface="Cambria Math" panose="02040503050406030204" pitchFamily="18" charset="0"/>
                            </a:rPr>
                            <m:t>−1</m:t>
                          </m:r>
                        </m:sub>
                      </m:sSub>
                      <m:r>
                        <a:rPr lang="en-GB" b="0" i="1" dirty="0" smtClean="0">
                          <a:latin typeface="Cambria Math" panose="02040503050406030204" pitchFamily="18" charset="0"/>
                        </a:rPr>
                        <m:t>×</m:t>
                      </m:r>
                      <m:sSup>
                        <m:sSupPr>
                          <m:ctrlPr>
                            <a:rPr lang="en-GB" b="0" i="1" dirty="0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GB" b="0" i="1" dirty="0" smtClean="0"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  <m:sup>
                          <m:r>
                            <a:rPr lang="en-GB" b="0" i="1" dirty="0" smtClean="0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en-GB" b="0" i="1" dirty="0" smtClean="0">
                              <a:latin typeface="Cambria Math" panose="02040503050406030204" pitchFamily="18" charset="0"/>
                            </a:rPr>
                            <m:t>−1</m:t>
                          </m:r>
                        </m:sup>
                      </m:sSup>
                      <m:r>
                        <a:rPr lang="en-GB" b="0" i="1" dirty="0" smtClean="0">
                          <a:latin typeface="Cambria Math" panose="02040503050406030204" pitchFamily="18" charset="0"/>
                        </a:rPr>
                        <m:t>+…+</m:t>
                      </m:r>
                      <m:sSub>
                        <m:sSubPr>
                          <m:ctrlPr>
                            <a:rPr lang="en-GB" b="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b="0" i="1" dirty="0" smtClean="0">
                              <a:latin typeface="Cambria Math" panose="02040503050406030204" pitchFamily="18" charset="0"/>
                            </a:rPr>
                            <m:t>𝑑</m:t>
                          </m:r>
                        </m:e>
                        <m:sub>
                          <m:r>
                            <a:rPr lang="en-GB" b="0" i="1" dirty="0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GB" b="0" i="1" dirty="0" smtClean="0">
                          <a:latin typeface="Cambria Math" panose="02040503050406030204" pitchFamily="18" charset="0"/>
                        </a:rPr>
                        <m:t>×</m:t>
                      </m:r>
                      <m:sSup>
                        <m:sSupPr>
                          <m:ctrlPr>
                            <a:rPr lang="en-GB" b="0" i="1" dirty="0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GB" b="0" i="1" dirty="0" smtClean="0"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  <m:sup>
                          <m:r>
                            <a:rPr lang="en-GB" b="0" i="1" dirty="0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GB" b="0" i="1" dirty="0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GB" b="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b="0" i="1" dirty="0" smtClean="0">
                              <a:latin typeface="Cambria Math" panose="02040503050406030204" pitchFamily="18" charset="0"/>
                            </a:rPr>
                            <m:t>𝑑</m:t>
                          </m:r>
                        </m:e>
                        <m:sub>
                          <m:r>
                            <a:rPr lang="en-GB" b="0" i="1" dirty="0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GB" b="0" i="1" dirty="0" smtClean="0">
                          <a:latin typeface="Cambria Math" panose="02040503050406030204" pitchFamily="18" charset="0"/>
                        </a:rPr>
                        <m:t>×</m:t>
                      </m:r>
                      <m:r>
                        <a:rPr lang="en-GB" b="0" i="1" dirty="0" smtClean="0">
                          <a:latin typeface="Cambria Math" panose="02040503050406030204" pitchFamily="18" charset="0"/>
                        </a:rPr>
                        <m:t>𝐵</m:t>
                      </m:r>
                      <m:r>
                        <a:rPr lang="en-GB" b="0" i="1" dirty="0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GB" b="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b="0" i="1" dirty="0" smtClean="0">
                              <a:latin typeface="Cambria Math" panose="02040503050406030204" pitchFamily="18" charset="0"/>
                            </a:rPr>
                            <m:t>𝑑</m:t>
                          </m:r>
                        </m:e>
                        <m:sub>
                          <m:r>
                            <a:rPr lang="en-GB" b="0" i="1" dirty="0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en-GB" b="0" i="1" dirty="0" smtClean="0">
                          <a:latin typeface="Cambria Math" panose="02040503050406030204" pitchFamily="18" charset="0"/>
                        </a:rPr>
                        <m:t>×1</m:t>
                      </m:r>
                    </m:oMath>
                  </m:oMathPara>
                </a14:m>
                <a:br>
                  <a:rPr lang="en-GB" b="0" i="1" dirty="0">
                    <a:latin typeface="Cambria Math" panose="02040503050406030204" pitchFamily="18" charset="0"/>
                  </a:rPr>
                </a:br>
                <a:endParaRPr lang="en-GB" b="0" i="1" dirty="0">
                  <a:latin typeface="Cambria Math" panose="02040503050406030204" pitchFamily="18" charset="0"/>
                </a:endParaRPr>
              </a:p>
              <a:p>
                <a:pPr marL="0" indent="0" algn="ctr">
                  <a:lnSpc>
                    <a:spcPct val="100000"/>
                  </a:lnSpc>
                  <a:spcAft>
                    <a:spcPts val="1000"/>
                  </a:spcAft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GB" b="0" i="1" dirty="0" smtClean="0">
                          <a:latin typeface="Cambria Math" panose="02040503050406030204" pitchFamily="18" charset="0"/>
                        </a:rPr>
                        <m:t>≡</m:t>
                      </m:r>
                      <m:nary>
                        <m:naryPr>
                          <m:chr m:val="∑"/>
                          <m:ctrlPr>
                            <a:rPr lang="en-GB" b="0" i="1" dirty="0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en-GB" b="0" i="1" dirty="0" smtClean="0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GB" b="0" i="1" dirty="0" smtClean="0">
                              <a:latin typeface="Cambria Math" panose="02040503050406030204" pitchFamily="18" charset="0"/>
                            </a:rPr>
                            <m:t>=0</m:t>
                          </m:r>
                        </m:sub>
                        <m:sup>
                          <m:r>
                            <a:rPr lang="en-GB" b="0" i="1" dirty="0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sup>
                        <m:e>
                          <m:sSub>
                            <m:sSubPr>
                              <m:ctrlPr>
                                <a:rPr lang="en-GB" b="0" i="1" dirty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GB" b="0" i="1" dirty="0" smtClean="0">
                                  <a:latin typeface="Cambria Math" panose="02040503050406030204" pitchFamily="18" charset="0"/>
                                </a:rPr>
                                <m:t>𝑑</m:t>
                              </m:r>
                            </m:e>
                            <m:sub>
                              <m:r>
                                <a:rPr lang="en-GB" b="0" i="1" dirty="0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en-GB" b="0" i="1" dirty="0" smtClean="0">
                              <a:latin typeface="Cambria Math" panose="02040503050406030204" pitchFamily="18" charset="0"/>
                            </a:rPr>
                            <m:t>×</m:t>
                          </m:r>
                          <m:sSup>
                            <m:sSupPr>
                              <m:ctrlPr>
                                <a:rPr lang="en-GB" b="0" i="1" dirty="0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GB" b="0" i="1" dirty="0" smtClean="0"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e>
                            <m:sup>
                              <m:r>
                                <a:rPr lang="en-GB" b="0" i="1" dirty="0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p>
                          </m:sSup>
                        </m:e>
                      </m:nary>
                    </m:oMath>
                  </m:oMathPara>
                </a14:m>
                <a:endParaRPr lang="en-GB" baseline="-25000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6F0CFA6-DF60-308B-F7CC-D405497D571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1"/>
              </p:nvPr>
            </p:nvSpPr>
            <p:spPr>
              <a:xfrm>
                <a:off x="838200" y="1825625"/>
                <a:ext cx="10515600" cy="4667250"/>
              </a:xfr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43425648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A67556-E52D-D636-CC3B-AFFF7755178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Range of possible numbers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Content Placeholder 4">
                <a:extLst>
                  <a:ext uri="{FF2B5EF4-FFF2-40B4-BE49-F238E27FC236}">
                    <a16:creationId xmlns:a16="http://schemas.microsoft.com/office/drawing/2014/main" id="{F7C71C0C-6994-74A4-C806-9E6556D6D7DA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marL="0" indent="0" algn="ctr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i="1" dirty="0" smtClean="0">
                          <a:latin typeface="Cambria Math" panose="02040503050406030204" pitchFamily="18" charset="0"/>
                        </a:rPr>
                        <m:t>𝑅</m:t>
                      </m:r>
                      <m:r>
                        <a:rPr lang="en-GB" i="1" dirty="0" smtClean="0"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en-GB" b="0" i="1" dirty="0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GB" i="1" dirty="0" smtClean="0"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  <m:sup>
                          <m:r>
                            <a:rPr lang="en-GB" i="1" dirty="0" smtClean="0">
                              <a:latin typeface="Cambria Math" panose="02040503050406030204" pitchFamily="18" charset="0"/>
                            </a:rPr>
                            <m:t>𝐾</m:t>
                          </m:r>
                        </m:sup>
                      </m:sSup>
                    </m:oMath>
                  </m:oMathPara>
                </a14:m>
                <a:endParaRPr lang="en-GB" i="1" baseline="30000" dirty="0"/>
              </a:p>
              <a:p>
                <a:pPr marL="0" indent="0">
                  <a:buNone/>
                </a:pPr>
                <a:r>
                  <a:rPr lang="en-GB" dirty="0"/>
                  <a:t>where </a:t>
                </a:r>
                <a14:m>
                  <m:oMath xmlns:m="http://schemas.openxmlformats.org/officeDocument/2006/math">
                    <m:r>
                      <a:rPr lang="en-GB" i="1" dirty="0" smtClean="0">
                        <a:latin typeface="Cambria Math" panose="02040503050406030204" pitchFamily="18" charset="0"/>
                      </a:rPr>
                      <m:t>𝑅</m:t>
                    </m:r>
                  </m:oMath>
                </a14:m>
                <a:r>
                  <a:rPr lang="en-GB" dirty="0"/>
                  <a:t> = range, </a:t>
                </a:r>
                <a14:m>
                  <m:oMath xmlns:m="http://schemas.openxmlformats.org/officeDocument/2006/math">
                    <m:r>
                      <a:rPr lang="en-GB" i="1" dirty="0" smtClean="0">
                        <a:latin typeface="Cambria Math" panose="02040503050406030204" pitchFamily="18" charset="0"/>
                      </a:rPr>
                      <m:t>𝐵</m:t>
                    </m:r>
                  </m:oMath>
                </a14:m>
                <a:r>
                  <a:rPr lang="en-GB" dirty="0"/>
                  <a:t> = base, </a:t>
                </a:r>
                <a14:m>
                  <m:oMath xmlns:m="http://schemas.openxmlformats.org/officeDocument/2006/math">
                    <m:r>
                      <a:rPr lang="en-GB" i="1" dirty="0" smtClean="0">
                        <a:latin typeface="Cambria Math" panose="02040503050406030204" pitchFamily="18" charset="0"/>
                      </a:rPr>
                      <m:t>𝐾</m:t>
                    </m:r>
                  </m:oMath>
                </a14:m>
                <a:r>
                  <a:rPr lang="en-GB" dirty="0"/>
                  <a:t> = number of digits.</a:t>
                </a:r>
              </a:p>
              <a:p>
                <a:r>
                  <a:rPr lang="en-GB" dirty="0"/>
                  <a:t>Example</a:t>
                </a:r>
              </a:p>
              <a:p>
                <a:pPr lvl="1"/>
                <a14:m>
                  <m:oMath xmlns:m="http://schemas.openxmlformats.org/officeDocument/2006/math">
                    <m:r>
                      <a:rPr lang="en-GB" i="1" dirty="0" smtClean="0">
                        <a:latin typeface="Cambria Math" panose="02040503050406030204" pitchFamily="18" charset="0"/>
                      </a:rPr>
                      <m:t>𝑅</m:t>
                    </m:r>
                  </m:oMath>
                </a14:m>
                <a:r>
                  <a:rPr lang="en-GB" dirty="0"/>
                  <a:t> = 10</a:t>
                </a:r>
                <a:r>
                  <a:rPr lang="en-GB" baseline="30000" dirty="0"/>
                  <a:t>2</a:t>
                </a:r>
                <a:r>
                  <a:rPr lang="en-GB" dirty="0"/>
                  <a:t> = 100 different numbers (0 . . . 99)</a:t>
                </a:r>
              </a:p>
              <a:p>
                <a:r>
                  <a:rPr lang="en-GB" dirty="0"/>
                  <a:t>Example</a:t>
                </a:r>
              </a:p>
              <a:p>
                <a:pPr lvl="1"/>
                <a14:m>
                  <m:oMath xmlns:m="http://schemas.openxmlformats.org/officeDocument/2006/math">
                    <m:r>
                      <a:rPr lang="en-GB" i="1" dirty="0" smtClean="0">
                        <a:latin typeface="Cambria Math" panose="02040503050406030204" pitchFamily="18" charset="0"/>
                      </a:rPr>
                      <m:t>𝑅</m:t>
                    </m:r>
                  </m:oMath>
                </a14:m>
                <a:r>
                  <a:rPr lang="en-GB" dirty="0"/>
                  <a:t> = 2</a:t>
                </a:r>
                <a:r>
                  <a:rPr lang="en-GB" baseline="30000" dirty="0"/>
                  <a:t>16</a:t>
                </a:r>
                <a:r>
                  <a:rPr lang="en-GB" dirty="0"/>
                  <a:t> = 65 536 or 64K (64 </a:t>
                </a:r>
                <a14:m>
                  <m:oMath xmlns:m="http://schemas.openxmlformats.org/officeDocument/2006/math">
                    <m:r>
                      <a:rPr lang="en-GB" i="1" dirty="0" smtClean="0">
                        <a:latin typeface="Cambria Math" panose="02040503050406030204" pitchFamily="18" charset="0"/>
                      </a:rPr>
                      <m:t>× </m:t>
                    </m:r>
                  </m:oMath>
                </a14:m>
                <a:r>
                  <a:rPr lang="en-GB" dirty="0"/>
                  <a:t>1024)</a:t>
                </a:r>
              </a:p>
              <a:p>
                <a:r>
                  <a:rPr lang="en-GB" dirty="0"/>
                  <a:t>16-bit Program Counter can store 65 536 different numbers.</a:t>
                </a:r>
              </a:p>
            </p:txBody>
          </p:sp>
        </mc:Choice>
        <mc:Fallback xmlns="">
          <p:sp>
            <p:nvSpPr>
              <p:cNvPr id="5" name="Content Placeholder 4">
                <a:extLst>
                  <a:ext uri="{FF2B5EF4-FFF2-40B4-BE49-F238E27FC236}">
                    <a16:creationId xmlns:a16="http://schemas.microsoft.com/office/drawing/2014/main" id="{F7C71C0C-6994-74A4-C806-9E6556D6D7DA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217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60782481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B9C47D4-EC90-FBCA-AC66-2FB69A82515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Bit widths</a:t>
            </a:r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93A734B3-0FE1-E43C-1F73-54E34A0FD4C1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484147931"/>
              </p:ext>
            </p:extLst>
          </p:nvPr>
        </p:nvGraphicFramePr>
        <p:xfrm>
          <a:off x="3363310" y="1951749"/>
          <a:ext cx="5465380" cy="4354456"/>
        </p:xfrm>
        <a:graphic>
          <a:graphicData uri="http://schemas.openxmlformats.org/drawingml/2006/table">
            <a:tbl>
              <a:tblPr firstRow="1" bandRow="1">
                <a:tableStyleId>{7E9639D4-E3E2-4D34-9284-5A2195B3D0D7}</a:tableStyleId>
              </a:tblPr>
              <a:tblGrid>
                <a:gridCol w="2732690">
                  <a:extLst>
                    <a:ext uri="{9D8B030D-6E8A-4147-A177-3AD203B41FA5}">
                      <a16:colId xmlns:a16="http://schemas.microsoft.com/office/drawing/2014/main" val="2652336315"/>
                    </a:ext>
                  </a:extLst>
                </a:gridCol>
                <a:gridCol w="2732690">
                  <a:extLst>
                    <a:ext uri="{9D8B030D-6E8A-4147-A177-3AD203B41FA5}">
                      <a16:colId xmlns:a16="http://schemas.microsoft.com/office/drawing/2014/main" val="495734618"/>
                    </a:ext>
                  </a:extLst>
                </a:gridCol>
              </a:tblGrid>
              <a:tr h="544307">
                <a:tc>
                  <a:txBody>
                    <a:bodyPr/>
                    <a:lstStyle/>
                    <a:p>
                      <a:r>
                        <a:rPr lang="en-GB" sz="2400" dirty="0"/>
                        <a:t>Bits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400" dirty="0"/>
                        <a:t>Width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95654895"/>
                  </a:ext>
                </a:extLst>
              </a:tr>
              <a:tr h="544307">
                <a:tc>
                  <a:txBody>
                    <a:bodyPr/>
                    <a:lstStyle/>
                    <a:p>
                      <a:r>
                        <a:rPr lang="en-GB" sz="24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400" dirty="0"/>
                        <a:t>2 (0 and 1)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73695592"/>
                  </a:ext>
                </a:extLst>
              </a:tr>
              <a:tr h="544307">
                <a:tc>
                  <a:txBody>
                    <a:bodyPr/>
                    <a:lstStyle/>
                    <a:p>
                      <a:r>
                        <a:rPr lang="en-GB" sz="2400" dirty="0"/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400" dirty="0"/>
                        <a:t>16 (0 to 15)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11034139"/>
                  </a:ext>
                </a:extLst>
              </a:tr>
              <a:tr h="544307">
                <a:tc>
                  <a:txBody>
                    <a:bodyPr/>
                    <a:lstStyle/>
                    <a:p>
                      <a:r>
                        <a:rPr lang="en-GB" sz="2400" dirty="0"/>
                        <a:t>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400" dirty="0"/>
                        <a:t>256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6981970"/>
                  </a:ext>
                </a:extLst>
              </a:tr>
              <a:tr h="544307">
                <a:tc>
                  <a:txBody>
                    <a:bodyPr/>
                    <a:lstStyle/>
                    <a:p>
                      <a:r>
                        <a:rPr lang="en-GB" sz="2400" dirty="0"/>
                        <a:t>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400" dirty="0"/>
                        <a:t>1024 (</a:t>
                      </a:r>
                      <a:r>
                        <a:rPr lang="en-GB" sz="2400" dirty="0">
                          <a:solidFill>
                            <a:schemeClr val="accent1"/>
                          </a:solidFill>
                        </a:rPr>
                        <a:t>1K</a:t>
                      </a:r>
                      <a:r>
                        <a:rPr lang="en-GB" sz="2400" dirty="0"/>
                        <a:t>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48770117"/>
                  </a:ext>
                </a:extLst>
              </a:tr>
              <a:tr h="544307">
                <a:tc>
                  <a:txBody>
                    <a:bodyPr/>
                    <a:lstStyle/>
                    <a:p>
                      <a:r>
                        <a:rPr lang="en-GB" sz="2400" dirty="0"/>
                        <a:t>16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400" dirty="0"/>
                        <a:t>65536 (</a:t>
                      </a:r>
                      <a:r>
                        <a:rPr lang="en-GB" sz="2400" dirty="0">
                          <a:solidFill>
                            <a:schemeClr val="accent1"/>
                          </a:solidFill>
                        </a:rPr>
                        <a:t>64K</a:t>
                      </a:r>
                      <a:r>
                        <a:rPr lang="en-GB" sz="2400" dirty="0"/>
                        <a:t>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92188659"/>
                  </a:ext>
                </a:extLst>
              </a:tr>
              <a:tr h="544307">
                <a:tc>
                  <a:txBody>
                    <a:bodyPr/>
                    <a:lstStyle/>
                    <a:p>
                      <a:r>
                        <a:rPr lang="en-GB" sz="2400" dirty="0"/>
                        <a:t>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400" dirty="0"/>
                        <a:t>1 048 576 (</a:t>
                      </a:r>
                      <a:r>
                        <a:rPr lang="en-GB" sz="2400" dirty="0">
                          <a:solidFill>
                            <a:schemeClr val="accent1"/>
                          </a:solidFill>
                        </a:rPr>
                        <a:t>1M</a:t>
                      </a:r>
                      <a:r>
                        <a:rPr lang="en-GB" sz="2400" dirty="0"/>
                        <a:t>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92220449"/>
                  </a:ext>
                </a:extLst>
              </a:tr>
              <a:tr h="544307">
                <a:tc>
                  <a:txBody>
                    <a:bodyPr/>
                    <a:lstStyle/>
                    <a:p>
                      <a:r>
                        <a:rPr lang="en-GB" sz="2400" dirty="0"/>
                        <a:t>32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nn-NO" sz="2400" dirty="0"/>
                        <a:t>4 294 967 296 (</a:t>
                      </a:r>
                      <a:r>
                        <a:rPr lang="nn-NO" sz="2400" dirty="0">
                          <a:solidFill>
                            <a:schemeClr val="accent1"/>
                          </a:solidFill>
                        </a:rPr>
                        <a:t>4G</a:t>
                      </a:r>
                      <a:r>
                        <a:rPr lang="nn-NO" sz="2400" dirty="0"/>
                        <a:t>)</a:t>
                      </a:r>
                      <a:endParaRPr lang="en-GB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3821260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71202780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8DDFF5A-8A0A-5911-68C4-8301CE34368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Counting in base 2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4" name="Content Placeholder 3">
                <a:extLst>
                  <a:ext uri="{FF2B5EF4-FFF2-40B4-BE49-F238E27FC236}">
                    <a16:creationId xmlns:a16="http://schemas.microsoft.com/office/drawing/2014/main" id="{4E272710-DBC3-0F86-4CE7-96C66C92242A}"/>
                  </a:ext>
                </a:extLst>
              </p:cNvPr>
              <p:cNvGraphicFramePr>
                <a:graphicFrameLocks noGrp="1"/>
              </p:cNvGraphicFramePr>
              <p:nvPr>
                <p:ph idx="1"/>
                <p:extLst>
                  <p:ext uri="{D42A27DB-BD31-4B8C-83A1-F6EECF244321}">
                    <p14:modId xmlns:p14="http://schemas.microsoft.com/office/powerpoint/2010/main" val="2988775685"/>
                  </p:ext>
                </p:extLst>
              </p:nvPr>
            </p:nvGraphicFramePr>
            <p:xfrm>
              <a:off x="838200" y="1825625"/>
              <a:ext cx="10515600" cy="3708400"/>
            </p:xfrm>
            <a:graphic>
              <a:graphicData uri="http://schemas.openxmlformats.org/drawingml/2006/table">
                <a:tbl>
                  <a:tblPr firstRow="1" bandRow="1">
                    <a:tableStyleId>{7E9639D4-E3E2-4D34-9284-5A2195B3D0D7}</a:tableStyleId>
                  </a:tblPr>
                  <a:tblGrid>
                    <a:gridCol w="1752600">
                      <a:extLst>
                        <a:ext uri="{9D8B030D-6E8A-4147-A177-3AD203B41FA5}">
                          <a16:colId xmlns:a16="http://schemas.microsoft.com/office/drawing/2014/main" val="3161807752"/>
                        </a:ext>
                      </a:extLst>
                    </a:gridCol>
                    <a:gridCol w="1752600">
                      <a:extLst>
                        <a:ext uri="{9D8B030D-6E8A-4147-A177-3AD203B41FA5}">
                          <a16:colId xmlns:a16="http://schemas.microsoft.com/office/drawing/2014/main" val="1806722248"/>
                        </a:ext>
                      </a:extLst>
                    </a:gridCol>
                    <a:gridCol w="1752600">
                      <a:extLst>
                        <a:ext uri="{9D8B030D-6E8A-4147-A177-3AD203B41FA5}">
                          <a16:colId xmlns:a16="http://schemas.microsoft.com/office/drawing/2014/main" val="642929894"/>
                        </a:ext>
                      </a:extLst>
                    </a:gridCol>
                    <a:gridCol w="1752600">
                      <a:extLst>
                        <a:ext uri="{9D8B030D-6E8A-4147-A177-3AD203B41FA5}">
                          <a16:colId xmlns:a16="http://schemas.microsoft.com/office/drawing/2014/main" val="2691107199"/>
                        </a:ext>
                      </a:extLst>
                    </a:gridCol>
                    <a:gridCol w="1752600">
                      <a:extLst>
                        <a:ext uri="{9D8B030D-6E8A-4147-A177-3AD203B41FA5}">
                          <a16:colId xmlns:a16="http://schemas.microsoft.com/office/drawing/2014/main" val="2557987771"/>
                        </a:ext>
                      </a:extLst>
                    </a:gridCol>
                    <a:gridCol w="1752600">
                      <a:extLst>
                        <a:ext uri="{9D8B030D-6E8A-4147-A177-3AD203B41FA5}">
                          <a16:colId xmlns:a16="http://schemas.microsoft.com/office/drawing/2014/main" val="2949389224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r>
                            <a:rPr lang="en-GB" dirty="0"/>
                            <a:t>Binary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GB" dirty="0"/>
                            <a:t>8’s (2</a:t>
                          </a:r>
                          <a:r>
                            <a:rPr lang="en-GB" baseline="30000" dirty="0"/>
                            <a:t>3</a:t>
                          </a:r>
                          <a:r>
                            <a:rPr lang="en-GB" baseline="0" dirty="0"/>
                            <a:t>)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GB" dirty="0"/>
                            <a:t>4’s (2</a:t>
                          </a:r>
                          <a:r>
                            <a:rPr lang="en-GB" baseline="30000" dirty="0"/>
                            <a:t>2</a:t>
                          </a:r>
                          <a:r>
                            <a:rPr lang="en-GB" baseline="0" dirty="0"/>
                            <a:t>)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GB" dirty="0"/>
                            <a:t>2’s (2</a:t>
                          </a:r>
                          <a:r>
                            <a:rPr lang="en-GB" baseline="30000" dirty="0"/>
                            <a:t>1</a:t>
                          </a:r>
                          <a:r>
                            <a:rPr lang="en-GB" baseline="0" dirty="0"/>
                            <a:t>)</a:t>
                          </a:r>
                          <a:endParaRPr lang="en-GB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GB" dirty="0"/>
                            <a:t>1’s (2</a:t>
                          </a:r>
                          <a:r>
                            <a:rPr lang="en-GB" baseline="30000" dirty="0"/>
                            <a:t>0</a:t>
                          </a:r>
                          <a:r>
                            <a:rPr lang="en-GB" baseline="0" dirty="0"/>
                            <a:t>)</a:t>
                          </a:r>
                          <a:endParaRPr lang="en-GB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GB" dirty="0"/>
                            <a:t>Decimal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458647065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GB" dirty="0"/>
                            <a:t>0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GB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GB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GB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GB" dirty="0"/>
                            <a:t>0 </a:t>
                          </a:r>
                          <a14:m>
                            <m:oMath xmlns:m="http://schemas.openxmlformats.org/officeDocument/2006/math">
                              <m:r>
                                <a:rPr lang="en-GB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×</m:t>
                              </m:r>
                            </m:oMath>
                          </a14:m>
                          <a:r>
                            <a:rPr lang="en-GB" dirty="0"/>
                            <a:t> 2</a:t>
                          </a:r>
                          <a:r>
                            <a:rPr lang="en-GB" baseline="30000" dirty="0"/>
                            <a:t>0</a:t>
                          </a:r>
                          <a:endParaRPr lang="en-GB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GB" dirty="0"/>
                            <a:t>0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686453841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GB" dirty="0"/>
                            <a:t>1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GB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GB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GB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GB" dirty="0"/>
                            <a:t>1 </a:t>
                          </a:r>
                          <a14:m>
                            <m:oMath xmlns:m="http://schemas.openxmlformats.org/officeDocument/2006/math">
                              <m:r>
                                <a:rPr lang="en-GB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×</m:t>
                              </m:r>
                            </m:oMath>
                          </a14:m>
                          <a:r>
                            <a:rPr lang="en-GB" dirty="0"/>
                            <a:t> 2</a:t>
                          </a:r>
                          <a:r>
                            <a:rPr lang="en-GB" baseline="30000" dirty="0"/>
                            <a:t>0</a:t>
                          </a:r>
                          <a:endParaRPr lang="en-GB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GB" dirty="0"/>
                            <a:t>1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147091175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GB" dirty="0"/>
                            <a:t>10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GB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GB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GB" dirty="0"/>
                            <a:t>1 </a:t>
                          </a:r>
                          <a14:m>
                            <m:oMath xmlns:m="http://schemas.openxmlformats.org/officeDocument/2006/math">
                              <m:r>
                                <a:rPr lang="en-GB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×</m:t>
                              </m:r>
                            </m:oMath>
                          </a14:m>
                          <a:r>
                            <a:rPr lang="en-GB" dirty="0"/>
                            <a:t> 2</a:t>
                          </a:r>
                          <a:r>
                            <a:rPr lang="en-GB" baseline="30000" dirty="0"/>
                            <a:t>1</a:t>
                          </a:r>
                          <a:endParaRPr lang="en-GB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GB" dirty="0"/>
                            <a:t>0 </a:t>
                          </a:r>
                          <a14:m>
                            <m:oMath xmlns:m="http://schemas.openxmlformats.org/officeDocument/2006/math">
                              <m:r>
                                <a:rPr lang="en-GB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×</m:t>
                              </m:r>
                            </m:oMath>
                          </a14:m>
                          <a:r>
                            <a:rPr lang="en-GB" dirty="0"/>
                            <a:t> 2</a:t>
                          </a:r>
                          <a:r>
                            <a:rPr lang="en-GB" baseline="30000" dirty="0"/>
                            <a:t>0</a:t>
                          </a:r>
                          <a:endParaRPr lang="en-GB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GB" dirty="0"/>
                            <a:t>2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787205062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GB" dirty="0"/>
                            <a:t>11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GB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GB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GB" dirty="0"/>
                            <a:t>1 </a:t>
                          </a:r>
                          <a14:m>
                            <m:oMath xmlns:m="http://schemas.openxmlformats.org/officeDocument/2006/math">
                              <m:r>
                                <a:rPr lang="en-GB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×</m:t>
                              </m:r>
                            </m:oMath>
                          </a14:m>
                          <a:r>
                            <a:rPr lang="en-GB" dirty="0"/>
                            <a:t> 2</a:t>
                          </a:r>
                          <a:r>
                            <a:rPr lang="en-GB" baseline="30000" dirty="0"/>
                            <a:t>1</a:t>
                          </a:r>
                          <a:endParaRPr lang="en-GB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GB" dirty="0"/>
                            <a:t>1 </a:t>
                          </a:r>
                          <a14:m>
                            <m:oMath xmlns:m="http://schemas.openxmlformats.org/officeDocument/2006/math">
                              <m:r>
                                <a:rPr lang="en-GB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×</m:t>
                              </m:r>
                            </m:oMath>
                          </a14:m>
                          <a:r>
                            <a:rPr lang="en-GB" dirty="0"/>
                            <a:t> 2</a:t>
                          </a:r>
                          <a:r>
                            <a:rPr lang="en-GB" baseline="30000" dirty="0"/>
                            <a:t>0</a:t>
                          </a:r>
                          <a:endParaRPr lang="en-GB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GB" dirty="0"/>
                            <a:t>3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015891064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GB" dirty="0"/>
                            <a:t>100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GB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GB" dirty="0"/>
                            <a:t>1 </a:t>
                          </a:r>
                          <a14:m>
                            <m:oMath xmlns:m="http://schemas.openxmlformats.org/officeDocument/2006/math">
                              <m:r>
                                <a:rPr lang="en-GB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×</m:t>
                              </m:r>
                            </m:oMath>
                          </a14:m>
                          <a:r>
                            <a:rPr lang="en-GB" dirty="0"/>
                            <a:t> 2</a:t>
                          </a:r>
                          <a:r>
                            <a:rPr lang="en-GB" baseline="30000" dirty="0"/>
                            <a:t>2</a:t>
                          </a:r>
                          <a:endParaRPr lang="en-GB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GB" dirty="0"/>
                            <a:t>0 </a:t>
                          </a:r>
                          <a14:m>
                            <m:oMath xmlns:m="http://schemas.openxmlformats.org/officeDocument/2006/math">
                              <m:r>
                                <a:rPr lang="en-GB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×</m:t>
                              </m:r>
                            </m:oMath>
                          </a14:m>
                          <a:r>
                            <a:rPr lang="en-GB" dirty="0"/>
                            <a:t> 2</a:t>
                          </a:r>
                          <a:r>
                            <a:rPr lang="en-GB" baseline="30000" dirty="0"/>
                            <a:t>1</a:t>
                          </a:r>
                          <a:endParaRPr lang="en-GB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GB" dirty="0"/>
                            <a:t>0 </a:t>
                          </a:r>
                          <a14:m>
                            <m:oMath xmlns:m="http://schemas.openxmlformats.org/officeDocument/2006/math">
                              <m:r>
                                <a:rPr lang="en-GB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×</m:t>
                              </m:r>
                            </m:oMath>
                          </a14:m>
                          <a:r>
                            <a:rPr lang="en-GB" dirty="0"/>
                            <a:t> 2</a:t>
                          </a:r>
                          <a:r>
                            <a:rPr lang="en-GB" baseline="30000" dirty="0"/>
                            <a:t>0</a:t>
                          </a:r>
                          <a:endParaRPr lang="en-GB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GB" dirty="0"/>
                            <a:t>4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549734836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GB" dirty="0"/>
                            <a:t>101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GB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GB" dirty="0"/>
                            <a:t>1 </a:t>
                          </a:r>
                          <a14:m>
                            <m:oMath xmlns:m="http://schemas.openxmlformats.org/officeDocument/2006/math">
                              <m:r>
                                <a:rPr lang="en-GB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×</m:t>
                              </m:r>
                            </m:oMath>
                          </a14:m>
                          <a:r>
                            <a:rPr lang="en-GB" dirty="0"/>
                            <a:t> 2</a:t>
                          </a:r>
                          <a:r>
                            <a:rPr lang="en-GB" baseline="30000" dirty="0"/>
                            <a:t>2</a:t>
                          </a:r>
                          <a:endParaRPr lang="en-GB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GB" dirty="0"/>
                            <a:t>0 </a:t>
                          </a:r>
                          <a14:m>
                            <m:oMath xmlns:m="http://schemas.openxmlformats.org/officeDocument/2006/math">
                              <m:r>
                                <a:rPr lang="en-GB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×</m:t>
                              </m:r>
                            </m:oMath>
                          </a14:m>
                          <a:r>
                            <a:rPr lang="en-GB" dirty="0"/>
                            <a:t> 2</a:t>
                          </a:r>
                          <a:r>
                            <a:rPr lang="en-GB" baseline="30000" dirty="0"/>
                            <a:t>1</a:t>
                          </a:r>
                          <a:endParaRPr lang="en-GB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GB" dirty="0"/>
                            <a:t>1 </a:t>
                          </a:r>
                          <a14:m>
                            <m:oMath xmlns:m="http://schemas.openxmlformats.org/officeDocument/2006/math">
                              <m:r>
                                <a:rPr lang="en-GB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×</m:t>
                              </m:r>
                            </m:oMath>
                          </a14:m>
                          <a:r>
                            <a:rPr lang="en-GB" dirty="0"/>
                            <a:t> 2</a:t>
                          </a:r>
                          <a:r>
                            <a:rPr lang="en-GB" baseline="30000" dirty="0"/>
                            <a:t>0</a:t>
                          </a:r>
                          <a:endParaRPr lang="en-GB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GB" dirty="0"/>
                            <a:t>5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620198950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GB" dirty="0"/>
                            <a:t>110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GB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GB" dirty="0"/>
                            <a:t>1 </a:t>
                          </a:r>
                          <a14:m>
                            <m:oMath xmlns:m="http://schemas.openxmlformats.org/officeDocument/2006/math">
                              <m:r>
                                <a:rPr lang="en-GB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×</m:t>
                              </m:r>
                            </m:oMath>
                          </a14:m>
                          <a:r>
                            <a:rPr lang="en-GB" dirty="0"/>
                            <a:t> 2</a:t>
                          </a:r>
                          <a:r>
                            <a:rPr lang="en-GB" baseline="30000" dirty="0"/>
                            <a:t>2</a:t>
                          </a:r>
                          <a:endParaRPr lang="en-GB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GB" dirty="0"/>
                            <a:t>1 </a:t>
                          </a:r>
                          <a14:m>
                            <m:oMath xmlns:m="http://schemas.openxmlformats.org/officeDocument/2006/math">
                              <m:r>
                                <a:rPr lang="en-GB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×</m:t>
                              </m:r>
                            </m:oMath>
                          </a14:m>
                          <a:r>
                            <a:rPr lang="en-GB" dirty="0"/>
                            <a:t> 2</a:t>
                          </a:r>
                          <a:r>
                            <a:rPr lang="en-GB" baseline="30000" dirty="0"/>
                            <a:t>1</a:t>
                          </a:r>
                          <a:endParaRPr lang="en-GB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GB" dirty="0"/>
                            <a:t>0 </a:t>
                          </a:r>
                          <a14:m>
                            <m:oMath xmlns:m="http://schemas.openxmlformats.org/officeDocument/2006/math">
                              <m:r>
                                <a:rPr lang="en-GB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×</m:t>
                              </m:r>
                            </m:oMath>
                          </a14:m>
                          <a:r>
                            <a:rPr lang="en-GB" dirty="0"/>
                            <a:t> 2</a:t>
                          </a:r>
                          <a:r>
                            <a:rPr lang="en-GB" baseline="30000" dirty="0"/>
                            <a:t>0</a:t>
                          </a:r>
                          <a:endParaRPr lang="en-GB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GB" dirty="0"/>
                            <a:t>6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4178648893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GB" dirty="0"/>
                            <a:t>111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GB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GB" dirty="0"/>
                            <a:t>1 </a:t>
                          </a:r>
                          <a14:m>
                            <m:oMath xmlns:m="http://schemas.openxmlformats.org/officeDocument/2006/math">
                              <m:r>
                                <a:rPr lang="en-GB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×</m:t>
                              </m:r>
                            </m:oMath>
                          </a14:m>
                          <a:r>
                            <a:rPr lang="en-GB" dirty="0"/>
                            <a:t> 2</a:t>
                          </a:r>
                          <a:r>
                            <a:rPr lang="en-GB" baseline="30000" dirty="0"/>
                            <a:t>2</a:t>
                          </a:r>
                          <a:endParaRPr lang="en-GB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GB" dirty="0"/>
                            <a:t>1 </a:t>
                          </a:r>
                          <a14:m>
                            <m:oMath xmlns:m="http://schemas.openxmlformats.org/officeDocument/2006/math">
                              <m:r>
                                <a:rPr lang="en-GB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×</m:t>
                              </m:r>
                            </m:oMath>
                          </a14:m>
                          <a:r>
                            <a:rPr lang="en-GB" dirty="0"/>
                            <a:t> 2</a:t>
                          </a:r>
                          <a:r>
                            <a:rPr lang="en-GB" baseline="30000" dirty="0"/>
                            <a:t>1</a:t>
                          </a:r>
                          <a:endParaRPr lang="en-GB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GB" dirty="0"/>
                            <a:t>1 </a:t>
                          </a:r>
                          <a14:m>
                            <m:oMath xmlns:m="http://schemas.openxmlformats.org/officeDocument/2006/math">
                              <m:r>
                                <a:rPr lang="en-GB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×</m:t>
                              </m:r>
                            </m:oMath>
                          </a14:m>
                          <a:r>
                            <a:rPr lang="en-GB" dirty="0"/>
                            <a:t> 2</a:t>
                          </a:r>
                          <a:r>
                            <a:rPr lang="en-GB" baseline="30000" dirty="0"/>
                            <a:t>0</a:t>
                          </a:r>
                          <a:endParaRPr lang="en-GB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GB" dirty="0"/>
                            <a:t>7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916598023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GB" dirty="0"/>
                            <a:t>1000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GB" dirty="0"/>
                            <a:t>1 </a:t>
                          </a:r>
                          <a14:m>
                            <m:oMath xmlns:m="http://schemas.openxmlformats.org/officeDocument/2006/math">
                              <m:r>
                                <a:rPr lang="en-GB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×</m:t>
                              </m:r>
                            </m:oMath>
                          </a14:m>
                          <a:r>
                            <a:rPr lang="en-GB" dirty="0"/>
                            <a:t> 2</a:t>
                          </a:r>
                          <a:r>
                            <a:rPr lang="en-GB" baseline="30000" dirty="0"/>
                            <a:t>3</a:t>
                          </a:r>
                          <a:endParaRPr lang="en-GB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GB" dirty="0"/>
                            <a:t>0 </a:t>
                          </a:r>
                          <a14:m>
                            <m:oMath xmlns:m="http://schemas.openxmlformats.org/officeDocument/2006/math">
                              <m:r>
                                <a:rPr lang="en-GB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×</m:t>
                              </m:r>
                            </m:oMath>
                          </a14:m>
                          <a:r>
                            <a:rPr lang="en-GB" dirty="0"/>
                            <a:t> 2</a:t>
                          </a:r>
                          <a:r>
                            <a:rPr lang="en-GB" baseline="30000" dirty="0"/>
                            <a:t>2</a:t>
                          </a:r>
                          <a:endParaRPr lang="en-GB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GB" dirty="0"/>
                            <a:t>0 </a:t>
                          </a:r>
                          <a14:m>
                            <m:oMath xmlns:m="http://schemas.openxmlformats.org/officeDocument/2006/math">
                              <m:r>
                                <a:rPr lang="en-GB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×</m:t>
                              </m:r>
                            </m:oMath>
                          </a14:m>
                          <a:r>
                            <a:rPr lang="en-GB" dirty="0"/>
                            <a:t> 2</a:t>
                          </a:r>
                          <a:r>
                            <a:rPr lang="en-GB" baseline="30000" dirty="0"/>
                            <a:t>1</a:t>
                          </a:r>
                          <a:endParaRPr lang="en-GB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GB" dirty="0"/>
                            <a:t>0 </a:t>
                          </a:r>
                          <a14:m>
                            <m:oMath xmlns:m="http://schemas.openxmlformats.org/officeDocument/2006/math">
                              <m:r>
                                <a:rPr lang="en-GB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×</m:t>
                              </m:r>
                            </m:oMath>
                          </a14:m>
                          <a:r>
                            <a:rPr lang="en-GB" dirty="0"/>
                            <a:t> 2</a:t>
                          </a:r>
                          <a:r>
                            <a:rPr lang="en-GB" baseline="30000" dirty="0"/>
                            <a:t>0</a:t>
                          </a:r>
                          <a:endParaRPr lang="en-GB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GB" dirty="0"/>
                            <a:t>8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758717181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4" name="Content Placeholder 3">
                <a:extLst>
                  <a:ext uri="{FF2B5EF4-FFF2-40B4-BE49-F238E27FC236}">
                    <a16:creationId xmlns:a16="http://schemas.microsoft.com/office/drawing/2014/main" id="{4E272710-DBC3-0F86-4CE7-96C66C92242A}"/>
                  </a:ext>
                </a:extLst>
              </p:cNvPr>
              <p:cNvGraphicFramePr>
                <a:graphicFrameLocks noGrp="1"/>
              </p:cNvGraphicFramePr>
              <p:nvPr>
                <p:ph idx="1"/>
                <p:extLst>
                  <p:ext uri="{D42A27DB-BD31-4B8C-83A1-F6EECF244321}">
                    <p14:modId xmlns:p14="http://schemas.microsoft.com/office/powerpoint/2010/main" val="2988775685"/>
                  </p:ext>
                </p:extLst>
              </p:nvPr>
            </p:nvGraphicFramePr>
            <p:xfrm>
              <a:off x="838200" y="1825625"/>
              <a:ext cx="10515600" cy="3708400"/>
            </p:xfrm>
            <a:graphic>
              <a:graphicData uri="http://schemas.openxmlformats.org/drawingml/2006/table">
                <a:tbl>
                  <a:tblPr firstRow="1" bandRow="1">
                    <a:tableStyleId>{7E9639D4-E3E2-4D34-9284-5A2195B3D0D7}</a:tableStyleId>
                  </a:tblPr>
                  <a:tblGrid>
                    <a:gridCol w="1752600">
                      <a:extLst>
                        <a:ext uri="{9D8B030D-6E8A-4147-A177-3AD203B41FA5}">
                          <a16:colId xmlns:a16="http://schemas.microsoft.com/office/drawing/2014/main" val="3161807752"/>
                        </a:ext>
                      </a:extLst>
                    </a:gridCol>
                    <a:gridCol w="1752600">
                      <a:extLst>
                        <a:ext uri="{9D8B030D-6E8A-4147-A177-3AD203B41FA5}">
                          <a16:colId xmlns:a16="http://schemas.microsoft.com/office/drawing/2014/main" val="1806722248"/>
                        </a:ext>
                      </a:extLst>
                    </a:gridCol>
                    <a:gridCol w="1752600">
                      <a:extLst>
                        <a:ext uri="{9D8B030D-6E8A-4147-A177-3AD203B41FA5}">
                          <a16:colId xmlns:a16="http://schemas.microsoft.com/office/drawing/2014/main" val="642929894"/>
                        </a:ext>
                      </a:extLst>
                    </a:gridCol>
                    <a:gridCol w="1752600">
                      <a:extLst>
                        <a:ext uri="{9D8B030D-6E8A-4147-A177-3AD203B41FA5}">
                          <a16:colId xmlns:a16="http://schemas.microsoft.com/office/drawing/2014/main" val="2691107199"/>
                        </a:ext>
                      </a:extLst>
                    </a:gridCol>
                    <a:gridCol w="1752600">
                      <a:extLst>
                        <a:ext uri="{9D8B030D-6E8A-4147-A177-3AD203B41FA5}">
                          <a16:colId xmlns:a16="http://schemas.microsoft.com/office/drawing/2014/main" val="2557987771"/>
                        </a:ext>
                      </a:extLst>
                    </a:gridCol>
                    <a:gridCol w="1752600">
                      <a:extLst>
                        <a:ext uri="{9D8B030D-6E8A-4147-A177-3AD203B41FA5}">
                          <a16:colId xmlns:a16="http://schemas.microsoft.com/office/drawing/2014/main" val="2949389224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r>
                            <a:rPr lang="en-GB" dirty="0"/>
                            <a:t>Binary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GB" dirty="0"/>
                            <a:t>8’s (2</a:t>
                          </a:r>
                          <a:r>
                            <a:rPr lang="en-GB" baseline="30000" dirty="0"/>
                            <a:t>3</a:t>
                          </a:r>
                          <a:r>
                            <a:rPr lang="en-GB" baseline="0" dirty="0"/>
                            <a:t>)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GB" dirty="0"/>
                            <a:t>4’s (2</a:t>
                          </a:r>
                          <a:r>
                            <a:rPr lang="en-GB" baseline="30000" dirty="0"/>
                            <a:t>2</a:t>
                          </a:r>
                          <a:r>
                            <a:rPr lang="en-GB" baseline="0" dirty="0"/>
                            <a:t>)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GB" dirty="0"/>
                            <a:t>2’s (2</a:t>
                          </a:r>
                          <a:r>
                            <a:rPr lang="en-GB" baseline="30000" dirty="0"/>
                            <a:t>1</a:t>
                          </a:r>
                          <a:r>
                            <a:rPr lang="en-GB" baseline="0" dirty="0"/>
                            <a:t>)</a:t>
                          </a:r>
                          <a:endParaRPr lang="en-GB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GB" dirty="0"/>
                            <a:t>1’s (2</a:t>
                          </a:r>
                          <a:r>
                            <a:rPr lang="en-GB" baseline="30000" dirty="0"/>
                            <a:t>0</a:t>
                          </a:r>
                          <a:r>
                            <a:rPr lang="en-GB" baseline="0" dirty="0"/>
                            <a:t>)</a:t>
                          </a:r>
                          <a:endParaRPr lang="en-GB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GB" dirty="0"/>
                            <a:t>Decimal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458647065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GB" dirty="0"/>
                            <a:t>0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GB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GB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GB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401394" t="-108197" r="-100697" b="-82295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GB" dirty="0"/>
                            <a:t>0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686453841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GB" dirty="0"/>
                            <a:t>1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GB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GB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GB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401394" t="-208197" r="-100697" b="-72295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GB" dirty="0"/>
                            <a:t>1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147091175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GB" dirty="0"/>
                            <a:t>10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GB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GB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300000" t="-308197" r="-200000" b="-62295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401394" t="-308197" r="-100697" b="-62295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GB" dirty="0"/>
                            <a:t>2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787205062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GB" dirty="0"/>
                            <a:t>11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GB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GB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300000" t="-408197" r="-200000" b="-52295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401394" t="-408197" r="-100697" b="-52295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GB" dirty="0"/>
                            <a:t>3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015891064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GB" dirty="0"/>
                            <a:t>100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GB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200000" t="-516667" r="-300000" b="-43166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300000" t="-516667" r="-200000" b="-43166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401394" t="-516667" r="-100697" b="-43166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GB" dirty="0"/>
                            <a:t>4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549734836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GB" dirty="0"/>
                            <a:t>101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GB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200000" t="-606557" r="-300000" b="-32459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300000" t="-606557" r="-200000" b="-32459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401394" t="-606557" r="-100697" b="-32459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GB" dirty="0"/>
                            <a:t>5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620198950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GB" dirty="0"/>
                            <a:t>110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GB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200000" t="-706557" r="-300000" b="-22459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300000" t="-706557" r="-200000" b="-22459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401394" t="-706557" r="-100697" b="-22459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GB" dirty="0"/>
                            <a:t>6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4178648893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GB" dirty="0"/>
                            <a:t>111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GB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200000" t="-806557" r="-300000" b="-12459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300000" t="-806557" r="-200000" b="-12459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401394" t="-806557" r="-100697" b="-12459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GB" dirty="0"/>
                            <a:t>7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916598023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GB" dirty="0"/>
                            <a:t>1000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100697" t="-906557" r="-401394" b="-2459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200000" t="-906557" r="-300000" b="-2459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300000" t="-906557" r="-200000" b="-2459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401394" t="-906557" r="-100697" b="-2459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GB" dirty="0"/>
                            <a:t>8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758717181"/>
                      </a:ext>
                    </a:extLst>
                  </a:tr>
                </a:tbl>
              </a:graphicData>
            </a:graphic>
          </p:graphicFrame>
        </mc:Fallback>
      </mc:AlternateContent>
      <p:sp>
        <p:nvSpPr>
          <p:cNvPr id="6" name="TextBox 5">
            <a:extLst>
              <a:ext uri="{FF2B5EF4-FFF2-40B4-BE49-F238E27FC236}">
                <a16:creationId xmlns:a16="http://schemas.microsoft.com/office/drawing/2014/main" id="{BA64E9BE-5FFD-5E78-330F-7DDAE5CE217B}"/>
              </a:ext>
            </a:extLst>
          </p:cNvPr>
          <p:cNvSpPr txBox="1"/>
          <p:nvPr/>
        </p:nvSpPr>
        <p:spPr>
          <a:xfrm>
            <a:off x="838200" y="5885793"/>
            <a:ext cx="6119648" cy="584775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GB" sz="3200" dirty="0"/>
              <a:t>Now You: Expand the table up to 15</a:t>
            </a:r>
          </a:p>
        </p:txBody>
      </p:sp>
    </p:spTree>
    <p:extLst>
      <p:ext uri="{BB962C8B-B14F-4D97-AF65-F5344CB8AC3E}">
        <p14:creationId xmlns:p14="http://schemas.microsoft.com/office/powerpoint/2010/main" val="317840914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B7D7ACE-181F-44FD-52EE-69DC6604290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Binary Arithmetic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BB6DDE0-5019-48D2-12DE-E15B1D2C90FA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Example</a:t>
            </a:r>
          </a:p>
          <a:p>
            <a:pPr lvl="1"/>
            <a:r>
              <a:rPr lang="en-GB" dirty="0"/>
              <a:t>Compute (110 1101)</a:t>
            </a:r>
            <a:r>
              <a:rPr lang="en-GB" baseline="-25000" dirty="0"/>
              <a:t>2</a:t>
            </a:r>
            <a:r>
              <a:rPr lang="en-GB" dirty="0"/>
              <a:t> + (1 0110)</a:t>
            </a:r>
            <a:r>
              <a:rPr lang="en-GB" baseline="-25000" dirty="0"/>
              <a:t>2</a:t>
            </a:r>
            <a:r>
              <a:rPr lang="en-GB" dirty="0"/>
              <a:t>.</a:t>
            </a:r>
          </a:p>
          <a:p>
            <a:endParaRPr lang="en-GB" dirty="0"/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8" name="Table 7">
                <a:extLst>
                  <a:ext uri="{FF2B5EF4-FFF2-40B4-BE49-F238E27FC236}">
                    <a16:creationId xmlns:a16="http://schemas.microsoft.com/office/drawing/2014/main" id="{CA89EDE6-09FC-F746-3608-854C72C4D094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843987017"/>
                  </p:ext>
                </p:extLst>
              </p:nvPr>
            </p:nvGraphicFramePr>
            <p:xfrm>
              <a:off x="1184164" y="3155731"/>
              <a:ext cx="9823672" cy="2603940"/>
            </p:xfrm>
            <a:graphic>
              <a:graphicData uri="http://schemas.openxmlformats.org/drawingml/2006/table">
                <a:tbl>
                  <a:tblPr lastRow="1">
                    <a:tableStyleId>{5202B0CA-FC54-4496-8BCA-5EF66A818D29}</a:tableStyleId>
                  </a:tblPr>
                  <a:tblGrid>
                    <a:gridCol w="1227959">
                      <a:extLst>
                        <a:ext uri="{9D8B030D-6E8A-4147-A177-3AD203B41FA5}">
                          <a16:colId xmlns:a16="http://schemas.microsoft.com/office/drawing/2014/main" val="890338283"/>
                        </a:ext>
                      </a:extLst>
                    </a:gridCol>
                    <a:gridCol w="1227959">
                      <a:extLst>
                        <a:ext uri="{9D8B030D-6E8A-4147-A177-3AD203B41FA5}">
                          <a16:colId xmlns:a16="http://schemas.microsoft.com/office/drawing/2014/main" val="455926256"/>
                        </a:ext>
                      </a:extLst>
                    </a:gridCol>
                    <a:gridCol w="1227959">
                      <a:extLst>
                        <a:ext uri="{9D8B030D-6E8A-4147-A177-3AD203B41FA5}">
                          <a16:colId xmlns:a16="http://schemas.microsoft.com/office/drawing/2014/main" val="1227145441"/>
                        </a:ext>
                      </a:extLst>
                    </a:gridCol>
                    <a:gridCol w="1227959">
                      <a:extLst>
                        <a:ext uri="{9D8B030D-6E8A-4147-A177-3AD203B41FA5}">
                          <a16:colId xmlns:a16="http://schemas.microsoft.com/office/drawing/2014/main" val="707870695"/>
                        </a:ext>
                      </a:extLst>
                    </a:gridCol>
                    <a:gridCol w="1227959">
                      <a:extLst>
                        <a:ext uri="{9D8B030D-6E8A-4147-A177-3AD203B41FA5}">
                          <a16:colId xmlns:a16="http://schemas.microsoft.com/office/drawing/2014/main" val="1702779359"/>
                        </a:ext>
                      </a:extLst>
                    </a:gridCol>
                    <a:gridCol w="1227959">
                      <a:extLst>
                        <a:ext uri="{9D8B030D-6E8A-4147-A177-3AD203B41FA5}">
                          <a16:colId xmlns:a16="http://schemas.microsoft.com/office/drawing/2014/main" val="2518074309"/>
                        </a:ext>
                      </a:extLst>
                    </a:gridCol>
                    <a:gridCol w="1227959">
                      <a:extLst>
                        <a:ext uri="{9D8B030D-6E8A-4147-A177-3AD203B41FA5}">
                          <a16:colId xmlns:a16="http://schemas.microsoft.com/office/drawing/2014/main" val="568128916"/>
                        </a:ext>
                      </a:extLst>
                    </a:gridCol>
                    <a:gridCol w="1227959">
                      <a:extLst>
                        <a:ext uri="{9D8B030D-6E8A-4147-A177-3AD203B41FA5}">
                          <a16:colId xmlns:a16="http://schemas.microsoft.com/office/drawing/2014/main" val="1828945988"/>
                        </a:ext>
                      </a:extLst>
                    </a:gridCol>
                  </a:tblGrid>
                  <a:tr h="650985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2800" baseline="-25000" dirty="0"/>
                            <a:t>1</a:t>
                          </a:r>
                        </a:p>
                      </a:txBody>
                      <a:tcPr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2800" baseline="-25000" dirty="0"/>
                            <a:t>1</a:t>
                          </a:r>
                        </a:p>
                      </a:txBody>
                      <a:tcPr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2800" baseline="-25000" dirty="0"/>
                            <a:t>1</a:t>
                          </a:r>
                        </a:p>
                      </a:txBody>
                      <a:tcPr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2800" baseline="-25000" dirty="0"/>
                            <a:t>1</a:t>
                          </a:r>
                        </a:p>
                      </a:txBody>
                      <a:tcPr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2800" baseline="-25000" dirty="0"/>
                            <a:t>1</a:t>
                          </a:r>
                        </a:p>
                      </a:txBody>
                      <a:tcPr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GB" sz="2800" dirty="0"/>
                        </a:p>
                      </a:txBody>
                      <a:tcPr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GB" sz="2800" dirty="0"/>
                        </a:p>
                      </a:txBody>
                      <a:tcPr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GB" sz="2800"/>
                        </a:p>
                      </a:txBody>
                      <a:tcPr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129504764"/>
                      </a:ext>
                    </a:extLst>
                  </a:tr>
                  <a:tr h="650985">
                    <a:tc>
                      <a:txBody>
                        <a:bodyPr/>
                        <a:lstStyle/>
                        <a:p>
                          <a:pPr algn="ctr"/>
                          <a:endParaRPr lang="en-GB" sz="2800" dirty="0"/>
                        </a:p>
                      </a:txBody>
                      <a:tcPr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2800" dirty="0"/>
                            <a:t>1</a:t>
                          </a:r>
                        </a:p>
                      </a:txBody>
                      <a:tcPr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2800" dirty="0"/>
                            <a:t>1</a:t>
                          </a:r>
                        </a:p>
                      </a:txBody>
                      <a:tcPr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2800" dirty="0"/>
                            <a:t>0</a:t>
                          </a:r>
                        </a:p>
                      </a:txBody>
                      <a:tcPr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2800" dirty="0"/>
                            <a:t>1</a:t>
                          </a:r>
                        </a:p>
                      </a:txBody>
                      <a:tcPr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2800" dirty="0"/>
                            <a:t>1</a:t>
                          </a:r>
                        </a:p>
                      </a:txBody>
                      <a:tcPr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2800" dirty="0"/>
                            <a:t>0</a:t>
                          </a:r>
                        </a:p>
                      </a:txBody>
                      <a:tcPr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2800" dirty="0"/>
                            <a:t>1</a:t>
                          </a:r>
                        </a:p>
                      </a:txBody>
                      <a:tcPr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3427613992"/>
                      </a:ext>
                    </a:extLst>
                  </a:tr>
                  <a:tr h="650985"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sz="2800" i="1" dirty="0" smtClean="0">
                                    <a:latin typeface="Cambria Math" panose="02040503050406030204" pitchFamily="18" charset="0"/>
                                  </a:rPr>
                                  <m:t>+</m:t>
                                </m:r>
                              </m:oMath>
                            </m:oMathPara>
                          </a14:m>
                          <a:endParaRPr lang="en-GB" sz="2800" dirty="0"/>
                        </a:p>
                      </a:txBody>
                      <a:tcPr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GB" sz="2800" dirty="0"/>
                        </a:p>
                      </a:txBody>
                      <a:tcPr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GB" sz="2800" dirty="0"/>
                        </a:p>
                      </a:txBody>
                      <a:tcPr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2800" dirty="0"/>
                            <a:t>1</a:t>
                          </a:r>
                        </a:p>
                      </a:txBody>
                      <a:tcPr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2800" dirty="0"/>
                            <a:t>0</a:t>
                          </a:r>
                        </a:p>
                      </a:txBody>
                      <a:tcPr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2800" dirty="0"/>
                            <a:t>1</a:t>
                          </a:r>
                        </a:p>
                      </a:txBody>
                      <a:tcPr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2800" dirty="0"/>
                            <a:t>1</a:t>
                          </a:r>
                        </a:p>
                      </a:txBody>
                      <a:tcPr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2800" dirty="0"/>
                            <a:t>0</a:t>
                          </a:r>
                        </a:p>
                      </a:txBody>
                      <a:tcPr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4292134483"/>
                      </a:ext>
                    </a:extLst>
                  </a:tr>
                  <a:tr h="650985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2800" dirty="0"/>
                            <a:t>1</a:t>
                          </a:r>
                        </a:p>
                      </a:txBody>
                      <a:tcPr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2800" dirty="0"/>
                            <a:t>0</a:t>
                          </a:r>
                        </a:p>
                      </a:txBody>
                      <a:tcPr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2800" dirty="0"/>
                            <a:t>0</a:t>
                          </a:r>
                        </a:p>
                      </a:txBody>
                      <a:tcPr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2800" dirty="0"/>
                            <a:t>0</a:t>
                          </a:r>
                        </a:p>
                      </a:txBody>
                      <a:tcPr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2800" dirty="0"/>
                            <a:t>0</a:t>
                          </a:r>
                        </a:p>
                      </a:txBody>
                      <a:tcPr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2800" dirty="0"/>
                            <a:t>0</a:t>
                          </a:r>
                        </a:p>
                      </a:txBody>
                      <a:tcPr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2800" dirty="0"/>
                            <a:t>1</a:t>
                          </a:r>
                        </a:p>
                      </a:txBody>
                      <a:tcPr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2800" dirty="0"/>
                            <a:t>1</a:t>
                          </a:r>
                        </a:p>
                      </a:txBody>
                      <a:tcPr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626527620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8" name="Table 7">
                <a:extLst>
                  <a:ext uri="{FF2B5EF4-FFF2-40B4-BE49-F238E27FC236}">
                    <a16:creationId xmlns:a16="http://schemas.microsoft.com/office/drawing/2014/main" id="{CA89EDE6-09FC-F746-3608-854C72C4D094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843987017"/>
                  </p:ext>
                </p:extLst>
              </p:nvPr>
            </p:nvGraphicFramePr>
            <p:xfrm>
              <a:off x="1184164" y="3155731"/>
              <a:ext cx="9823672" cy="2603940"/>
            </p:xfrm>
            <a:graphic>
              <a:graphicData uri="http://schemas.openxmlformats.org/drawingml/2006/table">
                <a:tbl>
                  <a:tblPr lastRow="1">
                    <a:tableStyleId>{5202B0CA-FC54-4496-8BCA-5EF66A818D29}</a:tableStyleId>
                  </a:tblPr>
                  <a:tblGrid>
                    <a:gridCol w="1227959">
                      <a:extLst>
                        <a:ext uri="{9D8B030D-6E8A-4147-A177-3AD203B41FA5}">
                          <a16:colId xmlns:a16="http://schemas.microsoft.com/office/drawing/2014/main" val="890338283"/>
                        </a:ext>
                      </a:extLst>
                    </a:gridCol>
                    <a:gridCol w="1227959">
                      <a:extLst>
                        <a:ext uri="{9D8B030D-6E8A-4147-A177-3AD203B41FA5}">
                          <a16:colId xmlns:a16="http://schemas.microsoft.com/office/drawing/2014/main" val="455926256"/>
                        </a:ext>
                      </a:extLst>
                    </a:gridCol>
                    <a:gridCol w="1227959">
                      <a:extLst>
                        <a:ext uri="{9D8B030D-6E8A-4147-A177-3AD203B41FA5}">
                          <a16:colId xmlns:a16="http://schemas.microsoft.com/office/drawing/2014/main" val="1227145441"/>
                        </a:ext>
                      </a:extLst>
                    </a:gridCol>
                    <a:gridCol w="1227959">
                      <a:extLst>
                        <a:ext uri="{9D8B030D-6E8A-4147-A177-3AD203B41FA5}">
                          <a16:colId xmlns:a16="http://schemas.microsoft.com/office/drawing/2014/main" val="707870695"/>
                        </a:ext>
                      </a:extLst>
                    </a:gridCol>
                    <a:gridCol w="1227959">
                      <a:extLst>
                        <a:ext uri="{9D8B030D-6E8A-4147-A177-3AD203B41FA5}">
                          <a16:colId xmlns:a16="http://schemas.microsoft.com/office/drawing/2014/main" val="1702779359"/>
                        </a:ext>
                      </a:extLst>
                    </a:gridCol>
                    <a:gridCol w="1227959">
                      <a:extLst>
                        <a:ext uri="{9D8B030D-6E8A-4147-A177-3AD203B41FA5}">
                          <a16:colId xmlns:a16="http://schemas.microsoft.com/office/drawing/2014/main" val="2518074309"/>
                        </a:ext>
                      </a:extLst>
                    </a:gridCol>
                    <a:gridCol w="1227959">
                      <a:extLst>
                        <a:ext uri="{9D8B030D-6E8A-4147-A177-3AD203B41FA5}">
                          <a16:colId xmlns:a16="http://schemas.microsoft.com/office/drawing/2014/main" val="568128916"/>
                        </a:ext>
                      </a:extLst>
                    </a:gridCol>
                    <a:gridCol w="1227959">
                      <a:extLst>
                        <a:ext uri="{9D8B030D-6E8A-4147-A177-3AD203B41FA5}">
                          <a16:colId xmlns:a16="http://schemas.microsoft.com/office/drawing/2014/main" val="1828945988"/>
                        </a:ext>
                      </a:extLst>
                    </a:gridCol>
                  </a:tblGrid>
                  <a:tr h="650985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2800" baseline="-25000" dirty="0"/>
                            <a:t>1</a:t>
                          </a:r>
                        </a:p>
                      </a:txBody>
                      <a:tcPr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2800" baseline="-25000" dirty="0"/>
                            <a:t>1</a:t>
                          </a:r>
                        </a:p>
                      </a:txBody>
                      <a:tcPr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2800" baseline="-25000" dirty="0"/>
                            <a:t>1</a:t>
                          </a:r>
                        </a:p>
                      </a:txBody>
                      <a:tcPr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2800" baseline="-25000" dirty="0"/>
                            <a:t>1</a:t>
                          </a:r>
                        </a:p>
                      </a:txBody>
                      <a:tcPr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2800" baseline="-25000" dirty="0"/>
                            <a:t>1</a:t>
                          </a:r>
                        </a:p>
                      </a:txBody>
                      <a:tcPr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GB" sz="2800" dirty="0"/>
                        </a:p>
                      </a:txBody>
                      <a:tcPr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GB" sz="2800" dirty="0"/>
                        </a:p>
                      </a:txBody>
                      <a:tcPr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GB" sz="2800"/>
                        </a:p>
                      </a:txBody>
                      <a:tcPr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129504764"/>
                      </a:ext>
                    </a:extLst>
                  </a:tr>
                  <a:tr h="650985">
                    <a:tc>
                      <a:txBody>
                        <a:bodyPr/>
                        <a:lstStyle/>
                        <a:p>
                          <a:pPr algn="ctr"/>
                          <a:endParaRPr lang="en-GB" sz="2800" dirty="0"/>
                        </a:p>
                      </a:txBody>
                      <a:tcPr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2800" dirty="0"/>
                            <a:t>1</a:t>
                          </a:r>
                        </a:p>
                      </a:txBody>
                      <a:tcPr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2800" dirty="0"/>
                            <a:t>1</a:t>
                          </a:r>
                        </a:p>
                      </a:txBody>
                      <a:tcPr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2800" dirty="0"/>
                            <a:t>0</a:t>
                          </a:r>
                        </a:p>
                      </a:txBody>
                      <a:tcPr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2800" dirty="0"/>
                            <a:t>1</a:t>
                          </a:r>
                        </a:p>
                      </a:txBody>
                      <a:tcPr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2800" dirty="0"/>
                            <a:t>1</a:t>
                          </a:r>
                        </a:p>
                      </a:txBody>
                      <a:tcPr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2800" dirty="0"/>
                            <a:t>0</a:t>
                          </a:r>
                        </a:p>
                      </a:txBody>
                      <a:tcPr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2800" dirty="0"/>
                            <a:t>1</a:t>
                          </a:r>
                        </a:p>
                      </a:txBody>
                      <a:tcPr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3427613992"/>
                      </a:ext>
                    </a:extLst>
                  </a:tr>
                  <a:tr h="650985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t="-200000" r="-700000" b="-106542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GB" sz="2800" dirty="0"/>
                        </a:p>
                      </a:txBody>
                      <a:tcPr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GB" sz="2800" dirty="0"/>
                        </a:p>
                      </a:txBody>
                      <a:tcPr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2800" dirty="0"/>
                            <a:t>1</a:t>
                          </a:r>
                        </a:p>
                      </a:txBody>
                      <a:tcPr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2800" dirty="0"/>
                            <a:t>0</a:t>
                          </a:r>
                        </a:p>
                      </a:txBody>
                      <a:tcPr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2800" dirty="0"/>
                            <a:t>1</a:t>
                          </a:r>
                        </a:p>
                      </a:txBody>
                      <a:tcPr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2800" dirty="0"/>
                            <a:t>1</a:t>
                          </a:r>
                        </a:p>
                      </a:txBody>
                      <a:tcPr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2800" dirty="0"/>
                            <a:t>0</a:t>
                          </a:r>
                        </a:p>
                      </a:txBody>
                      <a:tcPr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4292134483"/>
                      </a:ext>
                    </a:extLst>
                  </a:tr>
                  <a:tr h="650985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2800" dirty="0"/>
                            <a:t>1</a:t>
                          </a:r>
                        </a:p>
                      </a:txBody>
                      <a:tcPr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2800" dirty="0"/>
                            <a:t>0</a:t>
                          </a:r>
                        </a:p>
                      </a:txBody>
                      <a:tcPr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2800" dirty="0"/>
                            <a:t>0</a:t>
                          </a:r>
                        </a:p>
                      </a:txBody>
                      <a:tcPr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2800" dirty="0"/>
                            <a:t>0</a:t>
                          </a:r>
                        </a:p>
                      </a:txBody>
                      <a:tcPr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2800" dirty="0"/>
                            <a:t>0</a:t>
                          </a:r>
                        </a:p>
                      </a:txBody>
                      <a:tcPr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2800" dirty="0"/>
                            <a:t>0</a:t>
                          </a:r>
                        </a:p>
                      </a:txBody>
                      <a:tcPr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2800" dirty="0"/>
                            <a:t>1</a:t>
                          </a:r>
                        </a:p>
                      </a:txBody>
                      <a:tcPr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2800" dirty="0"/>
                            <a:t>1</a:t>
                          </a:r>
                        </a:p>
                      </a:txBody>
                      <a:tcPr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626527620"/>
                      </a:ext>
                    </a:extLst>
                  </a:tr>
                </a:tbl>
              </a:graphicData>
            </a:graphic>
          </p:graphicFrame>
        </mc:Fallback>
      </mc:AlternateContent>
    </p:spTree>
    <p:extLst>
      <p:ext uri="{BB962C8B-B14F-4D97-AF65-F5344CB8AC3E}">
        <p14:creationId xmlns:p14="http://schemas.microsoft.com/office/powerpoint/2010/main" val="252283909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23187AD-AF14-3E9E-C94E-5C43C4F8672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Exercise: Binary Arithmetic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17F006E-DB37-A9FA-E55F-321D43451CC4}"/>
              </a:ext>
            </a:extLst>
          </p:cNvPr>
          <p:cNvSpPr txBox="1"/>
          <p:nvPr/>
        </p:nvSpPr>
        <p:spPr>
          <a:xfrm>
            <a:off x="838200" y="2081048"/>
            <a:ext cx="10515600" cy="954107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GB" sz="2800" dirty="0"/>
              <a:t>Now You: </a:t>
            </a:r>
          </a:p>
          <a:p>
            <a:r>
              <a:rPr lang="en-GB" sz="2800" dirty="0"/>
              <a:t>Compute (1010)</a:t>
            </a:r>
            <a:r>
              <a:rPr lang="en-GB" sz="2800" baseline="-25000" dirty="0"/>
              <a:t>2</a:t>
            </a:r>
            <a:r>
              <a:rPr lang="en-GB" sz="2800" dirty="0"/>
              <a:t> + (1110)</a:t>
            </a:r>
            <a:r>
              <a:rPr lang="en-GB" sz="2800" baseline="-25000" dirty="0"/>
              <a:t>2</a:t>
            </a:r>
          </a:p>
        </p:txBody>
      </p:sp>
    </p:spTree>
    <p:extLst>
      <p:ext uri="{BB962C8B-B14F-4D97-AF65-F5344CB8AC3E}">
        <p14:creationId xmlns:p14="http://schemas.microsoft.com/office/powerpoint/2010/main" val="1422884393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35F8861-EEED-F1D7-CC2C-AA69B8900D0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Binary Multiplication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67BA819-BD50-7101-A8AB-E06BF7BBC52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Example</a:t>
            </a:r>
          </a:p>
          <a:p>
            <a:pPr lvl="1"/>
            <a:r>
              <a:rPr lang="en-GB" dirty="0"/>
              <a:t>Compute 1101</a:t>
            </a:r>
            <a:r>
              <a:rPr lang="en-GB" baseline="-25000" dirty="0"/>
              <a:t>2</a:t>
            </a:r>
            <a:r>
              <a:rPr lang="en-GB" dirty="0"/>
              <a:t> × 101</a:t>
            </a:r>
            <a:r>
              <a:rPr lang="en-GB" baseline="-25000" dirty="0"/>
              <a:t>2</a:t>
            </a:r>
            <a:r>
              <a:rPr lang="en-GB" dirty="0"/>
              <a:t>.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4" name="Table 3">
                <a:extLst>
                  <a:ext uri="{FF2B5EF4-FFF2-40B4-BE49-F238E27FC236}">
                    <a16:creationId xmlns:a16="http://schemas.microsoft.com/office/drawing/2014/main" id="{049386D7-08E3-85F7-CF70-D774E56051E4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3654180"/>
                  </p:ext>
                </p:extLst>
              </p:nvPr>
            </p:nvGraphicFramePr>
            <p:xfrm>
              <a:off x="1566042" y="2690647"/>
              <a:ext cx="8849712" cy="3905436"/>
            </p:xfrm>
            <a:graphic>
              <a:graphicData uri="http://schemas.openxmlformats.org/drawingml/2006/table">
                <a:tbl>
                  <a:tblPr lastRow="1">
                    <a:tableStyleId>{5202B0CA-FC54-4496-8BCA-5EF66A818D29}</a:tableStyleId>
                  </a:tblPr>
                  <a:tblGrid>
                    <a:gridCol w="914453">
                      <a:extLst>
                        <a:ext uri="{9D8B030D-6E8A-4147-A177-3AD203B41FA5}">
                          <a16:colId xmlns:a16="http://schemas.microsoft.com/office/drawing/2014/main" val="455926256"/>
                        </a:ext>
                      </a:extLst>
                    </a:gridCol>
                    <a:gridCol w="914453">
                      <a:extLst>
                        <a:ext uri="{9D8B030D-6E8A-4147-A177-3AD203B41FA5}">
                          <a16:colId xmlns:a16="http://schemas.microsoft.com/office/drawing/2014/main" val="1227145441"/>
                        </a:ext>
                      </a:extLst>
                    </a:gridCol>
                    <a:gridCol w="914453">
                      <a:extLst>
                        <a:ext uri="{9D8B030D-6E8A-4147-A177-3AD203B41FA5}">
                          <a16:colId xmlns:a16="http://schemas.microsoft.com/office/drawing/2014/main" val="707870695"/>
                        </a:ext>
                      </a:extLst>
                    </a:gridCol>
                    <a:gridCol w="914453">
                      <a:extLst>
                        <a:ext uri="{9D8B030D-6E8A-4147-A177-3AD203B41FA5}">
                          <a16:colId xmlns:a16="http://schemas.microsoft.com/office/drawing/2014/main" val="1702779359"/>
                        </a:ext>
                      </a:extLst>
                    </a:gridCol>
                    <a:gridCol w="914453">
                      <a:extLst>
                        <a:ext uri="{9D8B030D-6E8A-4147-A177-3AD203B41FA5}">
                          <a16:colId xmlns:a16="http://schemas.microsoft.com/office/drawing/2014/main" val="2518074309"/>
                        </a:ext>
                      </a:extLst>
                    </a:gridCol>
                    <a:gridCol w="914453">
                      <a:extLst>
                        <a:ext uri="{9D8B030D-6E8A-4147-A177-3AD203B41FA5}">
                          <a16:colId xmlns:a16="http://schemas.microsoft.com/office/drawing/2014/main" val="568128916"/>
                        </a:ext>
                      </a:extLst>
                    </a:gridCol>
                    <a:gridCol w="914453">
                      <a:extLst>
                        <a:ext uri="{9D8B030D-6E8A-4147-A177-3AD203B41FA5}">
                          <a16:colId xmlns:a16="http://schemas.microsoft.com/office/drawing/2014/main" val="1828945988"/>
                        </a:ext>
                      </a:extLst>
                    </a:gridCol>
                    <a:gridCol w="2448541">
                      <a:extLst>
                        <a:ext uri="{9D8B030D-6E8A-4147-A177-3AD203B41FA5}">
                          <a16:colId xmlns:a16="http://schemas.microsoft.com/office/drawing/2014/main" val="1897396238"/>
                        </a:ext>
                      </a:extLst>
                    </a:gridCol>
                  </a:tblGrid>
                  <a:tr h="513746">
                    <a:tc>
                      <a:txBody>
                        <a:bodyPr/>
                        <a:lstStyle/>
                        <a:p>
                          <a:pPr algn="ctr"/>
                          <a:endParaRPr lang="en-GB" sz="2400" dirty="0"/>
                        </a:p>
                      </a:txBody>
                      <a:tcPr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GB" sz="2400" dirty="0"/>
                        </a:p>
                      </a:txBody>
                      <a:tcPr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GB" sz="2400" dirty="0"/>
                        </a:p>
                      </a:txBody>
                      <a:tcPr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2400" dirty="0"/>
                            <a:t>1</a:t>
                          </a:r>
                        </a:p>
                      </a:txBody>
                      <a:tcPr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2400" dirty="0"/>
                            <a:t>1</a:t>
                          </a:r>
                        </a:p>
                      </a:txBody>
                      <a:tcPr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2400" dirty="0"/>
                            <a:t>0</a:t>
                          </a:r>
                        </a:p>
                      </a:txBody>
                      <a:tcPr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2400" dirty="0"/>
                            <a:t>1</a:t>
                          </a:r>
                        </a:p>
                      </a:txBody>
                      <a:tcPr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GB" sz="2400" dirty="0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3427613992"/>
                      </a:ext>
                    </a:extLst>
                  </a:tr>
                  <a:tr h="513746">
                    <a:tc>
                      <a:txBody>
                        <a:bodyPr/>
                        <a:lstStyle/>
                        <a:p>
                          <a:pPr algn="ctr"/>
                          <a:endParaRPr lang="en-GB" sz="2400" dirty="0"/>
                        </a:p>
                      </a:txBody>
                      <a:tcPr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GB" sz="2400" dirty="0"/>
                        </a:p>
                      </a:txBody>
                      <a:tcPr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sz="2400" i="1" dirty="0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×</m:t>
                                </m:r>
                              </m:oMath>
                            </m:oMathPara>
                          </a14:m>
                          <a:endParaRPr lang="en-GB" sz="2400" dirty="0"/>
                        </a:p>
                      </a:txBody>
                      <a:tcPr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GB" sz="2400" dirty="0"/>
                        </a:p>
                      </a:txBody>
                      <a:tcPr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2400" dirty="0"/>
                            <a:t>1</a:t>
                          </a:r>
                        </a:p>
                      </a:txBody>
                      <a:tcPr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2400" dirty="0"/>
                            <a:t>0</a:t>
                          </a:r>
                        </a:p>
                      </a:txBody>
                      <a:tcPr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2400" dirty="0"/>
                            <a:t>1</a:t>
                          </a:r>
                        </a:p>
                      </a:txBody>
                      <a:tcPr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GB" sz="2400" dirty="0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4292134483"/>
                      </a:ext>
                    </a:extLst>
                  </a:tr>
                  <a:tr h="513746">
                    <a:tc>
                      <a:txBody>
                        <a:bodyPr/>
                        <a:lstStyle/>
                        <a:p>
                          <a:pPr algn="ctr"/>
                          <a:endParaRPr lang="en-GB" sz="2400" dirty="0"/>
                        </a:p>
                      </a:txBody>
                      <a:tcP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2400" baseline="-25000" dirty="0"/>
                            <a:t>1</a:t>
                          </a:r>
                        </a:p>
                      </a:txBody>
                      <a:tcP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2400" baseline="-25000" dirty="0"/>
                            <a:t>1</a:t>
                          </a:r>
                        </a:p>
                      </a:txBody>
                      <a:tcP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2400" baseline="-25000" dirty="0"/>
                            <a:t>1</a:t>
                          </a:r>
                        </a:p>
                      </a:txBody>
                      <a:tcP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GB" sz="2400" dirty="0"/>
                        </a:p>
                      </a:txBody>
                      <a:tcP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GB" sz="2400" dirty="0"/>
                        </a:p>
                      </a:txBody>
                      <a:tcP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GB" sz="2400" dirty="0"/>
                        </a:p>
                      </a:txBody>
                      <a:tcPr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GB" sz="2400" dirty="0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3096851462"/>
                      </a:ext>
                    </a:extLst>
                  </a:tr>
                  <a:tr h="513746">
                    <a:tc>
                      <a:txBody>
                        <a:bodyPr/>
                        <a:lstStyle/>
                        <a:p>
                          <a:pPr algn="ctr"/>
                          <a:endParaRPr lang="en-GB" sz="2400" dirty="0"/>
                        </a:p>
                      </a:txBody>
                      <a:tcPr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GB" sz="2400" dirty="0"/>
                        </a:p>
                      </a:txBody>
                      <a:tcPr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GB" sz="2400" dirty="0"/>
                        </a:p>
                      </a:txBody>
                      <a:tcPr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2400" dirty="0"/>
                            <a:t>1</a:t>
                          </a:r>
                        </a:p>
                      </a:txBody>
                      <a:tcPr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2400" dirty="0"/>
                            <a:t>1</a:t>
                          </a:r>
                        </a:p>
                      </a:txBody>
                      <a:tcPr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2400" dirty="0"/>
                            <a:t>0</a:t>
                          </a:r>
                        </a:p>
                      </a:txBody>
                      <a:tcPr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2400" dirty="0"/>
                            <a:t>1</a:t>
                          </a:r>
                        </a:p>
                      </a:txBody>
                      <a:tcPr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GB" sz="2400" dirty="0"/>
                            <a:t>1’s place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626527620"/>
                      </a:ext>
                    </a:extLst>
                  </a:tr>
                  <a:tr h="513746">
                    <a:tc>
                      <a:txBody>
                        <a:bodyPr/>
                        <a:lstStyle/>
                        <a:p>
                          <a:pPr algn="ctr"/>
                          <a:endParaRPr lang="en-GB" sz="2400" dirty="0"/>
                        </a:p>
                      </a:txBody>
                      <a:tcPr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GB" sz="2400" dirty="0"/>
                        </a:p>
                      </a:txBody>
                      <a:tcPr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GB" sz="2400" dirty="0"/>
                        </a:p>
                      </a:txBody>
                      <a:tcPr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GB" sz="2400" dirty="0"/>
                        </a:p>
                      </a:txBody>
                      <a:tcPr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GB" sz="2400" dirty="0"/>
                        </a:p>
                      </a:txBody>
                      <a:tcPr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2400" dirty="0"/>
                            <a:t>0</a:t>
                          </a:r>
                        </a:p>
                      </a:txBody>
                      <a:tcPr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GB" sz="2400" dirty="0"/>
                        </a:p>
                      </a:txBody>
                      <a:tcPr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GB" sz="2400" dirty="0"/>
                            <a:t>2’s place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955408665"/>
                      </a:ext>
                    </a:extLst>
                  </a:tr>
                  <a:tr h="740771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2400"/>
                            <a:t>+</a:t>
                          </a:r>
                          <a:endParaRPr lang="en-GB" sz="2400" dirty="0"/>
                        </a:p>
                      </a:txBody>
                      <a:tcPr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2400" dirty="0"/>
                            <a:t>1</a:t>
                          </a:r>
                        </a:p>
                      </a:txBody>
                      <a:tcPr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2400" dirty="0"/>
                            <a:t>1</a:t>
                          </a:r>
                        </a:p>
                      </a:txBody>
                      <a:tcPr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2400" dirty="0"/>
                            <a:t>0</a:t>
                          </a:r>
                        </a:p>
                      </a:txBody>
                      <a:tcPr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2400" dirty="0"/>
                            <a:t>1</a:t>
                          </a:r>
                        </a:p>
                      </a:txBody>
                      <a:tcPr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GB" sz="2400" dirty="0"/>
                        </a:p>
                      </a:txBody>
                      <a:tcPr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GB" sz="2400" dirty="0"/>
                        </a:p>
                      </a:txBody>
                      <a:tcPr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2400" dirty="0"/>
                            <a:t>4’s place (bits left shifted twice)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910494297"/>
                      </a:ext>
                    </a:extLst>
                  </a:tr>
                  <a:tr h="513746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2400" dirty="0"/>
                            <a:t>1</a:t>
                          </a:r>
                        </a:p>
                      </a:txBody>
                      <a:tcPr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2400" dirty="0"/>
                            <a:t>0</a:t>
                          </a:r>
                        </a:p>
                      </a:txBody>
                      <a:tcPr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2400" dirty="0"/>
                            <a:t>0</a:t>
                          </a:r>
                        </a:p>
                      </a:txBody>
                      <a:tcPr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2400" dirty="0"/>
                            <a:t>0</a:t>
                          </a:r>
                        </a:p>
                      </a:txBody>
                      <a:tcPr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2400" dirty="0"/>
                            <a:t>0</a:t>
                          </a:r>
                        </a:p>
                      </a:txBody>
                      <a:tcPr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2400" dirty="0"/>
                            <a:t>0</a:t>
                          </a:r>
                        </a:p>
                      </a:txBody>
                      <a:tcPr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2400" dirty="0"/>
                            <a:t>1</a:t>
                          </a:r>
                        </a:p>
                      </a:txBody>
                      <a:tcPr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2400" dirty="0"/>
                            <a:t>Result (sum)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04594006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4" name="Table 3">
                <a:extLst>
                  <a:ext uri="{FF2B5EF4-FFF2-40B4-BE49-F238E27FC236}">
                    <a16:creationId xmlns:a16="http://schemas.microsoft.com/office/drawing/2014/main" id="{049386D7-08E3-85F7-CF70-D774E56051E4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3654180"/>
                  </p:ext>
                </p:extLst>
              </p:nvPr>
            </p:nvGraphicFramePr>
            <p:xfrm>
              <a:off x="1566042" y="2690647"/>
              <a:ext cx="8849712" cy="3905436"/>
            </p:xfrm>
            <a:graphic>
              <a:graphicData uri="http://schemas.openxmlformats.org/drawingml/2006/table">
                <a:tbl>
                  <a:tblPr lastRow="1">
                    <a:tableStyleId>{5202B0CA-FC54-4496-8BCA-5EF66A818D29}</a:tableStyleId>
                  </a:tblPr>
                  <a:tblGrid>
                    <a:gridCol w="914453">
                      <a:extLst>
                        <a:ext uri="{9D8B030D-6E8A-4147-A177-3AD203B41FA5}">
                          <a16:colId xmlns:a16="http://schemas.microsoft.com/office/drawing/2014/main" val="455926256"/>
                        </a:ext>
                      </a:extLst>
                    </a:gridCol>
                    <a:gridCol w="914453">
                      <a:extLst>
                        <a:ext uri="{9D8B030D-6E8A-4147-A177-3AD203B41FA5}">
                          <a16:colId xmlns:a16="http://schemas.microsoft.com/office/drawing/2014/main" val="1227145441"/>
                        </a:ext>
                      </a:extLst>
                    </a:gridCol>
                    <a:gridCol w="914453">
                      <a:extLst>
                        <a:ext uri="{9D8B030D-6E8A-4147-A177-3AD203B41FA5}">
                          <a16:colId xmlns:a16="http://schemas.microsoft.com/office/drawing/2014/main" val="707870695"/>
                        </a:ext>
                      </a:extLst>
                    </a:gridCol>
                    <a:gridCol w="914453">
                      <a:extLst>
                        <a:ext uri="{9D8B030D-6E8A-4147-A177-3AD203B41FA5}">
                          <a16:colId xmlns:a16="http://schemas.microsoft.com/office/drawing/2014/main" val="1702779359"/>
                        </a:ext>
                      </a:extLst>
                    </a:gridCol>
                    <a:gridCol w="914453">
                      <a:extLst>
                        <a:ext uri="{9D8B030D-6E8A-4147-A177-3AD203B41FA5}">
                          <a16:colId xmlns:a16="http://schemas.microsoft.com/office/drawing/2014/main" val="2518074309"/>
                        </a:ext>
                      </a:extLst>
                    </a:gridCol>
                    <a:gridCol w="914453">
                      <a:extLst>
                        <a:ext uri="{9D8B030D-6E8A-4147-A177-3AD203B41FA5}">
                          <a16:colId xmlns:a16="http://schemas.microsoft.com/office/drawing/2014/main" val="568128916"/>
                        </a:ext>
                      </a:extLst>
                    </a:gridCol>
                    <a:gridCol w="914453">
                      <a:extLst>
                        <a:ext uri="{9D8B030D-6E8A-4147-A177-3AD203B41FA5}">
                          <a16:colId xmlns:a16="http://schemas.microsoft.com/office/drawing/2014/main" val="1828945988"/>
                        </a:ext>
                      </a:extLst>
                    </a:gridCol>
                    <a:gridCol w="2448541">
                      <a:extLst>
                        <a:ext uri="{9D8B030D-6E8A-4147-A177-3AD203B41FA5}">
                          <a16:colId xmlns:a16="http://schemas.microsoft.com/office/drawing/2014/main" val="1897396238"/>
                        </a:ext>
                      </a:extLst>
                    </a:gridCol>
                  </a:tblGrid>
                  <a:tr h="513746">
                    <a:tc>
                      <a:txBody>
                        <a:bodyPr/>
                        <a:lstStyle/>
                        <a:p>
                          <a:pPr algn="ctr"/>
                          <a:endParaRPr lang="en-GB" sz="2400" dirty="0"/>
                        </a:p>
                      </a:txBody>
                      <a:tcPr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GB" sz="2400" dirty="0"/>
                        </a:p>
                      </a:txBody>
                      <a:tcPr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GB" sz="2400" dirty="0"/>
                        </a:p>
                      </a:txBody>
                      <a:tcPr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2400" dirty="0"/>
                            <a:t>1</a:t>
                          </a:r>
                        </a:p>
                      </a:txBody>
                      <a:tcPr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2400" dirty="0"/>
                            <a:t>1</a:t>
                          </a:r>
                        </a:p>
                      </a:txBody>
                      <a:tcPr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2400" dirty="0"/>
                            <a:t>0</a:t>
                          </a:r>
                        </a:p>
                      </a:txBody>
                      <a:tcPr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2400" dirty="0"/>
                            <a:t>1</a:t>
                          </a:r>
                        </a:p>
                      </a:txBody>
                      <a:tcPr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GB" sz="2400" dirty="0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3427613992"/>
                      </a:ext>
                    </a:extLst>
                  </a:tr>
                  <a:tr h="513746">
                    <a:tc>
                      <a:txBody>
                        <a:bodyPr/>
                        <a:lstStyle/>
                        <a:p>
                          <a:pPr algn="ctr"/>
                          <a:endParaRPr lang="en-GB" sz="2400" dirty="0"/>
                        </a:p>
                      </a:txBody>
                      <a:tcPr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GB" sz="2400" dirty="0"/>
                        </a:p>
                      </a:txBody>
                      <a:tcPr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200000" t="-108235" r="-671333" b="-57176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GB" sz="2400" dirty="0"/>
                        </a:p>
                      </a:txBody>
                      <a:tcPr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2400" dirty="0"/>
                            <a:t>1</a:t>
                          </a:r>
                        </a:p>
                      </a:txBody>
                      <a:tcPr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2400" dirty="0"/>
                            <a:t>0</a:t>
                          </a:r>
                        </a:p>
                      </a:txBody>
                      <a:tcPr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2400" dirty="0"/>
                            <a:t>1</a:t>
                          </a:r>
                        </a:p>
                      </a:txBody>
                      <a:tcPr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GB" sz="2400" dirty="0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4292134483"/>
                      </a:ext>
                    </a:extLst>
                  </a:tr>
                  <a:tr h="513746">
                    <a:tc>
                      <a:txBody>
                        <a:bodyPr/>
                        <a:lstStyle/>
                        <a:p>
                          <a:pPr algn="ctr"/>
                          <a:endParaRPr lang="en-GB" sz="2400" dirty="0"/>
                        </a:p>
                      </a:txBody>
                      <a:tcP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2400" baseline="-25000" dirty="0"/>
                            <a:t>1</a:t>
                          </a:r>
                        </a:p>
                      </a:txBody>
                      <a:tcP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2400" baseline="-25000" dirty="0"/>
                            <a:t>1</a:t>
                          </a:r>
                        </a:p>
                      </a:txBody>
                      <a:tcP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2400" baseline="-25000" dirty="0"/>
                            <a:t>1</a:t>
                          </a:r>
                        </a:p>
                      </a:txBody>
                      <a:tcP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GB" sz="2400" dirty="0"/>
                        </a:p>
                      </a:txBody>
                      <a:tcP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GB" sz="2400" dirty="0"/>
                        </a:p>
                      </a:txBody>
                      <a:tcP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GB" sz="2400" dirty="0"/>
                        </a:p>
                      </a:txBody>
                      <a:tcPr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GB" sz="2400" dirty="0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3096851462"/>
                      </a:ext>
                    </a:extLst>
                  </a:tr>
                  <a:tr h="513746">
                    <a:tc>
                      <a:txBody>
                        <a:bodyPr/>
                        <a:lstStyle/>
                        <a:p>
                          <a:pPr algn="ctr"/>
                          <a:endParaRPr lang="en-GB" sz="2400" dirty="0"/>
                        </a:p>
                      </a:txBody>
                      <a:tcPr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GB" sz="2400" dirty="0"/>
                        </a:p>
                      </a:txBody>
                      <a:tcPr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GB" sz="2400" dirty="0"/>
                        </a:p>
                      </a:txBody>
                      <a:tcPr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2400" dirty="0"/>
                            <a:t>1</a:t>
                          </a:r>
                        </a:p>
                      </a:txBody>
                      <a:tcPr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2400" dirty="0"/>
                            <a:t>1</a:t>
                          </a:r>
                        </a:p>
                      </a:txBody>
                      <a:tcPr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2400" dirty="0"/>
                            <a:t>0</a:t>
                          </a:r>
                        </a:p>
                      </a:txBody>
                      <a:tcPr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2400" dirty="0"/>
                            <a:t>1</a:t>
                          </a:r>
                        </a:p>
                      </a:txBody>
                      <a:tcPr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GB" sz="2400" dirty="0"/>
                            <a:t>1’s place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626527620"/>
                      </a:ext>
                    </a:extLst>
                  </a:tr>
                  <a:tr h="513746">
                    <a:tc>
                      <a:txBody>
                        <a:bodyPr/>
                        <a:lstStyle/>
                        <a:p>
                          <a:pPr algn="ctr"/>
                          <a:endParaRPr lang="en-GB" sz="2400" dirty="0"/>
                        </a:p>
                      </a:txBody>
                      <a:tcPr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GB" sz="2400" dirty="0"/>
                        </a:p>
                      </a:txBody>
                      <a:tcPr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GB" sz="2400" dirty="0"/>
                        </a:p>
                      </a:txBody>
                      <a:tcPr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GB" sz="2400" dirty="0"/>
                        </a:p>
                      </a:txBody>
                      <a:tcPr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GB" sz="2400" dirty="0"/>
                        </a:p>
                      </a:txBody>
                      <a:tcPr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2400" dirty="0"/>
                            <a:t>0</a:t>
                          </a:r>
                        </a:p>
                      </a:txBody>
                      <a:tcPr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GB" sz="2400" dirty="0"/>
                        </a:p>
                      </a:txBody>
                      <a:tcPr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GB" sz="2400" dirty="0"/>
                            <a:t>2’s place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955408665"/>
                      </a:ext>
                    </a:extLst>
                  </a:tr>
                  <a:tr h="82296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2400"/>
                            <a:t>+</a:t>
                          </a:r>
                          <a:endParaRPr lang="en-GB" sz="2400" dirty="0"/>
                        </a:p>
                      </a:txBody>
                      <a:tcPr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2400" dirty="0"/>
                            <a:t>1</a:t>
                          </a:r>
                        </a:p>
                      </a:txBody>
                      <a:tcPr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2400" dirty="0"/>
                            <a:t>1</a:t>
                          </a:r>
                        </a:p>
                      </a:txBody>
                      <a:tcPr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2400" dirty="0"/>
                            <a:t>0</a:t>
                          </a:r>
                        </a:p>
                      </a:txBody>
                      <a:tcPr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2400" dirty="0"/>
                            <a:t>1</a:t>
                          </a:r>
                        </a:p>
                      </a:txBody>
                      <a:tcPr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GB" sz="2400" dirty="0"/>
                        </a:p>
                      </a:txBody>
                      <a:tcPr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GB" sz="2400" dirty="0"/>
                        </a:p>
                      </a:txBody>
                      <a:tcPr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2400" dirty="0"/>
                            <a:t>4’s place (bits left shifted twice)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910494297"/>
                      </a:ext>
                    </a:extLst>
                  </a:tr>
                  <a:tr h="513746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2400" dirty="0"/>
                            <a:t>1</a:t>
                          </a:r>
                        </a:p>
                      </a:txBody>
                      <a:tcPr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2400" dirty="0"/>
                            <a:t>0</a:t>
                          </a:r>
                        </a:p>
                      </a:txBody>
                      <a:tcPr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2400" dirty="0"/>
                            <a:t>0</a:t>
                          </a:r>
                        </a:p>
                      </a:txBody>
                      <a:tcPr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2400" dirty="0"/>
                            <a:t>0</a:t>
                          </a:r>
                        </a:p>
                      </a:txBody>
                      <a:tcPr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2400" dirty="0"/>
                            <a:t>0</a:t>
                          </a:r>
                        </a:p>
                      </a:txBody>
                      <a:tcPr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2400" dirty="0"/>
                            <a:t>0</a:t>
                          </a:r>
                        </a:p>
                      </a:txBody>
                      <a:tcPr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2400" dirty="0"/>
                            <a:t>1</a:t>
                          </a:r>
                        </a:p>
                      </a:txBody>
                      <a:tcPr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2400" dirty="0"/>
                            <a:t>Result (sum)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04594006"/>
                      </a:ext>
                    </a:extLst>
                  </a:tr>
                </a:tbl>
              </a:graphicData>
            </a:graphic>
          </p:graphicFrame>
        </mc:Fallback>
      </mc:AlternateContent>
      <p:sp>
        <p:nvSpPr>
          <p:cNvPr id="6" name="矩形 5">
            <a:extLst>
              <a:ext uri="{FF2B5EF4-FFF2-40B4-BE49-F238E27FC236}">
                <a16:creationId xmlns:a16="http://schemas.microsoft.com/office/drawing/2014/main" id="{F7543F02-245E-E829-758C-2467A9625E07}"/>
              </a:ext>
            </a:extLst>
          </p:cNvPr>
          <p:cNvSpPr/>
          <p:nvPr/>
        </p:nvSpPr>
        <p:spPr>
          <a:xfrm>
            <a:off x="2618913" y="3783791"/>
            <a:ext cx="2281561" cy="406469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C336E414-FF8C-4C23-3C1C-F21DA9A6D170}"/>
              </a:ext>
            </a:extLst>
          </p:cNvPr>
          <p:cNvSpPr txBox="1"/>
          <p:nvPr/>
        </p:nvSpPr>
        <p:spPr>
          <a:xfrm>
            <a:off x="5046331" y="3820928"/>
            <a:ext cx="6463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dirty="0"/>
              <a:t>进位</a:t>
            </a:r>
          </a:p>
        </p:txBody>
      </p:sp>
    </p:spTree>
    <p:extLst>
      <p:ext uri="{BB962C8B-B14F-4D97-AF65-F5344CB8AC3E}">
        <p14:creationId xmlns:p14="http://schemas.microsoft.com/office/powerpoint/2010/main" val="184400573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FC99EE8-CAF2-E666-ACBA-5B638FE7D2A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Exercise: Binary Multiplication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Content Placeholder 3">
                <a:extLst>
                  <a:ext uri="{FF2B5EF4-FFF2-40B4-BE49-F238E27FC236}">
                    <a16:creationId xmlns:a16="http://schemas.microsoft.com/office/drawing/2014/main" id="{7EEE3BBA-2827-E3A0-6DCA-89DE0AD31A43}"/>
                  </a:ext>
                </a:extLst>
              </p:cNvPr>
              <p:cNvSpPr>
                <a:spLocks noGrp="1"/>
              </p:cNvSpPr>
              <p:nvPr>
                <p:ph sz="half" idx="1"/>
              </p:nvPr>
            </p:nvSpPr>
            <p:spPr>
              <a:xfrm>
                <a:off x="838200" y="1825625"/>
                <a:ext cx="4269828" cy="1054209"/>
              </a:xfrm>
              <a:solidFill>
                <a:schemeClr val="accent2">
                  <a:lumMod val="40000"/>
                  <a:lumOff val="60000"/>
                </a:schemeClr>
              </a:solidFill>
            </p:spPr>
            <p:txBody>
              <a:bodyPr/>
              <a:lstStyle/>
              <a:p>
                <a:pPr marL="0" indent="0">
                  <a:buNone/>
                </a:pPr>
                <a:r>
                  <a:rPr lang="en-GB" sz="2800" dirty="0"/>
                  <a:t>Now You: </a:t>
                </a:r>
              </a:p>
              <a:p>
                <a:pPr marL="0" indent="0">
                  <a:buNone/>
                </a:pPr>
                <a:r>
                  <a:rPr lang="en-GB" sz="2800" dirty="0"/>
                  <a:t>Compute (1010)</a:t>
                </a:r>
                <a:r>
                  <a:rPr lang="en-GB" sz="2800" baseline="-25000" dirty="0"/>
                  <a:t>2</a:t>
                </a:r>
                <a:r>
                  <a:rPr lang="en-GB" sz="2800" dirty="0"/>
                  <a:t> </a:t>
                </a:r>
                <a14:m>
                  <m:oMath xmlns:m="http://schemas.openxmlformats.org/officeDocument/2006/math">
                    <m:r>
                      <a:rPr lang="en-GB" sz="2800" i="1" dirty="0" smtClean="0">
                        <a:latin typeface="Cambria Math" panose="02040503050406030204" pitchFamily="18" charset="0"/>
                      </a:rPr>
                      <m:t>×</m:t>
                    </m:r>
                  </m:oMath>
                </a14:m>
                <a:r>
                  <a:rPr lang="en-GB" sz="2800" dirty="0"/>
                  <a:t> (1110)</a:t>
                </a:r>
                <a:r>
                  <a:rPr lang="en-GB" sz="2800" baseline="-25000" dirty="0"/>
                  <a:t>2</a:t>
                </a:r>
              </a:p>
              <a:p>
                <a:endParaRPr lang="en-GB" dirty="0"/>
              </a:p>
            </p:txBody>
          </p:sp>
        </mc:Choice>
        <mc:Fallback xmlns="">
          <p:sp>
            <p:nvSpPr>
              <p:cNvPr id="4" name="Content Placeholder 3">
                <a:extLst>
                  <a:ext uri="{FF2B5EF4-FFF2-40B4-BE49-F238E27FC236}">
                    <a16:creationId xmlns:a16="http://schemas.microsoft.com/office/drawing/2014/main" id="{7EEE3BBA-2827-E3A0-6DCA-89DE0AD31A43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1"/>
              </p:nvPr>
            </p:nvSpPr>
            <p:spPr>
              <a:xfrm>
                <a:off x="838200" y="1825625"/>
                <a:ext cx="4269828" cy="1054209"/>
              </a:xfrm>
              <a:blipFill>
                <a:blip r:embed="rId2"/>
                <a:stretch>
                  <a:fillRect l="-3000" t="-9249" b="-10405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036332417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7F713B4-2A5C-A5D7-6FE6-5CCE5116F62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>
                <a:solidFill>
                  <a:srgbClr val="FF0000"/>
                </a:solidFill>
              </a:rPr>
              <a:t>Converting decimal to binary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069A24B4-4804-D8D1-1141-D7A8AB249FDD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marL="0" indent="0">
                  <a:buNone/>
                </a:pPr>
                <a:r>
                  <a:rPr lang="en-GB" dirty="0"/>
                  <a:t>Algorithm, to convert decimal number </a:t>
                </a:r>
                <a14:m>
                  <m:oMath xmlns:m="http://schemas.openxmlformats.org/officeDocument/2006/math">
                    <m:r>
                      <a:rPr lang="en-GB" i="1" dirty="0" smtClean="0">
                        <a:latin typeface="Cambria Math" panose="02040503050406030204" pitchFamily="18" charset="0"/>
                      </a:rPr>
                      <m:t>𝑁</m:t>
                    </m:r>
                    <m:r>
                      <a:rPr lang="en-GB" i="1" baseline="-25000" dirty="0">
                        <a:latin typeface="Cambria Math" panose="02040503050406030204" pitchFamily="18" charset="0"/>
                      </a:rPr>
                      <m:t>0</m:t>
                    </m:r>
                  </m:oMath>
                </a14:m>
                <a:r>
                  <a:rPr lang="en-GB" dirty="0"/>
                  <a:t> to binary:</a:t>
                </a:r>
              </a:p>
              <a:p>
                <a:pPr marL="514350" indent="-514350">
                  <a:buFont typeface="+mj-lt"/>
                  <a:buAutoNum type="arabicPeriod"/>
                </a:pPr>
                <a:r>
                  <a:rPr lang="en-GB" dirty="0"/>
                  <a:t>Divide </a:t>
                </a:r>
                <a14:m>
                  <m:oMath xmlns:m="http://schemas.openxmlformats.org/officeDocument/2006/math">
                    <m:r>
                      <a:rPr lang="en-GB" i="1" dirty="0" smtClean="0">
                        <a:latin typeface="Cambria Math" panose="02040503050406030204" pitchFamily="18" charset="0"/>
                      </a:rPr>
                      <m:t>𝑁</m:t>
                    </m:r>
                    <m:r>
                      <a:rPr lang="en-GB" i="1" baseline="-25000" dirty="0">
                        <a:latin typeface="Cambria Math" panose="02040503050406030204" pitchFamily="18" charset="0"/>
                      </a:rPr>
                      <m:t>0</m:t>
                    </m:r>
                  </m:oMath>
                </a14:m>
                <a:r>
                  <a:rPr lang="en-GB" dirty="0"/>
                  <a:t> by 2 to get </a:t>
                </a:r>
                <a14:m>
                  <m:oMath xmlns:m="http://schemas.openxmlformats.org/officeDocument/2006/math">
                    <m:r>
                      <a:rPr lang="en-GB" i="1" dirty="0" smtClean="0">
                        <a:latin typeface="Cambria Math" panose="02040503050406030204" pitchFamily="18" charset="0"/>
                      </a:rPr>
                      <m:t>𝑁</m:t>
                    </m:r>
                    <m:r>
                      <a:rPr lang="en-GB" i="1" baseline="-25000" dirty="0">
                        <a:latin typeface="Cambria Math" panose="02040503050406030204" pitchFamily="18" charset="0"/>
                      </a:rPr>
                      <m:t>1</m:t>
                    </m:r>
                  </m:oMath>
                </a14:m>
                <a:endParaRPr lang="en-GB" dirty="0"/>
              </a:p>
              <a:p>
                <a:pPr marL="514350" indent="-514350">
                  <a:buFont typeface="+mj-lt"/>
                  <a:buAutoNum type="arabicPeriod"/>
                </a:pPr>
                <a:r>
                  <a:rPr lang="en-GB" dirty="0"/>
                  <a:t>Remainder </a:t>
                </a:r>
                <a14:m>
                  <m:oMath xmlns:m="http://schemas.openxmlformats.org/officeDocument/2006/math">
                    <m:r>
                      <a:rPr lang="en-GB" i="1" dirty="0" smtClean="0">
                        <a:latin typeface="Cambria Math" panose="02040503050406030204" pitchFamily="18" charset="0"/>
                      </a:rPr>
                      <m:t>𝑟</m:t>
                    </m:r>
                    <m:r>
                      <a:rPr lang="en-GB" i="1" baseline="-25000" dirty="0">
                        <a:latin typeface="Cambria Math" panose="02040503050406030204" pitchFamily="18" charset="0"/>
                      </a:rPr>
                      <m:t>0</m:t>
                    </m:r>
                  </m:oMath>
                </a14:m>
                <a:r>
                  <a:rPr lang="en-GB" dirty="0"/>
                  <a:t> is the rightmost bit (least significant bit)</a:t>
                </a:r>
              </a:p>
              <a:p>
                <a:pPr marL="514350" indent="-514350">
                  <a:buFont typeface="+mj-lt"/>
                  <a:buAutoNum type="arabicPeriod"/>
                </a:pPr>
                <a:r>
                  <a:rPr lang="en-GB" dirty="0"/>
                  <a:t>Divide </a:t>
                </a:r>
                <a14:m>
                  <m:oMath xmlns:m="http://schemas.openxmlformats.org/officeDocument/2006/math">
                    <m:r>
                      <a:rPr lang="en-GB" i="1" dirty="0" smtClean="0">
                        <a:latin typeface="Cambria Math" panose="02040503050406030204" pitchFamily="18" charset="0"/>
                      </a:rPr>
                      <m:t>𝑁</m:t>
                    </m:r>
                    <m:r>
                      <a:rPr lang="en-GB" i="1" baseline="-25000" dirty="0">
                        <a:latin typeface="Cambria Math" panose="02040503050406030204" pitchFamily="18" charset="0"/>
                      </a:rPr>
                      <m:t>1</m:t>
                    </m:r>
                  </m:oMath>
                </a14:m>
                <a:r>
                  <a:rPr lang="en-GB" dirty="0"/>
                  <a:t> by 2 to get </a:t>
                </a:r>
                <a14:m>
                  <m:oMath xmlns:m="http://schemas.openxmlformats.org/officeDocument/2006/math">
                    <m:r>
                      <a:rPr lang="en-GB" i="1" dirty="0" smtClean="0">
                        <a:latin typeface="Cambria Math" panose="02040503050406030204" pitchFamily="18" charset="0"/>
                      </a:rPr>
                      <m:t>𝑁</m:t>
                    </m:r>
                    <m:r>
                      <a:rPr lang="en-GB" i="1" baseline="-25000" dirty="0">
                        <a:latin typeface="Cambria Math" panose="02040503050406030204" pitchFamily="18" charset="0"/>
                      </a:rPr>
                      <m:t>2</m:t>
                    </m:r>
                  </m:oMath>
                </a14:m>
                <a:endParaRPr lang="en-GB" baseline="-25000" dirty="0"/>
              </a:p>
              <a:p>
                <a:pPr marL="514350" indent="-514350">
                  <a:buFont typeface="+mj-lt"/>
                  <a:buAutoNum type="arabicPeriod"/>
                </a:pPr>
                <a:r>
                  <a:rPr lang="en-GB" dirty="0"/>
                  <a:t>Remainder </a:t>
                </a:r>
                <a14:m>
                  <m:oMath xmlns:m="http://schemas.openxmlformats.org/officeDocument/2006/math">
                    <m:r>
                      <a:rPr lang="en-GB" i="1" dirty="0" smtClean="0">
                        <a:latin typeface="Cambria Math" panose="02040503050406030204" pitchFamily="18" charset="0"/>
                      </a:rPr>
                      <m:t>𝑟</m:t>
                    </m:r>
                    <m:r>
                      <a:rPr lang="en-GB" i="1" baseline="-25000" dirty="0">
                        <a:latin typeface="Cambria Math" panose="02040503050406030204" pitchFamily="18" charset="0"/>
                      </a:rPr>
                      <m:t>1</m:t>
                    </m:r>
                  </m:oMath>
                </a14:m>
                <a:r>
                  <a:rPr lang="en-GB" dirty="0"/>
                  <a:t> is the next rightmost bit</a:t>
                </a:r>
              </a:p>
              <a:p>
                <a:pPr marL="0" indent="0">
                  <a:buNone/>
                </a:pPr>
                <a:r>
                  <a:rPr lang="en-GB" dirty="0"/>
                  <a:t>And so on, until</a:t>
                </a:r>
              </a:p>
              <a:p>
                <a:pPr marL="514350" indent="-514350">
                  <a:buFont typeface="+mj-lt"/>
                  <a:buAutoNum type="arabicPeriod" startAt="5"/>
                </a:pPr>
                <a:r>
                  <a:rPr lang="en-GB" dirty="0"/>
                  <a:t>Divide </a:t>
                </a:r>
                <a14:m>
                  <m:oMath xmlns:m="http://schemas.openxmlformats.org/officeDocument/2006/math">
                    <m:r>
                      <a:rPr lang="en-GB" i="1" dirty="0" smtClean="0">
                        <a:latin typeface="Cambria Math" panose="02040503050406030204" pitchFamily="18" charset="0"/>
                      </a:rPr>
                      <m:t>𝑁</m:t>
                    </m:r>
                    <m:r>
                      <a:rPr lang="en-GB" i="1" baseline="-25000" dirty="0">
                        <a:latin typeface="Cambria Math" panose="02040503050406030204" pitchFamily="18" charset="0"/>
                      </a:rPr>
                      <m:t>𝑚</m:t>
                    </m:r>
                  </m:oMath>
                </a14:m>
                <a:r>
                  <a:rPr lang="en-GB" dirty="0"/>
                  <a:t> by 2 to get 0</a:t>
                </a:r>
              </a:p>
              <a:p>
                <a:pPr marL="514350" indent="-514350">
                  <a:buFont typeface="+mj-lt"/>
                  <a:buAutoNum type="arabicPeriod" startAt="5"/>
                </a:pPr>
                <a:r>
                  <a:rPr lang="en-GB" dirty="0"/>
                  <a:t>Remainder </a:t>
                </a:r>
                <a14:m>
                  <m:oMath xmlns:m="http://schemas.openxmlformats.org/officeDocument/2006/math">
                    <m:r>
                      <a:rPr lang="en-GB" i="1" dirty="0" smtClean="0">
                        <a:latin typeface="Cambria Math" panose="02040503050406030204" pitchFamily="18" charset="0"/>
                      </a:rPr>
                      <m:t>𝑟</m:t>
                    </m:r>
                    <m:r>
                      <a:rPr lang="en-GB" i="1" baseline="-25000" dirty="0">
                        <a:latin typeface="Cambria Math" panose="02040503050406030204" pitchFamily="18" charset="0"/>
                      </a:rPr>
                      <m:t>𝑚</m:t>
                    </m:r>
                  </m:oMath>
                </a14:m>
                <a:r>
                  <a:rPr lang="en-GB" dirty="0"/>
                  <a:t> is the leftmost bit (most significant bit)</a:t>
                </a:r>
              </a:p>
              <a:p>
                <a:pPr marL="514350" indent="-514350">
                  <a:buFont typeface="+mj-lt"/>
                  <a:buAutoNum type="arabicPeriod" startAt="5"/>
                </a:pPr>
                <a:endParaRPr lang="en-GB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069A24B4-4804-D8D1-1141-D7A8AB249FD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217" t="-2241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018324467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72ED35-C5C5-D7CB-27DE-54237DAEC66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Why does this work?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Content Placeholder 5">
                <a:extLst>
                  <a:ext uri="{FF2B5EF4-FFF2-40B4-BE49-F238E27FC236}">
                    <a16:creationId xmlns:a16="http://schemas.microsoft.com/office/drawing/2014/main" id="{98C3BBC5-8469-5AE6-40FB-8C4B1DB97604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GB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i="1" dirty="0" smtClean="0">
                            <a:latin typeface="Cambria Math" panose="02040503050406030204" pitchFamily="18" charset="0"/>
                          </a:rPr>
                          <m:t>𝑁</m:t>
                        </m:r>
                      </m:e>
                      <m:sub>
                        <m:r>
                          <a:rPr lang="en-GB" i="1" dirty="0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en-GB" i="1" dirty="0" smtClean="0">
                        <a:latin typeface="Cambria Math" panose="02040503050406030204" pitchFamily="18" charset="0"/>
                      </a:rPr>
                      <m:t>=2×</m:t>
                    </m:r>
                    <m:sSub>
                      <m:sSubPr>
                        <m:ctrlPr>
                          <a:rPr lang="en-GB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i="1" dirty="0" smtClean="0">
                            <a:latin typeface="Cambria Math" panose="02040503050406030204" pitchFamily="18" charset="0"/>
                          </a:rPr>
                          <m:t>𝑁</m:t>
                        </m:r>
                      </m:e>
                      <m:sub>
                        <m:r>
                          <a:rPr lang="en-GB" i="1" dirty="0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GB" i="1" dirty="0" smtClean="0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en-GB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i="1" dirty="0" smtClean="0">
                            <a:latin typeface="Cambria Math" panose="02040503050406030204" pitchFamily="18" charset="0"/>
                          </a:rPr>
                          <m:t>𝑟</m:t>
                        </m:r>
                      </m:e>
                      <m:sub>
                        <m:r>
                          <a:rPr lang="en-GB" i="1" dirty="0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br>
                  <a:rPr lang="en-GB" dirty="0"/>
                </a:br>
                <a14:m>
                  <m:oMath xmlns:m="http://schemas.openxmlformats.org/officeDocument/2006/math">
                    <m:r>
                      <a:rPr lang="en-GB" b="0" i="1" smtClean="0">
                        <a:latin typeface="Cambria Math" panose="02040503050406030204" pitchFamily="18" charset="0"/>
                      </a:rPr>
                      <m:t>=2×</m:t>
                    </m:r>
                    <m:d>
                      <m:dPr>
                        <m:ctrlPr>
                          <a:rPr lang="en-GB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2×</m:t>
                        </m:r>
                        <m:sSub>
                          <m:sSubPr>
                            <m:ctrlPr>
                              <a:rPr lang="en-GB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GB" b="0" i="1" smtClean="0">
                                <a:latin typeface="Cambria Math" panose="02040503050406030204" pitchFamily="18" charset="0"/>
                              </a:rPr>
                              <m:t>𝑁</m:t>
                            </m:r>
                          </m:e>
                          <m:sub>
                            <m:r>
                              <a:rPr lang="en-GB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sSub>
                          <m:sSubPr>
                            <m:ctrlPr>
                              <a:rPr lang="en-GB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GB" b="0" i="1" smtClean="0">
                                <a:latin typeface="Cambria Math" panose="02040503050406030204" pitchFamily="18" charset="0"/>
                              </a:rPr>
                              <m:t>𝑟</m:t>
                            </m:r>
                          </m:e>
                          <m:sub>
                            <m:r>
                              <a:rPr lang="en-GB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e>
                    </m:d>
                    <m:r>
                      <a:rPr lang="en-GB" b="0" i="1" smtClean="0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en-GB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𝑟</m:t>
                        </m:r>
                      </m:e>
                      <m:sub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br>
                  <a:rPr lang="en-GB" b="0" dirty="0"/>
                </a:br>
                <a14:m>
                  <m:oMath xmlns:m="http://schemas.openxmlformats.org/officeDocument/2006/math">
                    <m:r>
                      <a:rPr lang="en-GB" b="0" i="1" smtClean="0"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en-GB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e>
                      <m:sup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n-GB" b="0" i="1" smtClean="0">
                        <a:latin typeface="Cambria Math" panose="02040503050406030204" pitchFamily="18" charset="0"/>
                      </a:rPr>
                      <m:t>×</m:t>
                    </m:r>
                    <m:sSub>
                      <m:sSubPr>
                        <m:ctrlPr>
                          <a:rPr lang="en-GB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𝑁</m:t>
                        </m:r>
                      </m:e>
                      <m:sub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GB" b="0" i="1" smtClean="0">
                        <a:latin typeface="Cambria Math" panose="02040503050406030204" pitchFamily="18" charset="0"/>
                      </a:rPr>
                      <m:t>+2×</m:t>
                    </m:r>
                    <m:sSub>
                      <m:sSubPr>
                        <m:ctrlPr>
                          <a:rPr lang="en-GB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𝑟</m:t>
                        </m:r>
                      </m:e>
                      <m:sub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GB" b="0" i="1" smtClean="0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en-GB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𝑟</m:t>
                        </m:r>
                      </m:e>
                      <m:sub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br>
                  <a:rPr lang="en-GB" b="0" dirty="0"/>
                </a:br>
                <a14:m>
                  <m:oMath xmlns:m="http://schemas.openxmlformats.org/officeDocument/2006/math">
                    <m:r>
                      <a:rPr lang="en-GB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GB" b="0" i="0" smtClean="0">
                        <a:latin typeface="Cambria Math" panose="02040503050406030204" pitchFamily="18" charset="0"/>
                      </a:rPr>
                      <m:t>2</m:t>
                    </m:r>
                    <m:r>
                      <a:rPr lang="en-GB" b="0" i="1" smtClean="0">
                        <a:latin typeface="Cambria Math" panose="02040503050406030204" pitchFamily="18" charset="0"/>
                      </a:rPr>
                      <m:t>×2×</m:t>
                    </m:r>
                    <m:d>
                      <m:dPr>
                        <m:ctrlPr>
                          <a:rPr lang="en-GB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2×</m:t>
                        </m:r>
                        <m:sSub>
                          <m:sSubPr>
                            <m:ctrlPr>
                              <a:rPr lang="en-GB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GB" b="0" i="1" smtClean="0">
                                <a:latin typeface="Cambria Math" panose="02040503050406030204" pitchFamily="18" charset="0"/>
                              </a:rPr>
                              <m:t>𝑁</m:t>
                            </m:r>
                          </m:e>
                          <m:sub>
                            <m:r>
                              <a:rPr lang="en-GB" b="0" i="1" smtClean="0">
                                <a:latin typeface="Cambria Math" panose="02040503050406030204" pitchFamily="18" charset="0"/>
                              </a:rPr>
                              <m:t>3</m:t>
                            </m:r>
                          </m:sub>
                        </m:sSub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sSub>
                          <m:sSubPr>
                            <m:ctrlPr>
                              <a:rPr lang="en-GB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GB" b="0" i="1" smtClean="0">
                                <a:latin typeface="Cambria Math" panose="02040503050406030204" pitchFamily="18" charset="0"/>
                              </a:rPr>
                              <m:t>𝑟</m:t>
                            </m:r>
                          </m:e>
                          <m:sub>
                            <m:r>
                              <a:rPr lang="en-GB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e>
                    </m:d>
                    <m:r>
                      <a:rPr lang="en-GB" b="0" i="1" smtClean="0">
                        <a:latin typeface="Cambria Math" panose="02040503050406030204" pitchFamily="18" charset="0"/>
                      </a:rPr>
                      <m:t>+2×</m:t>
                    </m:r>
                    <m:sSub>
                      <m:sSubPr>
                        <m:ctrlPr>
                          <a:rPr lang="en-GB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𝑟</m:t>
                        </m:r>
                      </m:e>
                      <m:sub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GB" b="0" i="1" smtClean="0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en-GB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𝑟</m:t>
                        </m:r>
                      </m:e>
                      <m:sub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br>
                  <a:rPr lang="en-GB" b="0" dirty="0"/>
                </a:br>
                <a14:m>
                  <m:oMath xmlns:m="http://schemas.openxmlformats.org/officeDocument/2006/math">
                    <m:r>
                      <a:rPr lang="en-GB" b="0" i="1" smtClean="0"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en-GB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e>
                      <m:sup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3</m:t>
                        </m:r>
                      </m:sup>
                    </m:sSup>
                    <m:r>
                      <a:rPr lang="en-GB" b="0" i="1" smtClean="0">
                        <a:latin typeface="Cambria Math" panose="02040503050406030204" pitchFamily="18" charset="0"/>
                      </a:rPr>
                      <m:t>×</m:t>
                    </m:r>
                    <m:sSub>
                      <m:sSubPr>
                        <m:ctrlPr>
                          <a:rPr lang="en-GB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𝑁</m:t>
                        </m:r>
                      </m:e>
                      <m:sub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3</m:t>
                        </m:r>
                      </m:sub>
                    </m:sSub>
                    <m:r>
                      <a:rPr lang="en-GB" b="0" i="1" smtClean="0">
                        <a:latin typeface="Cambria Math" panose="02040503050406030204" pitchFamily="18" charset="0"/>
                      </a:rPr>
                      <m:t>+</m:t>
                    </m:r>
                    <m:sSup>
                      <m:sSupPr>
                        <m:ctrlPr>
                          <a:rPr lang="en-GB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e>
                      <m:sup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n-GB" b="0" i="1" smtClean="0">
                        <a:latin typeface="Cambria Math" panose="02040503050406030204" pitchFamily="18" charset="0"/>
                      </a:rPr>
                      <m:t>×</m:t>
                    </m:r>
                    <m:sSub>
                      <m:sSubPr>
                        <m:ctrlPr>
                          <a:rPr lang="en-GB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𝑟</m:t>
                        </m:r>
                      </m:e>
                      <m:sub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GB" b="0" i="1" smtClean="0">
                        <a:latin typeface="Cambria Math" panose="02040503050406030204" pitchFamily="18" charset="0"/>
                      </a:rPr>
                      <m:t>+2×</m:t>
                    </m:r>
                    <m:sSub>
                      <m:sSubPr>
                        <m:ctrlPr>
                          <a:rPr lang="en-GB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𝑟</m:t>
                        </m:r>
                      </m:e>
                      <m:sub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GB" b="0" i="1" smtClean="0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en-GB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𝑟</m:t>
                        </m:r>
                      </m:e>
                      <m:sub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br>
                  <a:rPr lang="en-GB" b="0" dirty="0"/>
                </a:br>
                <a14:m>
                  <m:oMath xmlns:m="http://schemas.openxmlformats.org/officeDocument/2006/math">
                    <m:r>
                      <a:rPr lang="en-GB" b="0" i="1" smtClean="0">
                        <a:latin typeface="Cambria Math" panose="02040503050406030204" pitchFamily="18" charset="0"/>
                      </a:rPr>
                      <m:t>⋮</m:t>
                    </m:r>
                  </m:oMath>
                </a14:m>
                <a:br>
                  <a:rPr lang="en-GB" b="0" dirty="0"/>
                </a:br>
                <a14:m>
                  <m:oMath xmlns:m="http://schemas.openxmlformats.org/officeDocument/2006/math">
                    <m:r>
                      <a:rPr lang="en-GB" b="0" i="1" smtClean="0"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en-GB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e>
                      <m:sup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𝑚</m:t>
                        </m:r>
                      </m:sup>
                    </m:sSup>
                    <m:r>
                      <a:rPr lang="en-GB" b="0" i="1" smtClean="0">
                        <a:latin typeface="Cambria Math" panose="02040503050406030204" pitchFamily="18" charset="0"/>
                      </a:rPr>
                      <m:t>×</m:t>
                    </m:r>
                    <m:sSub>
                      <m:sSubPr>
                        <m:ctrlPr>
                          <a:rPr lang="en-GB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𝑟</m:t>
                        </m:r>
                      </m:e>
                      <m:sub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𝑚</m:t>
                        </m:r>
                      </m:sub>
                    </m:sSub>
                    <m:r>
                      <a:rPr lang="en-GB" b="0" i="1" smtClean="0">
                        <a:latin typeface="Cambria Math" panose="02040503050406030204" pitchFamily="18" charset="0"/>
                      </a:rPr>
                      <m:t>+</m:t>
                    </m:r>
                    <m:sSup>
                      <m:sSupPr>
                        <m:ctrlPr>
                          <a:rPr lang="en-GB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e>
                      <m:sup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𝑚</m:t>
                        </m:r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−1</m:t>
                        </m:r>
                      </m:sup>
                    </m:sSup>
                    <m:r>
                      <a:rPr lang="en-GB" b="0" i="1" smtClean="0">
                        <a:latin typeface="Cambria Math" panose="02040503050406030204" pitchFamily="18" charset="0"/>
                      </a:rPr>
                      <m:t>×</m:t>
                    </m:r>
                    <m:sSub>
                      <m:sSubPr>
                        <m:ctrlPr>
                          <a:rPr lang="en-GB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𝑟</m:t>
                        </m:r>
                      </m:e>
                      <m:sub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𝑚</m:t>
                        </m:r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−1</m:t>
                        </m:r>
                      </m:sub>
                    </m:sSub>
                    <m:r>
                      <a:rPr lang="en-GB" b="0" i="1" smtClean="0">
                        <a:latin typeface="Cambria Math" panose="02040503050406030204" pitchFamily="18" charset="0"/>
                      </a:rPr>
                      <m:t>+…+</m:t>
                    </m:r>
                    <m:sSup>
                      <m:sSupPr>
                        <m:ctrlPr>
                          <a:rPr lang="en-GB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e>
                      <m:sup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n-GB" b="0" i="1" smtClean="0">
                        <a:latin typeface="Cambria Math" panose="02040503050406030204" pitchFamily="18" charset="0"/>
                      </a:rPr>
                      <m:t>×</m:t>
                    </m:r>
                    <m:sSub>
                      <m:sSubPr>
                        <m:ctrlPr>
                          <a:rPr lang="en-GB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𝑟</m:t>
                        </m:r>
                      </m:e>
                      <m:sub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GB" b="0" i="1" smtClean="0">
                        <a:latin typeface="Cambria Math" panose="02040503050406030204" pitchFamily="18" charset="0"/>
                      </a:rPr>
                      <m:t>+</m:t>
                    </m:r>
                    <m:sSup>
                      <m:sSupPr>
                        <m:ctrlPr>
                          <a:rPr lang="en-GB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e>
                      <m:sup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p>
                    </m:sSup>
                    <m:r>
                      <a:rPr lang="en-GB" b="0" i="1" smtClean="0">
                        <a:latin typeface="Cambria Math" panose="02040503050406030204" pitchFamily="18" charset="0"/>
                      </a:rPr>
                      <m:t>×</m:t>
                    </m:r>
                    <m:sSub>
                      <m:sSubPr>
                        <m:ctrlPr>
                          <a:rPr lang="en-GB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𝑟</m:t>
                        </m:r>
                      </m:e>
                      <m:sub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GB" b="0" i="1" smtClean="0">
                        <a:latin typeface="Cambria Math" panose="02040503050406030204" pitchFamily="18" charset="0"/>
                      </a:rPr>
                      <m:t>+</m:t>
                    </m:r>
                    <m:sSup>
                      <m:sSupPr>
                        <m:ctrlPr>
                          <a:rPr lang="en-GB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e>
                      <m:sup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p>
                    </m:sSup>
                    <m:r>
                      <a:rPr lang="en-GB" b="0" i="1" smtClean="0">
                        <a:latin typeface="Cambria Math" panose="02040503050406030204" pitchFamily="18" charset="0"/>
                      </a:rPr>
                      <m:t>×</m:t>
                    </m:r>
                    <m:sSub>
                      <m:sSubPr>
                        <m:ctrlPr>
                          <a:rPr lang="en-GB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𝑟</m:t>
                        </m:r>
                      </m:e>
                      <m:sub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endParaRPr lang="en-GB" b="0" dirty="0"/>
              </a:p>
              <a:p>
                <a:r>
                  <a:rPr lang="en-GB" b="0" dirty="0"/>
                  <a:t>Therefore, each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b="0" i="1" dirty="0" smtClean="0">
                            <a:latin typeface="Cambria Math" panose="02040503050406030204" pitchFamily="18" charset="0"/>
                          </a:rPr>
                          <m:t>𝑟</m:t>
                        </m:r>
                      </m:e>
                      <m:sub>
                        <m:r>
                          <a:rPr lang="en-GB" b="0" i="1" dirty="0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GB" b="0" dirty="0"/>
                  <a:t> is a bit</a:t>
                </a:r>
              </a:p>
              <a:p>
                <a:endParaRPr lang="en-GB" dirty="0"/>
              </a:p>
            </p:txBody>
          </p:sp>
        </mc:Choice>
        <mc:Fallback xmlns="">
          <p:sp>
            <p:nvSpPr>
              <p:cNvPr id="6" name="Content Placeholder 5">
                <a:extLst>
                  <a:ext uri="{FF2B5EF4-FFF2-40B4-BE49-F238E27FC236}">
                    <a16:creationId xmlns:a16="http://schemas.microsoft.com/office/drawing/2014/main" id="{98C3BBC5-8469-5AE6-40FB-8C4B1DB9760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43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TextBox 6">
            <a:extLst>
              <a:ext uri="{FF2B5EF4-FFF2-40B4-BE49-F238E27FC236}">
                <a16:creationId xmlns:a16="http://schemas.microsoft.com/office/drawing/2014/main" id="{ADAAD1FD-8D81-005A-8A6C-51FB4F68656C}"/>
              </a:ext>
            </a:extLst>
          </p:cNvPr>
          <p:cNvSpPr txBox="1"/>
          <p:nvPr/>
        </p:nvSpPr>
        <p:spPr>
          <a:xfrm>
            <a:off x="5638800" y="2974427"/>
            <a:ext cx="65" cy="276999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903988048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9B435DB-22C6-3FD8-D286-9BF0E54BE7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Example</a:t>
            </a:r>
            <a:r>
              <a:rPr lang="en-GB" dirty="0">
                <a:solidFill>
                  <a:srgbClr val="FF0000"/>
                </a:solidFill>
              </a:rPr>
              <a:t>: converting decimal to binary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F860E57-9A5D-C376-9019-71F8FD58DCF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42</a:t>
            </a:r>
            <a:r>
              <a:rPr lang="en-GB" baseline="-25000" dirty="0"/>
              <a:t>10</a:t>
            </a:r>
          </a:p>
          <a:p>
            <a:pPr marL="514350" indent="-514350">
              <a:buFont typeface="+mj-lt"/>
              <a:buAutoNum type="arabicPeriod"/>
            </a:pPr>
            <a:r>
              <a:rPr lang="en-GB" dirty="0"/>
              <a:t>42 / 2 = 21, remainder 0. Rightmost bit is 0.</a:t>
            </a:r>
          </a:p>
          <a:p>
            <a:pPr marL="514350" indent="-514350">
              <a:buFont typeface="+mj-lt"/>
              <a:buAutoNum type="arabicPeriod"/>
            </a:pPr>
            <a:r>
              <a:rPr lang="en-GB" dirty="0"/>
              <a:t>21 / 2 = 10, remainder 1. Next rightmost bit is 1.</a:t>
            </a:r>
          </a:p>
          <a:p>
            <a:pPr marL="514350" indent="-514350">
              <a:buFont typeface="+mj-lt"/>
              <a:buAutoNum type="arabicPeriod"/>
            </a:pPr>
            <a:r>
              <a:rPr lang="en-GB" dirty="0"/>
              <a:t>10 / 2 = 5, remainder 0. Next bit is 0.</a:t>
            </a:r>
          </a:p>
          <a:p>
            <a:pPr marL="514350" indent="-514350">
              <a:buFont typeface="+mj-lt"/>
              <a:buAutoNum type="arabicPeriod"/>
            </a:pPr>
            <a:r>
              <a:rPr lang="en-GB" dirty="0"/>
              <a:t>5 / 2 = 2. remainder 1. Next bit is 1.</a:t>
            </a:r>
          </a:p>
          <a:p>
            <a:pPr marL="514350" indent="-514350">
              <a:buFont typeface="+mj-lt"/>
              <a:buAutoNum type="arabicPeriod"/>
            </a:pPr>
            <a:r>
              <a:rPr lang="en-GB" dirty="0"/>
              <a:t>2 / 2 = 1, remainder 0. Next bit is 0.</a:t>
            </a:r>
          </a:p>
          <a:p>
            <a:pPr marL="514350" indent="-514350">
              <a:buFont typeface="+mj-lt"/>
              <a:buAutoNum type="arabicPeriod"/>
            </a:pPr>
            <a:r>
              <a:rPr lang="en-GB" dirty="0"/>
              <a:t>1 / 2 = 0, remainder 1. Last bit is 1.</a:t>
            </a:r>
          </a:p>
          <a:p>
            <a:r>
              <a:rPr lang="en-GB" dirty="0">
                <a:solidFill>
                  <a:srgbClr val="FF0000"/>
                </a:solidFill>
              </a:rPr>
              <a:t>Put these in reverse order </a:t>
            </a:r>
            <a:r>
              <a:rPr lang="en-GB" dirty="0"/>
              <a:t>(because we go right to left) to get 101010</a:t>
            </a:r>
            <a:r>
              <a:rPr lang="en-GB" baseline="-25000" dirty="0"/>
              <a:t>2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61027500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35E81F1-3319-0E78-19D7-21E5F5E96BF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Example: alternative solution</a:t>
            </a:r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45E88FE3-32CB-FA2D-832D-4CABA08D93E1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76946318"/>
              </p:ext>
            </p:extLst>
          </p:nvPr>
        </p:nvGraphicFramePr>
        <p:xfrm>
          <a:off x="754117" y="2360393"/>
          <a:ext cx="10515600" cy="237744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314450">
                  <a:extLst>
                    <a:ext uri="{9D8B030D-6E8A-4147-A177-3AD203B41FA5}">
                      <a16:colId xmlns:a16="http://schemas.microsoft.com/office/drawing/2014/main" val="454791076"/>
                    </a:ext>
                  </a:extLst>
                </a:gridCol>
                <a:gridCol w="1314450">
                  <a:extLst>
                    <a:ext uri="{9D8B030D-6E8A-4147-A177-3AD203B41FA5}">
                      <a16:colId xmlns:a16="http://schemas.microsoft.com/office/drawing/2014/main" val="2148073159"/>
                    </a:ext>
                  </a:extLst>
                </a:gridCol>
                <a:gridCol w="1314450">
                  <a:extLst>
                    <a:ext uri="{9D8B030D-6E8A-4147-A177-3AD203B41FA5}">
                      <a16:colId xmlns:a16="http://schemas.microsoft.com/office/drawing/2014/main" val="768909269"/>
                    </a:ext>
                  </a:extLst>
                </a:gridCol>
                <a:gridCol w="1314450">
                  <a:extLst>
                    <a:ext uri="{9D8B030D-6E8A-4147-A177-3AD203B41FA5}">
                      <a16:colId xmlns:a16="http://schemas.microsoft.com/office/drawing/2014/main" val="2234045376"/>
                    </a:ext>
                  </a:extLst>
                </a:gridCol>
                <a:gridCol w="1314450">
                  <a:extLst>
                    <a:ext uri="{9D8B030D-6E8A-4147-A177-3AD203B41FA5}">
                      <a16:colId xmlns:a16="http://schemas.microsoft.com/office/drawing/2014/main" val="2565704449"/>
                    </a:ext>
                  </a:extLst>
                </a:gridCol>
                <a:gridCol w="1314450">
                  <a:extLst>
                    <a:ext uri="{9D8B030D-6E8A-4147-A177-3AD203B41FA5}">
                      <a16:colId xmlns:a16="http://schemas.microsoft.com/office/drawing/2014/main" val="3703882969"/>
                    </a:ext>
                  </a:extLst>
                </a:gridCol>
                <a:gridCol w="1314450">
                  <a:extLst>
                    <a:ext uri="{9D8B030D-6E8A-4147-A177-3AD203B41FA5}">
                      <a16:colId xmlns:a16="http://schemas.microsoft.com/office/drawing/2014/main" val="2246930879"/>
                    </a:ext>
                  </a:extLst>
                </a:gridCol>
                <a:gridCol w="1314450">
                  <a:extLst>
                    <a:ext uri="{9D8B030D-6E8A-4147-A177-3AD203B41FA5}">
                      <a16:colId xmlns:a16="http://schemas.microsoft.com/office/drawing/2014/main" val="223214215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sz="2000" dirty="0"/>
                        <a:t>Power</a:t>
                      </a:r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6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5</a:t>
                      </a:r>
                    </a:p>
                  </a:txBody>
                  <a:tcP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4</a:t>
                      </a:r>
                    </a:p>
                  </a:txBody>
                  <a:tcP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3</a:t>
                      </a:r>
                    </a:p>
                  </a:txBody>
                  <a:tcP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2</a:t>
                      </a:r>
                    </a:p>
                  </a:txBody>
                  <a:tcP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1</a:t>
                      </a:r>
                    </a:p>
                  </a:txBody>
                  <a:tcP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0</a:t>
                      </a:r>
                    </a:p>
                  </a:txBody>
                  <a:tcP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2200315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sz="2000" dirty="0"/>
                        <a:t>Base 2</a:t>
                      </a:r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64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32</a:t>
                      </a:r>
                    </a:p>
                  </a:txBody>
                  <a:tcP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16</a:t>
                      </a:r>
                    </a:p>
                  </a:txBody>
                  <a:tcP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8</a:t>
                      </a:r>
                    </a:p>
                  </a:txBody>
                  <a:tcP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4</a:t>
                      </a:r>
                    </a:p>
                  </a:txBody>
                  <a:tcP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2</a:t>
                      </a:r>
                    </a:p>
                  </a:txBody>
                  <a:tcP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1</a:t>
                      </a:r>
                    </a:p>
                  </a:txBody>
                  <a:tcP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45560143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GB" sz="2000" dirty="0"/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GB" sz="20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GB" sz="2000" b="1" dirty="0"/>
                        <a:t>1</a:t>
                      </a:r>
                    </a:p>
                  </a:txBody>
                  <a:tcP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GB" sz="2000" b="1" dirty="0"/>
                        <a:t>0</a:t>
                      </a:r>
                    </a:p>
                  </a:txBody>
                  <a:tcP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GB" sz="2000" b="1" dirty="0"/>
                        <a:t>1</a:t>
                      </a:r>
                    </a:p>
                  </a:txBody>
                  <a:tcP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GB" sz="2000" b="1" dirty="0"/>
                        <a:t>0</a:t>
                      </a:r>
                    </a:p>
                  </a:txBody>
                  <a:tcP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GB" sz="2000" b="1" dirty="0"/>
                        <a:t>1</a:t>
                      </a:r>
                    </a:p>
                  </a:txBody>
                  <a:tcP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GB" sz="2000" b="1" dirty="0"/>
                        <a:t>0</a:t>
                      </a:r>
                    </a:p>
                  </a:txBody>
                  <a:tcP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06391823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sz="2000" dirty="0"/>
                        <a:t>Integer</a:t>
                      </a:r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endParaRPr lang="en-GB" sz="20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42 / 32</a:t>
                      </a:r>
                    </a:p>
                  </a:txBody>
                  <a:tcP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10 / 16</a:t>
                      </a:r>
                    </a:p>
                  </a:txBody>
                  <a:tcP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10 / 8</a:t>
                      </a:r>
                    </a:p>
                  </a:txBody>
                  <a:tcP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2 / 4</a:t>
                      </a:r>
                    </a:p>
                  </a:txBody>
                  <a:tcP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2 / 2</a:t>
                      </a:r>
                    </a:p>
                  </a:txBody>
                  <a:tcP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0 / 1</a:t>
                      </a:r>
                    </a:p>
                  </a:txBody>
                  <a:tcP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91559985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GB" sz="2000" dirty="0"/>
                    </a:p>
                  </a:txBody>
                  <a:tcPr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en-GB" sz="20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= 1</a:t>
                      </a: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= 0</a:t>
                      </a: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= 1</a:t>
                      </a: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= 0</a:t>
                      </a: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= 1</a:t>
                      </a: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= 0</a:t>
                      </a: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64960154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sz="2000" dirty="0"/>
                        <a:t>Remainder</a:t>
                      </a:r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en-GB" sz="20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10</a:t>
                      </a:r>
                    </a:p>
                  </a:txBody>
                  <a:tcP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10</a:t>
                      </a:r>
                    </a:p>
                  </a:txBody>
                  <a:tcP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2</a:t>
                      </a:r>
                    </a:p>
                  </a:txBody>
                  <a:tcP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2</a:t>
                      </a:r>
                    </a:p>
                  </a:txBody>
                  <a:tcP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0</a:t>
                      </a:r>
                    </a:p>
                  </a:txBody>
                  <a:tcP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0</a:t>
                      </a:r>
                    </a:p>
                  </a:txBody>
                  <a:tcP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353347231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537407280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064C2D-855D-FC57-867E-86020DDA3C3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Exercise: converting decimal to binary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FCE0FC0-7FC0-A3D7-BC6B-D9D5B59E100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10515600" cy="938596"/>
          </a:xfrm>
        </p:spPr>
        <p:txBody>
          <a:bodyPr/>
          <a:lstStyle/>
          <a:p>
            <a:r>
              <a:rPr lang="en-GB" dirty="0"/>
              <a:t>Now You: Convert 115</a:t>
            </a:r>
            <a:r>
              <a:rPr lang="en-GB" baseline="-25000" dirty="0"/>
              <a:t>10</a:t>
            </a:r>
            <a:r>
              <a:rPr lang="en-GB" dirty="0"/>
              <a:t> to binary</a:t>
            </a:r>
          </a:p>
        </p:txBody>
      </p:sp>
    </p:spTree>
    <p:extLst>
      <p:ext uri="{BB962C8B-B14F-4D97-AF65-F5344CB8AC3E}">
        <p14:creationId xmlns:p14="http://schemas.microsoft.com/office/powerpoint/2010/main" val="2995070123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5D8F476-EFC0-5E53-833E-2D333F3FF3C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>
                <a:solidFill>
                  <a:srgbClr val="FF0000"/>
                </a:solidFill>
              </a:rPr>
              <a:t>Converting decimal to hexadecimal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Content Placeholder 4">
                <a:extLst>
                  <a:ext uri="{FF2B5EF4-FFF2-40B4-BE49-F238E27FC236}">
                    <a16:creationId xmlns:a16="http://schemas.microsoft.com/office/drawing/2014/main" id="{C8CCD97C-F3C1-F7E9-0348-52F36AD52B44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GB" dirty="0"/>
                  <a:t>The same principal applies, except we divide by 16 rather than 2</a:t>
                </a:r>
              </a:p>
              <a:p>
                <a:pPr marL="514350" indent="-514350">
                  <a:buFont typeface="+mj-lt"/>
                  <a:buAutoNum type="arabicPeriod"/>
                </a:pPr>
                <a:r>
                  <a:rPr lang="en-GB" dirty="0"/>
                  <a:t>Divide </a:t>
                </a:r>
                <a14:m>
                  <m:oMath xmlns:m="http://schemas.openxmlformats.org/officeDocument/2006/math">
                    <m:r>
                      <a:rPr lang="en-GB" i="1" dirty="0" smtClean="0">
                        <a:latin typeface="Cambria Math" panose="02040503050406030204" pitchFamily="18" charset="0"/>
                      </a:rPr>
                      <m:t>𝑁</m:t>
                    </m:r>
                    <m:r>
                      <a:rPr lang="en-GB" i="1" baseline="-25000" dirty="0">
                        <a:latin typeface="Cambria Math" panose="02040503050406030204" pitchFamily="18" charset="0"/>
                      </a:rPr>
                      <m:t>0</m:t>
                    </m:r>
                  </m:oMath>
                </a14:m>
                <a:r>
                  <a:rPr lang="en-GB" dirty="0"/>
                  <a:t> by 16 to get </a:t>
                </a:r>
                <a14:m>
                  <m:oMath xmlns:m="http://schemas.openxmlformats.org/officeDocument/2006/math">
                    <m:r>
                      <a:rPr lang="en-GB" i="1" dirty="0" smtClean="0">
                        <a:latin typeface="Cambria Math" panose="02040503050406030204" pitchFamily="18" charset="0"/>
                      </a:rPr>
                      <m:t>𝑁</m:t>
                    </m:r>
                    <m:r>
                      <a:rPr lang="en-GB" i="1" baseline="-25000" dirty="0">
                        <a:latin typeface="Cambria Math" panose="02040503050406030204" pitchFamily="18" charset="0"/>
                      </a:rPr>
                      <m:t>1</m:t>
                    </m:r>
                  </m:oMath>
                </a14:m>
                <a:endParaRPr lang="en-GB" dirty="0"/>
              </a:p>
              <a:p>
                <a:pPr marL="514350" indent="-514350">
                  <a:buFont typeface="+mj-lt"/>
                  <a:buAutoNum type="arabicPeriod"/>
                </a:pPr>
                <a:r>
                  <a:rPr lang="en-GB" dirty="0"/>
                  <a:t>Remainder </a:t>
                </a:r>
                <a14:m>
                  <m:oMath xmlns:m="http://schemas.openxmlformats.org/officeDocument/2006/math">
                    <m:r>
                      <a:rPr lang="en-GB" i="1" dirty="0" smtClean="0">
                        <a:latin typeface="Cambria Math" panose="02040503050406030204" pitchFamily="18" charset="0"/>
                      </a:rPr>
                      <m:t>𝑟</m:t>
                    </m:r>
                    <m:r>
                      <a:rPr lang="en-GB" i="1" baseline="-25000" dirty="0">
                        <a:latin typeface="Cambria Math" panose="02040503050406030204" pitchFamily="18" charset="0"/>
                      </a:rPr>
                      <m:t>0</m:t>
                    </m:r>
                  </m:oMath>
                </a14:m>
                <a:r>
                  <a:rPr lang="en-GB" dirty="0"/>
                  <a:t> is the rightmost digit</a:t>
                </a:r>
              </a:p>
              <a:p>
                <a:pPr marL="514350" indent="-514350">
                  <a:buFont typeface="+mj-lt"/>
                  <a:buAutoNum type="arabicPeriod"/>
                </a:pPr>
                <a:r>
                  <a:rPr lang="en-GB" dirty="0"/>
                  <a:t>Divide </a:t>
                </a:r>
                <a14:m>
                  <m:oMath xmlns:m="http://schemas.openxmlformats.org/officeDocument/2006/math">
                    <m:r>
                      <a:rPr lang="en-GB" i="1" dirty="0" smtClean="0">
                        <a:latin typeface="Cambria Math" panose="02040503050406030204" pitchFamily="18" charset="0"/>
                      </a:rPr>
                      <m:t>𝑁</m:t>
                    </m:r>
                    <m:r>
                      <a:rPr lang="en-GB" i="1" baseline="-25000" dirty="0">
                        <a:latin typeface="Cambria Math" panose="02040503050406030204" pitchFamily="18" charset="0"/>
                      </a:rPr>
                      <m:t>1</m:t>
                    </m:r>
                  </m:oMath>
                </a14:m>
                <a:r>
                  <a:rPr lang="en-GB" dirty="0"/>
                  <a:t> by 16 to get </a:t>
                </a:r>
                <a14:m>
                  <m:oMath xmlns:m="http://schemas.openxmlformats.org/officeDocument/2006/math">
                    <m:r>
                      <a:rPr lang="en-GB" i="1" dirty="0" smtClean="0">
                        <a:latin typeface="Cambria Math" panose="02040503050406030204" pitchFamily="18" charset="0"/>
                      </a:rPr>
                      <m:t>𝑁</m:t>
                    </m:r>
                    <m:r>
                      <a:rPr lang="en-GB" i="1" baseline="-25000" dirty="0">
                        <a:latin typeface="Cambria Math" panose="02040503050406030204" pitchFamily="18" charset="0"/>
                      </a:rPr>
                      <m:t>2</m:t>
                    </m:r>
                  </m:oMath>
                </a14:m>
                <a:endParaRPr lang="en-GB" baseline="-25000" dirty="0"/>
              </a:p>
              <a:p>
                <a:pPr marL="514350" indent="-514350">
                  <a:buFont typeface="+mj-lt"/>
                  <a:buAutoNum type="arabicPeriod"/>
                </a:pPr>
                <a:r>
                  <a:rPr lang="en-GB" dirty="0"/>
                  <a:t>Remainder </a:t>
                </a:r>
                <a14:m>
                  <m:oMath xmlns:m="http://schemas.openxmlformats.org/officeDocument/2006/math">
                    <m:r>
                      <a:rPr lang="en-GB" i="1" dirty="0" smtClean="0">
                        <a:latin typeface="Cambria Math" panose="02040503050406030204" pitchFamily="18" charset="0"/>
                      </a:rPr>
                      <m:t>𝑟</m:t>
                    </m:r>
                    <m:r>
                      <a:rPr lang="en-GB" i="1" baseline="-25000" dirty="0">
                        <a:latin typeface="Cambria Math" panose="02040503050406030204" pitchFamily="18" charset="0"/>
                      </a:rPr>
                      <m:t>1</m:t>
                    </m:r>
                  </m:oMath>
                </a14:m>
                <a:r>
                  <a:rPr lang="en-GB" dirty="0"/>
                  <a:t> is the next rightmost digit</a:t>
                </a:r>
              </a:p>
              <a:p>
                <a:pPr marL="0" indent="0">
                  <a:buNone/>
                </a:pPr>
                <a:r>
                  <a:rPr lang="en-GB" dirty="0"/>
                  <a:t>And so on, until</a:t>
                </a:r>
              </a:p>
              <a:p>
                <a:pPr marL="514350" indent="-514350">
                  <a:buFont typeface="+mj-lt"/>
                  <a:buAutoNum type="arabicPeriod" startAt="5"/>
                </a:pPr>
                <a:r>
                  <a:rPr lang="en-GB" dirty="0"/>
                  <a:t>Divide </a:t>
                </a:r>
                <a14:m>
                  <m:oMath xmlns:m="http://schemas.openxmlformats.org/officeDocument/2006/math">
                    <m:r>
                      <a:rPr lang="en-GB" i="1" dirty="0" smtClean="0">
                        <a:latin typeface="Cambria Math" panose="02040503050406030204" pitchFamily="18" charset="0"/>
                      </a:rPr>
                      <m:t>𝑁</m:t>
                    </m:r>
                    <m:r>
                      <a:rPr lang="en-GB" i="1" baseline="-25000" dirty="0">
                        <a:latin typeface="Cambria Math" panose="02040503050406030204" pitchFamily="18" charset="0"/>
                      </a:rPr>
                      <m:t>𝑚</m:t>
                    </m:r>
                  </m:oMath>
                </a14:m>
                <a:r>
                  <a:rPr lang="en-GB" dirty="0"/>
                  <a:t> by 16 to get 0</a:t>
                </a:r>
              </a:p>
              <a:p>
                <a:pPr marL="514350" indent="-514350">
                  <a:buFont typeface="+mj-lt"/>
                  <a:buAutoNum type="arabicPeriod" startAt="5"/>
                </a:pPr>
                <a:r>
                  <a:rPr lang="en-GB" dirty="0"/>
                  <a:t>Remainder </a:t>
                </a:r>
                <a14:m>
                  <m:oMath xmlns:m="http://schemas.openxmlformats.org/officeDocument/2006/math">
                    <m:r>
                      <a:rPr lang="en-GB" i="1" dirty="0" smtClean="0">
                        <a:latin typeface="Cambria Math" panose="02040503050406030204" pitchFamily="18" charset="0"/>
                      </a:rPr>
                      <m:t>𝑟</m:t>
                    </m:r>
                    <m:r>
                      <a:rPr lang="en-GB" i="1" baseline="-25000" dirty="0" smtClean="0">
                        <a:latin typeface="Cambria Math" panose="02040503050406030204" pitchFamily="18" charset="0"/>
                      </a:rPr>
                      <m:t>𝑚</m:t>
                    </m:r>
                  </m:oMath>
                </a14:m>
                <a:r>
                  <a:rPr lang="en-GB" dirty="0"/>
                  <a:t> is the leftmost digit</a:t>
                </a:r>
              </a:p>
              <a:p>
                <a:endParaRPr lang="en-GB" dirty="0"/>
              </a:p>
            </p:txBody>
          </p:sp>
        </mc:Choice>
        <mc:Fallback xmlns="">
          <p:sp>
            <p:nvSpPr>
              <p:cNvPr id="5" name="Content Placeholder 4">
                <a:extLst>
                  <a:ext uri="{FF2B5EF4-FFF2-40B4-BE49-F238E27FC236}">
                    <a16:creationId xmlns:a16="http://schemas.microsoft.com/office/drawing/2014/main" id="{C8CCD97C-F3C1-F7E9-0348-52F36AD52B4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217" t="-2241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378607890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4A3C6A3-2F2C-FBA8-976C-48F1332C493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Example: converting decimal to hexadecimal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B1FCAF1-AA51-C2F8-03AB-D587FE723FF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Show 8039</a:t>
            </a:r>
            <a:r>
              <a:rPr lang="en-GB" baseline="-25000" dirty="0"/>
              <a:t>10</a:t>
            </a:r>
            <a:r>
              <a:rPr lang="en-GB" dirty="0"/>
              <a:t> = 1F67</a:t>
            </a:r>
            <a:r>
              <a:rPr lang="en-GB" baseline="-25000" dirty="0"/>
              <a:t>16</a:t>
            </a:r>
          </a:p>
          <a:p>
            <a:pPr marL="514350" indent="-514350">
              <a:buFont typeface="+mj-lt"/>
              <a:buAutoNum type="arabicPeriod"/>
            </a:pPr>
            <a:r>
              <a:rPr lang="en-GB" dirty="0"/>
              <a:t>Divide 8039 by 16 to get 502, remainder 7. Rightmost digit is 7.</a:t>
            </a:r>
          </a:p>
          <a:p>
            <a:pPr marL="514350" indent="-514350">
              <a:buFont typeface="+mj-lt"/>
              <a:buAutoNum type="arabicPeriod"/>
            </a:pPr>
            <a:r>
              <a:rPr lang="en-GB" dirty="0"/>
              <a:t>Divide 502 by 16 to get 31, remainder 6. Next digit is 6.</a:t>
            </a:r>
          </a:p>
          <a:p>
            <a:pPr marL="514350" indent="-514350">
              <a:buFont typeface="+mj-lt"/>
              <a:buAutoNum type="arabicPeriod"/>
            </a:pPr>
            <a:r>
              <a:rPr lang="en-GB" dirty="0"/>
              <a:t>Divide 31 by 16 to get 1, remainder 15. Next digit is F (15).</a:t>
            </a:r>
          </a:p>
          <a:p>
            <a:pPr marL="514350" indent="-514350">
              <a:buFont typeface="+mj-lt"/>
              <a:buAutoNum type="arabicPeriod"/>
            </a:pPr>
            <a:r>
              <a:rPr lang="en-GB" dirty="0"/>
              <a:t>Divide 1 by 16 to get 0, remainder 1. Last digit is 1.</a:t>
            </a:r>
          </a:p>
          <a:p>
            <a:r>
              <a:rPr lang="en-GB" dirty="0">
                <a:solidFill>
                  <a:srgbClr val="FF0000"/>
                </a:solidFill>
              </a:rPr>
              <a:t>Reverse order</a:t>
            </a:r>
            <a:r>
              <a:rPr lang="en-GB" dirty="0"/>
              <a:t> to get 1F67.</a:t>
            </a:r>
          </a:p>
        </p:txBody>
      </p:sp>
    </p:spTree>
    <p:extLst>
      <p:ext uri="{BB962C8B-B14F-4D97-AF65-F5344CB8AC3E}">
        <p14:creationId xmlns:p14="http://schemas.microsoft.com/office/powerpoint/2010/main" val="2229278337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E69BFCD-A3B4-F2AF-F946-3A239328479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Exercise: converting decimal to hexadecimal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532486D-2C1B-1D0C-7E4E-72A19FA0F6C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Now you: Convert 65261</a:t>
            </a:r>
            <a:r>
              <a:rPr lang="en-GB" baseline="-25000" dirty="0"/>
              <a:t>10</a:t>
            </a:r>
            <a:r>
              <a:rPr lang="en-GB" dirty="0"/>
              <a:t> to hexadecimal</a:t>
            </a:r>
          </a:p>
        </p:txBody>
      </p:sp>
    </p:spTree>
    <p:extLst>
      <p:ext uri="{BB962C8B-B14F-4D97-AF65-F5344CB8AC3E}">
        <p14:creationId xmlns:p14="http://schemas.microsoft.com/office/powerpoint/2010/main" val="3418103306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C9119E-D1D6-8170-B307-543161C43FC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>
                <a:solidFill>
                  <a:srgbClr val="FF0000"/>
                </a:solidFill>
              </a:rPr>
              <a:t>Converting hexadecimal to binary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F0D2357-81FE-2A30-8551-71FD2133F73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Converting between binary and hexadecimal is much easier</a:t>
            </a:r>
          </a:p>
          <a:p>
            <a:r>
              <a:rPr lang="en-GB" dirty="0"/>
              <a:t>Remember that 4 bits give 16 possible values (2</a:t>
            </a:r>
            <a:r>
              <a:rPr lang="en-GB" baseline="30000" dirty="0"/>
              <a:t>4</a:t>
            </a:r>
            <a:r>
              <a:rPr lang="en-GB" dirty="0"/>
              <a:t>): 0 to 15.</a:t>
            </a:r>
          </a:p>
          <a:p>
            <a:pPr lvl="1"/>
            <a:r>
              <a:rPr lang="en-GB" dirty="0"/>
              <a:t>Hexadecimal has 16 digits representing 0 to 15</a:t>
            </a:r>
          </a:p>
          <a:p>
            <a:r>
              <a:rPr lang="en-GB" dirty="0"/>
              <a:t>Hex to binary: </a:t>
            </a:r>
            <a:r>
              <a:rPr lang="en-GB" dirty="0">
                <a:solidFill>
                  <a:srgbClr val="FF0000"/>
                </a:solidFill>
              </a:rPr>
              <a:t>Convert each hex digit to 4-bit binary and concatenate (from left to right)</a:t>
            </a:r>
          </a:p>
          <a:p>
            <a:r>
              <a:rPr lang="en-GB" dirty="0"/>
              <a:t>Binary to hex: </a:t>
            </a:r>
            <a:r>
              <a:rPr lang="en-GB" dirty="0">
                <a:solidFill>
                  <a:srgbClr val="FF0000"/>
                </a:solidFill>
              </a:rPr>
              <a:t>Split binary into groups of 4 bits (from right) and convert each group of 4 bits to a hex digit</a:t>
            </a:r>
          </a:p>
        </p:txBody>
      </p:sp>
    </p:spTree>
    <p:extLst>
      <p:ext uri="{BB962C8B-B14F-4D97-AF65-F5344CB8AC3E}">
        <p14:creationId xmlns:p14="http://schemas.microsoft.com/office/powerpoint/2010/main" val="2323786143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5F460B-F47A-0CA1-F291-F0A7F15294D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Example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D9C58A1-C449-5A49-0FF0-2704E124103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1F67</a:t>
            </a:r>
            <a:r>
              <a:rPr lang="en-GB" baseline="-25000" dirty="0"/>
              <a:t>16</a:t>
            </a:r>
            <a:r>
              <a:rPr lang="en-GB" dirty="0"/>
              <a:t> to binary</a:t>
            </a:r>
          </a:p>
          <a:p>
            <a:r>
              <a:rPr lang="en-GB" dirty="0"/>
              <a:t>1 is 0001 as 4 binary digits</a:t>
            </a:r>
          </a:p>
          <a:p>
            <a:r>
              <a:rPr lang="en-GB" dirty="0"/>
              <a:t>F(15) is 1111</a:t>
            </a:r>
          </a:p>
          <a:p>
            <a:r>
              <a:rPr lang="en-GB" dirty="0"/>
              <a:t>6 is 0110</a:t>
            </a:r>
          </a:p>
          <a:p>
            <a:r>
              <a:rPr lang="en-GB" dirty="0"/>
              <a:t>7 is 0111</a:t>
            </a:r>
          </a:p>
          <a:p>
            <a:r>
              <a:rPr lang="en-GB" dirty="0"/>
              <a:t>Concatenated, from left to right, gives 0001 1111 0110 0111</a:t>
            </a:r>
          </a:p>
          <a:p>
            <a:r>
              <a:rPr lang="en-GB" dirty="0"/>
              <a:t>Removing leading zeroes gives 1 1111 0110 0111</a:t>
            </a:r>
            <a:r>
              <a:rPr lang="en-GB" baseline="-25000" dirty="0"/>
              <a:t>2</a:t>
            </a:r>
            <a:r>
              <a:rPr lang="en-GB" dirty="0"/>
              <a:t>.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040873408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F321CA-5DB5-8D71-4FB1-F5D4DF8F0A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Example: converting hexadecimal to binary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56C5D09-FD51-15AD-67E6-F2F8F180C0F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Convert 1100000000111010</a:t>
            </a:r>
            <a:r>
              <a:rPr lang="en-GB" baseline="-25000" dirty="0"/>
              <a:t>2</a:t>
            </a:r>
            <a:r>
              <a:rPr lang="en-GB" dirty="0"/>
              <a:t> to hexadecimal</a:t>
            </a:r>
          </a:p>
          <a:p>
            <a:r>
              <a:rPr lang="en-GB" dirty="0"/>
              <a:t>Split into groups of four bits: 1100 0000 0011 1010</a:t>
            </a:r>
          </a:p>
          <a:p>
            <a:r>
              <a:rPr lang="en-GB" dirty="0"/>
              <a:t>Convert each group:</a:t>
            </a:r>
          </a:p>
          <a:p>
            <a:pPr lvl="1"/>
            <a:r>
              <a:rPr lang="en-GB" dirty="0"/>
              <a:t>1100 is C (12)</a:t>
            </a:r>
          </a:p>
          <a:p>
            <a:pPr lvl="1"/>
            <a:r>
              <a:rPr lang="en-GB" dirty="0"/>
              <a:t>0000 is 0</a:t>
            </a:r>
          </a:p>
          <a:p>
            <a:pPr lvl="1"/>
            <a:r>
              <a:rPr lang="en-GB" dirty="0"/>
              <a:t>0011 is 3</a:t>
            </a:r>
          </a:p>
          <a:p>
            <a:pPr lvl="1"/>
            <a:r>
              <a:rPr lang="en-GB" dirty="0"/>
              <a:t>1010 is A (10)</a:t>
            </a:r>
          </a:p>
          <a:p>
            <a:r>
              <a:rPr lang="en-GB" dirty="0"/>
              <a:t>Hence, C03A</a:t>
            </a:r>
            <a:r>
              <a:rPr lang="en-GB" baseline="-25000" dirty="0"/>
              <a:t>16</a:t>
            </a:r>
            <a:endParaRPr lang="en-GB" dirty="0"/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512137379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7FECA0E-14D7-D875-25F6-8E8F324CD86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Exercise: converting hexadecimal to binary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B9B6C3A-444D-D78C-B689-EB9CF97E65A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Now You: Convert 789</a:t>
            </a:r>
            <a:r>
              <a:rPr lang="en-GB" baseline="-25000" dirty="0"/>
              <a:t>16</a:t>
            </a:r>
            <a:r>
              <a:rPr lang="en-GB" dirty="0"/>
              <a:t> to binary</a:t>
            </a:r>
          </a:p>
        </p:txBody>
      </p:sp>
    </p:spTree>
    <p:extLst>
      <p:ext uri="{BB962C8B-B14F-4D97-AF65-F5344CB8AC3E}">
        <p14:creationId xmlns:p14="http://schemas.microsoft.com/office/powerpoint/2010/main" val="3953660804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1220EA7-74B5-BBBF-C99D-FFEBEA6BEA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Binary Fractions: Radix Point</a:t>
            </a:r>
            <a:r>
              <a:rPr lang="zh-CN" altLang="en-US" dirty="0"/>
              <a:t>（小数点）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52B2B5D-5A0F-0E4A-AB7F-214120F284E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Decimal point in base 10</a:t>
            </a:r>
          </a:p>
          <a:p>
            <a:r>
              <a:rPr lang="en-GB" dirty="0"/>
              <a:t>Binary point in base 2</a:t>
            </a:r>
          </a:p>
          <a:p>
            <a:r>
              <a:rPr lang="en-GB" dirty="0"/>
              <a:t>Some numbers cannot be represented (exactly) in some bases (with terminating, finite representations). Exact conversion may be impossible.</a:t>
            </a:r>
          </a:p>
        </p:txBody>
      </p:sp>
    </p:spTree>
    <p:extLst>
      <p:ext uri="{BB962C8B-B14F-4D97-AF65-F5344CB8AC3E}">
        <p14:creationId xmlns:p14="http://schemas.microsoft.com/office/powerpoint/2010/main" val="2881268003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7CAF7E2-48E3-33F4-0BC0-CF45EDFE546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Decimal Fractions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2B24252-AF41-DC65-3995-CCA7E88D904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>
                <a:solidFill>
                  <a:schemeClr val="accent1"/>
                </a:solidFill>
              </a:rPr>
              <a:t>Move the number point one place to the right</a:t>
            </a:r>
            <a:r>
              <a:rPr lang="en-GB" dirty="0"/>
              <a:t>:</a:t>
            </a:r>
          </a:p>
          <a:p>
            <a:pPr lvl="1"/>
            <a:r>
              <a:rPr lang="en-GB" dirty="0"/>
              <a:t>Effect multiplies the number by the base number</a:t>
            </a:r>
          </a:p>
          <a:p>
            <a:pPr lvl="1"/>
            <a:r>
              <a:rPr lang="en-GB" dirty="0"/>
              <a:t>Example 139.0</a:t>
            </a:r>
            <a:r>
              <a:rPr lang="en-GB" baseline="-25000" dirty="0"/>
              <a:t>10</a:t>
            </a:r>
            <a:r>
              <a:rPr lang="en-GB" dirty="0"/>
              <a:t> → 1390</a:t>
            </a:r>
            <a:r>
              <a:rPr lang="en-GB" baseline="-25000" dirty="0"/>
              <a:t>10</a:t>
            </a:r>
          </a:p>
          <a:p>
            <a:r>
              <a:rPr lang="en-GB" dirty="0">
                <a:solidFill>
                  <a:schemeClr val="accent1"/>
                </a:solidFill>
              </a:rPr>
              <a:t>Move the number point one place to the left</a:t>
            </a:r>
            <a:r>
              <a:rPr lang="en-GB" dirty="0"/>
              <a:t>:</a:t>
            </a:r>
          </a:p>
          <a:p>
            <a:pPr lvl="1"/>
            <a:r>
              <a:rPr lang="en-GB" dirty="0"/>
              <a:t>Effect divides the number by the base number</a:t>
            </a:r>
          </a:p>
          <a:p>
            <a:pPr lvl="1"/>
            <a:r>
              <a:rPr lang="en-GB" dirty="0"/>
              <a:t>Example 139.0</a:t>
            </a:r>
            <a:r>
              <a:rPr lang="en-GB" baseline="-25000" dirty="0"/>
              <a:t>10</a:t>
            </a:r>
            <a:r>
              <a:rPr lang="en-GB" dirty="0"/>
              <a:t> → 13.9</a:t>
            </a:r>
            <a:r>
              <a:rPr lang="en-GB" baseline="-25000" dirty="0"/>
              <a:t>10</a:t>
            </a:r>
          </a:p>
        </p:txBody>
      </p:sp>
    </p:spTree>
    <p:extLst>
      <p:ext uri="{BB962C8B-B14F-4D97-AF65-F5344CB8AC3E}">
        <p14:creationId xmlns:p14="http://schemas.microsoft.com/office/powerpoint/2010/main" val="1039266921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3B885C3-711F-EB74-AD60-9B8EF74DA1D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>
                <a:solidFill>
                  <a:srgbClr val="FF0000"/>
                </a:solidFill>
              </a:rPr>
              <a:t>Binary Fractions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D4A2891-8D0C-DE6D-57BF-74E09D08637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2168306"/>
          </a:xfrm>
        </p:spPr>
        <p:txBody>
          <a:bodyPr/>
          <a:lstStyle/>
          <a:p>
            <a:r>
              <a:rPr lang="en-GB" dirty="0"/>
              <a:t>0.2589</a:t>
            </a:r>
            <a:r>
              <a:rPr lang="en-GB" baseline="-25000" dirty="0"/>
              <a:t>10</a:t>
            </a:r>
          </a:p>
          <a:p>
            <a:endParaRPr lang="en-GB" dirty="0"/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4" name="Table 3">
                <a:extLst>
                  <a:ext uri="{FF2B5EF4-FFF2-40B4-BE49-F238E27FC236}">
                    <a16:creationId xmlns:a16="http://schemas.microsoft.com/office/drawing/2014/main" id="{3B923D05-441F-2EE1-B0EB-1CDED52C0DBE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730290330"/>
                  </p:ext>
                </p:extLst>
              </p:nvPr>
            </p:nvGraphicFramePr>
            <p:xfrm>
              <a:off x="1643117" y="2348769"/>
              <a:ext cx="8128000" cy="1483360"/>
            </p:xfrm>
            <a:graphic>
              <a:graphicData uri="http://schemas.openxmlformats.org/drawingml/2006/table">
                <a:tbl>
                  <a:tblPr>
                    <a:tableStyleId>{2D5ABB26-0587-4C30-8999-92F81FD0307C}</a:tableStyleId>
                  </a:tblPr>
                  <a:tblGrid>
                    <a:gridCol w="1047531">
                      <a:extLst>
                        <a:ext uri="{9D8B030D-6E8A-4147-A177-3AD203B41FA5}">
                          <a16:colId xmlns:a16="http://schemas.microsoft.com/office/drawing/2014/main" val="20000877"/>
                        </a:ext>
                      </a:extLst>
                    </a:gridCol>
                    <a:gridCol w="578069">
                      <a:extLst>
                        <a:ext uri="{9D8B030D-6E8A-4147-A177-3AD203B41FA5}">
                          <a16:colId xmlns:a16="http://schemas.microsoft.com/office/drawing/2014/main" val="932202970"/>
                        </a:ext>
                      </a:extLst>
                    </a:gridCol>
                    <a:gridCol w="1625600">
                      <a:extLst>
                        <a:ext uri="{9D8B030D-6E8A-4147-A177-3AD203B41FA5}">
                          <a16:colId xmlns:a16="http://schemas.microsoft.com/office/drawing/2014/main" val="558571569"/>
                        </a:ext>
                      </a:extLst>
                    </a:gridCol>
                    <a:gridCol w="1625600">
                      <a:extLst>
                        <a:ext uri="{9D8B030D-6E8A-4147-A177-3AD203B41FA5}">
                          <a16:colId xmlns:a16="http://schemas.microsoft.com/office/drawing/2014/main" val="3964847538"/>
                        </a:ext>
                      </a:extLst>
                    </a:gridCol>
                    <a:gridCol w="1625600">
                      <a:extLst>
                        <a:ext uri="{9D8B030D-6E8A-4147-A177-3AD203B41FA5}">
                          <a16:colId xmlns:a16="http://schemas.microsoft.com/office/drawing/2014/main" val="3149436993"/>
                        </a:ext>
                      </a:extLst>
                    </a:gridCol>
                    <a:gridCol w="1625600">
                      <a:extLst>
                        <a:ext uri="{9D8B030D-6E8A-4147-A177-3AD203B41FA5}">
                          <a16:colId xmlns:a16="http://schemas.microsoft.com/office/drawing/2014/main" val="2662965903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r>
                            <a:rPr lang="en-GB" dirty="0"/>
                            <a:t>Place</a:t>
                          </a:r>
                        </a:p>
                      </a:txBody>
                      <a:tcPr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</a:tcPr>
                    </a:tc>
                    <a:tc>
                      <a:txBody>
                        <a:bodyPr/>
                        <a:lstStyle/>
                        <a:p>
                          <a:endParaRPr lang="en-GB" dirty="0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GB" dirty="0"/>
                            <a:t>10</a:t>
                          </a:r>
                          <a:r>
                            <a:rPr lang="en-GB" baseline="30000" dirty="0"/>
                            <a:t>-1</a:t>
                          </a:r>
                          <a:endParaRPr lang="en-GB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GB" dirty="0"/>
                            <a:t>10</a:t>
                          </a:r>
                          <a:r>
                            <a:rPr lang="en-GB" baseline="30000" dirty="0"/>
                            <a:t>-2</a:t>
                          </a:r>
                          <a:endParaRPr lang="en-GB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GB" dirty="0"/>
                            <a:t>10</a:t>
                          </a:r>
                          <a:r>
                            <a:rPr lang="en-GB" baseline="30000" dirty="0"/>
                            <a:t>-3</a:t>
                          </a:r>
                          <a:endParaRPr lang="en-GB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GB" dirty="0"/>
                            <a:t>10</a:t>
                          </a:r>
                          <a:r>
                            <a:rPr lang="en-GB" baseline="30000" dirty="0"/>
                            <a:t>-4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048152843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GB" dirty="0"/>
                            <a:t>Value</a:t>
                          </a:r>
                        </a:p>
                      </a:txBody>
                      <a:tcPr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</a:tcPr>
                    </a:tc>
                    <a:tc>
                      <a:txBody>
                        <a:bodyPr/>
                        <a:lstStyle/>
                        <a:p>
                          <a:endParaRPr lang="en-GB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GB" dirty="0"/>
                            <a:t>1/10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GB" dirty="0"/>
                            <a:t>1/100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GB" dirty="0"/>
                            <a:t>1/1000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GB" dirty="0"/>
                            <a:t>1/10000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96865363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GB" dirty="0"/>
                            <a:t>Evaluate</a:t>
                          </a:r>
                        </a:p>
                      </a:txBody>
                      <a:tcPr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</a:tcPr>
                    </a:tc>
                    <a:tc>
                      <a:txBody>
                        <a:bodyPr/>
                        <a:lstStyle/>
                        <a:p>
                          <a:endParaRPr lang="en-GB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GB" dirty="0"/>
                            <a:t>2 </a:t>
                          </a:r>
                          <a14:m>
                            <m:oMath xmlns:m="http://schemas.openxmlformats.org/officeDocument/2006/math">
                              <m:r>
                                <a:rPr lang="en-GB" i="1" dirty="0" smtClean="0">
                                  <a:latin typeface="Cambria Math" panose="02040503050406030204" pitchFamily="18" charset="0"/>
                                </a:rPr>
                                <m:t>×</m:t>
                              </m:r>
                            </m:oMath>
                          </a14:m>
                          <a:r>
                            <a:rPr lang="en-GB" dirty="0"/>
                            <a:t> 1/10 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GB" dirty="0"/>
                            <a:t>5 </a:t>
                          </a:r>
                          <a14:m>
                            <m:oMath xmlns:m="http://schemas.openxmlformats.org/officeDocument/2006/math">
                              <m:r>
                                <a:rPr lang="en-GB" i="1" dirty="0" smtClean="0">
                                  <a:latin typeface="Cambria Math" panose="02040503050406030204" pitchFamily="18" charset="0"/>
                                </a:rPr>
                                <m:t>×</m:t>
                              </m:r>
                            </m:oMath>
                          </a14:m>
                          <a:r>
                            <a:rPr lang="en-GB" dirty="0"/>
                            <a:t> 1/100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GB" dirty="0"/>
                            <a:t>8 </a:t>
                          </a:r>
                          <a14:m>
                            <m:oMath xmlns:m="http://schemas.openxmlformats.org/officeDocument/2006/math">
                              <m:r>
                                <a:rPr lang="en-GB" i="1" dirty="0" smtClean="0">
                                  <a:latin typeface="Cambria Math" panose="02040503050406030204" pitchFamily="18" charset="0"/>
                                </a:rPr>
                                <m:t>×</m:t>
                              </m:r>
                            </m:oMath>
                          </a14:m>
                          <a:r>
                            <a:rPr lang="en-GB" dirty="0"/>
                            <a:t> 1/1000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GB" dirty="0"/>
                            <a:t>9 </a:t>
                          </a:r>
                          <a14:m>
                            <m:oMath xmlns:m="http://schemas.openxmlformats.org/officeDocument/2006/math">
                              <m:r>
                                <a:rPr lang="en-GB" i="1" dirty="0" smtClean="0">
                                  <a:latin typeface="Cambria Math" panose="02040503050406030204" pitchFamily="18" charset="0"/>
                                </a:rPr>
                                <m:t>×</m:t>
                              </m:r>
                            </m:oMath>
                          </a14:m>
                          <a:r>
                            <a:rPr lang="en-GB" dirty="0"/>
                            <a:t> 1/10000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08306508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GB" dirty="0"/>
                            <a:t>Result</a:t>
                          </a:r>
                        </a:p>
                      </a:txBody>
                      <a:tcPr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</a:tcPr>
                    </a:tc>
                    <a:tc>
                      <a:txBody>
                        <a:bodyPr/>
                        <a:lstStyle/>
                        <a:p>
                          <a:endParaRPr lang="en-GB" dirty="0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GB" dirty="0"/>
                            <a:t>0.2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GB" dirty="0"/>
                            <a:t>0.05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GB" dirty="0"/>
                            <a:t>0.008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GB" dirty="0"/>
                            <a:t>0.0009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137900020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4" name="Table 3">
                <a:extLst>
                  <a:ext uri="{FF2B5EF4-FFF2-40B4-BE49-F238E27FC236}">
                    <a16:creationId xmlns:a16="http://schemas.microsoft.com/office/drawing/2014/main" id="{3B923D05-441F-2EE1-B0EB-1CDED52C0DBE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730290330"/>
                  </p:ext>
                </p:extLst>
              </p:nvPr>
            </p:nvGraphicFramePr>
            <p:xfrm>
              <a:off x="1643117" y="2348769"/>
              <a:ext cx="8128000" cy="1483360"/>
            </p:xfrm>
            <a:graphic>
              <a:graphicData uri="http://schemas.openxmlformats.org/drawingml/2006/table">
                <a:tbl>
                  <a:tblPr>
                    <a:tableStyleId>{2D5ABB26-0587-4C30-8999-92F81FD0307C}</a:tableStyleId>
                  </a:tblPr>
                  <a:tblGrid>
                    <a:gridCol w="1047531">
                      <a:extLst>
                        <a:ext uri="{9D8B030D-6E8A-4147-A177-3AD203B41FA5}">
                          <a16:colId xmlns:a16="http://schemas.microsoft.com/office/drawing/2014/main" val="20000877"/>
                        </a:ext>
                      </a:extLst>
                    </a:gridCol>
                    <a:gridCol w="578069">
                      <a:extLst>
                        <a:ext uri="{9D8B030D-6E8A-4147-A177-3AD203B41FA5}">
                          <a16:colId xmlns:a16="http://schemas.microsoft.com/office/drawing/2014/main" val="932202970"/>
                        </a:ext>
                      </a:extLst>
                    </a:gridCol>
                    <a:gridCol w="1625600">
                      <a:extLst>
                        <a:ext uri="{9D8B030D-6E8A-4147-A177-3AD203B41FA5}">
                          <a16:colId xmlns:a16="http://schemas.microsoft.com/office/drawing/2014/main" val="558571569"/>
                        </a:ext>
                      </a:extLst>
                    </a:gridCol>
                    <a:gridCol w="1625600">
                      <a:extLst>
                        <a:ext uri="{9D8B030D-6E8A-4147-A177-3AD203B41FA5}">
                          <a16:colId xmlns:a16="http://schemas.microsoft.com/office/drawing/2014/main" val="3964847538"/>
                        </a:ext>
                      </a:extLst>
                    </a:gridCol>
                    <a:gridCol w="1625600">
                      <a:extLst>
                        <a:ext uri="{9D8B030D-6E8A-4147-A177-3AD203B41FA5}">
                          <a16:colId xmlns:a16="http://schemas.microsoft.com/office/drawing/2014/main" val="3149436993"/>
                        </a:ext>
                      </a:extLst>
                    </a:gridCol>
                    <a:gridCol w="1625600">
                      <a:extLst>
                        <a:ext uri="{9D8B030D-6E8A-4147-A177-3AD203B41FA5}">
                          <a16:colId xmlns:a16="http://schemas.microsoft.com/office/drawing/2014/main" val="2662965903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r>
                            <a:rPr lang="en-GB" dirty="0"/>
                            <a:t>Place</a:t>
                          </a:r>
                        </a:p>
                      </a:txBody>
                      <a:tcPr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</a:tcPr>
                    </a:tc>
                    <a:tc>
                      <a:txBody>
                        <a:bodyPr/>
                        <a:lstStyle/>
                        <a:p>
                          <a:endParaRPr lang="en-GB" dirty="0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GB" dirty="0"/>
                            <a:t>10</a:t>
                          </a:r>
                          <a:r>
                            <a:rPr lang="en-GB" baseline="30000" dirty="0"/>
                            <a:t>-1</a:t>
                          </a:r>
                          <a:endParaRPr lang="en-GB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GB" dirty="0"/>
                            <a:t>10</a:t>
                          </a:r>
                          <a:r>
                            <a:rPr lang="en-GB" baseline="30000" dirty="0"/>
                            <a:t>-2</a:t>
                          </a:r>
                          <a:endParaRPr lang="en-GB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GB" dirty="0"/>
                            <a:t>10</a:t>
                          </a:r>
                          <a:r>
                            <a:rPr lang="en-GB" baseline="30000" dirty="0"/>
                            <a:t>-3</a:t>
                          </a:r>
                          <a:endParaRPr lang="en-GB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GB" dirty="0"/>
                            <a:t>10</a:t>
                          </a:r>
                          <a:r>
                            <a:rPr lang="en-GB" baseline="30000" dirty="0"/>
                            <a:t>-4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048152843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GB" dirty="0"/>
                            <a:t>Value</a:t>
                          </a:r>
                        </a:p>
                      </a:txBody>
                      <a:tcPr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</a:tcPr>
                    </a:tc>
                    <a:tc>
                      <a:txBody>
                        <a:bodyPr/>
                        <a:lstStyle/>
                        <a:p>
                          <a:endParaRPr lang="en-GB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GB" dirty="0"/>
                            <a:t>1/10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GB" dirty="0"/>
                            <a:t>1/100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GB" dirty="0"/>
                            <a:t>1/1000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GB" dirty="0"/>
                            <a:t>1/10000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96865363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GB" dirty="0"/>
                            <a:t>Evaluate</a:t>
                          </a:r>
                        </a:p>
                      </a:txBody>
                      <a:tcPr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</a:tcPr>
                    </a:tc>
                    <a:tc>
                      <a:txBody>
                        <a:bodyPr/>
                        <a:lstStyle/>
                        <a:p>
                          <a:endParaRPr lang="en-GB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100000" t="-208197" r="-299625" b="-12459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200752" t="-208197" r="-200752" b="-12459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299625" t="-208197" r="-100000" b="-12459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399625" t="-208197" b="-124590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08306508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GB" dirty="0"/>
                            <a:t>Result</a:t>
                          </a:r>
                        </a:p>
                      </a:txBody>
                      <a:tcPr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</a:tcPr>
                    </a:tc>
                    <a:tc>
                      <a:txBody>
                        <a:bodyPr/>
                        <a:lstStyle/>
                        <a:p>
                          <a:endParaRPr lang="en-GB" dirty="0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GB" dirty="0"/>
                            <a:t>0.2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GB" dirty="0"/>
                            <a:t>0.05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GB" dirty="0"/>
                            <a:t>0.008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GB" dirty="0"/>
                            <a:t>0.0009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137900020"/>
                      </a:ext>
                    </a:extLst>
                  </a:tr>
                </a:tbl>
              </a:graphicData>
            </a:graphic>
          </p:graphicFrame>
        </mc:Fallback>
      </mc:AlternateContent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4B6FD231-AB5E-2AF3-62DF-F32D09A12C2C}"/>
              </a:ext>
            </a:extLst>
          </p:cNvPr>
          <p:cNvSpPr txBox="1">
            <a:spLocks/>
          </p:cNvSpPr>
          <p:nvPr/>
        </p:nvSpPr>
        <p:spPr>
          <a:xfrm>
            <a:off x="838200" y="3996011"/>
            <a:ext cx="10515600" cy="216830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GB" dirty="0"/>
              <a:t>0.10101</a:t>
            </a:r>
            <a:r>
              <a:rPr lang="en-GB" baseline="-25000" dirty="0"/>
              <a:t>2</a:t>
            </a:r>
            <a:r>
              <a:rPr lang="en-GB" dirty="0"/>
              <a:t> = 0.65625</a:t>
            </a:r>
            <a:r>
              <a:rPr lang="en-GB" baseline="-25000" dirty="0"/>
              <a:t>10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6" name="Table 5">
                <a:extLst>
                  <a:ext uri="{FF2B5EF4-FFF2-40B4-BE49-F238E27FC236}">
                    <a16:creationId xmlns:a16="http://schemas.microsoft.com/office/drawing/2014/main" id="{B38CBC8B-0894-D390-A1C3-849591E65E13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987506593"/>
                  </p:ext>
                </p:extLst>
              </p:nvPr>
            </p:nvGraphicFramePr>
            <p:xfrm>
              <a:off x="1643116" y="4680957"/>
              <a:ext cx="9045905" cy="1641476"/>
            </p:xfrm>
            <a:graphic>
              <a:graphicData uri="http://schemas.openxmlformats.org/drawingml/2006/table">
                <a:tbl>
                  <a:tblPr>
                    <a:tableStyleId>{2D5ABB26-0587-4C30-8999-92F81FD0307C}</a:tableStyleId>
                  </a:tblPr>
                  <a:tblGrid>
                    <a:gridCol w="971525">
                      <a:extLst>
                        <a:ext uri="{9D8B030D-6E8A-4147-A177-3AD203B41FA5}">
                          <a16:colId xmlns:a16="http://schemas.microsoft.com/office/drawing/2014/main" val="20000877"/>
                        </a:ext>
                      </a:extLst>
                    </a:gridCol>
                    <a:gridCol w="536125">
                      <a:extLst>
                        <a:ext uri="{9D8B030D-6E8A-4147-A177-3AD203B41FA5}">
                          <a16:colId xmlns:a16="http://schemas.microsoft.com/office/drawing/2014/main" val="932202970"/>
                        </a:ext>
                      </a:extLst>
                    </a:gridCol>
                    <a:gridCol w="1507651">
                      <a:extLst>
                        <a:ext uri="{9D8B030D-6E8A-4147-A177-3AD203B41FA5}">
                          <a16:colId xmlns:a16="http://schemas.microsoft.com/office/drawing/2014/main" val="558571569"/>
                        </a:ext>
                      </a:extLst>
                    </a:gridCol>
                    <a:gridCol w="1507651">
                      <a:extLst>
                        <a:ext uri="{9D8B030D-6E8A-4147-A177-3AD203B41FA5}">
                          <a16:colId xmlns:a16="http://schemas.microsoft.com/office/drawing/2014/main" val="3964847538"/>
                        </a:ext>
                      </a:extLst>
                    </a:gridCol>
                    <a:gridCol w="1507651">
                      <a:extLst>
                        <a:ext uri="{9D8B030D-6E8A-4147-A177-3AD203B41FA5}">
                          <a16:colId xmlns:a16="http://schemas.microsoft.com/office/drawing/2014/main" val="3149436993"/>
                        </a:ext>
                      </a:extLst>
                    </a:gridCol>
                    <a:gridCol w="1507651">
                      <a:extLst>
                        <a:ext uri="{9D8B030D-6E8A-4147-A177-3AD203B41FA5}">
                          <a16:colId xmlns:a16="http://schemas.microsoft.com/office/drawing/2014/main" val="2662965903"/>
                        </a:ext>
                      </a:extLst>
                    </a:gridCol>
                    <a:gridCol w="1507651">
                      <a:extLst>
                        <a:ext uri="{9D8B030D-6E8A-4147-A177-3AD203B41FA5}">
                          <a16:colId xmlns:a16="http://schemas.microsoft.com/office/drawing/2014/main" val="3669278041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r>
                            <a:rPr lang="en-GB" dirty="0"/>
                            <a:t>Place</a:t>
                          </a:r>
                        </a:p>
                      </a:txBody>
                      <a:tcPr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</a:tcPr>
                    </a:tc>
                    <a:tc>
                      <a:txBody>
                        <a:bodyPr/>
                        <a:lstStyle/>
                        <a:p>
                          <a:endParaRPr lang="en-GB" dirty="0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GB" dirty="0"/>
                            <a:t>2</a:t>
                          </a:r>
                          <a:r>
                            <a:rPr lang="en-GB" baseline="30000" dirty="0"/>
                            <a:t>-1</a:t>
                          </a:r>
                          <a:endParaRPr lang="en-GB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GB" dirty="0"/>
                            <a:t>2</a:t>
                          </a:r>
                          <a:r>
                            <a:rPr lang="en-GB" baseline="30000" dirty="0"/>
                            <a:t>-2</a:t>
                          </a:r>
                          <a:endParaRPr lang="en-GB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GB" dirty="0"/>
                            <a:t>2</a:t>
                          </a:r>
                          <a:r>
                            <a:rPr lang="en-GB" baseline="30000" dirty="0"/>
                            <a:t>-3</a:t>
                          </a:r>
                          <a:endParaRPr lang="en-GB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GB" dirty="0"/>
                            <a:t>2</a:t>
                          </a:r>
                          <a:r>
                            <a:rPr lang="en-GB" baseline="30000" dirty="0"/>
                            <a:t>-4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GB" baseline="0" dirty="0"/>
                            <a:t>2</a:t>
                          </a:r>
                          <a:r>
                            <a:rPr lang="en-GB" baseline="30000" dirty="0"/>
                            <a:t>-5</a:t>
                          </a:r>
                          <a:endParaRPr lang="en-GB" baseline="0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048152843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GB" dirty="0"/>
                            <a:t>Value</a:t>
                          </a:r>
                        </a:p>
                      </a:txBody>
                      <a:tcPr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</a:tcPr>
                    </a:tc>
                    <a:tc>
                      <a:txBody>
                        <a:bodyPr/>
                        <a:lstStyle/>
                        <a:p>
                          <a:endParaRPr lang="en-GB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left"/>
                              </m:oMathParaPr>
                              <m:oMath xmlns:m="http://schemas.openxmlformats.org/officeDocument/2006/math">
                                <m:f>
                                  <m:fPr>
                                    <m:type m:val="skw"/>
                                    <m:ctrlPr>
                                      <a:rPr lang="en-GB" b="0" i="1" dirty="0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en-GB" b="0" i="1" dirty="0" smtClean="0"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num>
                                  <m:den>
                                    <m:r>
                                      <a:rPr lang="en-GB" b="0" i="1" dirty="0" smtClean="0"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den>
                                </m:f>
                              </m:oMath>
                            </m:oMathPara>
                          </a14:m>
                          <a:endParaRPr lang="en-GB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left"/>
                              </m:oMathParaPr>
                              <m:oMath xmlns:m="http://schemas.openxmlformats.org/officeDocument/2006/math">
                                <m:f>
                                  <m:fPr>
                                    <m:type m:val="skw"/>
                                    <m:ctrlPr>
                                      <a:rPr lang="en-GB" i="1" dirty="0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en-GB" b="0" i="1" dirty="0" smtClean="0"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num>
                                  <m:den>
                                    <m:r>
                                      <a:rPr lang="en-GB" b="0" i="1" dirty="0" smtClean="0">
                                        <a:latin typeface="Cambria Math" panose="02040503050406030204" pitchFamily="18" charset="0"/>
                                      </a:rPr>
                                      <m:t>4</m:t>
                                    </m:r>
                                  </m:den>
                                </m:f>
                              </m:oMath>
                            </m:oMathPara>
                          </a14:m>
                          <a:endParaRPr lang="en-GB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left"/>
                              </m:oMathParaPr>
                              <m:oMath xmlns:m="http://schemas.openxmlformats.org/officeDocument/2006/math">
                                <m:f>
                                  <m:fPr>
                                    <m:type m:val="skw"/>
                                    <m:ctrlPr>
                                      <a:rPr lang="en-GB" i="1" dirty="0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en-GB" b="0" i="1" dirty="0" smtClean="0"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num>
                                  <m:den>
                                    <m:r>
                                      <a:rPr lang="en-GB" b="0" i="1" dirty="0" smtClean="0">
                                        <a:latin typeface="Cambria Math" panose="02040503050406030204" pitchFamily="18" charset="0"/>
                                      </a:rPr>
                                      <m:t>8</m:t>
                                    </m:r>
                                  </m:den>
                                </m:f>
                              </m:oMath>
                            </m:oMathPara>
                          </a14:m>
                          <a:endParaRPr lang="en-GB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left"/>
                              </m:oMathParaPr>
                              <m:oMath xmlns:m="http://schemas.openxmlformats.org/officeDocument/2006/math">
                                <m:f>
                                  <m:fPr>
                                    <m:type m:val="skw"/>
                                    <m:ctrlPr>
                                      <a:rPr lang="en-GB" i="1" dirty="0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en-GB" b="0" i="1" dirty="0" smtClean="0"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num>
                                  <m:den>
                                    <m:r>
                                      <a:rPr lang="en-GB" b="0" i="1" dirty="0" smtClean="0">
                                        <a:latin typeface="Cambria Math" panose="02040503050406030204" pitchFamily="18" charset="0"/>
                                      </a:rPr>
                                      <m:t>16</m:t>
                                    </m:r>
                                  </m:den>
                                </m:f>
                              </m:oMath>
                            </m:oMathPara>
                          </a14:m>
                          <a:endParaRPr lang="en-GB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left"/>
                              </m:oMathParaPr>
                              <m:oMath xmlns:m="http://schemas.openxmlformats.org/officeDocument/2006/math">
                                <m:f>
                                  <m:fPr>
                                    <m:type m:val="skw"/>
                                    <m:ctrlPr>
                                      <a:rPr lang="en-GB" i="1" dirty="0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en-GB" b="0" i="1" dirty="0" smtClean="0"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num>
                                  <m:den>
                                    <m:r>
                                      <a:rPr lang="en-GB" b="0" i="1" dirty="0" smtClean="0">
                                        <a:latin typeface="Cambria Math" panose="02040503050406030204" pitchFamily="18" charset="0"/>
                                      </a:rPr>
                                      <m:t>32</m:t>
                                    </m:r>
                                  </m:den>
                                </m:f>
                              </m:oMath>
                            </m:oMathPara>
                          </a14:m>
                          <a:endParaRPr lang="en-GB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96865363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GB" dirty="0"/>
                            <a:t>Evaluate</a:t>
                          </a:r>
                        </a:p>
                      </a:txBody>
                      <a:tcPr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</a:tcPr>
                    </a:tc>
                    <a:tc>
                      <a:txBody>
                        <a:bodyPr/>
                        <a:lstStyle/>
                        <a:p>
                          <a:endParaRPr lang="en-GB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left"/>
                              </m:oMathParaPr>
                              <m:oMath xmlns:m="http://schemas.openxmlformats.org/officeDocument/2006/math">
                                <m:r>
                                  <a:rPr lang="en-GB" b="0" i="1" dirty="0" smtClean="0">
                                    <a:latin typeface="Cambria Math" panose="02040503050406030204" pitchFamily="18" charset="0"/>
                                  </a:rPr>
                                  <m:t>1×</m:t>
                                </m:r>
                                <m:f>
                                  <m:fPr>
                                    <m:type m:val="skw"/>
                                    <m:ctrlPr>
                                      <a:rPr lang="en-GB" b="0" i="1" dirty="0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en-GB" b="0" i="1" dirty="0" smtClean="0"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num>
                                  <m:den>
                                    <m:r>
                                      <a:rPr lang="en-GB" b="0" i="1" dirty="0" smtClean="0"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den>
                                </m:f>
                              </m:oMath>
                            </m:oMathPara>
                          </a14:m>
                          <a:endParaRPr lang="en-GB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left"/>
                              </m:oMathParaPr>
                              <m:oMath xmlns:m="http://schemas.openxmlformats.org/officeDocument/2006/math">
                                <m:r>
                                  <a:rPr lang="en-GB" b="0" i="0" dirty="0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  <m:r>
                                  <a:rPr lang="en-GB" i="1" dirty="0" smtClean="0">
                                    <a:latin typeface="Cambria Math" panose="02040503050406030204" pitchFamily="18" charset="0"/>
                                  </a:rPr>
                                  <m:t>×</m:t>
                                </m:r>
                                <m:f>
                                  <m:fPr>
                                    <m:type m:val="skw"/>
                                    <m:ctrlPr>
                                      <a:rPr lang="en-GB" i="1" dirty="0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en-GB" b="0" i="1" dirty="0" smtClean="0"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num>
                                  <m:den>
                                    <m:r>
                                      <a:rPr lang="en-GB" b="0" i="1" dirty="0" smtClean="0">
                                        <a:latin typeface="Cambria Math" panose="02040503050406030204" pitchFamily="18" charset="0"/>
                                      </a:rPr>
                                      <m:t>4</m:t>
                                    </m:r>
                                  </m:den>
                                </m:f>
                              </m:oMath>
                            </m:oMathPara>
                          </a14:m>
                          <a:endParaRPr lang="en-GB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left"/>
                              </m:oMathParaPr>
                              <m:oMath xmlns:m="http://schemas.openxmlformats.org/officeDocument/2006/math">
                                <m:r>
                                  <a:rPr lang="en-GB" b="0" i="0" dirty="0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  <m:r>
                                  <a:rPr lang="en-GB" i="1" dirty="0" smtClean="0">
                                    <a:latin typeface="Cambria Math" panose="02040503050406030204" pitchFamily="18" charset="0"/>
                                  </a:rPr>
                                  <m:t>×</m:t>
                                </m:r>
                                <m:f>
                                  <m:fPr>
                                    <m:type m:val="skw"/>
                                    <m:ctrlPr>
                                      <a:rPr lang="en-GB" i="1" dirty="0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en-GB" b="0" i="1" dirty="0" smtClean="0"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num>
                                  <m:den>
                                    <m:r>
                                      <a:rPr lang="en-GB" b="0" i="1" dirty="0" smtClean="0">
                                        <a:latin typeface="Cambria Math" panose="02040503050406030204" pitchFamily="18" charset="0"/>
                                      </a:rPr>
                                      <m:t>8</m:t>
                                    </m:r>
                                  </m:den>
                                </m:f>
                              </m:oMath>
                            </m:oMathPara>
                          </a14:m>
                          <a:endParaRPr lang="en-GB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left"/>
                              </m:oMathParaPr>
                              <m:oMath xmlns:m="http://schemas.openxmlformats.org/officeDocument/2006/math">
                                <m:r>
                                  <a:rPr lang="en-GB" b="0" i="1" dirty="0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  <m:r>
                                  <a:rPr lang="en-GB" i="1" dirty="0" smtClean="0">
                                    <a:latin typeface="Cambria Math" panose="02040503050406030204" pitchFamily="18" charset="0"/>
                                  </a:rPr>
                                  <m:t>×</m:t>
                                </m:r>
                                <m:f>
                                  <m:fPr>
                                    <m:type m:val="skw"/>
                                    <m:ctrlPr>
                                      <a:rPr lang="en-GB" i="1" dirty="0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en-GB" b="0" i="1" dirty="0" smtClean="0"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num>
                                  <m:den>
                                    <m:r>
                                      <a:rPr lang="en-GB" b="0" i="1" dirty="0" smtClean="0">
                                        <a:latin typeface="Cambria Math" panose="02040503050406030204" pitchFamily="18" charset="0"/>
                                      </a:rPr>
                                      <m:t>16</m:t>
                                    </m:r>
                                  </m:den>
                                </m:f>
                              </m:oMath>
                            </m:oMathPara>
                          </a14:m>
                          <a:endParaRPr lang="en-GB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left"/>
                              </m:oMathParaPr>
                              <m:oMath xmlns:m="http://schemas.openxmlformats.org/officeDocument/2006/math">
                                <m:r>
                                  <a:rPr lang="en-GB" b="0" i="0" dirty="0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  <m:r>
                                  <a:rPr lang="en-GB" i="1" dirty="0" smtClean="0">
                                    <a:latin typeface="Cambria Math" panose="02040503050406030204" pitchFamily="18" charset="0"/>
                                  </a:rPr>
                                  <m:t>×</m:t>
                                </m:r>
                                <m:f>
                                  <m:fPr>
                                    <m:type m:val="skw"/>
                                    <m:ctrlPr>
                                      <a:rPr lang="en-GB" i="1" dirty="0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en-GB" b="0" i="1" dirty="0" smtClean="0"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num>
                                  <m:den>
                                    <m:r>
                                      <a:rPr lang="en-GB" b="0" i="1" dirty="0" smtClean="0">
                                        <a:latin typeface="Cambria Math" panose="02040503050406030204" pitchFamily="18" charset="0"/>
                                      </a:rPr>
                                      <m:t>32</m:t>
                                    </m:r>
                                  </m:den>
                                </m:f>
                              </m:oMath>
                            </m:oMathPara>
                          </a14:m>
                          <a:endParaRPr lang="en-GB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08306508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GB" dirty="0"/>
                            <a:t>Result</a:t>
                          </a:r>
                        </a:p>
                      </a:txBody>
                      <a:tcPr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</a:tcPr>
                    </a:tc>
                    <a:tc>
                      <a:txBody>
                        <a:bodyPr/>
                        <a:lstStyle/>
                        <a:p>
                          <a:endParaRPr lang="en-GB" dirty="0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GB" dirty="0"/>
                            <a:t>0.5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GB" dirty="0"/>
                            <a:t>0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GB" dirty="0"/>
                            <a:t>0.125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GB" dirty="0"/>
                            <a:t>0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GB" dirty="0"/>
                            <a:t>0.03125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137900020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6" name="Table 5">
                <a:extLst>
                  <a:ext uri="{FF2B5EF4-FFF2-40B4-BE49-F238E27FC236}">
                    <a16:creationId xmlns:a16="http://schemas.microsoft.com/office/drawing/2014/main" id="{B38CBC8B-0894-D390-A1C3-849591E65E13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987506593"/>
                  </p:ext>
                </p:extLst>
              </p:nvPr>
            </p:nvGraphicFramePr>
            <p:xfrm>
              <a:off x="1643116" y="4680957"/>
              <a:ext cx="9045905" cy="1641476"/>
            </p:xfrm>
            <a:graphic>
              <a:graphicData uri="http://schemas.openxmlformats.org/drawingml/2006/table">
                <a:tbl>
                  <a:tblPr>
                    <a:tableStyleId>{2D5ABB26-0587-4C30-8999-92F81FD0307C}</a:tableStyleId>
                  </a:tblPr>
                  <a:tblGrid>
                    <a:gridCol w="971525">
                      <a:extLst>
                        <a:ext uri="{9D8B030D-6E8A-4147-A177-3AD203B41FA5}">
                          <a16:colId xmlns:a16="http://schemas.microsoft.com/office/drawing/2014/main" val="20000877"/>
                        </a:ext>
                      </a:extLst>
                    </a:gridCol>
                    <a:gridCol w="536125">
                      <a:extLst>
                        <a:ext uri="{9D8B030D-6E8A-4147-A177-3AD203B41FA5}">
                          <a16:colId xmlns:a16="http://schemas.microsoft.com/office/drawing/2014/main" val="932202970"/>
                        </a:ext>
                      </a:extLst>
                    </a:gridCol>
                    <a:gridCol w="1507651">
                      <a:extLst>
                        <a:ext uri="{9D8B030D-6E8A-4147-A177-3AD203B41FA5}">
                          <a16:colId xmlns:a16="http://schemas.microsoft.com/office/drawing/2014/main" val="558571569"/>
                        </a:ext>
                      </a:extLst>
                    </a:gridCol>
                    <a:gridCol w="1507651">
                      <a:extLst>
                        <a:ext uri="{9D8B030D-6E8A-4147-A177-3AD203B41FA5}">
                          <a16:colId xmlns:a16="http://schemas.microsoft.com/office/drawing/2014/main" val="3964847538"/>
                        </a:ext>
                      </a:extLst>
                    </a:gridCol>
                    <a:gridCol w="1507651">
                      <a:extLst>
                        <a:ext uri="{9D8B030D-6E8A-4147-A177-3AD203B41FA5}">
                          <a16:colId xmlns:a16="http://schemas.microsoft.com/office/drawing/2014/main" val="3149436993"/>
                        </a:ext>
                      </a:extLst>
                    </a:gridCol>
                    <a:gridCol w="1507651">
                      <a:extLst>
                        <a:ext uri="{9D8B030D-6E8A-4147-A177-3AD203B41FA5}">
                          <a16:colId xmlns:a16="http://schemas.microsoft.com/office/drawing/2014/main" val="2662965903"/>
                        </a:ext>
                      </a:extLst>
                    </a:gridCol>
                    <a:gridCol w="1507651">
                      <a:extLst>
                        <a:ext uri="{9D8B030D-6E8A-4147-A177-3AD203B41FA5}">
                          <a16:colId xmlns:a16="http://schemas.microsoft.com/office/drawing/2014/main" val="3669278041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r>
                            <a:rPr lang="en-GB" dirty="0"/>
                            <a:t>Place</a:t>
                          </a:r>
                        </a:p>
                      </a:txBody>
                      <a:tcPr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</a:tcPr>
                    </a:tc>
                    <a:tc>
                      <a:txBody>
                        <a:bodyPr/>
                        <a:lstStyle/>
                        <a:p>
                          <a:endParaRPr lang="en-GB" dirty="0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GB" dirty="0"/>
                            <a:t>2</a:t>
                          </a:r>
                          <a:r>
                            <a:rPr lang="en-GB" baseline="30000" dirty="0"/>
                            <a:t>-1</a:t>
                          </a:r>
                          <a:endParaRPr lang="en-GB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GB" dirty="0"/>
                            <a:t>2</a:t>
                          </a:r>
                          <a:r>
                            <a:rPr lang="en-GB" baseline="30000" dirty="0"/>
                            <a:t>-2</a:t>
                          </a:r>
                          <a:endParaRPr lang="en-GB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GB" dirty="0"/>
                            <a:t>2</a:t>
                          </a:r>
                          <a:r>
                            <a:rPr lang="en-GB" baseline="30000" dirty="0"/>
                            <a:t>-3</a:t>
                          </a:r>
                          <a:endParaRPr lang="en-GB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GB" dirty="0"/>
                            <a:t>2</a:t>
                          </a:r>
                          <a:r>
                            <a:rPr lang="en-GB" baseline="30000" dirty="0"/>
                            <a:t>-4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GB" baseline="0" dirty="0"/>
                            <a:t>2</a:t>
                          </a:r>
                          <a:r>
                            <a:rPr lang="en-GB" baseline="30000" dirty="0"/>
                            <a:t>-5</a:t>
                          </a:r>
                          <a:endParaRPr lang="en-GB" baseline="0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048152843"/>
                      </a:ext>
                    </a:extLst>
                  </a:tr>
                  <a:tr h="449898">
                    <a:tc>
                      <a:txBody>
                        <a:bodyPr/>
                        <a:lstStyle/>
                        <a:p>
                          <a:r>
                            <a:rPr lang="en-GB" dirty="0"/>
                            <a:t>Value</a:t>
                          </a:r>
                        </a:p>
                      </a:txBody>
                      <a:tcPr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</a:tcPr>
                    </a:tc>
                    <a:tc>
                      <a:txBody>
                        <a:bodyPr/>
                        <a:lstStyle/>
                        <a:p>
                          <a:endParaRPr lang="en-GB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99597" t="-117333" r="-399194" b="-284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200405" t="-117333" r="-300810" b="-284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299194" t="-117333" r="-199597" b="-284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400810" t="-117333" r="-100405" b="-284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498790" t="-117333" b="-284000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96865363"/>
                      </a:ext>
                    </a:extLst>
                  </a:tr>
                  <a:tr h="449898">
                    <a:tc>
                      <a:txBody>
                        <a:bodyPr/>
                        <a:lstStyle/>
                        <a:p>
                          <a:r>
                            <a:rPr lang="en-GB" dirty="0"/>
                            <a:t>Evaluate</a:t>
                          </a:r>
                        </a:p>
                      </a:txBody>
                      <a:tcPr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</a:tcPr>
                    </a:tc>
                    <a:tc>
                      <a:txBody>
                        <a:bodyPr/>
                        <a:lstStyle/>
                        <a:p>
                          <a:endParaRPr lang="en-GB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99597" t="-220270" r="-399194" b="-187838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200405" t="-220270" r="-300810" b="-187838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299194" t="-220270" r="-199597" b="-187838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400810" t="-220270" r="-100405" b="-187838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498790" t="-220270" b="-187838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08306508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GB" dirty="0"/>
                            <a:t>Result</a:t>
                          </a:r>
                        </a:p>
                      </a:txBody>
                      <a:tcPr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</a:tcPr>
                    </a:tc>
                    <a:tc>
                      <a:txBody>
                        <a:bodyPr/>
                        <a:lstStyle/>
                        <a:p>
                          <a:endParaRPr lang="en-GB" dirty="0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GB" dirty="0"/>
                            <a:t>0.5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GB" dirty="0"/>
                            <a:t>0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GB" dirty="0"/>
                            <a:t>0.125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GB" dirty="0"/>
                            <a:t>0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GB" dirty="0"/>
                            <a:t>0.03125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137900020"/>
                      </a:ext>
                    </a:extLst>
                  </a:tr>
                </a:tbl>
              </a:graphicData>
            </a:graphic>
          </p:graphicFrame>
        </mc:Fallback>
      </mc:AlternateContent>
    </p:spTree>
    <p:extLst>
      <p:ext uri="{BB962C8B-B14F-4D97-AF65-F5344CB8AC3E}">
        <p14:creationId xmlns:p14="http://schemas.microsoft.com/office/powerpoint/2010/main" val="1590369973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AC319F0-F787-9C7C-D71A-7B73AAE6AEF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Binary and Decimal Fractions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8C1524D-D767-5579-E934-378381A26A5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There is no general relationship between fractions of types 1/10</a:t>
            </a:r>
            <a:r>
              <a:rPr lang="en-GB" baseline="30000" dirty="0"/>
              <a:t>k</a:t>
            </a:r>
            <a:r>
              <a:rPr lang="en-GB" dirty="0"/>
              <a:t> and 1/2</a:t>
            </a:r>
            <a:r>
              <a:rPr lang="en-GB" baseline="30000" dirty="0"/>
              <a:t>k</a:t>
            </a:r>
            <a:r>
              <a:rPr lang="en-GB" dirty="0"/>
              <a:t>.</a:t>
            </a:r>
          </a:p>
          <a:p>
            <a:r>
              <a:rPr lang="en-GB" dirty="0"/>
              <a:t>Therefore, a number representable in base 10 may not be representable in base 2.</a:t>
            </a:r>
          </a:p>
          <a:p>
            <a:r>
              <a:rPr lang="en-GB" dirty="0"/>
              <a:t>But the converse is true: all fractions of the form 1/2</a:t>
            </a:r>
            <a:r>
              <a:rPr lang="en-GB" baseline="30000" dirty="0"/>
              <a:t>k</a:t>
            </a:r>
            <a:r>
              <a:rPr lang="en-GB" dirty="0"/>
              <a:t> can be represented in base 10.</a:t>
            </a:r>
          </a:p>
        </p:txBody>
      </p:sp>
    </p:spTree>
    <p:extLst>
      <p:ext uri="{BB962C8B-B14F-4D97-AF65-F5344CB8AC3E}">
        <p14:creationId xmlns:p14="http://schemas.microsoft.com/office/powerpoint/2010/main" val="3948707397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E39731A-10B3-3D96-46B1-124EED69996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Converting decimal fractions to binary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3AD9732-4423-B545-E7FA-45E88358180C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92500" lnSpcReduction="10000"/>
              </a:bodyPr>
              <a:lstStyle/>
              <a:p>
                <a:r>
                  <a:rPr lang="en-GB" dirty="0"/>
                  <a:t>Take the decimal fraction </a:t>
                </a:r>
                <a14:m>
                  <m:oMath xmlns:m="http://schemas.openxmlformats.org/officeDocument/2006/math">
                    <m:r>
                      <a:rPr lang="en-GB" i="1" dirty="0" smtClean="0">
                        <a:latin typeface="Cambria Math" panose="02040503050406030204" pitchFamily="18" charset="0"/>
                      </a:rPr>
                      <m:t>𝑓</m:t>
                    </m:r>
                    <m:r>
                      <a:rPr lang="en-GB" i="1" baseline="-25000" dirty="0">
                        <a:latin typeface="Cambria Math" panose="02040503050406030204" pitchFamily="18" charset="0"/>
                      </a:rPr>
                      <m:t>0</m:t>
                    </m:r>
                  </m:oMath>
                </a14:m>
                <a:r>
                  <a:rPr lang="en-GB" dirty="0"/>
                  <a:t>, where </a:t>
                </a:r>
                <a14:m>
                  <m:oMath xmlns:m="http://schemas.openxmlformats.org/officeDocument/2006/math">
                    <m:r>
                      <a:rPr lang="en-GB" i="1" dirty="0" smtClean="0">
                        <a:latin typeface="Cambria Math" panose="02040503050406030204" pitchFamily="18" charset="0"/>
                      </a:rPr>
                      <m:t>0≤</m:t>
                    </m:r>
                    <m:r>
                      <a:rPr lang="en-GB" i="1" dirty="0" smtClean="0">
                        <a:latin typeface="Cambria Math" panose="02040503050406030204" pitchFamily="18" charset="0"/>
                      </a:rPr>
                      <m:t>𝑓</m:t>
                    </m:r>
                    <m:r>
                      <a:rPr lang="en-GB" i="1" baseline="-25000" dirty="0">
                        <a:latin typeface="Cambria Math" panose="02040503050406030204" pitchFamily="18" charset="0"/>
                      </a:rPr>
                      <m:t>0</m:t>
                    </m:r>
                    <m:r>
                      <a:rPr lang="en-GB" i="1" dirty="0">
                        <a:latin typeface="Cambria Math" panose="02040503050406030204" pitchFamily="18" charset="0"/>
                      </a:rPr>
                      <m:t>&lt;1</m:t>
                    </m:r>
                  </m:oMath>
                </a14:m>
                <a:endParaRPr lang="en-GB" dirty="0"/>
              </a:p>
              <a:p>
                <a:pPr marL="514350" indent="-514350">
                  <a:buFont typeface="+mj-lt"/>
                  <a:buAutoNum type="arabicPeriod"/>
                </a:pPr>
                <a:r>
                  <a:rPr lang="en-GB" dirty="0"/>
                  <a:t>Multiply </a:t>
                </a:r>
                <a14:m>
                  <m:oMath xmlns:m="http://schemas.openxmlformats.org/officeDocument/2006/math">
                    <m:r>
                      <a:rPr lang="en-GB" i="1" dirty="0" smtClean="0">
                        <a:latin typeface="Cambria Math" panose="02040503050406030204" pitchFamily="18" charset="0"/>
                      </a:rPr>
                      <m:t>𝑓</m:t>
                    </m:r>
                    <m:r>
                      <a:rPr lang="en-GB" i="1" baseline="-25000" dirty="0">
                        <a:latin typeface="Cambria Math" panose="02040503050406030204" pitchFamily="18" charset="0"/>
                      </a:rPr>
                      <m:t>0</m:t>
                    </m:r>
                  </m:oMath>
                </a14:m>
                <a:r>
                  <a:rPr lang="en-GB" dirty="0"/>
                  <a:t> by 2 to get </a:t>
                </a:r>
                <a14:m>
                  <m:oMath xmlns:m="http://schemas.openxmlformats.org/officeDocument/2006/math">
                    <m:r>
                      <a:rPr lang="en-GB" i="1" dirty="0" smtClean="0">
                        <a:latin typeface="Cambria Math" panose="02040503050406030204" pitchFamily="18" charset="0"/>
                      </a:rPr>
                      <m:t>𝑝</m:t>
                    </m:r>
                    <m:r>
                      <a:rPr lang="en-GB" i="1" baseline="-25000" dirty="0">
                        <a:latin typeface="Cambria Math" panose="02040503050406030204" pitchFamily="18" charset="0"/>
                      </a:rPr>
                      <m:t>1</m:t>
                    </m:r>
                  </m:oMath>
                </a14:m>
                <a:r>
                  <a:rPr lang="en-GB" dirty="0"/>
                  <a:t>, if </a:t>
                </a:r>
                <a14:m>
                  <m:oMath xmlns:m="http://schemas.openxmlformats.org/officeDocument/2006/math">
                    <m:r>
                      <a:rPr lang="en-GB" i="1" dirty="0" smtClean="0">
                        <a:latin typeface="Cambria Math" panose="02040503050406030204" pitchFamily="18" charset="0"/>
                      </a:rPr>
                      <m:t>𝑝</m:t>
                    </m:r>
                    <m:r>
                      <a:rPr lang="en-GB" i="1" baseline="-25000" dirty="0">
                        <a:latin typeface="Cambria Math" panose="02040503050406030204" pitchFamily="18" charset="0"/>
                      </a:rPr>
                      <m:t>1</m:t>
                    </m:r>
                    <m:r>
                      <a:rPr lang="en-GB" i="1" dirty="0">
                        <a:latin typeface="Cambria Math" panose="02040503050406030204" pitchFamily="18" charset="0"/>
                      </a:rPr>
                      <m:t>≥1</m:t>
                    </m:r>
                  </m:oMath>
                </a14:m>
                <a:r>
                  <a:rPr lang="en-GB" dirty="0"/>
                  <a:t>, record 1 as first binary digit to right of point, if </a:t>
                </a:r>
                <a14:m>
                  <m:oMath xmlns:m="http://schemas.openxmlformats.org/officeDocument/2006/math">
                    <m:r>
                      <a:rPr lang="en-GB" i="1" dirty="0" smtClean="0">
                        <a:latin typeface="Cambria Math" panose="02040503050406030204" pitchFamily="18" charset="0"/>
                      </a:rPr>
                      <m:t>𝑝</m:t>
                    </m:r>
                    <m:r>
                      <a:rPr lang="en-GB" i="1" baseline="-25000" dirty="0">
                        <a:latin typeface="Cambria Math" panose="02040503050406030204" pitchFamily="18" charset="0"/>
                      </a:rPr>
                      <m:t>1 </m:t>
                    </m:r>
                    <m:r>
                      <a:rPr lang="en-GB" i="1" dirty="0">
                        <a:latin typeface="Cambria Math" panose="02040503050406030204" pitchFamily="18" charset="0"/>
                      </a:rPr>
                      <m:t>&lt; 1</m:t>
                    </m:r>
                  </m:oMath>
                </a14:m>
                <a:r>
                  <a:rPr lang="en-GB" dirty="0"/>
                  <a:t>, record 0.</a:t>
                </a:r>
              </a:p>
              <a:p>
                <a:pPr marL="514350" indent="-514350">
                  <a:buFont typeface="+mj-lt"/>
                  <a:buAutoNum type="arabicPeriod"/>
                </a:pPr>
                <a:r>
                  <a:rPr lang="en-GB" dirty="0"/>
                  <a:t>If </a:t>
                </a:r>
                <a14:m>
                  <m:oMath xmlns:m="http://schemas.openxmlformats.org/officeDocument/2006/math">
                    <m:r>
                      <a:rPr lang="en-GB" i="1" dirty="0" smtClean="0">
                        <a:latin typeface="Cambria Math" panose="02040503050406030204" pitchFamily="18" charset="0"/>
                      </a:rPr>
                      <m:t>𝑝</m:t>
                    </m:r>
                    <m:r>
                      <a:rPr lang="en-GB" i="1" baseline="-25000" dirty="0">
                        <a:latin typeface="Cambria Math" panose="02040503050406030204" pitchFamily="18" charset="0"/>
                      </a:rPr>
                      <m:t>1</m:t>
                    </m:r>
                    <m:r>
                      <a:rPr lang="en-GB" i="1" dirty="0">
                        <a:latin typeface="Cambria Math" panose="02040503050406030204" pitchFamily="18" charset="0"/>
                      </a:rPr>
                      <m:t>=1</m:t>
                    </m:r>
                  </m:oMath>
                </a14:m>
                <a:r>
                  <a:rPr lang="en-GB" dirty="0"/>
                  <a:t>, stop.</a:t>
                </a:r>
              </a:p>
              <a:p>
                <a:pPr marL="514350" indent="-514350">
                  <a:buFont typeface="+mj-lt"/>
                  <a:buAutoNum type="arabicPeriod"/>
                </a:pPr>
                <a:r>
                  <a:rPr lang="en-GB" dirty="0"/>
                  <a:t>Otherwise, set </a:t>
                </a:r>
                <a14:m>
                  <m:oMath xmlns:m="http://schemas.openxmlformats.org/officeDocument/2006/math">
                    <m:r>
                      <a:rPr lang="en-GB" i="1" dirty="0" smtClean="0">
                        <a:latin typeface="Cambria Math" panose="02040503050406030204" pitchFamily="18" charset="0"/>
                      </a:rPr>
                      <m:t>𝑓</m:t>
                    </m:r>
                    <m:r>
                      <a:rPr lang="en-GB" i="1" baseline="-25000" dirty="0">
                        <a:latin typeface="Cambria Math" panose="02040503050406030204" pitchFamily="18" charset="0"/>
                      </a:rPr>
                      <m:t>1</m:t>
                    </m:r>
                  </m:oMath>
                </a14:m>
                <a:r>
                  <a:rPr lang="en-GB" dirty="0"/>
                  <a:t> to be </a:t>
                </a:r>
                <a14:m>
                  <m:oMath xmlns:m="http://schemas.openxmlformats.org/officeDocument/2006/math">
                    <m:r>
                      <a:rPr lang="en-GB" i="1" dirty="0" smtClean="0">
                        <a:latin typeface="Cambria Math" panose="02040503050406030204" pitchFamily="18" charset="0"/>
                      </a:rPr>
                      <m:t>𝑝</m:t>
                    </m:r>
                    <m:r>
                      <a:rPr lang="en-GB" i="1" baseline="-25000" dirty="0">
                        <a:latin typeface="Cambria Math" panose="02040503050406030204" pitchFamily="18" charset="0"/>
                      </a:rPr>
                      <m:t>1</m:t>
                    </m:r>
                    <m:r>
                      <a:rPr lang="en-GB" i="1" dirty="0">
                        <a:latin typeface="Cambria Math" panose="02040503050406030204" pitchFamily="18" charset="0"/>
                      </a:rPr>
                      <m:t>−1</m:t>
                    </m:r>
                  </m:oMath>
                </a14:m>
                <a:r>
                  <a:rPr lang="en-GB" dirty="0"/>
                  <a:t> if </a:t>
                </a:r>
                <a14:m>
                  <m:oMath xmlns:m="http://schemas.openxmlformats.org/officeDocument/2006/math">
                    <m:r>
                      <a:rPr lang="en-GB" i="1" dirty="0" smtClean="0">
                        <a:latin typeface="Cambria Math" panose="02040503050406030204" pitchFamily="18" charset="0"/>
                      </a:rPr>
                      <m:t>𝑝</m:t>
                    </m:r>
                    <m:r>
                      <a:rPr lang="en-GB" i="1" baseline="-25000" dirty="0">
                        <a:latin typeface="Cambria Math" panose="02040503050406030204" pitchFamily="18" charset="0"/>
                      </a:rPr>
                      <m:t>1</m:t>
                    </m:r>
                    <m:r>
                      <a:rPr lang="en-GB" i="1" dirty="0">
                        <a:latin typeface="Cambria Math" panose="02040503050406030204" pitchFamily="18" charset="0"/>
                      </a:rPr>
                      <m:t>&gt;</m:t>
                    </m:r>
                    <m:r>
                      <a:rPr lang="en-GB" i="1" dirty="0" smtClean="0">
                        <a:latin typeface="Cambria Math" panose="02040503050406030204" pitchFamily="18" charset="0"/>
                      </a:rPr>
                      <m:t>1</m:t>
                    </m:r>
                  </m:oMath>
                </a14:m>
                <a:r>
                  <a:rPr lang="en-GB" dirty="0"/>
                  <a:t>, or </a:t>
                </a:r>
                <a14:m>
                  <m:oMath xmlns:m="http://schemas.openxmlformats.org/officeDocument/2006/math">
                    <m:r>
                      <a:rPr lang="en-GB" i="1" dirty="0" smtClean="0">
                        <a:latin typeface="Cambria Math" panose="02040503050406030204" pitchFamily="18" charset="0"/>
                      </a:rPr>
                      <m:t>𝑝</m:t>
                    </m:r>
                    <m:r>
                      <a:rPr lang="en-GB" i="1" baseline="-25000" dirty="0">
                        <a:latin typeface="Cambria Math" panose="02040503050406030204" pitchFamily="18" charset="0"/>
                      </a:rPr>
                      <m:t>1</m:t>
                    </m:r>
                  </m:oMath>
                </a14:m>
                <a:r>
                  <a:rPr lang="en-GB" dirty="0"/>
                  <a:t> if </a:t>
                </a:r>
                <a14:m>
                  <m:oMath xmlns:m="http://schemas.openxmlformats.org/officeDocument/2006/math">
                    <m:r>
                      <a:rPr lang="en-GB" i="1" dirty="0" smtClean="0">
                        <a:latin typeface="Cambria Math" panose="02040503050406030204" pitchFamily="18" charset="0"/>
                      </a:rPr>
                      <m:t>𝑝</m:t>
                    </m:r>
                    <m:r>
                      <a:rPr lang="en-GB" i="1" baseline="-25000" dirty="0">
                        <a:latin typeface="Cambria Math" panose="02040503050406030204" pitchFamily="18" charset="0"/>
                      </a:rPr>
                      <m:t>1</m:t>
                    </m:r>
                    <m:r>
                      <a:rPr lang="en-GB" i="1" dirty="0">
                        <a:latin typeface="Cambria Math" panose="02040503050406030204" pitchFamily="18" charset="0"/>
                      </a:rPr>
                      <m:t>&lt;1</m:t>
                    </m:r>
                  </m:oMath>
                </a14:m>
                <a:endParaRPr lang="en-GB" dirty="0"/>
              </a:p>
              <a:p>
                <a:pPr marL="514350" indent="-514350">
                  <a:buFont typeface="+mj-lt"/>
                  <a:buAutoNum type="arabicPeriod"/>
                </a:pPr>
                <a:r>
                  <a:rPr lang="en-GB" dirty="0"/>
                  <a:t>Multiply </a:t>
                </a:r>
                <a14:m>
                  <m:oMath xmlns:m="http://schemas.openxmlformats.org/officeDocument/2006/math">
                    <m:r>
                      <a:rPr lang="en-GB" i="1" dirty="0" smtClean="0">
                        <a:latin typeface="Cambria Math" panose="02040503050406030204" pitchFamily="18" charset="0"/>
                      </a:rPr>
                      <m:t>𝑓</m:t>
                    </m:r>
                    <m:r>
                      <a:rPr lang="en-GB" i="1" baseline="-25000" dirty="0">
                        <a:latin typeface="Cambria Math" panose="02040503050406030204" pitchFamily="18" charset="0"/>
                      </a:rPr>
                      <m:t>1</m:t>
                    </m:r>
                  </m:oMath>
                </a14:m>
                <a:r>
                  <a:rPr lang="en-GB" dirty="0"/>
                  <a:t> by 2 to get </a:t>
                </a:r>
                <a14:m>
                  <m:oMath xmlns:m="http://schemas.openxmlformats.org/officeDocument/2006/math">
                    <m:r>
                      <a:rPr lang="en-GB" i="1" dirty="0" smtClean="0">
                        <a:latin typeface="Cambria Math" panose="02040503050406030204" pitchFamily="18" charset="0"/>
                      </a:rPr>
                      <m:t>𝑝</m:t>
                    </m:r>
                    <m:r>
                      <a:rPr lang="en-GB" i="1" baseline="-25000" dirty="0">
                        <a:latin typeface="Cambria Math" panose="02040503050406030204" pitchFamily="18" charset="0"/>
                      </a:rPr>
                      <m:t>2</m:t>
                    </m:r>
                  </m:oMath>
                </a14:m>
                <a:r>
                  <a:rPr lang="en-GB" dirty="0"/>
                  <a:t>, if </a:t>
                </a:r>
                <a14:m>
                  <m:oMath xmlns:m="http://schemas.openxmlformats.org/officeDocument/2006/math">
                    <m:r>
                      <a:rPr lang="en-GB" i="1" dirty="0" smtClean="0">
                        <a:latin typeface="Cambria Math" panose="02040503050406030204" pitchFamily="18" charset="0"/>
                      </a:rPr>
                      <m:t>𝑝</m:t>
                    </m:r>
                    <m:r>
                      <a:rPr lang="en-GB" i="1" baseline="-25000" dirty="0">
                        <a:latin typeface="Cambria Math" panose="02040503050406030204" pitchFamily="18" charset="0"/>
                      </a:rPr>
                      <m:t>2</m:t>
                    </m:r>
                    <m:r>
                      <a:rPr lang="en-GB" i="1" dirty="0">
                        <a:latin typeface="Cambria Math" panose="02040503050406030204" pitchFamily="18" charset="0"/>
                      </a:rPr>
                      <m:t>≥1</m:t>
                    </m:r>
                  </m:oMath>
                </a14:m>
                <a:r>
                  <a:rPr lang="en-GB" dirty="0"/>
                  <a:t>, record 1 as next binary digit to right of point, if </a:t>
                </a:r>
                <a14:m>
                  <m:oMath xmlns:m="http://schemas.openxmlformats.org/officeDocument/2006/math">
                    <m:r>
                      <a:rPr lang="en-GB" i="1" dirty="0" smtClean="0">
                        <a:latin typeface="Cambria Math" panose="02040503050406030204" pitchFamily="18" charset="0"/>
                      </a:rPr>
                      <m:t>𝑝</m:t>
                    </m:r>
                    <m:r>
                      <a:rPr lang="en-GB" i="1" baseline="-25000" dirty="0">
                        <a:latin typeface="Cambria Math" panose="02040503050406030204" pitchFamily="18" charset="0"/>
                      </a:rPr>
                      <m:t>2</m:t>
                    </m:r>
                    <m:r>
                      <a:rPr lang="en-GB" i="1" dirty="0">
                        <a:latin typeface="Cambria Math" panose="02040503050406030204" pitchFamily="18" charset="0"/>
                      </a:rPr>
                      <m:t>&lt;1</m:t>
                    </m:r>
                  </m:oMath>
                </a14:m>
                <a:r>
                  <a:rPr lang="en-GB" dirty="0"/>
                  <a:t>, record 0.</a:t>
                </a:r>
              </a:p>
              <a:p>
                <a:pPr marL="514350" indent="-514350">
                  <a:buFont typeface="+mj-lt"/>
                  <a:buAutoNum type="arabicPeriod"/>
                </a:pPr>
                <a:r>
                  <a:rPr lang="en-GB" dirty="0"/>
                  <a:t>If </a:t>
                </a:r>
                <a14:m>
                  <m:oMath xmlns:m="http://schemas.openxmlformats.org/officeDocument/2006/math">
                    <m:r>
                      <a:rPr lang="en-GB" i="1" dirty="0" smtClean="0">
                        <a:latin typeface="Cambria Math" panose="02040503050406030204" pitchFamily="18" charset="0"/>
                      </a:rPr>
                      <m:t>𝑝</m:t>
                    </m:r>
                    <m:r>
                      <a:rPr lang="en-GB" i="1" baseline="-25000" dirty="0">
                        <a:latin typeface="Cambria Math" panose="02040503050406030204" pitchFamily="18" charset="0"/>
                      </a:rPr>
                      <m:t>2</m:t>
                    </m:r>
                    <m:r>
                      <a:rPr lang="en-GB" i="1" dirty="0">
                        <a:latin typeface="Cambria Math" panose="02040503050406030204" pitchFamily="18" charset="0"/>
                      </a:rPr>
                      <m:t>=1</m:t>
                    </m:r>
                  </m:oMath>
                </a14:m>
                <a:r>
                  <a:rPr lang="en-GB" dirty="0"/>
                  <a:t>, stop.</a:t>
                </a:r>
              </a:p>
              <a:p>
                <a:pPr marL="514350" indent="-514350">
                  <a:buFont typeface="+mj-lt"/>
                  <a:buAutoNum type="arabicPeriod"/>
                </a:pPr>
                <a:r>
                  <a:rPr lang="en-GB" dirty="0"/>
                  <a:t>Otherwise, set </a:t>
                </a:r>
                <a14:m>
                  <m:oMath xmlns:m="http://schemas.openxmlformats.org/officeDocument/2006/math">
                    <m:r>
                      <a:rPr lang="en-GB" i="1" dirty="0" smtClean="0">
                        <a:latin typeface="Cambria Math" panose="02040503050406030204" pitchFamily="18" charset="0"/>
                      </a:rPr>
                      <m:t>𝑓</m:t>
                    </m:r>
                    <m:r>
                      <a:rPr lang="en-GB" i="1" baseline="-25000" dirty="0">
                        <a:latin typeface="Cambria Math" panose="02040503050406030204" pitchFamily="18" charset="0"/>
                      </a:rPr>
                      <m:t>2</m:t>
                    </m:r>
                  </m:oMath>
                </a14:m>
                <a:r>
                  <a:rPr lang="en-GB" dirty="0"/>
                  <a:t> to be </a:t>
                </a:r>
                <a14:m>
                  <m:oMath xmlns:m="http://schemas.openxmlformats.org/officeDocument/2006/math">
                    <m:r>
                      <a:rPr lang="en-GB" i="1" dirty="0" smtClean="0">
                        <a:latin typeface="Cambria Math" panose="02040503050406030204" pitchFamily="18" charset="0"/>
                      </a:rPr>
                      <m:t>𝑝</m:t>
                    </m:r>
                    <m:r>
                      <a:rPr lang="en-GB" i="1" baseline="-25000" dirty="0">
                        <a:latin typeface="Cambria Math" panose="02040503050406030204" pitchFamily="18" charset="0"/>
                      </a:rPr>
                      <m:t>2</m:t>
                    </m:r>
                    <m:r>
                      <a:rPr lang="en-GB" i="1" dirty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n-GB" b="0" i="1" dirty="0" smtClean="0">
                        <a:latin typeface="Cambria Math" panose="02040503050406030204" pitchFamily="18" charset="0"/>
                      </a:rPr>
                      <m:t>−</m:t>
                    </m:r>
                    <m:r>
                      <a:rPr lang="en-GB" i="1" dirty="0">
                        <a:latin typeface="Cambria Math" panose="02040503050406030204" pitchFamily="18" charset="0"/>
                      </a:rPr>
                      <m:t>1</m:t>
                    </m:r>
                  </m:oMath>
                </a14:m>
                <a:r>
                  <a:rPr lang="en-GB" dirty="0"/>
                  <a:t> if </a:t>
                </a:r>
                <a14:m>
                  <m:oMath xmlns:m="http://schemas.openxmlformats.org/officeDocument/2006/math">
                    <m:r>
                      <a:rPr lang="en-GB" i="1" dirty="0" smtClean="0">
                        <a:latin typeface="Cambria Math" panose="02040503050406030204" pitchFamily="18" charset="0"/>
                      </a:rPr>
                      <m:t>𝑝</m:t>
                    </m:r>
                    <m:r>
                      <a:rPr lang="en-GB" i="1" baseline="-25000" dirty="0">
                        <a:latin typeface="Cambria Math" panose="02040503050406030204" pitchFamily="18" charset="0"/>
                      </a:rPr>
                      <m:t>2</m:t>
                    </m:r>
                    <m:r>
                      <a:rPr lang="en-GB" i="1" dirty="0">
                        <a:latin typeface="Cambria Math" panose="02040503050406030204" pitchFamily="18" charset="0"/>
                      </a:rPr>
                      <m:t>&gt;1</m:t>
                    </m:r>
                  </m:oMath>
                </a14:m>
                <a:r>
                  <a:rPr lang="en-GB" dirty="0"/>
                  <a:t> or </a:t>
                </a:r>
                <a14:m>
                  <m:oMath xmlns:m="http://schemas.openxmlformats.org/officeDocument/2006/math">
                    <m:r>
                      <a:rPr lang="en-GB" i="1" dirty="0" smtClean="0">
                        <a:latin typeface="Cambria Math" panose="02040503050406030204" pitchFamily="18" charset="0"/>
                      </a:rPr>
                      <m:t>𝑝</m:t>
                    </m:r>
                    <m:r>
                      <a:rPr lang="en-GB" i="1" baseline="-25000" dirty="0">
                        <a:latin typeface="Cambria Math" panose="02040503050406030204" pitchFamily="18" charset="0"/>
                      </a:rPr>
                      <m:t>2</m:t>
                    </m:r>
                  </m:oMath>
                </a14:m>
                <a:r>
                  <a:rPr lang="en-GB" dirty="0"/>
                  <a:t> if </a:t>
                </a:r>
                <a14:m>
                  <m:oMath xmlns:m="http://schemas.openxmlformats.org/officeDocument/2006/math">
                    <m:r>
                      <a:rPr lang="en-GB" i="1" dirty="0" smtClean="0">
                        <a:latin typeface="Cambria Math" panose="02040503050406030204" pitchFamily="18" charset="0"/>
                      </a:rPr>
                      <m:t>𝑝</m:t>
                    </m:r>
                    <m:r>
                      <a:rPr lang="en-GB" i="1" baseline="-25000" dirty="0">
                        <a:latin typeface="Cambria Math" panose="02040503050406030204" pitchFamily="18" charset="0"/>
                      </a:rPr>
                      <m:t>2</m:t>
                    </m:r>
                    <m:r>
                      <a:rPr lang="en-GB" i="1" dirty="0">
                        <a:latin typeface="Cambria Math" panose="02040503050406030204" pitchFamily="18" charset="0"/>
                      </a:rPr>
                      <m:t>&lt;1</m:t>
                    </m:r>
                  </m:oMath>
                </a14:m>
                <a:endParaRPr lang="en-GB" dirty="0"/>
              </a:p>
              <a:p>
                <a:pPr marL="514350" indent="-514350">
                  <a:buFont typeface="+mj-lt"/>
                  <a:buAutoNum type="arabicPeriod"/>
                </a:pPr>
                <a:r>
                  <a:rPr lang="en-GB" dirty="0"/>
                  <a:t>And so on, until </a:t>
                </a:r>
                <a14:m>
                  <m:oMath xmlns:m="http://schemas.openxmlformats.org/officeDocument/2006/math">
                    <m:r>
                      <a:rPr lang="en-GB" i="1" dirty="0" smtClean="0">
                        <a:latin typeface="Cambria Math" panose="02040503050406030204" pitchFamily="18" charset="0"/>
                      </a:rPr>
                      <m:t>𝑝</m:t>
                    </m:r>
                    <m:r>
                      <a:rPr lang="en-GB" i="1" baseline="-25000" dirty="0">
                        <a:latin typeface="Cambria Math" panose="02040503050406030204" pitchFamily="18" charset="0"/>
                      </a:rPr>
                      <m:t>𝑚</m:t>
                    </m:r>
                    <m:r>
                      <a:rPr lang="en-GB" i="1" dirty="0">
                        <a:latin typeface="Cambria Math" panose="02040503050406030204" pitchFamily="18" charset="0"/>
                      </a:rPr>
                      <m:t>=1</m:t>
                    </m:r>
                  </m:oMath>
                </a14:m>
                <a:endParaRPr lang="en-GB" baseline="-25000" dirty="0"/>
              </a:p>
              <a:p>
                <a:pPr marL="514350" indent="-514350">
                  <a:buFont typeface="+mj-lt"/>
                  <a:buAutoNum type="arabicPeriod"/>
                </a:pPr>
                <a:endParaRPr lang="en-GB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3AD9732-4423-B545-E7FA-45E88358180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101" t="-2801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50512535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230B61B-7DF9-F87F-D3B0-A39A6EA049F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Example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C73BE16-6D33-189E-5E79-2A214C4D3BDF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5"/>
                <a:ext cx="10515600" cy="4795892"/>
              </a:xfrm>
            </p:spPr>
            <p:txBody>
              <a:bodyPr>
                <a:normAutofit fontScale="92500" lnSpcReduction="10000"/>
              </a:bodyPr>
              <a:lstStyle/>
              <a:p>
                <a:r>
                  <a:rPr lang="en-GB" dirty="0"/>
                  <a:t>0.81</a:t>
                </a:r>
                <a:r>
                  <a:rPr lang="en-GB" baseline="-25000" dirty="0"/>
                  <a:t>10</a:t>
                </a:r>
                <a:r>
                  <a:rPr lang="en-GB" dirty="0"/>
                  <a:t> = 0.110011</a:t>
                </a:r>
                <a:r>
                  <a:rPr lang="en-GB" baseline="-25000" dirty="0"/>
                  <a:t>2</a:t>
                </a:r>
                <a:r>
                  <a:rPr lang="en-GB" dirty="0"/>
                  <a:t> (truncated to 6 binary places)</a:t>
                </a:r>
              </a:p>
              <a:p>
                <a:endParaRPr lang="en-GB" dirty="0"/>
              </a:p>
              <a:p>
                <a:endParaRPr lang="en-GB" dirty="0"/>
              </a:p>
              <a:p>
                <a:endParaRPr lang="en-GB" dirty="0"/>
              </a:p>
              <a:p>
                <a:endParaRPr lang="en-GB" dirty="0"/>
              </a:p>
              <a:p>
                <a:endParaRPr lang="en-GB" dirty="0"/>
              </a:p>
              <a:p>
                <a:endParaRPr lang="en-GB" dirty="0"/>
              </a:p>
              <a:p>
                <a:endParaRPr lang="en-GB" dirty="0"/>
              </a:p>
              <a:p>
                <a:endParaRPr lang="en-GB" dirty="0"/>
              </a:p>
              <a:p>
                <a:r>
                  <a:rPr lang="en-GB" dirty="0"/>
                  <a:t>Check: 0.110011</a:t>
                </a:r>
                <a:r>
                  <a:rPr lang="en-GB" baseline="-25000" dirty="0"/>
                  <a:t>2</a:t>
                </a:r>
                <a:r>
                  <a:rPr lang="en-GB" dirty="0"/>
                  <a:t> = 1 </a:t>
                </a:r>
                <a14:m>
                  <m:oMath xmlns:m="http://schemas.openxmlformats.org/officeDocument/2006/math">
                    <m:r>
                      <a:rPr lang="en-GB" i="1" dirty="0" smtClean="0">
                        <a:latin typeface="Cambria Math" panose="02040503050406030204" pitchFamily="18" charset="0"/>
                      </a:rPr>
                      <m:t>×</m:t>
                    </m:r>
                  </m:oMath>
                </a14:m>
                <a:r>
                  <a:rPr lang="en-GB" dirty="0"/>
                  <a:t> 0.5 + 1 </a:t>
                </a:r>
                <a14:m>
                  <m:oMath xmlns:m="http://schemas.openxmlformats.org/officeDocument/2006/math">
                    <m:r>
                      <a:rPr lang="en-GB" i="1" dirty="0">
                        <a:latin typeface="Cambria Math" panose="02040503050406030204" pitchFamily="18" charset="0"/>
                      </a:rPr>
                      <m:t>× </m:t>
                    </m:r>
                  </m:oMath>
                </a14:m>
                <a:r>
                  <a:rPr lang="en-GB" dirty="0"/>
                  <a:t>0.25 + 0 </a:t>
                </a:r>
                <a14:m>
                  <m:oMath xmlns:m="http://schemas.openxmlformats.org/officeDocument/2006/math">
                    <m:r>
                      <a:rPr lang="en-GB" i="1" dirty="0">
                        <a:latin typeface="Cambria Math" panose="02040503050406030204" pitchFamily="18" charset="0"/>
                      </a:rPr>
                      <m:t>× </m:t>
                    </m:r>
                  </m:oMath>
                </a14:m>
                <a:r>
                  <a:rPr lang="en-GB" dirty="0"/>
                  <a:t>0.125 + 0 </a:t>
                </a:r>
                <a14:m>
                  <m:oMath xmlns:m="http://schemas.openxmlformats.org/officeDocument/2006/math">
                    <m:r>
                      <a:rPr lang="en-GB" i="1" dirty="0">
                        <a:latin typeface="Cambria Math" panose="02040503050406030204" pitchFamily="18" charset="0"/>
                      </a:rPr>
                      <m:t>× </m:t>
                    </m:r>
                  </m:oMath>
                </a14:m>
                <a:r>
                  <a:rPr lang="en-GB" dirty="0"/>
                  <a:t>0.0625 + 1 </a:t>
                </a:r>
                <a14:m>
                  <m:oMath xmlns:m="http://schemas.openxmlformats.org/officeDocument/2006/math">
                    <m:r>
                      <a:rPr lang="en-GB" i="1" dirty="0">
                        <a:latin typeface="Cambria Math" panose="02040503050406030204" pitchFamily="18" charset="0"/>
                      </a:rPr>
                      <m:t>× </m:t>
                    </m:r>
                  </m:oMath>
                </a14:m>
                <a:r>
                  <a:rPr lang="en-GB" dirty="0"/>
                  <a:t>0.03125 + 1 </a:t>
                </a:r>
                <a14:m>
                  <m:oMath xmlns:m="http://schemas.openxmlformats.org/officeDocument/2006/math">
                    <m:r>
                      <a:rPr lang="en-GB" i="1" dirty="0">
                        <a:latin typeface="Cambria Math" panose="02040503050406030204" pitchFamily="18" charset="0"/>
                      </a:rPr>
                      <m:t>× </m:t>
                    </m:r>
                  </m:oMath>
                </a14:m>
                <a:r>
                  <a:rPr lang="en-GB" dirty="0"/>
                  <a:t>0.015625 = 0.796875</a:t>
                </a:r>
                <a:r>
                  <a:rPr lang="en-GB" baseline="-25000" dirty="0"/>
                  <a:t>10</a:t>
                </a:r>
                <a:r>
                  <a:rPr lang="en-GB" dirty="0"/>
                  <a:t> 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C73BE16-6D33-189E-5E79-2A214C4D3BD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5"/>
                <a:ext cx="10515600" cy="4795892"/>
              </a:xfrm>
              <a:blipFill>
                <a:blip r:embed="rId2"/>
                <a:stretch>
                  <a:fillRect l="-928" t="-2541" b="-2033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1B1C8898-6C3A-9514-0CC9-4FFDEA7070A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7780916"/>
              </p:ext>
            </p:extLst>
          </p:nvPr>
        </p:nvGraphicFramePr>
        <p:xfrm>
          <a:off x="1422399" y="2380300"/>
          <a:ext cx="8678040" cy="3337327"/>
        </p:xfrm>
        <a:graphic>
          <a:graphicData uri="http://schemas.openxmlformats.org/drawingml/2006/table">
            <a:tbl>
              <a:tblPr firstRow="1" bandRow="1">
                <a:tableStyleId>{7E9639D4-E3E2-4D34-9284-5A2195B3D0D7}</a:tableStyleId>
              </a:tblPr>
              <a:tblGrid>
                <a:gridCol w="2169510">
                  <a:extLst>
                    <a:ext uri="{9D8B030D-6E8A-4147-A177-3AD203B41FA5}">
                      <a16:colId xmlns:a16="http://schemas.microsoft.com/office/drawing/2014/main" val="1651191740"/>
                    </a:ext>
                  </a:extLst>
                </a:gridCol>
                <a:gridCol w="2169510">
                  <a:extLst>
                    <a:ext uri="{9D8B030D-6E8A-4147-A177-3AD203B41FA5}">
                      <a16:colId xmlns:a16="http://schemas.microsoft.com/office/drawing/2014/main" val="192566494"/>
                    </a:ext>
                  </a:extLst>
                </a:gridCol>
                <a:gridCol w="2169510">
                  <a:extLst>
                    <a:ext uri="{9D8B030D-6E8A-4147-A177-3AD203B41FA5}">
                      <a16:colId xmlns:a16="http://schemas.microsoft.com/office/drawing/2014/main" val="1298698823"/>
                    </a:ext>
                  </a:extLst>
                </a:gridCol>
                <a:gridCol w="2169510">
                  <a:extLst>
                    <a:ext uri="{9D8B030D-6E8A-4147-A177-3AD203B41FA5}">
                      <a16:colId xmlns:a16="http://schemas.microsoft.com/office/drawing/2014/main" val="3808791574"/>
                    </a:ext>
                  </a:extLst>
                </a:gridCol>
              </a:tblGrid>
              <a:tr h="476761">
                <a:tc>
                  <a:txBody>
                    <a:bodyPr/>
                    <a:lstStyle/>
                    <a:p>
                      <a:r>
                        <a:rPr lang="en-GB" dirty="0"/>
                        <a:t>Step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Fraction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Product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Bit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22101115"/>
                  </a:ext>
                </a:extLst>
              </a:tr>
              <a:tr h="476761"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0.81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1.62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84838527"/>
                  </a:ext>
                </a:extLst>
              </a:tr>
              <a:tr h="476761">
                <a:tc>
                  <a:txBody>
                    <a:bodyPr/>
                    <a:lstStyle/>
                    <a:p>
                      <a:r>
                        <a:rPr lang="en-GB" dirty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0.62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1.24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57709627"/>
                  </a:ext>
                </a:extLst>
              </a:tr>
              <a:tr h="476761">
                <a:tc>
                  <a:txBody>
                    <a:bodyPr/>
                    <a:lstStyle/>
                    <a:p>
                      <a:r>
                        <a:rPr lang="en-GB" dirty="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0.24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0.48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60084847"/>
                  </a:ext>
                </a:extLst>
              </a:tr>
              <a:tr h="476761">
                <a:tc>
                  <a:txBody>
                    <a:bodyPr/>
                    <a:lstStyle/>
                    <a:p>
                      <a:r>
                        <a:rPr lang="en-GB" dirty="0"/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0.48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0.96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35910918"/>
                  </a:ext>
                </a:extLst>
              </a:tr>
              <a:tr h="476761">
                <a:tc>
                  <a:txBody>
                    <a:bodyPr/>
                    <a:lstStyle/>
                    <a:p>
                      <a:r>
                        <a:rPr lang="en-GB" dirty="0"/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0.96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1.92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22080340"/>
                  </a:ext>
                </a:extLst>
              </a:tr>
              <a:tr h="476761">
                <a:tc>
                  <a:txBody>
                    <a:bodyPr/>
                    <a:lstStyle/>
                    <a:p>
                      <a:r>
                        <a:rPr lang="en-GB" dirty="0"/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0.92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1.84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836862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150841792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FFE08C-F354-6250-EE4D-C8691395EC4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Example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121A259-8B36-A6F9-5C7F-5BF55152448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0.25</a:t>
            </a:r>
            <a:r>
              <a:rPr lang="en-GB" baseline="-25000" dirty="0"/>
              <a:t>10</a:t>
            </a:r>
            <a:r>
              <a:rPr lang="en-GB" dirty="0"/>
              <a:t> = 0.01</a:t>
            </a:r>
            <a:r>
              <a:rPr lang="en-GB" baseline="-25000" dirty="0"/>
              <a:t>2</a:t>
            </a:r>
            <a:r>
              <a:rPr lang="en-GB" dirty="0"/>
              <a:t> (exactly)</a:t>
            </a:r>
          </a:p>
          <a:p>
            <a:endParaRPr lang="en-GB" dirty="0"/>
          </a:p>
          <a:p>
            <a:endParaRPr lang="en-GB" dirty="0"/>
          </a:p>
          <a:p>
            <a:pPr marL="0" indent="0">
              <a:buNone/>
            </a:pPr>
            <a:endParaRPr lang="en-GB" dirty="0"/>
          </a:p>
          <a:p>
            <a:endParaRPr lang="en-GB" dirty="0"/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C67ED4DD-DB2F-2BC8-933D-00C722E9222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62316683"/>
              </p:ext>
            </p:extLst>
          </p:nvPr>
        </p:nvGraphicFramePr>
        <p:xfrm>
          <a:off x="1422399" y="2380300"/>
          <a:ext cx="8678040" cy="1430283"/>
        </p:xfrm>
        <a:graphic>
          <a:graphicData uri="http://schemas.openxmlformats.org/drawingml/2006/table">
            <a:tbl>
              <a:tblPr firstRow="1" bandRow="1">
                <a:tableStyleId>{7E9639D4-E3E2-4D34-9284-5A2195B3D0D7}</a:tableStyleId>
              </a:tblPr>
              <a:tblGrid>
                <a:gridCol w="2169510">
                  <a:extLst>
                    <a:ext uri="{9D8B030D-6E8A-4147-A177-3AD203B41FA5}">
                      <a16:colId xmlns:a16="http://schemas.microsoft.com/office/drawing/2014/main" val="1651191740"/>
                    </a:ext>
                  </a:extLst>
                </a:gridCol>
                <a:gridCol w="2169510">
                  <a:extLst>
                    <a:ext uri="{9D8B030D-6E8A-4147-A177-3AD203B41FA5}">
                      <a16:colId xmlns:a16="http://schemas.microsoft.com/office/drawing/2014/main" val="192566494"/>
                    </a:ext>
                  </a:extLst>
                </a:gridCol>
                <a:gridCol w="2169510">
                  <a:extLst>
                    <a:ext uri="{9D8B030D-6E8A-4147-A177-3AD203B41FA5}">
                      <a16:colId xmlns:a16="http://schemas.microsoft.com/office/drawing/2014/main" val="1298698823"/>
                    </a:ext>
                  </a:extLst>
                </a:gridCol>
                <a:gridCol w="2169510">
                  <a:extLst>
                    <a:ext uri="{9D8B030D-6E8A-4147-A177-3AD203B41FA5}">
                      <a16:colId xmlns:a16="http://schemas.microsoft.com/office/drawing/2014/main" val="3808791574"/>
                    </a:ext>
                  </a:extLst>
                </a:gridCol>
              </a:tblGrid>
              <a:tr h="476761">
                <a:tc>
                  <a:txBody>
                    <a:bodyPr/>
                    <a:lstStyle/>
                    <a:p>
                      <a:r>
                        <a:rPr lang="en-GB" dirty="0"/>
                        <a:t>Step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Fraction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Product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Bit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22101115"/>
                  </a:ext>
                </a:extLst>
              </a:tr>
              <a:tr h="476761"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0.25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0.5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84838527"/>
                  </a:ext>
                </a:extLst>
              </a:tr>
              <a:tr h="476761">
                <a:tc>
                  <a:txBody>
                    <a:bodyPr/>
                    <a:lstStyle/>
                    <a:p>
                      <a:r>
                        <a:rPr lang="en-GB" dirty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0.5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5770962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123353525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7AF99BB-3646-823E-BEE1-47441C5028D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Mixed number conversion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0E643FAC-7C39-98F3-568E-76C500763D73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GB" dirty="0"/>
                  <a:t>Integer and fractional parts must be converted separately</a:t>
                </a:r>
              </a:p>
              <a:p>
                <a:r>
                  <a:rPr lang="en-GB" dirty="0"/>
                  <a:t>Radix point: fixed reference for the conversion</a:t>
                </a:r>
              </a:p>
              <a:p>
                <a:r>
                  <a:rPr lang="en-GB" dirty="0"/>
                  <a:t>Digit to the left is a unit digit in every base</a:t>
                </a:r>
              </a:p>
              <a:p>
                <a14:m>
                  <m:oMath xmlns:m="http://schemas.openxmlformats.org/officeDocument/2006/math">
                    <m:r>
                      <a:rPr lang="en-GB" i="1" dirty="0" smtClean="0">
                        <a:effectLst/>
                        <a:latin typeface="Cambria Math" panose="02040503050406030204" pitchFamily="18" charset="0"/>
                      </a:rPr>
                      <m:t>𝐵</m:t>
                    </m:r>
                    <m:r>
                      <a:rPr lang="en-GB" i="1" baseline="30000" dirty="0">
                        <a:effectLst/>
                        <a:latin typeface="Cambria Math" panose="02040503050406030204" pitchFamily="18" charset="0"/>
                      </a:rPr>
                      <m:t>0</m:t>
                    </m:r>
                  </m:oMath>
                </a14:m>
                <a:r>
                  <a:rPr lang="en-GB" dirty="0"/>
                  <a:t> is always 1 regardless of the base </a:t>
                </a:r>
                <a14:m>
                  <m:oMath xmlns:m="http://schemas.openxmlformats.org/officeDocument/2006/math">
                    <m:r>
                      <a:rPr lang="en-GB" i="1" dirty="0" smtClean="0">
                        <a:latin typeface="Cambria Math" panose="02040503050406030204" pitchFamily="18" charset="0"/>
                      </a:rPr>
                      <m:t>𝐵</m:t>
                    </m:r>
                  </m:oMath>
                </a14:m>
                <a:r>
                  <a:rPr lang="en-GB" dirty="0"/>
                  <a:t>.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0E643FAC-7C39-98F3-568E-76C500763D73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43" t="-2241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048188819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CD4B62B-2DB9-0D0F-893E-C8D976AE0B1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Exercise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B7960AD-F688-9F98-515E-016E1626E70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514350" indent="-514350">
              <a:buFont typeface="+mj-lt"/>
              <a:buAutoNum type="arabicPeriod"/>
            </a:pPr>
            <a:r>
              <a:rPr lang="en-GB" dirty="0"/>
              <a:t>Convert (8.375)</a:t>
            </a:r>
            <a:r>
              <a:rPr lang="en-GB" baseline="-25000" dirty="0"/>
              <a:t>10</a:t>
            </a:r>
            <a:r>
              <a:rPr lang="en-GB" dirty="0"/>
              <a:t> to binary.</a:t>
            </a:r>
          </a:p>
          <a:p>
            <a:pPr marL="514350" indent="-514350">
              <a:buFont typeface="+mj-lt"/>
              <a:buAutoNum type="arabicPeriod"/>
            </a:pPr>
            <a:r>
              <a:rPr lang="en-GB" dirty="0"/>
              <a:t>Convert (1.101)</a:t>
            </a:r>
            <a:r>
              <a:rPr lang="en-GB" baseline="-25000" dirty="0"/>
              <a:t>2</a:t>
            </a:r>
            <a:r>
              <a:rPr lang="en-GB" dirty="0"/>
              <a:t> to decimal.</a:t>
            </a:r>
          </a:p>
          <a:p>
            <a:pPr marL="514350" indent="-514350">
              <a:buFont typeface="+mj-lt"/>
              <a:buAutoNum type="arabicPeriod"/>
            </a:pP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697278927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9A3D275-8FD9-64AE-2D12-0EAD552343A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Integer Representations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2EC5FEA-376F-3665-CA8A-2A292C6E76C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63720470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D4B8B240-29C5-E050-3672-998E3E31F7E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Integer Representation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88E3CF13-5867-D5F2-3046-5E2B370EAC2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296863" indent="-296863">
              <a:buClr>
                <a:schemeClr val="tx2"/>
              </a:buClr>
              <a:buFont typeface="Arial" panose="020B0604020202020204" pitchFamily="34" charset="0"/>
              <a:buChar char="•"/>
            </a:pPr>
            <a:r>
              <a:rPr lang="en-US" sz="2200" dirty="0"/>
              <a:t>In the binary number system arbitrary numbers can be represented with: </a:t>
            </a:r>
          </a:p>
          <a:p>
            <a:pPr marL="628650" lvl="1" indent="-320675"/>
            <a:r>
              <a:rPr lang="en-US" sz="1800" dirty="0"/>
              <a:t>The digits zero and one</a:t>
            </a:r>
          </a:p>
          <a:p>
            <a:pPr marL="628650" lvl="1" indent="-320675"/>
            <a:r>
              <a:rPr lang="en-US" sz="1800" dirty="0"/>
              <a:t>The minus sign (for negative numbers)</a:t>
            </a:r>
          </a:p>
          <a:p>
            <a:pPr marL="628650" lvl="1" indent="-320675"/>
            <a:r>
              <a:rPr lang="en-US" sz="1800" dirty="0"/>
              <a:t>The period, or </a:t>
            </a:r>
            <a:r>
              <a:rPr lang="en-US" sz="1800" b="1" i="1" dirty="0"/>
              <a:t>radix point </a:t>
            </a:r>
            <a:r>
              <a:rPr lang="en-US" sz="1800" dirty="0"/>
              <a:t>(for numbers with a fractional component)</a:t>
            </a:r>
          </a:p>
          <a:p>
            <a:pPr marL="296863" lvl="1" indent="-296863">
              <a:spcBef>
                <a:spcPts val="2000"/>
              </a:spcBef>
              <a:buClr>
                <a:schemeClr val="tx2"/>
              </a:buClr>
              <a:buFont typeface="Arial" panose="020B0604020202020204" pitchFamily="34" charset="0"/>
              <a:buChar char="•"/>
            </a:pPr>
            <a:r>
              <a:rPr lang="en-US" sz="2200" dirty="0"/>
              <a:t>For purposes of computer storage and processing we do not have the benefit of special symbols for the minus sign and radix point</a:t>
            </a:r>
          </a:p>
          <a:p>
            <a:pPr marL="296863" lvl="1" indent="-296863">
              <a:spcBef>
                <a:spcPts val="2000"/>
              </a:spcBef>
              <a:buClr>
                <a:schemeClr val="tx2"/>
              </a:buClr>
              <a:buFont typeface="Arial" panose="020B0604020202020204" pitchFamily="34" charset="0"/>
              <a:buChar char="•"/>
            </a:pPr>
            <a:r>
              <a:rPr lang="en-US" sz="2200" dirty="0"/>
              <a:t>Only binary digits (0,1) may be used to represent numbers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593661422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29181CB-0D8F-4BA0-446A-93E2DB32C82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Unsigned Integer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D2075CF-5ABF-9679-011F-8004904ABE4C}"/>
                  </a:ext>
                </a:extLst>
              </p:cNvPr>
              <p:cNvSpPr>
                <a:spLocks noGrp="1"/>
              </p:cNvSpPr>
              <p:nvPr>
                <p:ph sz="half" idx="1"/>
              </p:nvPr>
            </p:nvSpPr>
            <p:spPr/>
            <p:txBody>
              <a:bodyPr/>
              <a:lstStyle/>
              <a:p>
                <a:r>
                  <a:rPr lang="en-GB" dirty="0"/>
                  <a:t>An unsigned integer represent values from 0 to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GB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e>
                      <m:sup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sup>
                    </m:sSup>
                    <m:r>
                      <a:rPr lang="en-GB" b="0" i="1" smtClean="0">
                        <a:latin typeface="Cambria Math" panose="02040503050406030204" pitchFamily="18" charset="0"/>
                      </a:rPr>
                      <m:t>−1</m:t>
                    </m:r>
                  </m:oMath>
                </a14:m>
                <a:endParaRPr lang="en-GB" b="0" i="1" dirty="0">
                  <a:latin typeface="Cambria Math" panose="02040503050406030204" pitchFamily="18" charset="0"/>
                </a:endParaRPr>
              </a:p>
              <a:p>
                <a14:m>
                  <m:oMath xmlns:m="http://schemas.openxmlformats.org/officeDocument/2006/math">
                    <m:r>
                      <a:rPr lang="en-GB" b="0" i="1" smtClean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GB" dirty="0"/>
                  <a:t> number of bits for representation</a:t>
                </a:r>
              </a:p>
              <a:p>
                <a:pPr marL="0" indent="0">
                  <a:buNone/>
                </a:pPr>
                <a:endParaRPr lang="en-GB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D2075CF-5ABF-9679-011F-8004904ABE4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1"/>
              </p:nvPr>
            </p:nvSpPr>
            <p:spPr>
              <a:blipFill>
                <a:blip r:embed="rId2"/>
                <a:stretch>
                  <a:fillRect l="-2118" t="-2241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graphicFrame>
        <p:nvGraphicFramePr>
          <p:cNvPr id="6" name="Content Placeholder 3">
            <a:extLst>
              <a:ext uri="{FF2B5EF4-FFF2-40B4-BE49-F238E27FC236}">
                <a16:creationId xmlns:a16="http://schemas.microsoft.com/office/drawing/2014/main" id="{5BCC5612-6237-7AC0-6018-6BB90DD5A2AF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595543457"/>
              </p:ext>
            </p:extLst>
          </p:nvPr>
        </p:nvGraphicFramePr>
        <p:xfrm>
          <a:off x="6096000" y="1822507"/>
          <a:ext cx="5465379" cy="4354456"/>
        </p:xfrm>
        <a:graphic>
          <a:graphicData uri="http://schemas.openxmlformats.org/drawingml/2006/table">
            <a:tbl>
              <a:tblPr firstRow="1" bandRow="1">
                <a:tableStyleId>{7E9639D4-E3E2-4D34-9284-5A2195B3D0D7}</a:tableStyleId>
              </a:tblPr>
              <a:tblGrid>
                <a:gridCol w="794657">
                  <a:extLst>
                    <a:ext uri="{9D8B030D-6E8A-4147-A177-3AD203B41FA5}">
                      <a16:colId xmlns:a16="http://schemas.microsoft.com/office/drawing/2014/main" val="2652336315"/>
                    </a:ext>
                  </a:extLst>
                </a:gridCol>
                <a:gridCol w="1719943">
                  <a:extLst>
                    <a:ext uri="{9D8B030D-6E8A-4147-A177-3AD203B41FA5}">
                      <a16:colId xmlns:a16="http://schemas.microsoft.com/office/drawing/2014/main" val="1987753571"/>
                    </a:ext>
                  </a:extLst>
                </a:gridCol>
                <a:gridCol w="2950779">
                  <a:extLst>
                    <a:ext uri="{9D8B030D-6E8A-4147-A177-3AD203B41FA5}">
                      <a16:colId xmlns:a16="http://schemas.microsoft.com/office/drawing/2014/main" val="495734618"/>
                    </a:ext>
                  </a:extLst>
                </a:gridCol>
              </a:tblGrid>
              <a:tr h="544307">
                <a:tc>
                  <a:txBody>
                    <a:bodyPr/>
                    <a:lstStyle/>
                    <a:p>
                      <a:r>
                        <a:rPr lang="en-GB" sz="2400" dirty="0"/>
                        <a:t>Bits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400" dirty="0"/>
                        <a:t>Min value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400" dirty="0"/>
                        <a:t>Max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95654895"/>
                  </a:ext>
                </a:extLst>
              </a:tr>
              <a:tr h="544307">
                <a:tc>
                  <a:txBody>
                    <a:bodyPr/>
                    <a:lstStyle/>
                    <a:p>
                      <a:r>
                        <a:rPr lang="en-GB" sz="24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4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400" dirty="0"/>
                        <a:t>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73695592"/>
                  </a:ext>
                </a:extLst>
              </a:tr>
              <a:tr h="544307">
                <a:tc>
                  <a:txBody>
                    <a:bodyPr/>
                    <a:lstStyle/>
                    <a:p>
                      <a:r>
                        <a:rPr lang="en-GB" sz="2400" dirty="0"/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4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400" dirty="0"/>
                        <a:t>15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11034139"/>
                  </a:ext>
                </a:extLst>
              </a:tr>
              <a:tr h="544307">
                <a:tc>
                  <a:txBody>
                    <a:bodyPr/>
                    <a:lstStyle/>
                    <a:p>
                      <a:r>
                        <a:rPr lang="en-GB" sz="2400" dirty="0"/>
                        <a:t>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4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400" dirty="0"/>
                        <a:t>255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6981970"/>
                  </a:ext>
                </a:extLst>
              </a:tr>
              <a:tr h="544307">
                <a:tc>
                  <a:txBody>
                    <a:bodyPr/>
                    <a:lstStyle/>
                    <a:p>
                      <a:r>
                        <a:rPr lang="en-GB" sz="2400" dirty="0"/>
                        <a:t>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4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400" dirty="0"/>
                        <a:t>1023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48770117"/>
                  </a:ext>
                </a:extLst>
              </a:tr>
              <a:tr h="544307">
                <a:tc>
                  <a:txBody>
                    <a:bodyPr/>
                    <a:lstStyle/>
                    <a:p>
                      <a:r>
                        <a:rPr lang="en-GB" sz="2400" dirty="0"/>
                        <a:t>16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4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400" dirty="0"/>
                        <a:t>65535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92188659"/>
                  </a:ext>
                </a:extLst>
              </a:tr>
              <a:tr h="544307">
                <a:tc>
                  <a:txBody>
                    <a:bodyPr/>
                    <a:lstStyle/>
                    <a:p>
                      <a:r>
                        <a:rPr lang="en-GB" sz="2400" dirty="0"/>
                        <a:t>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4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400" dirty="0"/>
                        <a:t>1 048 575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92220449"/>
                  </a:ext>
                </a:extLst>
              </a:tr>
              <a:tr h="544307">
                <a:tc>
                  <a:txBody>
                    <a:bodyPr/>
                    <a:lstStyle/>
                    <a:p>
                      <a:r>
                        <a:rPr lang="en-GB" sz="2400" dirty="0"/>
                        <a:t>32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4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nn-NO" sz="2400" dirty="0"/>
                        <a:t>4 294 967 295</a:t>
                      </a:r>
                      <a:endParaRPr lang="en-GB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3821260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886342561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147BD91-879A-DCEB-41D1-1EBC7719335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Binary Coded Decimal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00B5876-28B8-D231-6642-C2F686EF9AC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GB" dirty="0"/>
              <a:t>Complicated to do binary conversion to display numbers</a:t>
            </a:r>
          </a:p>
          <a:p>
            <a:r>
              <a:rPr lang="en-GB" dirty="0"/>
              <a:t>Unsigned integer</a:t>
            </a:r>
          </a:p>
          <a:p>
            <a:r>
              <a:rPr lang="en-GB" dirty="0"/>
              <a:t>Integers are stored as decimal numbers</a:t>
            </a:r>
          </a:p>
          <a:p>
            <a:pPr lvl="1"/>
            <a:r>
              <a:rPr lang="en-GB" dirty="0"/>
              <a:t>Sequence of binary encodings of decimal digits</a:t>
            </a:r>
          </a:p>
          <a:p>
            <a:r>
              <a:rPr lang="en-GB" dirty="0"/>
              <a:t>Each decimal digit is stored as its 4-bit binary equivalent</a:t>
            </a:r>
          </a:p>
          <a:p>
            <a:r>
              <a:rPr lang="en-GB" dirty="0"/>
              <a:t>E.g., 478</a:t>
            </a:r>
            <a:r>
              <a:rPr lang="en-GB" baseline="-25000" dirty="0"/>
              <a:t>10</a:t>
            </a:r>
            <a:endParaRPr lang="en-GB" dirty="0"/>
          </a:p>
          <a:p>
            <a:pPr lvl="1"/>
            <a:r>
              <a:rPr lang="en-GB" dirty="0"/>
              <a:t>Convert 4, 7, &amp; 8 to binary – 100, 111, 1000 respectively</a:t>
            </a:r>
          </a:p>
          <a:p>
            <a:pPr lvl="1"/>
            <a:r>
              <a:rPr lang="en-GB" dirty="0"/>
              <a:t>Prepend values less then 4 bits with zeroes, i.e. 0100, 0111, 1000</a:t>
            </a:r>
          </a:p>
          <a:p>
            <a:pPr lvl="1"/>
            <a:r>
              <a:rPr lang="en-GB" dirty="0"/>
              <a:t>Concatenate these values, i.e. 478 is represented as 0100 0111 1000</a:t>
            </a:r>
          </a:p>
        </p:txBody>
      </p:sp>
    </p:spTree>
    <p:extLst>
      <p:ext uri="{BB962C8B-B14F-4D97-AF65-F5344CB8AC3E}">
        <p14:creationId xmlns:p14="http://schemas.microsoft.com/office/powerpoint/2010/main" val="702650029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834DD3F-0854-77F8-228A-D6B75B52B32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Exercise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2C0680D-F70D-BFBD-D7E5-E4DFECD591A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Convert 251</a:t>
            </a:r>
            <a:r>
              <a:rPr lang="en-GB" baseline="-25000" dirty="0"/>
              <a:t>10</a:t>
            </a:r>
            <a:r>
              <a:rPr lang="en-GB" dirty="0"/>
              <a:t> to BCD</a:t>
            </a:r>
          </a:p>
        </p:txBody>
      </p:sp>
    </p:spTree>
    <p:extLst>
      <p:ext uri="{BB962C8B-B14F-4D97-AF65-F5344CB8AC3E}">
        <p14:creationId xmlns:p14="http://schemas.microsoft.com/office/powerpoint/2010/main" val="3264698873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E5497D4-E7A9-AEA2-BFEC-C2A376ECEC5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Binary vs BCD</a:t>
            </a:r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F6239A54-3719-3C94-4B5C-2B2EB42ED7F5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194482626"/>
              </p:ext>
            </p:extLst>
          </p:nvPr>
        </p:nvGraphicFramePr>
        <p:xfrm>
          <a:off x="838200" y="1825625"/>
          <a:ext cx="10515600" cy="2072640"/>
        </p:xfrm>
        <a:graphic>
          <a:graphicData uri="http://schemas.openxmlformats.org/drawingml/2006/table">
            <a:tbl>
              <a:tblPr firstRow="1" bandRow="1">
                <a:tableStyleId>{7E9639D4-E3E2-4D34-9284-5A2195B3D0D7}</a:tableStyleId>
              </a:tblPr>
              <a:tblGrid>
                <a:gridCol w="1421524">
                  <a:extLst>
                    <a:ext uri="{9D8B030D-6E8A-4147-A177-3AD203B41FA5}">
                      <a16:colId xmlns:a16="http://schemas.microsoft.com/office/drawing/2014/main" val="1631517240"/>
                    </a:ext>
                  </a:extLst>
                </a:gridCol>
                <a:gridCol w="1870842">
                  <a:extLst>
                    <a:ext uri="{9D8B030D-6E8A-4147-A177-3AD203B41FA5}">
                      <a16:colId xmlns:a16="http://schemas.microsoft.com/office/drawing/2014/main" val="2730089507"/>
                    </a:ext>
                  </a:extLst>
                </a:gridCol>
                <a:gridCol w="2711668">
                  <a:extLst>
                    <a:ext uri="{9D8B030D-6E8A-4147-A177-3AD203B41FA5}">
                      <a16:colId xmlns:a16="http://schemas.microsoft.com/office/drawing/2014/main" val="3081198187"/>
                    </a:ext>
                  </a:extLst>
                </a:gridCol>
                <a:gridCol w="4511566">
                  <a:extLst>
                    <a:ext uri="{9D8B030D-6E8A-4147-A177-3AD203B41FA5}">
                      <a16:colId xmlns:a16="http://schemas.microsoft.com/office/drawing/2014/main" val="5845790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sz="2800" dirty="0"/>
                        <a:t>Decimal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800" dirty="0"/>
                        <a:t>Binary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800" dirty="0"/>
                        <a:t>BCD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 sz="28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3734371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sz="2800" dirty="0"/>
                        <a:t>68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800" dirty="0"/>
                        <a:t>0100 0100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800" dirty="0"/>
                        <a:t>0110 1000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 sz="28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2357502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sz="2800" dirty="0"/>
                        <a:t>99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800" dirty="0"/>
                        <a:t>0110 0011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800" dirty="0"/>
                        <a:t>1001 1001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800" dirty="0"/>
                        <a:t>Largest 8-bit BCD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9367938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sz="2800" dirty="0"/>
                        <a:t>255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800" dirty="0"/>
                        <a:t>1111 1111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800" dirty="0"/>
                        <a:t>0010 0101 0101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800" dirty="0"/>
                        <a:t>Largest 8-bit binary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8144891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739753206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A06962A-DA34-0C67-4B51-EE4CC9E8280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Value range: binary vs BCD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4" name="Content Placeholder 3">
                <a:extLst>
                  <a:ext uri="{FF2B5EF4-FFF2-40B4-BE49-F238E27FC236}">
                    <a16:creationId xmlns:a16="http://schemas.microsoft.com/office/drawing/2014/main" id="{4110A98B-2CE5-F579-8FC7-7C98B22201DB}"/>
                  </a:ext>
                </a:extLst>
              </p:cNvPr>
              <p:cNvGraphicFramePr>
                <a:graphicFrameLocks noGrp="1"/>
              </p:cNvGraphicFramePr>
              <p:nvPr>
                <p:ph idx="1"/>
                <p:extLst>
                  <p:ext uri="{D42A27DB-BD31-4B8C-83A1-F6EECF244321}">
                    <p14:modId xmlns:p14="http://schemas.microsoft.com/office/powerpoint/2010/main" val="1536985796"/>
                  </p:ext>
                </p:extLst>
              </p:nvPr>
            </p:nvGraphicFramePr>
            <p:xfrm>
              <a:off x="838200" y="2761046"/>
              <a:ext cx="10515600" cy="3337560"/>
            </p:xfrm>
            <a:graphic>
              <a:graphicData uri="http://schemas.openxmlformats.org/drawingml/2006/table">
                <a:tbl>
                  <a:tblPr firstRow="1" bandRow="1">
                    <a:tableStyleId>{7E9639D4-E3E2-4D34-9284-5A2195B3D0D7}</a:tableStyleId>
                  </a:tblPr>
                  <a:tblGrid>
                    <a:gridCol w="2103120">
                      <a:extLst>
                        <a:ext uri="{9D8B030D-6E8A-4147-A177-3AD203B41FA5}">
                          <a16:colId xmlns:a16="http://schemas.microsoft.com/office/drawing/2014/main" val="933522646"/>
                        </a:ext>
                      </a:extLst>
                    </a:gridCol>
                    <a:gridCol w="2103120">
                      <a:extLst>
                        <a:ext uri="{9D8B030D-6E8A-4147-A177-3AD203B41FA5}">
                          <a16:colId xmlns:a16="http://schemas.microsoft.com/office/drawing/2014/main" val="1743980902"/>
                        </a:ext>
                      </a:extLst>
                    </a:gridCol>
                    <a:gridCol w="2103120">
                      <a:extLst>
                        <a:ext uri="{9D8B030D-6E8A-4147-A177-3AD203B41FA5}">
                          <a16:colId xmlns:a16="http://schemas.microsoft.com/office/drawing/2014/main" val="2791494488"/>
                        </a:ext>
                      </a:extLst>
                    </a:gridCol>
                    <a:gridCol w="2103120">
                      <a:extLst>
                        <a:ext uri="{9D8B030D-6E8A-4147-A177-3AD203B41FA5}">
                          <a16:colId xmlns:a16="http://schemas.microsoft.com/office/drawing/2014/main" val="2098720249"/>
                        </a:ext>
                      </a:extLst>
                    </a:gridCol>
                    <a:gridCol w="2103120">
                      <a:extLst>
                        <a:ext uri="{9D8B030D-6E8A-4147-A177-3AD203B41FA5}">
                          <a16:colId xmlns:a16="http://schemas.microsoft.com/office/drawing/2014/main" val="2380736560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r>
                            <a:rPr lang="en-GB" dirty="0"/>
                            <a:t>No. of bits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GB" dirty="0"/>
                            <a:t>BCD range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GB" dirty="0"/>
                            <a:t>No. Decimal Digits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GB" dirty="0"/>
                            <a:t>Binary range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GB" dirty="0"/>
                            <a:t>No. Decimal Digits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038400451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GB" dirty="0"/>
                            <a:t>4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GB" dirty="0"/>
                            <a:t>0-9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GB" dirty="0"/>
                            <a:t>1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GB" dirty="0"/>
                            <a:t>0-15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GB" dirty="0"/>
                            <a:t>2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176570157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GB" dirty="0"/>
                            <a:t>8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GB" dirty="0"/>
                            <a:t>0-99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GB" dirty="0"/>
                            <a:t>2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GB" dirty="0"/>
                            <a:t>0-255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GB" dirty="0"/>
                            <a:t>3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115152003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GB" dirty="0"/>
                            <a:t>12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GB" dirty="0"/>
                            <a:t>0-999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GB" dirty="0"/>
                            <a:t>3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GB" dirty="0"/>
                            <a:t>0-4095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GB" dirty="0"/>
                            <a:t>4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447636383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GB" dirty="0"/>
                            <a:t>16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GB" dirty="0"/>
                            <a:t>0-9999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GB" dirty="0"/>
                            <a:t>4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GB" dirty="0"/>
                            <a:t>0-65535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GB" dirty="0"/>
                            <a:t>5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511755170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GB" dirty="0"/>
                            <a:t>20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GB" dirty="0"/>
                            <a:t>0-99 999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GB" dirty="0"/>
                            <a:t>5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GB" dirty="0"/>
                            <a:t>0-1 million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GB" dirty="0"/>
                            <a:t>7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091849597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GB" dirty="0"/>
                            <a:t>24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GB" dirty="0"/>
                            <a:t>0-999 999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GB" dirty="0"/>
                            <a:t>6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GB" dirty="0"/>
                            <a:t>0-16.8 million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GB" dirty="0"/>
                            <a:t>8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515348612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GB" dirty="0"/>
                            <a:t>32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GB" dirty="0"/>
                            <a:t>0-99 999 999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GB" dirty="0"/>
                            <a:t>8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GB" dirty="0"/>
                            <a:t>0-4.3 billion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GB" dirty="0"/>
                            <a:t>10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465742000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GB" dirty="0"/>
                            <a:t>64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GB" dirty="0"/>
                            <a:t>0-(10</a:t>
                          </a:r>
                          <a:r>
                            <a:rPr lang="en-GB" baseline="30000" dirty="0"/>
                            <a:t>16 </a:t>
                          </a:r>
                          <a:r>
                            <a:rPr lang="en-GB" dirty="0"/>
                            <a:t>− 1)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GB" dirty="0"/>
                            <a:t>16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GB" dirty="0"/>
                            <a:t>0-1.84 </a:t>
                          </a:r>
                          <a14:m>
                            <m:oMath xmlns:m="http://schemas.openxmlformats.org/officeDocument/2006/math">
                              <m:r>
                                <a:rPr lang="en-GB" dirty="0" smtClean="0">
                                  <a:latin typeface="Cambria Math" panose="02040503050406030204" pitchFamily="18" charset="0"/>
                                </a:rPr>
                                <m:t>×</m:t>
                              </m:r>
                              <m:sSup>
                                <m:sSupPr>
                                  <m:ctrlPr>
                                    <a:rPr lang="en-GB" b="0" i="1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GB" b="0" dirty="0" smtClean="0">
                                      <a:latin typeface="Cambria Math" panose="02040503050406030204" pitchFamily="18" charset="0"/>
                                    </a:rPr>
                                    <m:t>10</m:t>
                                  </m:r>
                                </m:e>
                                <m:sup>
                                  <m:r>
                                    <a:rPr lang="en-GB" b="0" dirty="0" smtClean="0">
                                      <a:latin typeface="Cambria Math" panose="02040503050406030204" pitchFamily="18" charset="0"/>
                                    </a:rPr>
                                    <m:t>19</m:t>
                                  </m:r>
                                </m:sup>
                              </m:sSup>
                            </m:oMath>
                          </a14:m>
                          <a:endParaRPr lang="en-GB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GB" dirty="0"/>
                            <a:t>20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526335092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4" name="Content Placeholder 3">
                <a:extLst>
                  <a:ext uri="{FF2B5EF4-FFF2-40B4-BE49-F238E27FC236}">
                    <a16:creationId xmlns:a16="http://schemas.microsoft.com/office/drawing/2014/main" id="{4110A98B-2CE5-F579-8FC7-7C98B22201DB}"/>
                  </a:ext>
                </a:extLst>
              </p:cNvPr>
              <p:cNvGraphicFramePr>
                <a:graphicFrameLocks noGrp="1"/>
              </p:cNvGraphicFramePr>
              <p:nvPr>
                <p:ph idx="1"/>
                <p:extLst>
                  <p:ext uri="{D42A27DB-BD31-4B8C-83A1-F6EECF244321}">
                    <p14:modId xmlns:p14="http://schemas.microsoft.com/office/powerpoint/2010/main" val="1536985796"/>
                  </p:ext>
                </p:extLst>
              </p:nvPr>
            </p:nvGraphicFramePr>
            <p:xfrm>
              <a:off x="838200" y="2761046"/>
              <a:ext cx="10515600" cy="3338640"/>
            </p:xfrm>
            <a:graphic>
              <a:graphicData uri="http://schemas.openxmlformats.org/drawingml/2006/table">
                <a:tbl>
                  <a:tblPr firstRow="1" bandRow="1">
                    <a:tableStyleId>{7E9639D4-E3E2-4D34-9284-5A2195B3D0D7}</a:tableStyleId>
                  </a:tblPr>
                  <a:tblGrid>
                    <a:gridCol w="2103120">
                      <a:extLst>
                        <a:ext uri="{9D8B030D-6E8A-4147-A177-3AD203B41FA5}">
                          <a16:colId xmlns:a16="http://schemas.microsoft.com/office/drawing/2014/main" val="933522646"/>
                        </a:ext>
                      </a:extLst>
                    </a:gridCol>
                    <a:gridCol w="2103120">
                      <a:extLst>
                        <a:ext uri="{9D8B030D-6E8A-4147-A177-3AD203B41FA5}">
                          <a16:colId xmlns:a16="http://schemas.microsoft.com/office/drawing/2014/main" val="1743980902"/>
                        </a:ext>
                      </a:extLst>
                    </a:gridCol>
                    <a:gridCol w="2103120">
                      <a:extLst>
                        <a:ext uri="{9D8B030D-6E8A-4147-A177-3AD203B41FA5}">
                          <a16:colId xmlns:a16="http://schemas.microsoft.com/office/drawing/2014/main" val="2791494488"/>
                        </a:ext>
                      </a:extLst>
                    </a:gridCol>
                    <a:gridCol w="2103120">
                      <a:extLst>
                        <a:ext uri="{9D8B030D-6E8A-4147-A177-3AD203B41FA5}">
                          <a16:colId xmlns:a16="http://schemas.microsoft.com/office/drawing/2014/main" val="2098720249"/>
                        </a:ext>
                      </a:extLst>
                    </a:gridCol>
                    <a:gridCol w="2103120">
                      <a:extLst>
                        <a:ext uri="{9D8B030D-6E8A-4147-A177-3AD203B41FA5}">
                          <a16:colId xmlns:a16="http://schemas.microsoft.com/office/drawing/2014/main" val="2380736560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r>
                            <a:rPr lang="en-GB" dirty="0"/>
                            <a:t>No. of bits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GB" dirty="0"/>
                            <a:t>BCD range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GB" dirty="0"/>
                            <a:t>No. Decimal Digits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GB" dirty="0"/>
                            <a:t>Binary range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GB" dirty="0"/>
                            <a:t>No. Decimal Digits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038400451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GB" dirty="0"/>
                            <a:t>4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GB" dirty="0"/>
                            <a:t>0-9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GB" dirty="0"/>
                            <a:t>1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GB" dirty="0"/>
                            <a:t>0-15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GB" dirty="0"/>
                            <a:t>2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176570157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GB" dirty="0"/>
                            <a:t>8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GB" dirty="0"/>
                            <a:t>0-99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GB" dirty="0"/>
                            <a:t>2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GB" dirty="0"/>
                            <a:t>0-255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GB" dirty="0"/>
                            <a:t>3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115152003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GB" dirty="0"/>
                            <a:t>12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GB" dirty="0"/>
                            <a:t>0-999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GB" dirty="0"/>
                            <a:t>3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GB" dirty="0"/>
                            <a:t>0-4095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GB" dirty="0"/>
                            <a:t>4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447636383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GB" dirty="0"/>
                            <a:t>16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GB" dirty="0"/>
                            <a:t>0-9999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GB" dirty="0"/>
                            <a:t>4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GB" dirty="0"/>
                            <a:t>0-65535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GB" dirty="0"/>
                            <a:t>5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511755170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GB" dirty="0"/>
                            <a:t>20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GB" dirty="0"/>
                            <a:t>0-99 999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GB" dirty="0"/>
                            <a:t>5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GB" dirty="0"/>
                            <a:t>0-1 million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GB" dirty="0"/>
                            <a:t>7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091849597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GB" dirty="0"/>
                            <a:t>24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GB" dirty="0"/>
                            <a:t>0-999 999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GB" dirty="0"/>
                            <a:t>6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GB" dirty="0"/>
                            <a:t>0-16.8 million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GB" dirty="0"/>
                            <a:t>8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515348612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GB" dirty="0"/>
                            <a:t>32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GB" dirty="0"/>
                            <a:t>0-99 999 999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GB" dirty="0"/>
                            <a:t>8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GB" dirty="0"/>
                            <a:t>0-4.3 billion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GB" dirty="0"/>
                            <a:t>10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465742000"/>
                      </a:ext>
                    </a:extLst>
                  </a:tr>
                  <a:tr h="371920">
                    <a:tc>
                      <a:txBody>
                        <a:bodyPr/>
                        <a:lstStyle/>
                        <a:p>
                          <a:r>
                            <a:rPr lang="en-GB" dirty="0"/>
                            <a:t>64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GB" dirty="0"/>
                            <a:t>0-(10</a:t>
                          </a:r>
                          <a:r>
                            <a:rPr lang="en-GB" baseline="30000" dirty="0"/>
                            <a:t>16 </a:t>
                          </a:r>
                          <a:r>
                            <a:rPr lang="en-GB" dirty="0"/>
                            <a:t>− 1)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GB" dirty="0"/>
                            <a:t>16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300580" t="-808197" r="-100290" b="-2623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GB" dirty="0"/>
                            <a:t>20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526335092"/>
                      </a:ext>
                    </a:extLst>
                  </a:tr>
                </a:tbl>
              </a:graphicData>
            </a:graphic>
          </p:graphicFrame>
        </mc:Fallback>
      </mc:AlternateContent>
      <p:sp>
        <p:nvSpPr>
          <p:cNvPr id="5" name="TextBox 4">
            <a:extLst>
              <a:ext uri="{FF2B5EF4-FFF2-40B4-BE49-F238E27FC236}">
                <a16:creationId xmlns:a16="http://schemas.microsoft.com/office/drawing/2014/main" id="{4472E60C-744F-2EB5-90D4-5AEC9B187BD4}"/>
              </a:ext>
            </a:extLst>
          </p:cNvPr>
          <p:cNvSpPr txBox="1"/>
          <p:nvPr/>
        </p:nvSpPr>
        <p:spPr>
          <a:xfrm>
            <a:off x="838200" y="1902701"/>
            <a:ext cx="1051560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2400" dirty="0"/>
              <a:t>Binary: 4 bits can hold 16 values (0 to 15)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2400" dirty="0"/>
              <a:t>BCD: 4 bits used to hold only 10 different values (0 to 9)</a:t>
            </a:r>
          </a:p>
        </p:txBody>
      </p:sp>
    </p:spTree>
    <p:extLst>
      <p:ext uri="{BB962C8B-B14F-4D97-AF65-F5344CB8AC3E}">
        <p14:creationId xmlns:p14="http://schemas.microsoft.com/office/powerpoint/2010/main" val="3725171076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68EDD77-7535-E771-9378-5565885966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Binary vs BCD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C4E54E1-32AE-8507-ACC8-596DE9C73B5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A binary representation is general preferred.</a:t>
            </a:r>
          </a:p>
          <a:p>
            <a:r>
              <a:rPr lang="en-GB" dirty="0"/>
              <a:t>BCD for integers only used by certain business applications where input and output are more common than calculations</a:t>
            </a:r>
          </a:p>
        </p:txBody>
      </p:sp>
    </p:spTree>
    <p:extLst>
      <p:ext uri="{BB962C8B-B14F-4D97-AF65-F5344CB8AC3E}">
        <p14:creationId xmlns:p14="http://schemas.microsoft.com/office/powerpoint/2010/main" val="775301100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7A8038-0D7E-EBFB-229C-1A528E612B1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Signed integer representation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50B9386-BC52-01E3-E81B-EBE37BDC795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Sign-magnitude representation</a:t>
            </a:r>
          </a:p>
          <a:p>
            <a:r>
              <a:rPr lang="en-GB" dirty="0"/>
              <a:t>2’s complement</a:t>
            </a:r>
          </a:p>
        </p:txBody>
      </p:sp>
    </p:spTree>
    <p:extLst>
      <p:ext uri="{BB962C8B-B14F-4D97-AF65-F5344CB8AC3E}">
        <p14:creationId xmlns:p14="http://schemas.microsoft.com/office/powerpoint/2010/main" val="3900738648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99E9313-2F50-9C67-344F-91B37B387B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Sign-magnitude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5BAE3E3-0651-A2F3-5528-A1DEE7D9F09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GB" dirty="0"/>
              <a:t>Left most bit is the sign bit</a:t>
            </a:r>
          </a:p>
          <a:p>
            <a:r>
              <a:rPr lang="en-GB" dirty="0"/>
              <a:t>0 means positive</a:t>
            </a:r>
          </a:p>
          <a:p>
            <a:r>
              <a:rPr lang="en-GB" dirty="0"/>
              <a:t>1 means negative</a:t>
            </a:r>
          </a:p>
          <a:p>
            <a:r>
              <a:rPr lang="en-GB" dirty="0"/>
              <a:t>+18 = 00010010</a:t>
            </a:r>
          </a:p>
          <a:p>
            <a:r>
              <a:rPr lang="en-GB" dirty="0"/>
              <a:t>−18 = 10010010</a:t>
            </a:r>
          </a:p>
          <a:p>
            <a:r>
              <a:rPr lang="en-GB" dirty="0"/>
              <a:t>Problems:</a:t>
            </a:r>
          </a:p>
          <a:p>
            <a:pPr lvl="1"/>
            <a:r>
              <a:rPr lang="en-GB" dirty="0"/>
              <a:t>We need to consider both sign and magnitude in arithmetic</a:t>
            </a:r>
          </a:p>
          <a:p>
            <a:pPr lvl="1"/>
            <a:r>
              <a:rPr lang="en-GB" dirty="0"/>
              <a:t>Two representations of zero (+0 and −0)</a:t>
            </a:r>
          </a:p>
          <a:p>
            <a:r>
              <a:rPr lang="en-GB" dirty="0"/>
              <a:t>Because of these drawbacks, sign-magnitude representation is rarely used in implementing the integer portion of the ALU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116308457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278C32-9924-70A0-1699-5DB033BD3A0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Sign magnitude arithmetic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AD375AF5-B9FD-18BC-60E5-E12B5BA25528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lnSpcReduction="10000"/>
              </a:bodyPr>
              <a:lstStyle/>
              <a:p>
                <a:r>
                  <a:rPr lang="en-GB" dirty="0"/>
                  <a:t>Addition</a:t>
                </a:r>
              </a:p>
              <a:p>
                <a:pPr lvl="1"/>
                <a:r>
                  <a:rPr lang="en-GB" dirty="0"/>
                  <a:t>Check sign bits: if both same then addition, different treat as subtraction  </a:t>
                </a:r>
              </a:p>
              <a:p>
                <a:pPr lvl="1"/>
                <a:r>
                  <a:rPr lang="en-GB" dirty="0"/>
                  <a:t>Remove sign bits and add using standard binary arithmetic</a:t>
                </a:r>
              </a:p>
              <a:p>
                <a:pPr lvl="1"/>
                <a:r>
                  <a:rPr lang="en-GB" dirty="0"/>
                  <a:t>Sign bit is positive or negative depending on sign bits of operands</a:t>
                </a:r>
              </a:p>
              <a:p>
                <a:r>
                  <a:rPr lang="en-GB" dirty="0"/>
                  <a:t>Subtraction</a:t>
                </a:r>
              </a:p>
              <a:p>
                <a:pPr lvl="1"/>
                <a:r>
                  <a:rPr lang="en-GB" dirty="0"/>
                  <a:t>Given operands </a:t>
                </a:r>
                <a14:m>
                  <m:oMath xmlns:m="http://schemas.openxmlformats.org/officeDocument/2006/math">
                    <m:r>
                      <a:rPr lang="en-GB" i="1" dirty="0" smtClean="0">
                        <a:latin typeface="Cambria Math" panose="02040503050406030204" pitchFamily="18" charset="0"/>
                      </a:rPr>
                      <m:t>𝑎</m:t>
                    </m:r>
                  </m:oMath>
                </a14:m>
                <a:r>
                  <a:rPr lang="en-GB" dirty="0"/>
                  <a:t> &amp; </a:t>
                </a:r>
                <a14:m>
                  <m:oMath xmlns:m="http://schemas.openxmlformats.org/officeDocument/2006/math">
                    <m:r>
                      <a:rPr lang="en-GB" i="1" dirty="0" smtClean="0">
                        <a:latin typeface="Cambria Math" panose="02040503050406030204" pitchFamily="18" charset="0"/>
                      </a:rPr>
                      <m:t>𝑏</m:t>
                    </m:r>
                  </m:oMath>
                </a14:m>
                <a:endParaRPr lang="en-GB" dirty="0"/>
              </a:p>
              <a:p>
                <a:pPr lvl="1"/>
                <a:r>
                  <a:rPr lang="en-GB" dirty="0"/>
                  <a:t>If </a:t>
                </a:r>
                <a14:m>
                  <m:oMath xmlns:m="http://schemas.openxmlformats.org/officeDocument/2006/math">
                    <m:d>
                      <m:dPr>
                        <m:begChr m:val="|"/>
                        <m:endChr m:val="|"/>
                        <m:ctrlPr>
                          <a:rPr lang="en-GB" i="1" dirty="0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GB" b="0" i="1" dirty="0" smtClean="0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</m:d>
                    <m:r>
                      <a:rPr lang="en-GB" i="1" dirty="0" smtClean="0">
                        <a:latin typeface="Cambria Math" panose="02040503050406030204" pitchFamily="18" charset="0"/>
                      </a:rPr>
                      <m:t>&gt;</m:t>
                    </m:r>
                    <m:d>
                      <m:dPr>
                        <m:begChr m:val="|"/>
                        <m:endChr m:val="|"/>
                        <m:ctrlPr>
                          <a:rPr lang="en-GB" i="1" dirty="0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GB" b="0" i="1" dirty="0" smtClean="0">
                            <a:latin typeface="Cambria Math" panose="02040503050406030204" pitchFamily="18" charset="0"/>
                          </a:rPr>
                          <m:t>𝑏</m:t>
                        </m:r>
                      </m:e>
                    </m:d>
                  </m:oMath>
                </a14:m>
                <a:endParaRPr lang="en-GB" dirty="0"/>
              </a:p>
              <a:p>
                <a:pPr lvl="2"/>
                <a:r>
                  <a:rPr lang="en-GB" dirty="0"/>
                  <a:t>Compute </a:t>
                </a:r>
                <a14:m>
                  <m:oMath xmlns:m="http://schemas.openxmlformats.org/officeDocument/2006/math">
                    <m:r>
                      <a:rPr lang="en-GB" i="1" dirty="0" smtClean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GB" i="1" dirty="0" smtClean="0">
                        <a:latin typeface="Cambria Math" panose="02040503050406030204" pitchFamily="18" charset="0"/>
                      </a:rPr>
                      <m:t>−</m:t>
                    </m:r>
                    <m:r>
                      <a:rPr lang="en-GB" i="1" dirty="0" smtClean="0">
                        <a:latin typeface="Cambria Math" panose="02040503050406030204" pitchFamily="18" charset="0"/>
                      </a:rPr>
                      <m:t>𝑏</m:t>
                    </m:r>
                  </m:oMath>
                </a14:m>
                <a:r>
                  <a:rPr lang="en-GB" dirty="0"/>
                  <a:t> using standard binary arithmetic (remove sign bits)</a:t>
                </a:r>
              </a:p>
              <a:p>
                <a:pPr lvl="1"/>
                <a:r>
                  <a:rPr lang="en-GB" dirty="0"/>
                  <a:t>If </a:t>
                </a:r>
                <a14:m>
                  <m:oMath xmlns:m="http://schemas.openxmlformats.org/officeDocument/2006/math">
                    <m:d>
                      <m:dPr>
                        <m:begChr m:val="|"/>
                        <m:endChr m:val="|"/>
                        <m:ctrlPr>
                          <a:rPr lang="en-GB" i="1" dirty="0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GB" b="0" i="1" dirty="0" smtClean="0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</m:d>
                    <m:r>
                      <a:rPr lang="en-GB" i="1" dirty="0" smtClean="0">
                        <a:latin typeface="Cambria Math" panose="02040503050406030204" pitchFamily="18" charset="0"/>
                      </a:rPr>
                      <m:t>&lt;</m:t>
                    </m:r>
                    <m:r>
                      <a:rPr lang="en-GB" i="1" dirty="0">
                        <a:latin typeface="Cambria Math" panose="02040503050406030204" pitchFamily="18" charset="0"/>
                      </a:rPr>
                      <m:t> </m:t>
                    </m:r>
                    <m:d>
                      <m:dPr>
                        <m:begChr m:val="|"/>
                        <m:endChr m:val="|"/>
                        <m:ctrlPr>
                          <a:rPr lang="en-GB" i="1" dirty="0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GB" b="0" i="1" dirty="0" smtClean="0">
                            <a:latin typeface="Cambria Math" panose="02040503050406030204" pitchFamily="18" charset="0"/>
                          </a:rPr>
                          <m:t>𝑏</m:t>
                        </m:r>
                      </m:e>
                    </m:d>
                  </m:oMath>
                </a14:m>
                <a:endParaRPr lang="en-GB" dirty="0"/>
              </a:p>
              <a:p>
                <a:pPr lvl="2"/>
                <a:r>
                  <a:rPr lang="en-GB" dirty="0"/>
                  <a:t>Compute </a:t>
                </a:r>
                <a14:m>
                  <m:oMath xmlns:m="http://schemas.openxmlformats.org/officeDocument/2006/math">
                    <m:r>
                      <a:rPr lang="en-GB" i="1" dirty="0" smtClean="0">
                        <a:latin typeface="Cambria Math" panose="02040503050406030204" pitchFamily="18" charset="0"/>
                      </a:rPr>
                      <m:t>𝑏</m:t>
                    </m:r>
                    <m:r>
                      <a:rPr lang="en-GB" i="1" dirty="0" smtClean="0">
                        <a:latin typeface="Cambria Math" panose="02040503050406030204" pitchFamily="18" charset="0"/>
                      </a:rPr>
                      <m:t>−</m:t>
                    </m:r>
                    <m:r>
                      <a:rPr lang="en-GB" i="1" dirty="0" smtClean="0">
                        <a:latin typeface="Cambria Math" panose="02040503050406030204" pitchFamily="18" charset="0"/>
                      </a:rPr>
                      <m:t>𝑎</m:t>
                    </m:r>
                  </m:oMath>
                </a14:m>
                <a:endParaRPr lang="en-GB" dirty="0"/>
              </a:p>
              <a:p>
                <a:pPr lvl="2"/>
                <a:r>
                  <a:rPr lang="en-GB" dirty="0"/>
                  <a:t>Negate result of </a:t>
                </a:r>
                <a14:m>
                  <m:oMath xmlns:m="http://schemas.openxmlformats.org/officeDocument/2006/math">
                    <m:r>
                      <a:rPr lang="en-GB" i="1" dirty="0" smtClean="0">
                        <a:latin typeface="Cambria Math" panose="02040503050406030204" pitchFamily="18" charset="0"/>
                      </a:rPr>
                      <m:t>𝑏</m:t>
                    </m:r>
                    <m:r>
                      <a:rPr lang="en-GB" i="1" dirty="0" smtClean="0">
                        <a:latin typeface="Cambria Math" panose="02040503050406030204" pitchFamily="18" charset="0"/>
                      </a:rPr>
                      <m:t>−</m:t>
                    </m:r>
                    <m:r>
                      <a:rPr lang="en-GB" i="1" dirty="0" smtClean="0">
                        <a:latin typeface="Cambria Math" panose="02040503050406030204" pitchFamily="18" charset="0"/>
                      </a:rPr>
                      <m:t>𝑎</m:t>
                    </m:r>
                  </m:oMath>
                </a14:m>
                <a:endParaRPr lang="en-GB" dirty="0"/>
              </a:p>
              <a:p>
                <a:endParaRPr lang="en-GB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AD375AF5-B9FD-18BC-60E5-E12B5BA25528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3"/>
                <a:stretch>
                  <a:fillRect l="-1043" t="-3081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900857589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944305B-9C70-6A60-39A6-B123CBA372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Sign magnitude arithmetic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E6C3D4C-BA2B-FECB-79F6-D34EF5A989B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Multiplication</a:t>
            </a:r>
          </a:p>
          <a:p>
            <a:pPr lvl="1"/>
            <a:r>
              <a:rPr lang="en-GB" dirty="0"/>
              <a:t>Check if the two numbers have the same sign</a:t>
            </a:r>
          </a:p>
          <a:p>
            <a:pPr lvl="1"/>
            <a:r>
              <a:rPr lang="en-GB" dirty="0"/>
              <a:t>Remove the signs and multiply the numbers</a:t>
            </a:r>
          </a:p>
          <a:p>
            <a:pPr lvl="1"/>
            <a:r>
              <a:rPr lang="en-GB" dirty="0"/>
              <a:t>If the numbers had different signs originally, negate the answer.</a:t>
            </a:r>
          </a:p>
          <a:p>
            <a:r>
              <a:rPr lang="en-GB" dirty="0"/>
              <a:t>Division</a:t>
            </a:r>
          </a:p>
          <a:p>
            <a:pPr lvl="1"/>
            <a:r>
              <a:rPr lang="en-GB" dirty="0"/>
              <a:t>Check if the two numbers have the same sign</a:t>
            </a:r>
          </a:p>
          <a:p>
            <a:pPr lvl="1"/>
            <a:r>
              <a:rPr lang="en-GB" dirty="0"/>
              <a:t>Remove the signs and divide </a:t>
            </a:r>
            <a:r>
              <a:rPr lang="en-GB"/>
              <a:t>the numbers</a:t>
            </a:r>
            <a:endParaRPr lang="en-GB" dirty="0"/>
          </a:p>
          <a:p>
            <a:pPr lvl="1"/>
            <a:r>
              <a:rPr lang="en-GB" dirty="0"/>
              <a:t>If the numbers had different signs originally, negate the answer.</a:t>
            </a:r>
          </a:p>
          <a:p>
            <a:pPr lvl="1"/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706032256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E7DF01C-39CC-185D-4CCF-36A9103B696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Summary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0C488B1-9B94-C143-4AD2-587280573B0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Binary &amp; Hexadecimal number systems</a:t>
            </a:r>
          </a:p>
          <a:p>
            <a:pPr lvl="1"/>
            <a:r>
              <a:rPr lang="en-GB" dirty="0"/>
              <a:t>Conversion</a:t>
            </a:r>
          </a:p>
          <a:p>
            <a:pPr lvl="1"/>
            <a:r>
              <a:rPr lang="en-GB" dirty="0"/>
              <a:t>Arithmetic</a:t>
            </a:r>
          </a:p>
          <a:p>
            <a:r>
              <a:rPr lang="en-GB" dirty="0"/>
              <a:t>Representations of integers</a:t>
            </a:r>
          </a:p>
          <a:p>
            <a:pPr lvl="1"/>
            <a:r>
              <a:rPr lang="en-GB" dirty="0"/>
              <a:t>Unsigned integer</a:t>
            </a:r>
          </a:p>
          <a:p>
            <a:pPr lvl="1"/>
            <a:r>
              <a:rPr lang="en-GB" dirty="0"/>
              <a:t>BCD</a:t>
            </a:r>
          </a:p>
          <a:p>
            <a:pPr lvl="1"/>
            <a:r>
              <a:rPr lang="en-GB" dirty="0"/>
              <a:t>Sign-magnitude</a:t>
            </a:r>
          </a:p>
          <a:p>
            <a:pPr lvl="1"/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57664159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webextensions/_rels/taskpanes.xml.rels><?xml version="1.0" encoding="UTF-8" standalone="yes"?>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525" row="2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6A3FD075-42FB-4CCC-8670-4F68BD777946}">
  <we:reference id="4b785c87-866c-4bad-85d8-5d1ae467ac9a" version="3.14.3.0" store="EXCatalog" storeType="EXCatalog"/>
  <we:alternateReferences>
    <we:reference id="WA104381909" version="3.14.3.0" store="en-GB" storeType="OMEX"/>
  </we:alternateReferences>
  <we:properties/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otalTime>2326</TotalTime>
  <Words>2520</Words>
  <Application>Microsoft Office PowerPoint</Application>
  <PresentationFormat>宽屏</PresentationFormat>
  <Paragraphs>641</Paragraphs>
  <Slides>53</Slides>
  <Notes>1</Notes>
  <HiddenSlides>0</HiddenSlides>
  <MMClips>0</MMClips>
  <ScaleCrop>false</ScaleCrop>
  <HeadingPairs>
    <vt:vector size="6" baseType="variant">
      <vt:variant>
        <vt:lpstr>已用的字体</vt:lpstr>
      </vt:variant>
      <vt:variant>
        <vt:i4>4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53</vt:i4>
      </vt:variant>
    </vt:vector>
  </HeadingPairs>
  <TitlesOfParts>
    <vt:vector size="58" baseType="lpstr">
      <vt:lpstr>Arial</vt:lpstr>
      <vt:lpstr>Calibri</vt:lpstr>
      <vt:lpstr>Calibri Light</vt:lpstr>
      <vt:lpstr>Cambria Math</vt:lpstr>
      <vt:lpstr>Office Theme</vt:lpstr>
      <vt:lpstr>COMP1860 Building our Digital World: Computer Systems &amp; Architecture</vt:lpstr>
      <vt:lpstr>PowerPoint 演示文稿</vt:lpstr>
      <vt:lpstr>Learning Outcomes</vt:lpstr>
      <vt:lpstr>Text Book</vt:lpstr>
      <vt:lpstr>Overview</vt:lpstr>
      <vt:lpstr>Number Systems</vt:lpstr>
      <vt:lpstr>Number Systems</vt:lpstr>
      <vt:lpstr>Why Binary?</vt:lpstr>
      <vt:lpstr>Bits, Bytes and Words</vt:lpstr>
      <vt:lpstr>Positional notation: Base 10</vt:lpstr>
      <vt:lpstr>Positional notation: Base 2</vt:lpstr>
      <vt:lpstr>Positional notation: Base B</vt:lpstr>
      <vt:lpstr>Range of possible numbers</vt:lpstr>
      <vt:lpstr>Bit widths</vt:lpstr>
      <vt:lpstr>Counting in base 2</vt:lpstr>
      <vt:lpstr>Binary Arithmetic</vt:lpstr>
      <vt:lpstr>Exercise: Binary Arithmetic</vt:lpstr>
      <vt:lpstr>Binary Multiplication</vt:lpstr>
      <vt:lpstr>Exercise: Binary Multiplication</vt:lpstr>
      <vt:lpstr>Converting decimal to binary</vt:lpstr>
      <vt:lpstr>Why does this work?</vt:lpstr>
      <vt:lpstr>Example: converting decimal to binary</vt:lpstr>
      <vt:lpstr>Example: alternative solution</vt:lpstr>
      <vt:lpstr>Exercise: converting decimal to binary</vt:lpstr>
      <vt:lpstr>Converting decimal to hexadecimal</vt:lpstr>
      <vt:lpstr>Example: converting decimal to hexadecimal</vt:lpstr>
      <vt:lpstr>Exercise: converting decimal to hexadecimal</vt:lpstr>
      <vt:lpstr>Converting hexadecimal to binary</vt:lpstr>
      <vt:lpstr>Example</vt:lpstr>
      <vt:lpstr>Example: converting hexadecimal to binary</vt:lpstr>
      <vt:lpstr>Exercise: converting hexadecimal to binary</vt:lpstr>
      <vt:lpstr>Binary Fractions: Radix Point（小数点）</vt:lpstr>
      <vt:lpstr>Decimal Fractions</vt:lpstr>
      <vt:lpstr>Binary Fractions</vt:lpstr>
      <vt:lpstr>Binary and Decimal Fractions</vt:lpstr>
      <vt:lpstr>Converting decimal fractions to binary</vt:lpstr>
      <vt:lpstr>Example</vt:lpstr>
      <vt:lpstr>Example</vt:lpstr>
      <vt:lpstr>Mixed number conversion</vt:lpstr>
      <vt:lpstr>Exercise</vt:lpstr>
      <vt:lpstr>Integer Representations</vt:lpstr>
      <vt:lpstr>Integer Representation</vt:lpstr>
      <vt:lpstr>Unsigned Integer</vt:lpstr>
      <vt:lpstr>Binary Coded Decimal</vt:lpstr>
      <vt:lpstr>Exercise</vt:lpstr>
      <vt:lpstr>Binary vs BCD</vt:lpstr>
      <vt:lpstr>Value range: binary vs BCD</vt:lpstr>
      <vt:lpstr>Binary vs BCD</vt:lpstr>
      <vt:lpstr>Signed integer representation</vt:lpstr>
      <vt:lpstr>Sign-magnitude</vt:lpstr>
      <vt:lpstr>Sign magnitude arithmetic</vt:lpstr>
      <vt:lpstr>Sign magnitude arithmetic</vt:lpstr>
      <vt:lpstr>Summary</vt:lpstr>
    </vt:vector>
  </TitlesOfParts>
  <Company>University of Leeds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James Dyer</dc:creator>
  <cp:lastModifiedBy>李 尚鹏</cp:lastModifiedBy>
  <cp:revision>10</cp:revision>
  <dcterms:created xsi:type="dcterms:W3CDTF">2024-09-17T16:37:18Z</dcterms:created>
  <dcterms:modified xsi:type="dcterms:W3CDTF">2026-10-05T06:28:53Z</dcterms:modified>
</cp:coreProperties>
</file>