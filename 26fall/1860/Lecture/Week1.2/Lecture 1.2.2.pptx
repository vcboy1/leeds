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56" r:id="rId2"/>
    <p:sldId id="269" r:id="rId3"/>
    <p:sldId id="339" r:id="rId4"/>
    <p:sldId id="296" r:id="rId5"/>
    <p:sldId id="297" r:id="rId6"/>
    <p:sldId id="369" r:id="rId7"/>
    <p:sldId id="357" r:id="rId8"/>
    <p:sldId id="358" r:id="rId9"/>
    <p:sldId id="359" r:id="rId10"/>
    <p:sldId id="326" r:id="rId11"/>
    <p:sldId id="327" r:id="rId12"/>
    <p:sldId id="328" r:id="rId13"/>
    <p:sldId id="338" r:id="rId14"/>
    <p:sldId id="329" r:id="rId15"/>
    <p:sldId id="330" r:id="rId16"/>
    <p:sldId id="331" r:id="rId17"/>
    <p:sldId id="332" r:id="rId18"/>
    <p:sldId id="318" r:id="rId19"/>
    <p:sldId id="299" r:id="rId20"/>
    <p:sldId id="300" r:id="rId21"/>
    <p:sldId id="301" r:id="rId22"/>
    <p:sldId id="303" r:id="rId23"/>
    <p:sldId id="340" r:id="rId24"/>
    <p:sldId id="342" r:id="rId25"/>
    <p:sldId id="366" r:id="rId26"/>
    <p:sldId id="308" r:id="rId27"/>
    <p:sldId id="304" r:id="rId28"/>
    <p:sldId id="305" r:id="rId29"/>
    <p:sldId id="306" r:id="rId30"/>
    <p:sldId id="309" r:id="rId31"/>
    <p:sldId id="310" r:id="rId32"/>
    <p:sldId id="311" r:id="rId33"/>
    <p:sldId id="370" r:id="rId34"/>
    <p:sldId id="372" r:id="rId35"/>
    <p:sldId id="345" r:id="rId36"/>
    <p:sldId id="343" r:id="rId37"/>
    <p:sldId id="344" r:id="rId38"/>
    <p:sldId id="312" r:id="rId39"/>
    <p:sldId id="371" r:id="rId40"/>
    <p:sldId id="347" r:id="rId41"/>
    <p:sldId id="350" r:id="rId42"/>
    <p:sldId id="349" r:id="rId43"/>
    <p:sldId id="346" r:id="rId44"/>
    <p:sldId id="352" r:id="rId45"/>
    <p:sldId id="361" r:id="rId46"/>
    <p:sldId id="321" r:id="rId47"/>
    <p:sldId id="322" r:id="rId48"/>
    <p:sldId id="324" r:id="rId49"/>
    <p:sldId id="323" r:id="rId50"/>
    <p:sldId id="325" r:id="rId51"/>
    <p:sldId id="365" r:id="rId52"/>
    <p:sldId id="364" r:id="rId53"/>
    <p:sldId id="363" r:id="rId54"/>
    <p:sldId id="298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92D050"/>
    <a:srgbClr val="C55A11"/>
    <a:srgbClr val="555555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16EDDE-0135-423D-9D39-DB20D0F0A10B}" v="4" dt="2026-03-26T10:31:46.544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2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61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Dyer" userId="c78f284b-7e37-4191-b5a6-8e3806eb7037" providerId="ADAL" clId="{F60D56F0-411A-464A-9766-F9A63ABC936F}"/>
    <pc:docChg chg="delSld modSld">
      <pc:chgData name="James Dyer" userId="c78f284b-7e37-4191-b5a6-8e3806eb7037" providerId="ADAL" clId="{F60D56F0-411A-464A-9766-F9A63ABC936F}" dt="2026-03-26T10:35:37.637" v="9" actId="47"/>
      <pc:docMkLst>
        <pc:docMk/>
      </pc:docMkLst>
      <pc:sldChg chg="modSp modAnim">
        <pc:chgData name="James Dyer" userId="c78f284b-7e37-4191-b5a6-8e3806eb7037" providerId="ADAL" clId="{F60D56F0-411A-464A-9766-F9A63ABC936F}" dt="2026-03-26T10:31:46.544" v="7" actId="20577"/>
        <pc:sldMkLst>
          <pc:docMk/>
          <pc:sldMk cId="4176669337" sldId="301"/>
        </pc:sldMkLst>
        <pc:spChg chg="mod">
          <ac:chgData name="James Dyer" userId="c78f284b-7e37-4191-b5a6-8e3806eb7037" providerId="ADAL" clId="{F60D56F0-411A-464A-9766-F9A63ABC936F}" dt="2026-03-26T10:31:46.544" v="7" actId="20577"/>
          <ac:spMkLst>
            <pc:docMk/>
            <pc:sldMk cId="4176669337" sldId="301"/>
            <ac:spMk id="3" creationId="{BBED6BE7-1FDF-2119-C214-210006B918F1}"/>
          </ac:spMkLst>
        </pc:spChg>
      </pc:sldChg>
      <pc:sldChg chg="del">
        <pc:chgData name="James Dyer" userId="c78f284b-7e37-4191-b5a6-8e3806eb7037" providerId="ADAL" clId="{F60D56F0-411A-464A-9766-F9A63ABC936F}" dt="2026-03-26T10:31:31.291" v="1" actId="47"/>
        <pc:sldMkLst>
          <pc:docMk/>
          <pc:sldMk cId="223616444" sldId="333"/>
        </pc:sldMkLst>
      </pc:sldChg>
      <pc:sldChg chg="del">
        <pc:chgData name="James Dyer" userId="c78f284b-7e37-4191-b5a6-8e3806eb7037" providerId="ADAL" clId="{F60D56F0-411A-464A-9766-F9A63ABC936F}" dt="2026-03-26T10:31:32.015" v="2" actId="47"/>
        <pc:sldMkLst>
          <pc:docMk/>
          <pc:sldMk cId="1723221829" sldId="334"/>
        </pc:sldMkLst>
      </pc:sldChg>
      <pc:sldChg chg="del">
        <pc:chgData name="James Dyer" userId="c78f284b-7e37-4191-b5a6-8e3806eb7037" providerId="ADAL" clId="{F60D56F0-411A-464A-9766-F9A63ABC936F}" dt="2026-03-26T10:31:32.706" v="3" actId="47"/>
        <pc:sldMkLst>
          <pc:docMk/>
          <pc:sldMk cId="299426462" sldId="335"/>
        </pc:sldMkLst>
      </pc:sldChg>
      <pc:sldChg chg="del">
        <pc:chgData name="James Dyer" userId="c78f284b-7e37-4191-b5a6-8e3806eb7037" providerId="ADAL" clId="{F60D56F0-411A-464A-9766-F9A63ABC936F}" dt="2026-03-26T10:31:33.509" v="4" actId="47"/>
        <pc:sldMkLst>
          <pc:docMk/>
          <pc:sldMk cId="1578160530" sldId="336"/>
        </pc:sldMkLst>
      </pc:sldChg>
      <pc:sldChg chg="modSp modAnim">
        <pc:chgData name="James Dyer" userId="c78f284b-7e37-4191-b5a6-8e3806eb7037" providerId="ADAL" clId="{F60D56F0-411A-464A-9766-F9A63ABC936F}" dt="2026-03-26T10:31:01.584" v="0" actId="20577"/>
        <pc:sldMkLst>
          <pc:docMk/>
          <pc:sldMk cId="2886190301" sldId="359"/>
        </pc:sldMkLst>
        <pc:spChg chg="mod">
          <ac:chgData name="James Dyer" userId="c78f284b-7e37-4191-b5a6-8e3806eb7037" providerId="ADAL" clId="{F60D56F0-411A-464A-9766-F9A63ABC936F}" dt="2026-03-26T10:31:01.584" v="0" actId="20577"/>
          <ac:spMkLst>
            <pc:docMk/>
            <pc:sldMk cId="2886190301" sldId="359"/>
            <ac:spMk id="3" creationId="{03769C80-8694-5AE0-CA3A-4D3F0B391D5B}"/>
          </ac:spMkLst>
        </pc:spChg>
      </pc:sldChg>
      <pc:sldChg chg="del">
        <pc:chgData name="James Dyer" userId="c78f284b-7e37-4191-b5a6-8e3806eb7037" providerId="ADAL" clId="{F60D56F0-411A-464A-9766-F9A63ABC936F}" dt="2026-03-26T10:35:35.886" v="8" actId="47"/>
        <pc:sldMkLst>
          <pc:docMk/>
          <pc:sldMk cId="988777657" sldId="367"/>
        </pc:sldMkLst>
      </pc:sldChg>
      <pc:sldChg chg="del">
        <pc:chgData name="James Dyer" userId="c78f284b-7e37-4191-b5a6-8e3806eb7037" providerId="ADAL" clId="{F60D56F0-411A-464A-9766-F9A63ABC936F}" dt="2026-03-26T10:35:37.637" v="9" actId="47"/>
        <pc:sldMkLst>
          <pc:docMk/>
          <pc:sldMk cId="2950847722" sldId="3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B0DD2E-599E-4F7E-9827-9783F8444458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46C028-4A26-4BDD-AD40-0384F2A7E6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6085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26844-17E8-317C-A13F-F0008679FF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F6450A-89BB-EC42-7EDC-4824A3106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1AF33-2C5E-EBAD-B0F2-EB0C52D08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D214D-53D4-4978-A5BF-E95A030A4F2C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9C2E7-8E7D-EDFB-3902-20F554788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E1916-FFF4-38C4-FE7A-34A2F8045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5D74C-1F12-4C0F-83AD-D8DB89E37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8001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C9899-1C4C-A766-62FB-4FAC9AAFC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7D341-224C-1BA5-09C2-547DAD9F1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3291B-2764-FF77-F610-250DB4BB8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D214D-53D4-4978-A5BF-E95A030A4F2C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A816C-5F28-165E-07BC-F9816E8CC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BEF69-48D3-30CB-346A-593AFBE19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5D74C-1F12-4C0F-83AD-D8DB89E37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8932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5BA4E-860B-29DB-AC66-C051C5468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31437-865A-7B01-6327-CF825D3E3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FEA98-4121-28FF-40CB-3F5237C1A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D214D-53D4-4978-A5BF-E95A030A4F2C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B7DBB-A595-C2D1-7CFE-7CCB27856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66D9D-22C6-14DC-B89E-7EE4F9F62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5D74C-1F12-4C0F-83AD-D8DB89E37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8868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A29EB-6F2F-8C63-8A00-507A43053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EF489-34F6-CE6D-C0CC-472ADC85A8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18704E-E611-E5F3-8FF5-84C2294DB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68CB0D-3736-229F-246B-B4028ADF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D214D-53D4-4978-A5BF-E95A030A4F2C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DEF920-6DA2-5757-1B77-8614F3A31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203493-D4D3-DCD2-DC50-A62659D4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5D74C-1F12-4C0F-83AD-D8DB89E37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0513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75748-C438-2335-8F5F-D475690F1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8307A-A55A-AE6F-1528-CBBF62CDB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755C82-3014-3376-11B7-A27080856A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C21E67-1F98-570D-A104-FCD5705CDF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9C89F6-85DC-9E88-A569-1007680FA7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132623-3CF9-F7B3-7104-DCBA5EE4E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D214D-53D4-4978-A5BF-E95A030A4F2C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4D72EE-9251-DDA5-11EC-E1338C2C2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0A1AC-13A9-A211-B910-DAE14A165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5D74C-1F12-4C0F-83AD-D8DB89E37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838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334ED-083F-7B8D-55DC-75882B923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516DD5-A368-5525-3A83-FBB04D6FA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D214D-53D4-4978-A5BF-E95A030A4F2C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AF3D6D-440A-56F7-771E-ED43B7A1B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1D08B0-6172-B6E6-B597-6922A925E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5D74C-1F12-4C0F-83AD-D8DB89E37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7869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9D50C3-84B3-432B-8C2F-689FE49A6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D214D-53D4-4978-A5BF-E95A030A4F2C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DE6FB1-56A1-C4EF-B16C-DBFC01635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F2FED-B97F-DF77-1B5F-4BA4AEAD9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5D74C-1F12-4C0F-83AD-D8DB89E37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889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A1ED8-6FEF-5C2C-6E32-053755EF1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59343-B29C-CBF5-58BD-F143F4752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D8EB4-1584-FAD4-B863-43E51B59FA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91EA4-E4B9-5943-198C-466EB8AEB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D214D-53D4-4978-A5BF-E95A030A4F2C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9B697-A287-2CFD-6E59-D163FEFCC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B97FD-6032-9019-F021-E99336A92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5D74C-1F12-4C0F-83AD-D8DB89E37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3395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0935B-048E-ECC9-5439-EF8CE5BC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103AB1-ADED-F87E-0EDB-BA8184C9C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A31839-D51F-8DA0-94A1-FB5636182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53253E-8CA3-EFD8-78C8-0E1FF3130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D214D-53D4-4978-A5BF-E95A030A4F2C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5ED3A-5B50-02BB-DB63-BA20EAA56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15F4D4-65B0-DFF6-D3E1-D07EB5DFB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5D74C-1F12-4C0F-83AD-D8DB89E37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5782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EFD20-0AAE-8E74-8680-A38024E13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C7FE5A-F71D-CC95-5CA8-B728457AC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12F88-BBB4-3529-C0AB-434FF862E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D214D-53D4-4978-A5BF-E95A030A4F2C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707FA-2B5E-C1C1-DB1C-B0759E9B3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43921-9187-0EF7-8BF2-F4E816139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5D74C-1F12-4C0F-83AD-D8DB89E37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885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8D57A1-05FB-B87D-CE60-89F802B896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F3809B-E906-3F23-2185-27E2B95D86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02280-8B36-1AE8-8C83-D081BD601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D214D-53D4-4978-A5BF-E95A030A4F2C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07F58-8E22-B5FB-19F5-4C35DC23D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B2374-408C-0DF7-ECA8-D4E54C25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5D74C-1F12-4C0F-83AD-D8DB89E37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1415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FC422C-D475-FF7D-4509-06A649768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72D88-C6BB-7F39-19D6-0460B5D5A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44EC6-2F81-A6EF-A49C-073370214D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D214D-53D4-4978-A5BF-E95A030A4F2C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32956-3013-7EFB-616C-6502BD53B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C4951-9275-D25C-8F1D-BDCB3DF19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5D74C-1F12-4C0F-83AD-D8DB89E37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337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B4C32-43E0-E306-745E-A9E0C3095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68597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dirty="0"/>
              <a:t>COMP1860 Building our Digital World: Computer Systems &amp;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C1C8D3-9C2C-0127-C1E5-5E0B691A15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58782"/>
            <a:ext cx="9144000" cy="1655762"/>
          </a:xfrm>
        </p:spPr>
        <p:txBody>
          <a:bodyPr/>
          <a:lstStyle/>
          <a:p>
            <a:r>
              <a:rPr lang="en-GB" sz="2800"/>
              <a:t>S1.W2.L2: </a:t>
            </a:r>
            <a:r>
              <a:rPr lang="en-GB" sz="2800" dirty="0"/>
              <a:t>Two’s complement </a:t>
            </a:r>
            <a:r>
              <a:rPr lang="en-GB" sz="2800"/>
              <a:t>&amp; Floating-Point </a:t>
            </a:r>
            <a:r>
              <a:rPr lang="en-GB" sz="2800" dirty="0"/>
              <a:t>Number Representations</a:t>
            </a:r>
          </a:p>
          <a:p>
            <a:r>
              <a:rPr lang="en-GB" sz="2800" dirty="0"/>
              <a:t>Dr James Dyer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2242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D3D9B-F031-E9EE-57A2-70751E22A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A cartoon of a child standing in front of a sign&#10;&#10;Description automatically generated">
            <a:extLst>
              <a:ext uri="{FF2B5EF4-FFF2-40B4-BE49-F238E27FC236}">
                <a16:creationId xmlns:a16="http://schemas.microsoft.com/office/drawing/2014/main" id="{87730293-1A6A-F43C-466F-7BE8B37230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5828" cy="6858000"/>
          </a:xfrm>
        </p:spPr>
      </p:pic>
    </p:spTree>
    <p:extLst>
      <p:ext uri="{BB962C8B-B14F-4D97-AF65-F5344CB8AC3E}">
        <p14:creationId xmlns:p14="http://schemas.microsoft.com/office/powerpoint/2010/main" val="1400862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1F89-6D5D-14B2-D321-BD09C8887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2B910-DD74-1555-9EBF-9CC2371F6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This lecture covers the following sections of chapter 11 </a:t>
            </a:r>
            <a:r>
              <a:rPr lang="en-GB" dirty="0"/>
              <a:t>of Stallings </a:t>
            </a:r>
            <a:r>
              <a:rPr lang="en-GB" i="1" dirty="0"/>
              <a:t>Computer Architecture </a:t>
            </a:r>
            <a:r>
              <a:rPr lang="en-GB" i="1"/>
              <a:t>&amp; Organisation:</a:t>
            </a:r>
          </a:p>
          <a:p>
            <a:pPr lvl="1"/>
            <a:r>
              <a:rPr lang="en-GB"/>
              <a:t>11.2 from Two’s complement representation to the end of chapter 11.5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3714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80F91-CA78-83FC-0345-9A5F527FE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893A1-47E8-87F8-A609-6D7E4F748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b="1" dirty="0"/>
              <a:t>Explain the bit-level representations of fixed-length numbers.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Explain the bit-level representations of non-numeric data.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Translate numerical data from one format to another.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1079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05F18-39A8-1EF3-0757-EDF6930E8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B0BC4-55B4-20BA-C3AA-E0510CC80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Two’s complement integers</a:t>
            </a:r>
          </a:p>
          <a:p>
            <a:r>
              <a:rPr lang="en-GB" dirty="0"/>
              <a:t>Floating-point Representations</a:t>
            </a:r>
          </a:p>
        </p:txBody>
      </p:sp>
    </p:spTree>
    <p:extLst>
      <p:ext uri="{BB962C8B-B14F-4D97-AF65-F5344CB8AC3E}">
        <p14:creationId xmlns:p14="http://schemas.microsoft.com/office/powerpoint/2010/main" val="547950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7D7CF-4239-1A03-B4AB-0BB837962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Two’s Complement Integers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89E91C-73E4-46DC-6954-62CAD7D4F0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68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FEB97-854E-0051-501A-E7CFF4C9E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Two’s Complement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BC8DE-BE56-ABA1-0AB2-7CFC3E0C9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Using 4 bits</a:t>
            </a:r>
          </a:p>
          <a:p>
            <a:endParaRPr lang="en-GB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2DEEDA6-1BDA-A05D-6726-81B4E5AA8929}"/>
              </a:ext>
            </a:extLst>
          </p:cNvPr>
          <p:cNvGraphicFramePr>
            <a:graphicFrameLocks noGrp="1"/>
          </p:cNvGraphicFramePr>
          <p:nvPr/>
        </p:nvGraphicFramePr>
        <p:xfrm>
          <a:off x="970455" y="2517934"/>
          <a:ext cx="4925848" cy="33375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62924">
                  <a:extLst>
                    <a:ext uri="{9D8B030D-6E8A-4147-A177-3AD203B41FA5}">
                      <a16:colId xmlns:a16="http://schemas.microsoft.com/office/drawing/2014/main" val="4078679312"/>
                    </a:ext>
                  </a:extLst>
                </a:gridCol>
                <a:gridCol w="2462924">
                  <a:extLst>
                    <a:ext uri="{9D8B030D-6E8A-4147-A177-3AD203B41FA5}">
                      <a16:colId xmlns:a16="http://schemas.microsoft.com/office/drawing/2014/main" val="12525374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2’s complement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379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+7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100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+6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960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025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+4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968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34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2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599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44313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CFE1E36-42EC-7A9B-28AC-45D34FBAC423}"/>
              </a:ext>
            </a:extLst>
          </p:cNvPr>
          <p:cNvGraphicFramePr>
            <a:graphicFrameLocks noGrp="1"/>
          </p:cNvGraphicFramePr>
          <p:nvPr/>
        </p:nvGraphicFramePr>
        <p:xfrm>
          <a:off x="6295697" y="2517934"/>
          <a:ext cx="4925848" cy="33375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62924">
                  <a:extLst>
                    <a:ext uri="{9D8B030D-6E8A-4147-A177-3AD203B41FA5}">
                      <a16:colId xmlns:a16="http://schemas.microsoft.com/office/drawing/2014/main" val="4078679312"/>
                    </a:ext>
                  </a:extLst>
                </a:gridCol>
                <a:gridCol w="2462924">
                  <a:extLst>
                    <a:ext uri="{9D8B030D-6E8A-4147-A177-3AD203B41FA5}">
                      <a16:colId xmlns:a16="http://schemas.microsoft.com/office/drawing/2014/main" val="12525374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2’s complement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379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100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960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025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968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34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241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599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287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2833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B94AB-ED0D-C6BE-63AD-4942C9E91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298ED-F6C3-EFC4-1589-2D8BDEAB6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One representation of zero</a:t>
            </a:r>
          </a:p>
          <a:p>
            <a:r>
              <a:rPr lang="en-GB" dirty="0"/>
              <a:t>Arithmetic more uniform with signs</a:t>
            </a:r>
          </a:p>
          <a:p>
            <a:r>
              <a:rPr lang="en-GB" dirty="0"/>
              <a:t>Negating is fairly easy</a:t>
            </a:r>
          </a:p>
          <a:p>
            <a:pPr lvl="1"/>
            <a:r>
              <a:rPr lang="en-GB" dirty="0"/>
              <a:t>Flip bits of representation</a:t>
            </a:r>
          </a:p>
          <a:p>
            <a:pPr lvl="1"/>
            <a:r>
              <a:rPr lang="en-GB" dirty="0"/>
              <a:t>Then add 1 to least significant bit (rightmost)</a:t>
            </a:r>
          </a:p>
          <a:p>
            <a:r>
              <a:rPr lang="en-GB" dirty="0"/>
              <a:t>Example</a:t>
            </a:r>
          </a:p>
          <a:p>
            <a:pPr lvl="1"/>
            <a:r>
              <a:rPr lang="en-GB" dirty="0"/>
              <a:t>3 = 0011 and we calculate −3 as follows</a:t>
            </a:r>
          </a:p>
          <a:p>
            <a:pPr lvl="1"/>
            <a:r>
              <a:rPr lang="en-GB" dirty="0"/>
              <a:t>Bitwise complement 1100</a:t>
            </a:r>
          </a:p>
          <a:p>
            <a:pPr lvl="1"/>
            <a:r>
              <a:rPr lang="en-GB" dirty="0"/>
              <a:t>Add 1 to least significant bit (LSB - the most right one) 1101</a:t>
            </a:r>
          </a:p>
        </p:txBody>
      </p:sp>
    </p:spTree>
    <p:extLst>
      <p:ext uri="{BB962C8B-B14F-4D97-AF65-F5344CB8AC3E}">
        <p14:creationId xmlns:p14="http://schemas.microsoft.com/office/powerpoint/2010/main" val="2201600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111AB-3FE1-0165-79DC-56F048FC4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69C80-8694-5AE0-CA3A-4D3F0B391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Compute −5 in twos complement notation (using 5 bits).</a:t>
            </a:r>
          </a:p>
        </p:txBody>
      </p:sp>
    </p:spTree>
    <p:extLst>
      <p:ext uri="{BB962C8B-B14F-4D97-AF65-F5344CB8AC3E}">
        <p14:creationId xmlns:p14="http://schemas.microsoft.com/office/powerpoint/2010/main" val="2886190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0118C-F791-6CEC-33CC-8396566B2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Geometric depiction of 2’s complement</a:t>
            </a:r>
          </a:p>
        </p:txBody>
      </p:sp>
      <p:pic>
        <p:nvPicPr>
          <p:cNvPr id="4" name="Content Placeholder 3" descr="Diagram a illustrates the geometric depiction for 4-bit numbers. The integers are represented inside a circle with their corresponding 4-bit binary values outside the circle. The integers in clock wise direction are as follows. 0, plus 1, plus 2, plus 3, plus 4 plus 5, plus 6, plus 7, negative 8, negative 7, negative 6, negative 5, negative 4, negative 3, negative 2, and negative 1. The corresponding 4-bit binary values in clock wise direction are as follows. 0 0 0 1, 0 0 1 0, 0 0 1 1, 0 1 0 0, 0 1 0 1, 0 1 1 0, 0 1 1 1, 1 0 0 0, 1 0 0 1, 1 0 1 0, 1 0 1 1, 1 1 0 0, 1 1 0 1, 1 1 1 0, and 1 1 1 1. A forward arrow in the clock wise direction of the circle depicts Addition of positive numbers. A forward arrow in the anti-clock wise direction of the circle depicts subtraction of positive numbers. A number line is marked between negative 8 and 7 points toward the integers inside the circle. Diagram b illustrates the geometric depiction for n-bit numbers. The integers are represented inside a circle with their corresponding n-bit binary values outside the circle. The range of positive integers in clock wise direction is as follows. 0, 2 to the power of n minus 2, 2 to the power of n minus 1, minus 1. The range of negative integers in the anti-clock wise direction is as follows. negative 1, negative 2 to the power of n minus 2, negative 2 to the power of n minus 1. The corresponding n-bit binary values in clock wise direction are as follows. 0 0 0 ellipsis 0, 0 1 0 ellipsis 0, 0 1 1 ellipsis 1. The corresponding n-bit binary values in anti-clock wise direction are as follows. 1 1 1 ellipsis 1, 1 1 0 ellipsis 0, 1 0 0 ellipsis 0. A forward arrow in the clock wise direction of the circle depicts Addition of positive numbers. A forward arrow in the anti-clock wise direction of the circle depicts subtraction of positive numbers. A number line is marked between negative 2 to the power of n minus 1 and 2 to the power of n minus 1, minus 1 points toward the integers inside the circle.  " title="Two diagrams illustrate the geometric depiction of twos complement integers.">
            <a:extLst>
              <a:ext uri="{FF2B5EF4-FFF2-40B4-BE49-F238E27FC236}">
                <a16:creationId xmlns:a16="http://schemas.microsoft.com/office/drawing/2014/main" id="{A8F8A13F-29F0-4A88-6F70-D9ACE97C67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9" t="23274" r="4673" b="30507"/>
          <a:stretch/>
        </p:blipFill>
        <p:spPr>
          <a:xfrm>
            <a:off x="2354618" y="1825625"/>
            <a:ext cx="7705790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30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B59AC-8A6A-7F6C-F74A-D5D287F46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Negation: Special Case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AD3F2-7CC2-79AE-4C78-34C7E42E8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0 = 0000</a:t>
            </a:r>
          </a:p>
          <a:p>
            <a:r>
              <a:rPr lang="en-GB" dirty="0"/>
              <a:t>Bitwise complement 1111</a:t>
            </a:r>
          </a:p>
          <a:p>
            <a:r>
              <a:rPr lang="en-GB" dirty="0"/>
              <a:t>Add 1 to LSB 1 0000</a:t>
            </a:r>
          </a:p>
          <a:p>
            <a:r>
              <a:rPr lang="en-GB" dirty="0"/>
              <a:t>Ignore overflow: −0 = 0000 = 0</a:t>
            </a:r>
          </a:p>
        </p:txBody>
      </p:sp>
    </p:spTree>
    <p:extLst>
      <p:ext uri="{BB962C8B-B14F-4D97-AF65-F5344CB8AC3E}">
        <p14:creationId xmlns:p14="http://schemas.microsoft.com/office/powerpoint/2010/main" val="4116456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E6B34-E35D-72E2-398B-CCF91D6F6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Negation: Special Case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2BAD8-BB2A-33BA-EB6A-ED60DAA0A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−8 = 1000</a:t>
            </a:r>
          </a:p>
          <a:p>
            <a:pPr lvl="1"/>
            <a:r>
              <a:rPr lang="en-GB" dirty="0"/>
              <a:t>Bitwise complement 0111</a:t>
            </a:r>
          </a:p>
          <a:p>
            <a:pPr lvl="1"/>
            <a:r>
              <a:rPr lang="en-GB" dirty="0"/>
              <a:t>Add 1 to LSB 1000</a:t>
            </a:r>
          </a:p>
          <a:p>
            <a:pPr lvl="1"/>
            <a:r>
              <a:rPr lang="en-GB" dirty="0"/>
              <a:t>wrong! −(−8) = 1000 = −8</a:t>
            </a:r>
          </a:p>
          <a:p>
            <a:r>
              <a:rPr lang="en-GB" dirty="0"/>
              <a:t>But there is no representation of +8 so what did we expect?!?!</a:t>
            </a:r>
          </a:p>
          <a:p>
            <a:r>
              <a:rPr lang="en-GB" dirty="0"/>
              <a:t>Strategy: monitor the sign bit - the left most bit is the most significant bit (MSB) - it should change during negation</a:t>
            </a:r>
          </a:p>
        </p:txBody>
      </p:sp>
    </p:spTree>
    <p:extLst>
      <p:ext uri="{BB962C8B-B14F-4D97-AF65-F5344CB8AC3E}">
        <p14:creationId xmlns:p14="http://schemas.microsoft.com/office/powerpoint/2010/main" val="1078041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1BF41-7895-F3B8-1430-40F2231D7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95BC9-32AB-65E2-5D7C-188CF9E71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Consider adding 6 to 7 in 4-bit 2’s complement</a:t>
            </a:r>
          </a:p>
          <a:p>
            <a:pPr lvl="1"/>
            <a:r>
              <a:rPr lang="en-GB" dirty="0"/>
              <a:t>6 is 0110, 7 is 0111</a:t>
            </a:r>
          </a:p>
          <a:p>
            <a:pPr lvl="1"/>
            <a:r>
              <a:rPr lang="en-GB" dirty="0"/>
              <a:t>Sum by binary addition is 1101</a:t>
            </a:r>
          </a:p>
          <a:p>
            <a:pPr lvl="1"/>
            <a:r>
              <a:rPr lang="en-GB" dirty="0"/>
              <a:t>This is -3!</a:t>
            </a:r>
          </a:p>
          <a:p>
            <a:r>
              <a:rPr lang="en-GB" dirty="0"/>
              <a:t>If we consider the geometric representation</a:t>
            </a:r>
          </a:p>
          <a:p>
            <a:pPr lvl="1"/>
            <a:r>
              <a:rPr lang="en-GB" dirty="0"/>
              <a:t>Start at 6 and count 7 steps clockwise (addition)</a:t>
            </a:r>
          </a:p>
          <a:p>
            <a:pPr lvl="1"/>
            <a:r>
              <a:rPr lang="en-GB" dirty="0"/>
              <a:t>We end up at -3</a:t>
            </a:r>
          </a:p>
          <a:p>
            <a:r>
              <a:rPr lang="en-GB" dirty="0"/>
              <a:t>Overflow rule:</a:t>
            </a:r>
          </a:p>
          <a:p>
            <a:pPr lvl="1"/>
            <a:r>
              <a:rPr lang="en-US" sz="2400" dirty="0">
                <a:latin typeface="+mn-lt"/>
              </a:rPr>
              <a:t>If two numbers are added, and they are both positive or both negative, then overflow occurs if and only if the result has the opposite sign</a:t>
            </a:r>
          </a:p>
          <a:p>
            <a:pPr lvl="1"/>
            <a:r>
              <a:rPr lang="en-US" dirty="0"/>
              <a:t>MSB gives sign: 0 positive integer, 1 </a:t>
            </a:r>
            <a:r>
              <a:rPr lang="en-US"/>
              <a:t>negative integer</a:t>
            </a:r>
            <a:endParaRPr lang="en-US" sz="2400" dirty="0">
              <a:latin typeface="+mn-lt"/>
            </a:endParaRP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6371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4A7AF-65C5-E2FB-8205-C2484D29A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Range of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9B156-8CE0-8192-C85A-94253E0A0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4-bit 2s complement</a:t>
            </a:r>
          </a:p>
          <a:p>
            <a:pPr lvl="1"/>
            <a:r>
              <a:rPr lang="en-GB" dirty="0"/>
              <a:t>+7 = 0111 = 2</a:t>
            </a:r>
            <a:r>
              <a:rPr lang="en-GB" baseline="30000" dirty="0"/>
              <a:t>3</a:t>
            </a:r>
            <a:r>
              <a:rPr lang="en-GB" dirty="0"/>
              <a:t> − 1</a:t>
            </a:r>
          </a:p>
          <a:p>
            <a:pPr lvl="1"/>
            <a:r>
              <a:rPr lang="en-GB" dirty="0"/>
              <a:t>−8 = 1000 = −2</a:t>
            </a:r>
            <a:r>
              <a:rPr lang="en-GB" baseline="30000" dirty="0"/>
              <a:t>3</a:t>
            </a:r>
          </a:p>
          <a:p>
            <a:r>
              <a:rPr lang="en-GB" dirty="0"/>
              <a:t>8-bit 2s complement</a:t>
            </a:r>
          </a:p>
          <a:p>
            <a:pPr lvl="1"/>
            <a:r>
              <a:rPr lang="en-GB" dirty="0"/>
              <a:t>+127 = 0111 1111 = 2</a:t>
            </a:r>
            <a:r>
              <a:rPr lang="en-GB" baseline="30000" dirty="0"/>
              <a:t>7</a:t>
            </a:r>
            <a:r>
              <a:rPr lang="en-GB" dirty="0"/>
              <a:t> − 1</a:t>
            </a:r>
          </a:p>
          <a:p>
            <a:pPr lvl="1"/>
            <a:r>
              <a:rPr lang="en-GB" dirty="0"/>
              <a:t>−128 = 1000 0000 = −2</a:t>
            </a:r>
            <a:r>
              <a:rPr lang="en-GB" baseline="30000" dirty="0"/>
              <a:t>7</a:t>
            </a:r>
          </a:p>
          <a:p>
            <a:r>
              <a:rPr lang="en-GB" dirty="0"/>
              <a:t>16-bit 2s complement</a:t>
            </a:r>
          </a:p>
          <a:p>
            <a:pPr lvl="1"/>
            <a:r>
              <a:rPr lang="en-GB" dirty="0"/>
              <a:t>+32767 = 0111 1111 1111 1111 = 2</a:t>
            </a:r>
            <a:r>
              <a:rPr lang="en-GB" baseline="30000" dirty="0"/>
              <a:t>15</a:t>
            </a:r>
            <a:r>
              <a:rPr lang="en-GB" dirty="0"/>
              <a:t> − 1</a:t>
            </a:r>
          </a:p>
          <a:p>
            <a:pPr lvl="1"/>
            <a:r>
              <a:rPr lang="en-GB" dirty="0"/>
              <a:t>−32768 = 1000 0000 0000 0000 = −2</a:t>
            </a:r>
            <a:r>
              <a:rPr lang="en-GB" baseline="30000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01190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E014B-35BD-BA4A-B8E4-AD4568266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Conversion between lengths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BCC70-3055-B35C-8E89-314DA6BC5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Positive numbers pack with leading zeros</a:t>
            </a:r>
          </a:p>
          <a:p>
            <a:pPr lvl="1"/>
            <a:r>
              <a:rPr lang="en-GB" dirty="0"/>
              <a:t>+18 = 0001 0010 (8-bit)</a:t>
            </a:r>
          </a:p>
          <a:p>
            <a:pPr lvl="1"/>
            <a:r>
              <a:rPr lang="en-GB" dirty="0"/>
              <a:t>+18 = 0000 0000 0001 0010 (16-bit).</a:t>
            </a:r>
          </a:p>
          <a:p>
            <a:r>
              <a:rPr lang="en-GB" dirty="0"/>
              <a:t>Negative numbers pack with leading ones</a:t>
            </a:r>
          </a:p>
          <a:p>
            <a:pPr lvl="1"/>
            <a:r>
              <a:rPr lang="en-GB" dirty="0"/>
              <a:t>−18 = 1110 1110 (8-bit)</a:t>
            </a:r>
          </a:p>
          <a:p>
            <a:pPr lvl="1"/>
            <a:r>
              <a:rPr lang="en-GB" dirty="0"/>
              <a:t>−18 = 1111 1111 1110 1110 (16-bit).</a:t>
            </a:r>
          </a:p>
          <a:p>
            <a:r>
              <a:rPr lang="en-GB" dirty="0"/>
              <a:t>In general, pack with MSB.</a:t>
            </a:r>
          </a:p>
        </p:txBody>
      </p:sp>
    </p:spTree>
    <p:extLst>
      <p:ext uri="{BB962C8B-B14F-4D97-AF65-F5344CB8AC3E}">
        <p14:creationId xmlns:p14="http://schemas.microsoft.com/office/powerpoint/2010/main" val="3613740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F1E66-8617-79D8-D5D3-0C349045C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 and Subtraction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9DFF0-DB40-DDA1-1F69-69A86ED7B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Addition</a:t>
            </a:r>
          </a:p>
          <a:p>
            <a:pPr lvl="1"/>
            <a:r>
              <a:rPr lang="en-GB" dirty="0"/>
              <a:t>Normal binary addition</a:t>
            </a:r>
          </a:p>
          <a:p>
            <a:pPr lvl="1"/>
            <a:r>
              <a:rPr lang="en-GB" dirty="0"/>
              <a:t>If either both numbers are positive or both negative, then a change in the sign bit means overflow and the result should not be used</a:t>
            </a:r>
          </a:p>
          <a:p>
            <a:r>
              <a:rPr lang="en-GB" dirty="0"/>
              <a:t>Subtraction</a:t>
            </a:r>
          </a:p>
          <a:p>
            <a:pPr lvl="1"/>
            <a:r>
              <a:rPr lang="en-GB" dirty="0"/>
              <a:t>a − b = a + (−b)</a:t>
            </a:r>
          </a:p>
          <a:p>
            <a:pPr lvl="1"/>
            <a:r>
              <a:rPr lang="en-GB" dirty="0"/>
              <a:t>Take the complement and add</a:t>
            </a:r>
          </a:p>
        </p:txBody>
      </p:sp>
    </p:spTree>
    <p:extLst>
      <p:ext uri="{BB962C8B-B14F-4D97-AF65-F5344CB8AC3E}">
        <p14:creationId xmlns:p14="http://schemas.microsoft.com/office/powerpoint/2010/main" val="552150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1CBB-FAB0-694B-6BAE-485A50896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37D72-C312-1E39-CB31-2A38A6D5A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Compute the 5-bit two’s complement of 5 and 7.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Compute the 5-bit two’s complement of −5 and −7.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Using their two’s complement, compute 5 + 7, 5 − 7, −5 + 7, 5 − (−7).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How would two’s complement multiplication work?</a:t>
            </a:r>
          </a:p>
        </p:txBody>
      </p:sp>
    </p:spTree>
    <p:extLst>
      <p:ext uri="{BB962C8B-B14F-4D97-AF65-F5344CB8AC3E}">
        <p14:creationId xmlns:p14="http://schemas.microsoft.com/office/powerpoint/2010/main" val="15337332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7921D-3259-E765-C6BA-3D9854A48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Floating-Point Representations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525A93-D6B5-2726-C4FF-0C7ED8632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3232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6ACAE-DC29-218C-760D-EB28781F3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Scientific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A66DD-D57E-0315-F863-D2F9CC54E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Also called exponential notation</a:t>
            </a:r>
          </a:p>
          <a:p>
            <a:pPr lvl="1"/>
            <a:r>
              <a:rPr lang="en-GB" dirty="0"/>
              <a:t>12345 </a:t>
            </a:r>
            <a:r>
              <a:rPr lang="en-GB"/>
              <a:t>= 123.45 </a:t>
            </a:r>
            <a:r>
              <a:rPr lang="en-GB" dirty="0"/>
              <a:t>× 100 = 1.2345 × 10</a:t>
            </a:r>
            <a:r>
              <a:rPr lang="en-GB" baseline="30000" dirty="0"/>
              <a:t>4</a:t>
            </a:r>
            <a:r>
              <a:rPr lang="en-GB" dirty="0"/>
              <a:t> </a:t>
            </a:r>
          </a:p>
          <a:p>
            <a:r>
              <a:rPr lang="en-GB" dirty="0"/>
              <a:t>4 specifications required for a number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Sign (+ in example)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Mantissa (1.2345)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Sign of the exponent (+ in 10</a:t>
            </a:r>
            <a:r>
              <a:rPr lang="en-GB" baseline="30000" dirty="0"/>
              <a:t>4</a:t>
            </a:r>
            <a:r>
              <a:rPr lang="en-GB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Magnitude of the exponent (4 in 10</a:t>
            </a:r>
            <a:r>
              <a:rPr lang="en-GB" baseline="30000" dirty="0"/>
              <a:t>4</a:t>
            </a:r>
            <a:r>
              <a:rPr lang="en-GB" dirty="0"/>
              <a:t>)</a:t>
            </a:r>
          </a:p>
          <a:p>
            <a:r>
              <a:rPr lang="en-GB" dirty="0"/>
              <a:t>Plus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Base of the exponent (10)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Location of the decimal point (or other base) radix point</a:t>
            </a:r>
          </a:p>
        </p:txBody>
      </p:sp>
    </p:spTree>
    <p:extLst>
      <p:ext uri="{BB962C8B-B14F-4D97-AF65-F5344CB8AC3E}">
        <p14:creationId xmlns:p14="http://schemas.microsoft.com/office/powerpoint/2010/main" val="30408210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14C13-73EA-5798-1220-2344203AE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DB59C3-637F-0BBD-7F75-A2BAB43C0F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429000"/>
                <a:ext cx="10515600" cy="1062804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GB" sz="5400" dirty="0">
                    <a:solidFill>
                      <a:schemeClr val="accent2">
                        <a:lumMod val="75000"/>
                      </a:schemeClr>
                    </a:solidFill>
                  </a:rPr>
                  <a:t>-3.579</a:t>
                </a:r>
                <a14:m>
                  <m:oMath xmlns:m="http://schemas.openxmlformats.org/officeDocument/2006/math">
                    <m:r>
                      <a:rPr lang="en-GB" sz="5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sz="5400" dirty="0">
                    <a:solidFill>
                      <a:schemeClr val="accent1"/>
                    </a:solidFill>
                  </a:rPr>
                  <a:t>10</a:t>
                </a:r>
                <a:r>
                  <a:rPr lang="en-GB" sz="5400" baseline="30000" dirty="0">
                    <a:solidFill>
                      <a:schemeClr val="accent6">
                        <a:lumMod val="75000"/>
                      </a:schemeClr>
                    </a:solidFill>
                  </a:rPr>
                  <a:t>-6</a:t>
                </a:r>
                <a:endParaRPr lang="en-GB" sz="4000" baseline="300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DB59C3-637F-0BBD-7F75-A2BAB43C0F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429000"/>
                <a:ext cx="10515600" cy="1062804"/>
              </a:xfrm>
              <a:blipFill>
                <a:blip r:embed="rId2"/>
                <a:stretch>
                  <a:fillRect t="-23563" b="-132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5C4E299-089F-8FB9-3FA5-4074A76DC40C}"/>
              </a:ext>
            </a:extLst>
          </p:cNvPr>
          <p:cNvSpPr txBox="1"/>
          <p:nvPr/>
        </p:nvSpPr>
        <p:spPr>
          <a:xfrm>
            <a:off x="1387366" y="2690648"/>
            <a:ext cx="2837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2">
                    <a:lumMod val="75000"/>
                  </a:schemeClr>
                </a:solidFill>
              </a:rPr>
              <a:t>Sign of the mantissa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1AF4FC1-0793-4E4A-A60E-B2CF854527C6}"/>
              </a:ext>
            </a:extLst>
          </p:cNvPr>
          <p:cNvCxnSpPr>
            <a:stCxn id="6" idx="2"/>
          </p:cNvCxnSpPr>
          <p:nvPr/>
        </p:nvCxnSpPr>
        <p:spPr>
          <a:xfrm>
            <a:off x="2806263" y="3152313"/>
            <a:ext cx="1408385" cy="601139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B983B1B-1444-5239-AD96-E334B458DA32}"/>
              </a:ext>
            </a:extLst>
          </p:cNvPr>
          <p:cNvSpPr txBox="1"/>
          <p:nvPr/>
        </p:nvSpPr>
        <p:spPr>
          <a:xfrm>
            <a:off x="5305097" y="4836808"/>
            <a:ext cx="1413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2">
                    <a:lumMod val="75000"/>
                  </a:schemeClr>
                </a:solidFill>
              </a:rPr>
              <a:t>Mantissa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F56EF2D-942C-4884-786C-D067391B4B27}"/>
              </a:ext>
            </a:extLst>
          </p:cNvPr>
          <p:cNvCxnSpPr>
            <a:cxnSpLocks/>
          </p:cNvCxnSpPr>
          <p:nvPr/>
        </p:nvCxnSpPr>
        <p:spPr>
          <a:xfrm flipH="1" flipV="1">
            <a:off x="5528441" y="4214648"/>
            <a:ext cx="483476" cy="651642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8AD8240-B5D7-C3FF-4470-AAD607D6DF1C}"/>
              </a:ext>
            </a:extLst>
          </p:cNvPr>
          <p:cNvSpPr txBox="1"/>
          <p:nvPr/>
        </p:nvSpPr>
        <p:spPr>
          <a:xfrm>
            <a:off x="714704" y="4866290"/>
            <a:ext cx="3883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Location of the decimal point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CCD11A-3335-C4EE-FACB-3B1EC9550F7F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2656491" y="4132904"/>
            <a:ext cx="2289940" cy="7333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83D6222-769A-E84C-0D8E-7FC00DC915F0}"/>
              </a:ext>
            </a:extLst>
          </p:cNvPr>
          <p:cNvSpPr txBox="1"/>
          <p:nvPr/>
        </p:nvSpPr>
        <p:spPr>
          <a:xfrm>
            <a:off x="7300747" y="4866290"/>
            <a:ext cx="802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1"/>
                </a:solidFill>
              </a:rPr>
              <a:t>Base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D48BB07-8092-71F3-4A83-2D79C2648DFE}"/>
              </a:ext>
            </a:extLst>
          </p:cNvPr>
          <p:cNvCxnSpPr>
            <a:cxnSpLocks/>
            <a:stCxn id="19" idx="0"/>
          </p:cNvCxnSpPr>
          <p:nvPr/>
        </p:nvCxnSpPr>
        <p:spPr>
          <a:xfrm flipH="1" flipV="1">
            <a:off x="7220607" y="4132904"/>
            <a:ext cx="481505" cy="73338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B771D39-00A6-10F5-047C-423093F7BC62}"/>
              </a:ext>
            </a:extLst>
          </p:cNvPr>
          <p:cNvSpPr txBox="1"/>
          <p:nvPr/>
        </p:nvSpPr>
        <p:spPr>
          <a:xfrm>
            <a:off x="7220607" y="2297590"/>
            <a:ext cx="2837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6">
                    <a:lumMod val="75000"/>
                  </a:schemeClr>
                </a:solidFill>
              </a:rPr>
              <a:t>Sign of the exponent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6A879F0-B8BA-FBC3-FDF8-E87E3C24E6B4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7451834" y="2759255"/>
            <a:ext cx="1187670" cy="803752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E4C1587-21FC-C54F-B916-F47A50CC67DA}"/>
              </a:ext>
            </a:extLst>
          </p:cNvPr>
          <p:cNvSpPr txBox="1"/>
          <p:nvPr/>
        </p:nvSpPr>
        <p:spPr>
          <a:xfrm>
            <a:off x="9238596" y="3563007"/>
            <a:ext cx="1413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6">
                    <a:lumMod val="75000"/>
                  </a:schemeClr>
                </a:solidFill>
              </a:rPr>
              <a:t>Exponent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935CFD-70F6-D211-B66F-9F4B6032565B}"/>
              </a:ext>
            </a:extLst>
          </p:cNvPr>
          <p:cNvCxnSpPr>
            <a:cxnSpLocks/>
            <a:stCxn id="27" idx="1"/>
          </p:cNvCxnSpPr>
          <p:nvPr/>
        </p:nvCxnSpPr>
        <p:spPr>
          <a:xfrm flipH="1" flipV="1">
            <a:off x="7830207" y="3671239"/>
            <a:ext cx="1408389" cy="122601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7796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C6812-2C85-119E-50BE-1DAE4B8E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D6BE7-1FDF-2119-C214-210006B91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Identify the sign and magnitude in the mantissa and exponent in the following two binary examples (base in binary):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1.01001 × 10</a:t>
            </a:r>
            <a:r>
              <a:rPr lang="en-GB" baseline="30000" dirty="0"/>
              <a:t>−101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−1.1101 × 10</a:t>
            </a:r>
            <a:r>
              <a:rPr lang="en-GB" baseline="30000" dirty="0"/>
              <a:t>1001</a:t>
            </a:r>
          </a:p>
        </p:txBody>
      </p:sp>
    </p:spTree>
    <p:extLst>
      <p:ext uri="{BB962C8B-B14F-4D97-AF65-F5344CB8AC3E}">
        <p14:creationId xmlns:p14="http://schemas.microsoft.com/office/powerpoint/2010/main" val="4176669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21604-92C4-6E7E-1C9D-A856492A9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9837B-EEB7-3B9F-8B07-D44E63289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number of digits in the mantissa is the precision of the number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1.2345 × 10</a:t>
            </a:r>
            <a:r>
              <a:rPr lang="en-GB" baseline="30000" dirty="0"/>
              <a:t>4</a:t>
            </a:r>
            <a:r>
              <a:rPr lang="en-GB" dirty="0"/>
              <a:t> is 5 digits of precision</a:t>
            </a:r>
          </a:p>
        </p:txBody>
      </p:sp>
    </p:spTree>
    <p:extLst>
      <p:ext uri="{BB962C8B-B14F-4D97-AF65-F5344CB8AC3E}">
        <p14:creationId xmlns:p14="http://schemas.microsoft.com/office/powerpoint/2010/main" val="4764750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6CD27-8D2D-7C5C-427E-61185205F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Normalising Binary Fractions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AB7113-AA67-4288-2B1D-F59D0BB62A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Shift radix point left or right until we have a number of form 1.xxxxxx</a:t>
                </a:r>
              </a:p>
              <a:p>
                <a:r>
                  <a:rPr lang="en-GB" dirty="0"/>
                  <a:t>The number of shifts is the power of 2 to multiply by</a:t>
                </a:r>
              </a:p>
              <a:p>
                <a:r>
                  <a:rPr lang="en-GB" dirty="0"/>
                  <a:t>E.g., 1101.011</a:t>
                </a:r>
              </a:p>
              <a:p>
                <a:pPr lvl="1"/>
                <a:r>
                  <a:rPr lang="en-GB" dirty="0"/>
                  <a:t>Shift point three places to the left to get 1.101011</a:t>
                </a:r>
              </a:p>
              <a:p>
                <a:pPr lvl="1"/>
                <a:r>
                  <a:rPr lang="en-GB" dirty="0"/>
                  <a:t>Hence, 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 panose="02040503050406030204" pitchFamily="18" charset="0"/>
                      </a:rPr>
                      <m:t>1.101011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GB" dirty="0"/>
              </a:p>
              <a:p>
                <a:r>
                  <a:rPr lang="en-GB" dirty="0"/>
                  <a:t>E.g., 0.001101</a:t>
                </a:r>
              </a:p>
              <a:p>
                <a:pPr lvl="1"/>
                <a:r>
                  <a:rPr lang="en-GB" dirty="0"/>
                  <a:t>Shift point three places to the right to get 1.101</a:t>
                </a:r>
              </a:p>
              <a:p>
                <a:pPr lvl="1"/>
                <a:r>
                  <a:rPr lang="en-GB" dirty="0"/>
                  <a:t>Hence,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 panose="02040503050406030204" pitchFamily="18" charset="0"/>
                      </a:rPr>
                      <m:t>  1.101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AB7113-AA67-4288-2B1D-F59D0BB62A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64151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BD121-F889-77AD-7BBF-AC0ECD241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Fixed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B772C-1C9D-7962-7B09-598881BB30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GB" dirty="0"/>
                  <a:t>Could use fixed point format to store binary fractions</a:t>
                </a:r>
              </a:p>
              <a:p>
                <a:r>
                  <a:rPr lang="en-GB" dirty="0"/>
                  <a:t>E.g. Q fixed point format</a:t>
                </a:r>
              </a:p>
              <a:p>
                <a:pPr lvl="1"/>
                <a:r>
                  <a:rPr lang="en-GB" dirty="0"/>
                  <a:t>1 bit for sign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bits for integer part (before the point)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bits for fractional part (after the point)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dirty="0"/>
                  <a:t> bits in total</a:t>
                </a:r>
              </a:p>
              <a:p>
                <a:pPr lvl="1"/>
                <a:r>
                  <a:rPr lang="en-GB" dirty="0"/>
                  <a:t>Designated </a:t>
                </a:r>
                <a:r>
                  <a:rPr lang="en-GB" dirty="0" err="1"/>
                  <a:t>Q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 err="1"/>
                  <a:t>.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GB" dirty="0"/>
              </a:p>
              <a:p>
                <a:r>
                  <a:rPr lang="en-GB" dirty="0"/>
                  <a:t>Can represent numbers from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±</m:t>
                    </m:r>
                    <m:sSup>
                      <m:sSup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dirty="0"/>
                  <a:t> (0 in integer part, all zeroes other than rightmost bit)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≈±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GB" dirty="0"/>
                  <a:t> (all ones in integer part, all ones in fractional part)</a:t>
                </a:r>
              </a:p>
              <a:p>
                <a:r>
                  <a:rPr lang="en-GB" dirty="0"/>
                  <a:t>Fixed point numbers are used in some embedded systems that do not have floating-point arithmetic units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8B772C-1C9D-7962-7B09-598881BB30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r="-1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24096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7B20A-F950-2C3D-BD87-79C5F09EE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Fixed Point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C5C4C-8770-87CB-14F2-6346DD91C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3.25 in Q3.4 format</a:t>
            </a:r>
          </a:p>
          <a:p>
            <a:r>
              <a:rPr lang="en-GB" dirty="0"/>
              <a:t>3 is </a:t>
            </a:r>
            <a:r>
              <a:rPr lang="en-GB" dirty="0">
                <a:solidFill>
                  <a:srgbClr val="FF0000"/>
                </a:solidFill>
              </a:rPr>
              <a:t>011</a:t>
            </a:r>
            <a:r>
              <a:rPr lang="en-GB" dirty="0"/>
              <a:t> in 3-bit binary</a:t>
            </a:r>
          </a:p>
          <a:p>
            <a:r>
              <a:rPr lang="en-GB" dirty="0"/>
              <a:t>0.25 is </a:t>
            </a:r>
            <a:r>
              <a:rPr lang="en-GB" dirty="0">
                <a:solidFill>
                  <a:srgbClr val="0000FF"/>
                </a:solidFill>
              </a:rPr>
              <a:t>0100</a:t>
            </a:r>
            <a:r>
              <a:rPr lang="en-GB" dirty="0"/>
              <a:t> as a 4-bit binary fraction</a:t>
            </a:r>
          </a:p>
          <a:p>
            <a:r>
              <a:rPr lang="en-GB" dirty="0"/>
              <a:t>Number is positive so sign bit is 0</a:t>
            </a:r>
          </a:p>
          <a:p>
            <a:r>
              <a:rPr lang="en-GB" dirty="0"/>
              <a:t>Hence, 3.25 is represented as 0</a:t>
            </a:r>
            <a:r>
              <a:rPr lang="en-GB" dirty="0">
                <a:solidFill>
                  <a:srgbClr val="FF0000"/>
                </a:solidFill>
              </a:rPr>
              <a:t>011</a:t>
            </a:r>
            <a:r>
              <a:rPr lang="en-GB" dirty="0">
                <a:solidFill>
                  <a:srgbClr val="0000FF"/>
                </a:solidFill>
              </a:rPr>
              <a:t>0100</a:t>
            </a:r>
            <a:r>
              <a:rPr lang="en-GB" dirty="0"/>
              <a:t> in fixed point format.</a:t>
            </a:r>
          </a:p>
        </p:txBody>
      </p:sp>
    </p:spTree>
    <p:extLst>
      <p:ext uri="{BB962C8B-B14F-4D97-AF65-F5344CB8AC3E}">
        <p14:creationId xmlns:p14="http://schemas.microsoft.com/office/powerpoint/2010/main" val="37823547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722F9-39DD-7288-0DB7-5C0EDA6DD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Floating Point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228AC-529D-3FF8-E400-ED715401E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Uses normalised binary fraction</a:t>
            </a:r>
          </a:p>
          <a:p>
            <a:r>
              <a:rPr lang="en-GB" dirty="0"/>
              <a:t>The format specifies which bits correspond to</a:t>
            </a:r>
          </a:p>
          <a:p>
            <a:pPr lvl="1"/>
            <a:r>
              <a:rPr lang="en-GB" dirty="0"/>
              <a:t>The sign of the mantissa</a:t>
            </a:r>
          </a:p>
          <a:p>
            <a:pPr lvl="1"/>
            <a:r>
              <a:rPr lang="en-GB" dirty="0"/>
              <a:t>The exponent</a:t>
            </a:r>
          </a:p>
          <a:p>
            <a:pPr lvl="1"/>
            <a:r>
              <a:rPr lang="en-GB" dirty="0"/>
              <a:t>The mantissa</a:t>
            </a:r>
          </a:p>
        </p:txBody>
      </p:sp>
    </p:spTree>
    <p:extLst>
      <p:ext uri="{BB962C8B-B14F-4D97-AF65-F5344CB8AC3E}">
        <p14:creationId xmlns:p14="http://schemas.microsoft.com/office/powerpoint/2010/main" val="6675647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E46C1-38B5-1C90-6AFD-0040913EC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Standard 32-bit Floating-Point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A2938-89B3-AE89-B108-06CE65A21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common floating-point binary format:</a:t>
            </a:r>
          </a:p>
          <a:p>
            <a:pPr lvl="1"/>
            <a:r>
              <a:rPr lang="en-GB" dirty="0"/>
              <a:t>32 bits</a:t>
            </a:r>
          </a:p>
          <a:p>
            <a:pPr lvl="1"/>
            <a:r>
              <a:rPr lang="en-GB" dirty="0"/>
              <a:t>The first bit is the </a:t>
            </a:r>
            <a:r>
              <a:rPr lang="en-GB" dirty="0">
                <a:solidFill>
                  <a:srgbClr val="0070C0"/>
                </a:solidFill>
              </a:rPr>
              <a:t>sign bit</a:t>
            </a:r>
            <a:r>
              <a:rPr lang="en-GB" dirty="0"/>
              <a:t>,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GB" dirty="0"/>
              <a:t>0 for positive</a:t>
            </a:r>
          </a:p>
          <a:p>
            <a:pPr lvl="1"/>
            <a:r>
              <a:rPr lang="en-GB" dirty="0"/>
              <a:t>The next 8 bits represent the exponent, in </a:t>
            </a:r>
            <a:r>
              <a:rPr lang="en-GB" dirty="0">
                <a:solidFill>
                  <a:srgbClr val="0070C0"/>
                </a:solidFill>
              </a:rPr>
              <a:t>127-bias notation</a:t>
            </a:r>
          </a:p>
          <a:p>
            <a:pPr lvl="1"/>
            <a:r>
              <a:rPr lang="en-GB" dirty="0"/>
              <a:t>This leaves 23 bits for the mantissa.</a:t>
            </a:r>
          </a:p>
          <a:p>
            <a:r>
              <a:rPr lang="en-GB" dirty="0"/>
              <a:t>This format will be able to represent numbers in the range ≈ 10</a:t>
            </a:r>
            <a:r>
              <a:rPr lang="en-GB" baseline="30000" dirty="0"/>
              <a:t>−38</a:t>
            </a:r>
            <a:r>
              <a:rPr lang="en-GB" dirty="0"/>
              <a:t> to 10</a:t>
            </a:r>
            <a:r>
              <a:rPr lang="en-GB" baseline="30000" dirty="0"/>
              <a:t>38</a:t>
            </a:r>
            <a:r>
              <a:rPr lang="en-GB" dirty="0"/>
              <a:t> with approximately 7 decimal digits of precision.</a:t>
            </a:r>
          </a:p>
          <a:p>
            <a:r>
              <a:rPr lang="en-GB" dirty="0"/>
              <a:t>This is the format specified in IEEE 754 for single precision floating-point numbers</a:t>
            </a:r>
          </a:p>
          <a:p>
            <a:pPr lvl="1"/>
            <a:r>
              <a:rPr lang="en-GB" dirty="0"/>
              <a:t>IEEE 754 specifies other formats which use more bits for greater precision</a:t>
            </a:r>
          </a:p>
        </p:txBody>
      </p:sp>
    </p:spTree>
    <p:extLst>
      <p:ext uri="{BB962C8B-B14F-4D97-AF65-F5344CB8AC3E}">
        <p14:creationId xmlns:p14="http://schemas.microsoft.com/office/powerpoint/2010/main" val="2408386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F5E50-48D6-33E4-AB04-AEF600282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127 bias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6248B-DAB7-540C-EEF3-A8A0F994D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460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Exponent is stored in biased notation</a:t>
            </a:r>
          </a:p>
          <a:p>
            <a:r>
              <a:rPr lang="en-GB" dirty="0"/>
              <a:t>Bias 127 means that we use the numbers 0 to 255 in order to represent the numbers −127 to +128.</a:t>
            </a:r>
          </a:p>
          <a:p>
            <a:r>
              <a:rPr lang="en-GB" dirty="0"/>
              <a:t>In order to calculate the biased notation, we add 127 to the true exponent which we wish to store.</a:t>
            </a:r>
          </a:p>
          <a:p>
            <a:r>
              <a:rPr lang="en-GB" dirty="0"/>
              <a:t>Example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In IEEE 754 exponents of 0 and 255 represent special values so the actual range is −126 to +127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6EAFA3-9426-CAD3-10D2-42ED3F37C7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993927"/>
              </p:ext>
            </p:extLst>
          </p:nvPr>
        </p:nvGraphicFramePr>
        <p:xfrm>
          <a:off x="2074042" y="4402666"/>
          <a:ext cx="6271172" cy="792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54233">
                  <a:extLst>
                    <a:ext uri="{9D8B030D-6E8A-4147-A177-3AD203B41FA5}">
                      <a16:colId xmlns:a16="http://schemas.microsoft.com/office/drawing/2014/main" val="1075257061"/>
                    </a:ext>
                  </a:extLst>
                </a:gridCol>
                <a:gridCol w="831091">
                  <a:extLst>
                    <a:ext uri="{9D8B030D-6E8A-4147-A177-3AD203B41FA5}">
                      <a16:colId xmlns:a16="http://schemas.microsoft.com/office/drawing/2014/main" val="468726573"/>
                    </a:ext>
                  </a:extLst>
                </a:gridCol>
                <a:gridCol w="763094">
                  <a:extLst>
                    <a:ext uri="{9D8B030D-6E8A-4147-A177-3AD203B41FA5}">
                      <a16:colId xmlns:a16="http://schemas.microsoft.com/office/drawing/2014/main" val="3971802716"/>
                    </a:ext>
                  </a:extLst>
                </a:gridCol>
                <a:gridCol w="781927">
                  <a:extLst>
                    <a:ext uri="{9D8B030D-6E8A-4147-A177-3AD203B41FA5}">
                      <a16:colId xmlns:a16="http://schemas.microsoft.com/office/drawing/2014/main" val="1082977314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7241838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000" dirty="0"/>
                        <a:t>Representation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126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127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255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89562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dirty="0"/>
                        <a:t>Exponent being raised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-127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-1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128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5197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65939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0506A-5018-DB32-94F1-335478051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Normalisation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75918-50E0-3C1A-1BE7-9865F6762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Floating point numbers are usually normalised.</a:t>
            </a:r>
          </a:p>
          <a:p>
            <a:r>
              <a:rPr lang="en-GB" dirty="0"/>
              <a:t>i.e., the exponent is adjusted so that the leading bit (MSB) of mantissa is 1</a:t>
            </a:r>
          </a:p>
          <a:p>
            <a:r>
              <a:rPr lang="en-GB" dirty="0"/>
              <a:t>Since it is always 1 there is no need to store it.</a:t>
            </a:r>
          </a:p>
          <a:p>
            <a:r>
              <a:rPr lang="en-GB" dirty="0"/>
              <a:t>(c.f. Scientific notation where numbers are normalised to give a single digit before the decimal point e.g. 3.123 × 10</a:t>
            </a:r>
            <a:r>
              <a:rPr lang="en-GB" baseline="30000" dirty="0"/>
              <a:t>3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659182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08621-0046-3ECF-FFEC-5F7BA6DF9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26863-5C87-CD9A-8657-EA9CF6A1D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Convert the following binary number to IEEE754 standard 32-bit floating point format:</a:t>
            </a:r>
          </a:p>
          <a:p>
            <a:r>
              <a:rPr lang="en-GB" dirty="0"/>
              <a:t>−1.1101 × 10</a:t>
            </a:r>
            <a:r>
              <a:rPr lang="en-GB" baseline="30000" dirty="0"/>
              <a:t>1001 </a:t>
            </a:r>
            <a:r>
              <a:rPr lang="en-GB" dirty="0"/>
              <a:t>(mantissa, base and exponent in binary)</a:t>
            </a:r>
          </a:p>
          <a:p>
            <a:r>
              <a:rPr lang="en-GB" dirty="0"/>
              <a:t>Answer:</a:t>
            </a:r>
          </a:p>
          <a:p>
            <a:pPr lvl="1"/>
            <a:r>
              <a:rPr lang="en-GB" dirty="0">
                <a:solidFill>
                  <a:srgbClr val="0070C0"/>
                </a:solidFill>
              </a:rPr>
              <a:t>Sign:</a:t>
            </a:r>
            <a:r>
              <a:rPr lang="en-GB" dirty="0"/>
              <a:t> negative, Sign bit: 1</a:t>
            </a:r>
          </a:p>
          <a:p>
            <a:pPr lvl="1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Exponent: </a:t>
            </a:r>
            <a:r>
              <a:rPr lang="en-GB" dirty="0"/>
              <a:t>1001, 127-bias notation:</a:t>
            </a:r>
          </a:p>
          <a:p>
            <a:pPr lvl="2"/>
            <a:r>
              <a:rPr lang="en-GB" dirty="0"/>
              <a:t>9</a:t>
            </a:r>
            <a:r>
              <a:rPr lang="en-GB" baseline="-25000" dirty="0"/>
              <a:t>10</a:t>
            </a:r>
            <a:r>
              <a:rPr lang="en-GB" dirty="0"/>
              <a:t> → 136</a:t>
            </a:r>
            <a:r>
              <a:rPr lang="en-GB" baseline="-25000" dirty="0"/>
              <a:t>127-bias,10</a:t>
            </a:r>
            <a:r>
              <a:rPr lang="en-GB" dirty="0"/>
              <a:t> → 10001000</a:t>
            </a:r>
            <a:r>
              <a:rPr lang="en-GB" baseline="-25000" dirty="0"/>
              <a:t>127-bias,2</a:t>
            </a:r>
          </a:p>
          <a:p>
            <a:pPr lvl="1"/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Mantissa: </a:t>
            </a:r>
            <a:r>
              <a:rPr lang="en-GB" dirty="0"/>
              <a:t>1.1101, Normalised: 1101 (postpended with zeroes to make 23 bits)</a:t>
            </a:r>
          </a:p>
          <a:p>
            <a:pPr lvl="1"/>
            <a:r>
              <a:rPr lang="en-GB" dirty="0">
                <a:solidFill>
                  <a:srgbClr val="0070C0"/>
                </a:solidFill>
              </a:rPr>
              <a:t>1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100 0100 0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110 1000 0000 0000 0000 0000</a:t>
            </a:r>
            <a:r>
              <a:rPr lang="en-GB" dirty="0"/>
              <a:t>.</a:t>
            </a:r>
          </a:p>
          <a:p>
            <a:endParaRPr lang="en-GB" baseline="30000" dirty="0"/>
          </a:p>
        </p:txBody>
      </p:sp>
    </p:spTree>
    <p:extLst>
      <p:ext uri="{BB962C8B-B14F-4D97-AF65-F5344CB8AC3E}">
        <p14:creationId xmlns:p14="http://schemas.microsoft.com/office/powerpoint/2010/main" val="132176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B50F8-2C8B-A182-0798-B27670C7A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Overflow and underflow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229CAD-5257-E4B5-9F13-9F92089A1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432312" cy="1325563"/>
          </a:xfrm>
        </p:spPr>
        <p:txBody>
          <a:bodyPr>
            <a:normAutofit/>
          </a:bodyPr>
          <a:lstStyle/>
          <a:p>
            <a:r>
              <a:rPr lang="en-GB" dirty="0"/>
              <a:t>Possible for the number to be too large or too small for representation.</a:t>
            </a:r>
          </a:p>
        </p:txBody>
      </p:sp>
      <p:pic>
        <p:nvPicPr>
          <p:cNvPr id="1028" name="Picture 4" descr="Organization of Computer Systems: Computer Arithmetic">
            <a:extLst>
              <a:ext uri="{FF2B5EF4-FFF2-40B4-BE49-F238E27FC236}">
                <a16:creationId xmlns:a16="http://schemas.microsoft.com/office/drawing/2014/main" id="{03B3D98A-3D3C-BFCB-220E-075739152CD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279" y="3352651"/>
            <a:ext cx="9966521" cy="2495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792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2CE96A-B932-FF51-BA1F-3A22F8E79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Floating Point Addition &amp; Subtraction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E6F03D-B091-6E02-4956-ACFBDA9AC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Exponent and mantissa treated separately</a:t>
            </a:r>
          </a:p>
          <a:p>
            <a:r>
              <a:rPr lang="en-GB" dirty="0"/>
              <a:t>Process:</a:t>
            </a:r>
          </a:p>
          <a:p>
            <a:pPr lvl="1"/>
            <a:r>
              <a:rPr lang="en-GB" dirty="0"/>
              <a:t>Exponents of numbers must agree</a:t>
            </a:r>
          </a:p>
          <a:p>
            <a:pPr lvl="2"/>
            <a:r>
              <a:rPr lang="en-GB" dirty="0"/>
              <a:t>Align radix points</a:t>
            </a:r>
          </a:p>
          <a:p>
            <a:pPr lvl="2"/>
            <a:r>
              <a:rPr lang="en-GB" dirty="0"/>
              <a:t>Least significant digits may be lost</a:t>
            </a:r>
          </a:p>
          <a:p>
            <a:pPr lvl="1"/>
            <a:r>
              <a:rPr lang="en-GB" dirty="0"/>
              <a:t>Add and subtract aligned mantissa</a:t>
            </a:r>
          </a:p>
          <a:p>
            <a:pPr lvl="1"/>
            <a:r>
              <a:rPr lang="en-GB" dirty="0"/>
              <a:t>Result may need to be renormalised</a:t>
            </a:r>
          </a:p>
        </p:txBody>
      </p:sp>
    </p:spTree>
    <p:extLst>
      <p:ext uri="{BB962C8B-B14F-4D97-AF65-F5344CB8AC3E}">
        <p14:creationId xmlns:p14="http://schemas.microsoft.com/office/powerpoint/2010/main" val="10558598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FB8F9-F5D7-2855-A085-62236B1D5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Floating Point Addition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4BD67E-A2D9-E9DE-D203-CAAD713862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GB" dirty="0"/>
                  <a:t>The algorithm is as follows: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Compare signs</a:t>
                </a:r>
              </a:p>
              <a:p>
                <a:pPr marL="971550" lvl="1" indent="-514350">
                  <a:buFont typeface="+mj-lt"/>
                  <a:buAutoNum type="alphaLcPeriod"/>
                </a:pPr>
                <a:r>
                  <a:rPr lang="en-GB" dirty="0"/>
                  <a:t>If different, treat as subtraction.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Compare magnitudes (exponents) to determine which is larger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Subtract smaller exponent from larger to determine difference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dirty="0"/>
                  <a:t> in exponents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Align the mantissa of the float with the smaller exponent</a:t>
                </a:r>
              </a:p>
              <a:p>
                <a:pPr marL="971550" lvl="1" indent="-514350">
                  <a:buFont typeface="+mj-lt"/>
                  <a:buAutoNum type="alphaLcPeriod"/>
                </a:pPr>
                <a:r>
                  <a:rPr lang="en-GB" dirty="0"/>
                  <a:t>Add in leading 1 of normalised mantissa</a:t>
                </a:r>
              </a:p>
              <a:p>
                <a:pPr marL="971550" lvl="1" indent="-514350">
                  <a:buFont typeface="+mj-lt"/>
                  <a:buAutoNum type="alphaLcPeriod"/>
                </a:pPr>
                <a:r>
                  <a:rPr lang="en-GB" dirty="0"/>
                  <a:t>Shift mantissa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dirty="0"/>
                  <a:t> bits to the right.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Add the aligned mantissa to the mantissa of the float with the larger exponent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Renormalise the result if necessary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If signs were both negative, set sign bit of result to 1, otherwise set sign bit to 0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GB" dirty="0"/>
              </a:p>
              <a:p>
                <a:pPr marL="971550" lvl="1" indent="-514350">
                  <a:buFont typeface="+mj-lt"/>
                  <a:buAutoNum type="arabicPeriod"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4BD67E-A2D9-E9DE-D203-CAAD713862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661" r="-348" b="-9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85707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87ECA-A87A-A5A1-61F9-99764DD0B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Floating Point Subtraction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C86B1F-CED8-2B84-9DE0-1819A94C530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dirty="0"/>
                  <a:t>The algorithm to compute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is as follows: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Compare signs</a:t>
                </a:r>
              </a:p>
              <a:p>
                <a:pPr lvl="1"/>
                <a:r>
                  <a:rPr lang="en-GB" dirty="0"/>
                  <a:t>If different treat as addition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Compare magnitudes</a:t>
                </a:r>
              </a:p>
              <a:p>
                <a:pPr lvl="1"/>
                <a:r>
                  <a:rPr lang="en-GB" dirty="0"/>
                  <a:t>Compare exponents to determine which is larger</a:t>
                </a:r>
              </a:p>
              <a:p>
                <a:pPr lvl="2"/>
                <a:r>
                  <a:rPr lang="en-GB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GB" i="1" dirty="0"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GB" dirty="0"/>
              </a:p>
              <a:p>
                <a:pPr lvl="3"/>
                <a:r>
                  <a:rPr lang="en-GB" dirty="0"/>
                  <a:t>Compute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GB" dirty="0"/>
              </a:p>
              <a:p>
                <a:pPr lvl="2"/>
                <a:r>
                  <a:rPr lang="en-GB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GB" i="1" dirty="0">
                        <a:latin typeface="Cambria Math" panose="02040503050406030204" pitchFamily="18" charset="0"/>
                      </a:rPr>
                      <m:t>&lt; </m:t>
                    </m:r>
                    <m:d>
                      <m:dPr>
                        <m:begChr m:val="|"/>
                        <m:endChr m:val="|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GB" dirty="0"/>
              </a:p>
              <a:p>
                <a:pPr lvl="3"/>
                <a:r>
                  <a:rPr lang="en-GB" dirty="0"/>
                  <a:t>Compute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GB" dirty="0"/>
              </a:p>
              <a:p>
                <a:pPr lvl="3"/>
                <a:r>
                  <a:rPr lang="en-GB" dirty="0"/>
                  <a:t>Negate result of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GB" dirty="0"/>
              </a:p>
              <a:p>
                <a:pPr marL="514350" indent="-514350">
                  <a:buFont typeface="+mj-lt"/>
                  <a:buAutoNum type="arabicPeriod"/>
                </a:pPr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C86B1F-CED8-2B84-9DE0-1819A94C53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71" t="-3081" r="-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AC6D1B5-1D08-99EA-A47C-5DD78E33C2BD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514350" indent="-514350">
                  <a:buFont typeface="+mj-lt"/>
                  <a:buAutoNum type="arabicPeriod" startAt="3"/>
                </a:pPr>
                <a:r>
                  <a:rPr lang="en-GB" dirty="0"/>
                  <a:t>Algorithm follows as addition step 3 &amp; 4</a:t>
                </a:r>
              </a:p>
              <a:p>
                <a:pPr marL="514350" indent="-514350">
                  <a:buFont typeface="+mj-lt"/>
                  <a:buAutoNum type="arabicPeriod" startAt="3"/>
                </a:pPr>
                <a:r>
                  <a:rPr lang="en-GB" dirty="0"/>
                  <a:t>Subtract the aligned mantissa of smaller magnitude value from the larger magnitude mantissa</a:t>
                </a:r>
              </a:p>
              <a:p>
                <a:pPr marL="514350" indent="-514350">
                  <a:buFont typeface="+mj-lt"/>
                  <a:buAutoNum type="arabicPeriod" startAt="3"/>
                </a:pPr>
                <a:r>
                  <a:rPr lang="en-GB" dirty="0"/>
                  <a:t>Renormalise if necessary</a:t>
                </a:r>
              </a:p>
              <a:p>
                <a:pPr marL="514350" indent="-514350">
                  <a:buFont typeface="+mj-lt"/>
                  <a:buAutoNum type="arabicPeriod" startAt="3"/>
                </a:pPr>
                <a:r>
                  <a:rPr lang="en-GB" dirty="0"/>
                  <a:t>Set sign bit</a:t>
                </a:r>
              </a:p>
              <a:p>
                <a:pPr lvl="1"/>
                <a:r>
                  <a:rPr lang="en-GB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GB" i="1" dirty="0"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GB" dirty="0"/>
              </a:p>
              <a:p>
                <a:pPr lvl="2"/>
                <a:r>
                  <a:rPr lang="en-GB" dirty="0"/>
                  <a:t>Sign is same as a</a:t>
                </a:r>
              </a:p>
              <a:p>
                <a:pPr lvl="1"/>
                <a:r>
                  <a:rPr lang="en-GB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GB" i="1" dirty="0">
                        <a:latin typeface="Cambria Math" panose="02040503050406030204" pitchFamily="18" charset="0"/>
                      </a:rPr>
                      <m:t>&lt; </m:t>
                    </m:r>
                    <m:d>
                      <m:dPr>
                        <m:begChr m:val="|"/>
                        <m:endChr m:val="|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GB" dirty="0"/>
              </a:p>
              <a:p>
                <a:pPr lvl="2"/>
                <a:r>
                  <a:rPr lang="en-GB" dirty="0"/>
                  <a:t>Sign is opposite of a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AC6D1B5-1D08-99EA-A47C-5DD78E33C2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471" t="-3221" b="-67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702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88389-2FC9-5BEF-262D-0F39B7115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Half-precision format (16-bit)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BC7CA-E590-B985-86E1-B9ED141A08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16-bit format</a:t>
            </a:r>
          </a:p>
          <a:p>
            <a:pPr lvl="1"/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S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EEEEE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MMMMMMMMMM</a:t>
            </a:r>
          </a:p>
          <a:p>
            <a:r>
              <a:rPr lang="en-GB" dirty="0"/>
              <a:t>First bit is the sign bit</a:t>
            </a:r>
          </a:p>
          <a:p>
            <a:r>
              <a:rPr lang="en-GB" dirty="0"/>
              <a:t>Next 5 bits used for exponent</a:t>
            </a:r>
          </a:p>
          <a:p>
            <a:pPr lvl="1"/>
            <a:r>
              <a:rPr lang="en-GB" dirty="0"/>
              <a:t>00001 (1) is −14 (min exponent)</a:t>
            </a:r>
          </a:p>
          <a:p>
            <a:pPr lvl="1"/>
            <a:r>
              <a:rPr lang="en-GB" dirty="0"/>
              <a:t>01111 (15) is exponent 0</a:t>
            </a:r>
          </a:p>
          <a:p>
            <a:pPr lvl="1"/>
            <a:r>
              <a:rPr lang="en-GB" dirty="0"/>
              <a:t>11110 (30)is +15 (max exponent)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63AA2AD-FF29-842C-7AD5-B1396B3882C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Last 10 bits are for mantissa</a:t>
                </a:r>
              </a:p>
              <a:p>
                <a:pPr lvl="1"/>
                <a:r>
                  <a:rPr lang="en-GB" dirty="0"/>
                  <a:t>Don’t store leading 1</a:t>
                </a:r>
              </a:p>
              <a:p>
                <a:r>
                  <a:rPr lang="en-GB" dirty="0"/>
                  <a:t>We sacrifice 5 bits of precision to store the exponent.</a:t>
                </a:r>
              </a:p>
              <a:p>
                <a:r>
                  <a:rPr lang="en-GB" dirty="0"/>
                  <a:t>In this format:</a:t>
                </a:r>
              </a:p>
              <a:p>
                <a:pPr lvl="1"/>
                <a:r>
                  <a:rPr lang="en-GB" dirty="0"/>
                  <a:t>1.0 is </a:t>
                </a:r>
                <a:r>
                  <a:rPr lang="en-GB" dirty="0">
                    <a:solidFill>
                      <a:schemeClr val="accent2"/>
                    </a:solidFill>
                  </a:rPr>
                  <a:t>0</a:t>
                </a:r>
                <a:r>
                  <a:rPr lang="en-GB" dirty="0">
                    <a:solidFill>
                      <a:schemeClr val="accent6"/>
                    </a:solidFill>
                  </a:rPr>
                  <a:t>01111</a:t>
                </a:r>
                <a:r>
                  <a:rPr lang="en-GB" dirty="0">
                    <a:solidFill>
                      <a:schemeClr val="accent2"/>
                    </a:solidFill>
                  </a:rPr>
                  <a:t>0000000000</a:t>
                </a:r>
              </a:p>
              <a:p>
                <a:pPr lvl="2"/>
                <a:r>
                  <a:rPr lang="en-GB" dirty="0">
                    <a:solidFill>
                      <a:schemeClr val="accent2"/>
                    </a:solidFill>
                  </a:rPr>
                  <a:t>Sign 0, </a:t>
                </a:r>
                <a:r>
                  <a:rPr lang="en-GB" dirty="0">
                    <a:solidFill>
                      <a:schemeClr val="accent6"/>
                    </a:solidFill>
                  </a:rPr>
                  <a:t>exponent 0 (15)</a:t>
                </a:r>
                <a:r>
                  <a:rPr lang="en-GB" dirty="0">
                    <a:solidFill>
                      <a:schemeClr val="accent2"/>
                    </a:solidFill>
                  </a:rPr>
                  <a:t>, mantissa 0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1.01×</m:t>
                    </m:r>
                    <m:sSup>
                      <m:sSup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en-GB" dirty="0"/>
                  <a:t> (= 0.0101) is </a:t>
                </a:r>
                <a:r>
                  <a:rPr lang="en-GB" dirty="0">
                    <a:solidFill>
                      <a:schemeClr val="accent2"/>
                    </a:solidFill>
                  </a:rPr>
                  <a:t>0</a:t>
                </a:r>
                <a:r>
                  <a:rPr lang="en-GB" dirty="0">
                    <a:solidFill>
                      <a:schemeClr val="accent6"/>
                    </a:solidFill>
                  </a:rPr>
                  <a:t>01101</a:t>
                </a:r>
                <a:r>
                  <a:rPr lang="en-GB" dirty="0">
                    <a:solidFill>
                      <a:schemeClr val="accent2"/>
                    </a:solidFill>
                  </a:rPr>
                  <a:t>0100000000</a:t>
                </a:r>
              </a:p>
              <a:p>
                <a:pPr lvl="2"/>
                <a:r>
                  <a:rPr lang="en-GB" dirty="0">
                    <a:solidFill>
                      <a:schemeClr val="accent2"/>
                    </a:solidFill>
                  </a:rPr>
                  <a:t>Sign 0, </a:t>
                </a:r>
                <a:r>
                  <a:rPr lang="en-GB" dirty="0">
                    <a:solidFill>
                      <a:schemeClr val="accent6"/>
                    </a:solidFill>
                  </a:rPr>
                  <a:t>exponent -2 (13)</a:t>
                </a:r>
                <a:r>
                  <a:rPr lang="en-GB" dirty="0">
                    <a:solidFill>
                      <a:schemeClr val="accent2"/>
                    </a:solidFill>
                  </a:rPr>
                  <a:t>. mantissa 01</a:t>
                </a:r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63AA2AD-FF29-842C-7AD5-B1396B3882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118" t="-2241" r="-37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39651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B0A56-6752-09F1-4218-695BA5F0C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Addition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6DA711-2A89-FB5E-2D3B-6C06BC0B26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Add the 16-bit floating point numbers: A: 0100001101000000 and B: 0011100100000000.</a:t>
                </a:r>
              </a:p>
              <a:p>
                <a:pPr lvl="1"/>
                <a:r>
                  <a:rPr lang="en-GB" dirty="0"/>
                  <a:t>A: </a:t>
                </a:r>
                <a:r>
                  <a:rPr lang="en-GB" dirty="0">
                    <a:solidFill>
                      <a:schemeClr val="accent2"/>
                    </a:solidFill>
                  </a:rPr>
                  <a:t>0</a:t>
                </a:r>
                <a:r>
                  <a:rPr lang="en-GB" dirty="0">
                    <a:solidFill>
                      <a:schemeClr val="accent6"/>
                    </a:solidFill>
                  </a:rPr>
                  <a:t>10000</a:t>
                </a:r>
                <a:r>
                  <a:rPr lang="en-GB" dirty="0">
                    <a:solidFill>
                      <a:schemeClr val="accent2"/>
                    </a:solidFill>
                  </a:rPr>
                  <a:t>1101000000</a:t>
                </a:r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1101×</m:t>
                    </m:r>
                    <m:sSup>
                      <m:sSup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=11.101</m:t>
                    </m:r>
                  </m:oMath>
                </a14:m>
                <a:r>
                  <a:rPr lang="en-GB" dirty="0"/>
                  <a:t> (10000 is 16, i.e.  exponent 1, 1101 is a mantissa of 1.1101)</a:t>
                </a:r>
              </a:p>
              <a:p>
                <a:pPr lvl="1"/>
                <a:r>
                  <a:rPr lang="en-GB" dirty="0"/>
                  <a:t>B: </a:t>
                </a:r>
                <a:r>
                  <a:rPr lang="en-GB" dirty="0">
                    <a:solidFill>
                      <a:schemeClr val="accent2"/>
                    </a:solidFill>
                  </a:rPr>
                  <a:t>0</a:t>
                </a:r>
                <a:r>
                  <a:rPr lang="en-GB" dirty="0">
                    <a:solidFill>
                      <a:schemeClr val="accent6"/>
                    </a:solidFill>
                  </a:rPr>
                  <a:t>01110</a:t>
                </a:r>
                <a:r>
                  <a:rPr lang="en-GB" dirty="0">
                    <a:solidFill>
                      <a:schemeClr val="accent2"/>
                    </a:solidFill>
                  </a:rPr>
                  <a:t>0100000000</a:t>
                </a:r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1.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1×</m:t>
                    </m:r>
                    <m:sSup>
                      <m:sSup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GB" b="0" i="0" dirty="0" smtClean="0">
                        <a:latin typeface="Cambria Math" panose="02040503050406030204" pitchFamily="18" charset="0"/>
                      </a:rPr>
                      <m:t>=0.101</m:t>
                    </m:r>
                  </m:oMath>
                </a14:m>
                <a:r>
                  <a:rPr lang="en-GB" dirty="0"/>
                  <a:t> (01110 is 14, i.e. exponent -1, mantissa 01 is a value of 1.01)</a:t>
                </a:r>
              </a:p>
              <a:p>
                <a:pPr lvl="1"/>
                <a:r>
                  <a:rPr lang="en-GB" dirty="0"/>
                  <a:t>Signs are the same, so this is addition.</a:t>
                </a:r>
              </a:p>
              <a:p>
                <a:pPr lvl="1"/>
                <a:r>
                  <a:rPr lang="en-GB" dirty="0"/>
                  <a:t>Exponent 10000 is larger than exponent 01110, so A &gt; B</a:t>
                </a:r>
              </a:p>
              <a:p>
                <a:pPr lvl="2"/>
                <a:r>
                  <a:rPr lang="en-GB" dirty="0"/>
                  <a:t>Align mantissa of B</a:t>
                </a:r>
              </a:p>
              <a:p>
                <a:pPr lvl="1"/>
                <a:r>
                  <a:rPr lang="en-GB" dirty="0"/>
                  <a:t>Difference is exponents is 2 (10000 (16) – 01110 (14) = 2)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6DA711-2A89-FB5E-2D3B-6C06BC0B26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47989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26E94-B87C-FAE0-0900-F8764636E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Addition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B2C8C4-854D-C505-321A-B46A143551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Align the mantissas</a:t>
                </a:r>
              </a:p>
              <a:p>
                <a:pPr lvl="1"/>
                <a:r>
                  <a:rPr lang="en-GB" dirty="0"/>
                  <a:t>Add in leading bit to mantissa</a:t>
                </a:r>
              </a:p>
              <a:p>
                <a:pPr lvl="2"/>
                <a:r>
                  <a:rPr lang="en-GB" dirty="0"/>
                  <a:t>A: 1101000000</a:t>
                </a:r>
                <a:r>
                  <a:rPr lang="en-GB" dirty="0">
                    <a:solidFill>
                      <a:schemeClr val="accent2"/>
                    </a:solidFill>
                  </a:rPr>
                  <a:t> </a:t>
                </a:r>
                <a:r>
                  <a:rPr lang="en-GB" dirty="0"/>
                  <a:t>→ 1.1101000000</a:t>
                </a:r>
              </a:p>
              <a:p>
                <a:pPr lvl="2"/>
                <a:r>
                  <a:rPr lang="en-GB" dirty="0"/>
                  <a:t>B: 0100000000 → 1.0100000000</a:t>
                </a:r>
              </a:p>
              <a:p>
                <a:pPr lvl="1"/>
                <a:r>
                  <a:rPr lang="en-GB" dirty="0"/>
                  <a:t>Shift mantissa B two places to the right because the difference in the exponent is 2.</a:t>
                </a:r>
              </a:p>
              <a:p>
                <a:pPr lvl="2"/>
                <a:r>
                  <a:rPr lang="en-GB" dirty="0"/>
                  <a:t>0.0101000000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1.01×</m:t>
                    </m:r>
                    <m:sSup>
                      <m:sSup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=0.101</m:t>
                    </m:r>
                    <m:r>
                      <a:rPr lang="en-GB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0.0101×</m:t>
                    </m:r>
                    <m:sSup>
                      <m:sSup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GB" dirty="0"/>
                  <a:t>.</a:t>
                </a:r>
              </a:p>
              <a:p>
                <a:pPr lvl="1"/>
                <a:r>
                  <a:rPr lang="en-GB" dirty="0"/>
                  <a:t>Now both values are aligned to the same exponent value,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GB" dirty="0"/>
              </a:p>
              <a:p>
                <a:pPr lvl="1"/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B2C8C4-854D-C505-321A-B46A143551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34397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45FF7-7A85-51F6-8F12-A336C2BBA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Addition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1EE9E8-9D12-C07E-6B60-B09D3AD427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2053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Now add:</a:t>
                </a:r>
              </a:p>
              <a:p>
                <a:pPr lvl="1"/>
                <a:endParaRPr lang="en-GB" dirty="0"/>
              </a:p>
              <a:p>
                <a:pPr lvl="1"/>
                <a:endParaRPr lang="en-GB" dirty="0"/>
              </a:p>
              <a:p>
                <a:pPr lvl="1"/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Note that we include the leading 1 and 0 in our two operands</a:t>
                </a:r>
              </a:p>
              <a:p>
                <a:r>
                  <a:rPr lang="en-GB" dirty="0"/>
                  <a:t>Result had a carry of 1</a:t>
                </a:r>
              </a:p>
              <a:p>
                <a:pPr lvl="1"/>
                <a:r>
                  <a:rPr lang="en-GB" dirty="0"/>
                  <a:t>The result is 10.001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GB" dirty="0"/>
              </a:p>
              <a:p>
                <a:r>
                  <a:rPr lang="en-GB" dirty="0"/>
                  <a:t>Need to renormalise: 10.001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= 1.0001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1EE9E8-9D12-C07E-6B60-B09D3AD427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2053"/>
                <a:ext cx="10515600" cy="4351338"/>
              </a:xfrm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EF4176-08D9-C4BE-0AD9-D81E04DC39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433754"/>
              </p:ext>
            </p:extLst>
          </p:nvPr>
        </p:nvGraphicFramePr>
        <p:xfrm>
          <a:off x="2751741" y="1752053"/>
          <a:ext cx="5825395" cy="1478280"/>
        </p:xfrm>
        <a:graphic>
          <a:graphicData uri="http://schemas.openxmlformats.org/drawingml/2006/table">
            <a:tbl>
              <a:tblPr lastRow="1">
                <a:tableStyleId>{2D5ABB26-0587-4C30-8999-92F81FD0307C}</a:tableStyleId>
              </a:tblPr>
              <a:tblGrid>
                <a:gridCol w="490855">
                  <a:extLst>
                    <a:ext uri="{9D8B030D-6E8A-4147-A177-3AD203B41FA5}">
                      <a16:colId xmlns:a16="http://schemas.microsoft.com/office/drawing/2014/main" val="2661736560"/>
                    </a:ext>
                  </a:extLst>
                </a:gridCol>
                <a:gridCol w="444545">
                  <a:extLst>
                    <a:ext uri="{9D8B030D-6E8A-4147-A177-3AD203B41FA5}">
                      <a16:colId xmlns:a16="http://schemas.microsoft.com/office/drawing/2014/main" val="3145424614"/>
                    </a:ext>
                  </a:extLst>
                </a:gridCol>
                <a:gridCol w="444545">
                  <a:extLst>
                    <a:ext uri="{9D8B030D-6E8A-4147-A177-3AD203B41FA5}">
                      <a16:colId xmlns:a16="http://schemas.microsoft.com/office/drawing/2014/main" val="2476237172"/>
                    </a:ext>
                  </a:extLst>
                </a:gridCol>
                <a:gridCol w="444545">
                  <a:extLst>
                    <a:ext uri="{9D8B030D-6E8A-4147-A177-3AD203B41FA5}">
                      <a16:colId xmlns:a16="http://schemas.microsoft.com/office/drawing/2014/main" val="2511115166"/>
                    </a:ext>
                  </a:extLst>
                </a:gridCol>
                <a:gridCol w="444545">
                  <a:extLst>
                    <a:ext uri="{9D8B030D-6E8A-4147-A177-3AD203B41FA5}">
                      <a16:colId xmlns:a16="http://schemas.microsoft.com/office/drawing/2014/main" val="3495473768"/>
                    </a:ext>
                  </a:extLst>
                </a:gridCol>
                <a:gridCol w="444545">
                  <a:extLst>
                    <a:ext uri="{9D8B030D-6E8A-4147-A177-3AD203B41FA5}">
                      <a16:colId xmlns:a16="http://schemas.microsoft.com/office/drawing/2014/main" val="2934162139"/>
                    </a:ext>
                  </a:extLst>
                </a:gridCol>
                <a:gridCol w="444545">
                  <a:extLst>
                    <a:ext uri="{9D8B030D-6E8A-4147-A177-3AD203B41FA5}">
                      <a16:colId xmlns:a16="http://schemas.microsoft.com/office/drawing/2014/main" val="3733175631"/>
                    </a:ext>
                  </a:extLst>
                </a:gridCol>
                <a:gridCol w="444545">
                  <a:extLst>
                    <a:ext uri="{9D8B030D-6E8A-4147-A177-3AD203B41FA5}">
                      <a16:colId xmlns:a16="http://schemas.microsoft.com/office/drawing/2014/main" val="4202105464"/>
                    </a:ext>
                  </a:extLst>
                </a:gridCol>
                <a:gridCol w="444545">
                  <a:extLst>
                    <a:ext uri="{9D8B030D-6E8A-4147-A177-3AD203B41FA5}">
                      <a16:colId xmlns:a16="http://schemas.microsoft.com/office/drawing/2014/main" val="163010671"/>
                    </a:ext>
                  </a:extLst>
                </a:gridCol>
                <a:gridCol w="444545">
                  <a:extLst>
                    <a:ext uri="{9D8B030D-6E8A-4147-A177-3AD203B41FA5}">
                      <a16:colId xmlns:a16="http://schemas.microsoft.com/office/drawing/2014/main" val="3633456052"/>
                    </a:ext>
                  </a:extLst>
                </a:gridCol>
                <a:gridCol w="444545">
                  <a:extLst>
                    <a:ext uri="{9D8B030D-6E8A-4147-A177-3AD203B41FA5}">
                      <a16:colId xmlns:a16="http://schemas.microsoft.com/office/drawing/2014/main" val="2933789869"/>
                    </a:ext>
                  </a:extLst>
                </a:gridCol>
                <a:gridCol w="444545">
                  <a:extLst>
                    <a:ext uri="{9D8B030D-6E8A-4147-A177-3AD203B41FA5}">
                      <a16:colId xmlns:a16="http://schemas.microsoft.com/office/drawing/2014/main" val="1245070834"/>
                    </a:ext>
                  </a:extLst>
                </a:gridCol>
                <a:gridCol w="444545">
                  <a:extLst>
                    <a:ext uri="{9D8B030D-6E8A-4147-A177-3AD203B41FA5}">
                      <a16:colId xmlns:a16="http://schemas.microsoft.com/office/drawing/2014/main" val="38641571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aseline="-25000" dirty="0"/>
                        <a:t>1</a:t>
                      </a:r>
                      <a:endParaRPr lang="en-GB" dirty="0"/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aseline="-25000" dirty="0"/>
                        <a:t>1</a:t>
                      </a:r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GB" baseline="-25000" dirty="0"/>
                        <a:t>1</a:t>
                      </a:r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aseline="-25000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333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012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+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07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20633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31430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768DB-2FD2-8E6F-7B06-2A7216290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Addition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09705-B87B-9CDC-6703-CBFBCB5C4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&amp; B both have sign bit 0, so result sign bit is 0</a:t>
            </a:r>
          </a:p>
          <a:p>
            <a:r>
              <a:rPr lang="en-GB" dirty="0"/>
              <a:t>Exponent is 2 = 10001 (17)</a:t>
            </a:r>
          </a:p>
          <a:p>
            <a:r>
              <a:rPr lang="en-GB" dirty="0"/>
              <a:t>Normalised mantissa of result is 0001000000</a:t>
            </a:r>
          </a:p>
          <a:p>
            <a:r>
              <a:rPr lang="en-GB" dirty="0"/>
              <a:t>Representation: </a:t>
            </a:r>
            <a:r>
              <a:rPr lang="en-GB" dirty="0">
                <a:solidFill>
                  <a:schemeClr val="accent2"/>
                </a:solidFill>
              </a:rPr>
              <a:t>0</a:t>
            </a:r>
            <a:r>
              <a:rPr lang="en-GB" dirty="0">
                <a:solidFill>
                  <a:schemeClr val="accent6"/>
                </a:solidFill>
              </a:rPr>
              <a:t>10001</a:t>
            </a:r>
            <a:r>
              <a:rPr lang="en-GB" dirty="0">
                <a:solidFill>
                  <a:schemeClr val="accent2"/>
                </a:solidFill>
              </a:rPr>
              <a:t>0001000000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29134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BB7A3-0067-1D77-197E-D0118D6FC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Subtraction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15C9B1-E03F-182B-60F1-7B4CF7FC34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Subtract 0011100100000000 from 0100001101000000.</a:t>
                </a:r>
              </a:p>
              <a:p>
                <a:pPr lvl="1"/>
                <a:r>
                  <a:rPr lang="en-GB" dirty="0"/>
                  <a:t>A: </a:t>
                </a:r>
                <a:r>
                  <a:rPr lang="en-GB" dirty="0">
                    <a:solidFill>
                      <a:schemeClr val="accent2"/>
                    </a:solidFill>
                  </a:rPr>
                  <a:t>0</a:t>
                </a:r>
                <a:r>
                  <a:rPr lang="en-GB" dirty="0">
                    <a:solidFill>
                      <a:schemeClr val="accent6"/>
                    </a:solidFill>
                  </a:rPr>
                  <a:t>10000</a:t>
                </a:r>
                <a:r>
                  <a:rPr lang="en-GB" dirty="0">
                    <a:solidFill>
                      <a:schemeClr val="accent2"/>
                    </a:solidFill>
                  </a:rPr>
                  <a:t>1101000000</a:t>
                </a:r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1101×</m:t>
                    </m:r>
                    <m:sSup>
                      <m:sSup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=11.101</m:t>
                    </m:r>
                  </m:oMath>
                </a14:m>
                <a:r>
                  <a:rPr lang="en-GB" dirty="0"/>
                  <a:t> (10000 is 16, i.e.  exponent 1, 1101 is a mantissa of 1.1101)</a:t>
                </a:r>
              </a:p>
              <a:p>
                <a:pPr lvl="1"/>
                <a:r>
                  <a:rPr lang="en-GB" dirty="0"/>
                  <a:t>B: </a:t>
                </a:r>
                <a:r>
                  <a:rPr lang="en-GB" dirty="0">
                    <a:solidFill>
                      <a:schemeClr val="accent2"/>
                    </a:solidFill>
                  </a:rPr>
                  <a:t>0</a:t>
                </a:r>
                <a:r>
                  <a:rPr lang="en-GB" dirty="0">
                    <a:solidFill>
                      <a:schemeClr val="accent6"/>
                    </a:solidFill>
                  </a:rPr>
                  <a:t>01110</a:t>
                </a:r>
                <a:r>
                  <a:rPr lang="en-GB" dirty="0">
                    <a:solidFill>
                      <a:schemeClr val="accent2"/>
                    </a:solidFill>
                  </a:rPr>
                  <a:t>0100000000</a:t>
                </a:r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1.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1×</m:t>
                    </m:r>
                    <m:sSup>
                      <m:sSup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GB" b="0" i="0" dirty="0" smtClean="0">
                        <a:latin typeface="Cambria Math" panose="02040503050406030204" pitchFamily="18" charset="0"/>
                      </a:rPr>
                      <m:t>=0.101</m:t>
                    </m:r>
                  </m:oMath>
                </a14:m>
                <a:r>
                  <a:rPr lang="en-GB" dirty="0"/>
                  <a:t> (01110 is 14, i.e. exponent -1, mantissa 01 is a value of 1.01)</a:t>
                </a:r>
              </a:p>
              <a:p>
                <a:pPr lvl="1"/>
                <a:r>
                  <a:rPr lang="en-GB" dirty="0"/>
                  <a:t>Sign bits are both 0.</a:t>
                </a:r>
              </a:p>
              <a:p>
                <a:pPr lvl="1"/>
                <a:r>
                  <a:rPr lang="en-GB" dirty="0"/>
                  <a:t>Exponent 10000 is larger than exponent 01110, so A &gt; B</a:t>
                </a:r>
              </a:p>
              <a:p>
                <a:pPr lvl="2"/>
                <a:r>
                  <a:rPr lang="en-GB" dirty="0"/>
                  <a:t>Align mantissa of B</a:t>
                </a:r>
              </a:p>
              <a:p>
                <a:pPr lvl="1"/>
                <a:r>
                  <a:rPr lang="en-GB" dirty="0"/>
                  <a:t>Difference is exponents is 2 (10000 (16) – 01110 (14) = 10 (2)) 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15C9B1-E03F-182B-60F1-7B4CF7FC34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20019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26E94-B87C-FAE0-0900-F8764636E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Subtraction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B2C8C4-854D-C505-321A-B46A143551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Align the mantissas</a:t>
                </a:r>
              </a:p>
              <a:p>
                <a:pPr lvl="1"/>
                <a:r>
                  <a:rPr lang="en-GB" dirty="0"/>
                  <a:t>Add in leading bit to mantissa</a:t>
                </a:r>
              </a:p>
              <a:p>
                <a:pPr lvl="2"/>
                <a:r>
                  <a:rPr lang="en-GB" dirty="0"/>
                  <a:t>A: 1101000000</a:t>
                </a:r>
                <a:r>
                  <a:rPr lang="en-GB" dirty="0">
                    <a:solidFill>
                      <a:schemeClr val="accent2"/>
                    </a:solidFill>
                  </a:rPr>
                  <a:t> </a:t>
                </a:r>
                <a:r>
                  <a:rPr lang="en-GB" dirty="0"/>
                  <a:t>→ 1.1101000000</a:t>
                </a:r>
              </a:p>
              <a:p>
                <a:pPr lvl="2"/>
                <a:r>
                  <a:rPr lang="en-GB" dirty="0"/>
                  <a:t>B: 0100000000 → 1.0100000000</a:t>
                </a:r>
              </a:p>
              <a:p>
                <a:pPr lvl="1"/>
                <a:r>
                  <a:rPr lang="en-GB" dirty="0"/>
                  <a:t>Shift mantissa B two places to the right because the difference in the exponent is 2.</a:t>
                </a:r>
              </a:p>
              <a:p>
                <a:pPr lvl="2"/>
                <a:r>
                  <a:rPr lang="en-GB" dirty="0"/>
                  <a:t>0.0101000000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1.01×</m:t>
                    </m:r>
                    <m:sSup>
                      <m:sSup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GB" i="1" dirty="0">
                        <a:latin typeface="Cambria Math" panose="02040503050406030204" pitchFamily="18" charset="0"/>
                      </a:rPr>
                      <m:t>=0.101</m:t>
                    </m:r>
                    <m:r>
                      <a:rPr lang="en-GB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0.0101×</m:t>
                    </m:r>
                    <m:sSup>
                      <m:sSup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GB" dirty="0"/>
                  <a:t>.</a:t>
                </a:r>
              </a:p>
              <a:p>
                <a:pPr lvl="1"/>
                <a:r>
                  <a:rPr lang="en-GB" dirty="0"/>
                  <a:t>Now both values are aligned to the same exponent value,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B2C8C4-854D-C505-321A-B46A143551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22169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45FF7-7A85-51F6-8F12-A336C2BBA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Subtraction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1EE9E8-9D12-C07E-6B60-B09D3AD427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2053"/>
                <a:ext cx="10515600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dirty="0"/>
                  <a:t>Subtract:</a:t>
                </a:r>
              </a:p>
              <a:p>
                <a:pPr lvl="1"/>
                <a:endParaRPr lang="en-GB" dirty="0"/>
              </a:p>
              <a:p>
                <a:pPr lvl="1"/>
                <a:endParaRPr lang="en-GB" dirty="0"/>
              </a:p>
              <a:p>
                <a:pPr lvl="1"/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dirty="0"/>
                  <a:t>Difference result is 1.1000000000</a:t>
                </a:r>
              </a:p>
              <a:p>
                <a:r>
                  <a:rPr lang="en-GB" dirty="0"/>
                  <a:t>Exponent is 10000 (16)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GB" dirty="0"/>
              </a:p>
              <a:p>
                <a:r>
                  <a:rPr lang="en-GB" dirty="0"/>
                  <a:t>Mantissa is 1000000000</a:t>
                </a:r>
              </a:p>
              <a:p>
                <a:r>
                  <a:rPr lang="en-GB" dirty="0"/>
                  <a:t>Since both operands were positive, result is positive (sign bit 0)</a:t>
                </a:r>
              </a:p>
              <a:p>
                <a:r>
                  <a:rPr lang="en-GB" dirty="0"/>
                  <a:t>Representation: </a:t>
                </a:r>
                <a:r>
                  <a:rPr lang="en-GB" dirty="0">
                    <a:solidFill>
                      <a:schemeClr val="accent2"/>
                    </a:solidFill>
                  </a:rPr>
                  <a:t>0</a:t>
                </a:r>
                <a:r>
                  <a:rPr lang="en-GB" dirty="0">
                    <a:solidFill>
                      <a:schemeClr val="accent6"/>
                    </a:solidFill>
                  </a:rPr>
                  <a:t>10000</a:t>
                </a:r>
                <a:r>
                  <a:rPr lang="en-GB" dirty="0">
                    <a:solidFill>
                      <a:schemeClr val="accent2"/>
                    </a:solidFill>
                  </a:rPr>
                  <a:t>1000000000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1EE9E8-9D12-C07E-6B60-B09D3AD427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2053"/>
                <a:ext cx="10515600" cy="4351338"/>
              </a:xfrm>
              <a:blipFill>
                <a:blip r:embed="rId2"/>
                <a:stretch>
                  <a:fillRect l="-1043" t="-3081" b="-32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EF4176-08D9-C4BE-0AD9-D81E04DC39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539256"/>
              </p:ext>
            </p:extLst>
          </p:nvPr>
        </p:nvGraphicFramePr>
        <p:xfrm>
          <a:off x="2612989" y="2009439"/>
          <a:ext cx="6260670" cy="1107440"/>
        </p:xfrm>
        <a:graphic>
          <a:graphicData uri="http://schemas.openxmlformats.org/drawingml/2006/table">
            <a:tbl>
              <a:tblPr lastRow="1">
                <a:tableStyleId>{2D5ABB26-0587-4C30-8999-92F81FD0307C}</a:tableStyleId>
              </a:tblPr>
              <a:tblGrid>
                <a:gridCol w="481590">
                  <a:extLst>
                    <a:ext uri="{9D8B030D-6E8A-4147-A177-3AD203B41FA5}">
                      <a16:colId xmlns:a16="http://schemas.microsoft.com/office/drawing/2014/main" val="2661736560"/>
                    </a:ext>
                  </a:extLst>
                </a:gridCol>
                <a:gridCol w="481590">
                  <a:extLst>
                    <a:ext uri="{9D8B030D-6E8A-4147-A177-3AD203B41FA5}">
                      <a16:colId xmlns:a16="http://schemas.microsoft.com/office/drawing/2014/main" val="3738826780"/>
                    </a:ext>
                  </a:extLst>
                </a:gridCol>
                <a:gridCol w="481590">
                  <a:extLst>
                    <a:ext uri="{9D8B030D-6E8A-4147-A177-3AD203B41FA5}">
                      <a16:colId xmlns:a16="http://schemas.microsoft.com/office/drawing/2014/main" val="3145424614"/>
                    </a:ext>
                  </a:extLst>
                </a:gridCol>
                <a:gridCol w="481590">
                  <a:extLst>
                    <a:ext uri="{9D8B030D-6E8A-4147-A177-3AD203B41FA5}">
                      <a16:colId xmlns:a16="http://schemas.microsoft.com/office/drawing/2014/main" val="2511115166"/>
                    </a:ext>
                  </a:extLst>
                </a:gridCol>
                <a:gridCol w="481590">
                  <a:extLst>
                    <a:ext uri="{9D8B030D-6E8A-4147-A177-3AD203B41FA5}">
                      <a16:colId xmlns:a16="http://schemas.microsoft.com/office/drawing/2014/main" val="3495473768"/>
                    </a:ext>
                  </a:extLst>
                </a:gridCol>
                <a:gridCol w="481590">
                  <a:extLst>
                    <a:ext uri="{9D8B030D-6E8A-4147-A177-3AD203B41FA5}">
                      <a16:colId xmlns:a16="http://schemas.microsoft.com/office/drawing/2014/main" val="2934162139"/>
                    </a:ext>
                  </a:extLst>
                </a:gridCol>
                <a:gridCol w="481590">
                  <a:extLst>
                    <a:ext uri="{9D8B030D-6E8A-4147-A177-3AD203B41FA5}">
                      <a16:colId xmlns:a16="http://schemas.microsoft.com/office/drawing/2014/main" val="3733175631"/>
                    </a:ext>
                  </a:extLst>
                </a:gridCol>
                <a:gridCol w="481590">
                  <a:extLst>
                    <a:ext uri="{9D8B030D-6E8A-4147-A177-3AD203B41FA5}">
                      <a16:colId xmlns:a16="http://schemas.microsoft.com/office/drawing/2014/main" val="4202105464"/>
                    </a:ext>
                  </a:extLst>
                </a:gridCol>
                <a:gridCol w="481590">
                  <a:extLst>
                    <a:ext uri="{9D8B030D-6E8A-4147-A177-3AD203B41FA5}">
                      <a16:colId xmlns:a16="http://schemas.microsoft.com/office/drawing/2014/main" val="163010671"/>
                    </a:ext>
                  </a:extLst>
                </a:gridCol>
                <a:gridCol w="481590">
                  <a:extLst>
                    <a:ext uri="{9D8B030D-6E8A-4147-A177-3AD203B41FA5}">
                      <a16:colId xmlns:a16="http://schemas.microsoft.com/office/drawing/2014/main" val="3633456052"/>
                    </a:ext>
                  </a:extLst>
                </a:gridCol>
                <a:gridCol w="481590">
                  <a:extLst>
                    <a:ext uri="{9D8B030D-6E8A-4147-A177-3AD203B41FA5}">
                      <a16:colId xmlns:a16="http://schemas.microsoft.com/office/drawing/2014/main" val="2933789869"/>
                    </a:ext>
                  </a:extLst>
                </a:gridCol>
                <a:gridCol w="481590">
                  <a:extLst>
                    <a:ext uri="{9D8B030D-6E8A-4147-A177-3AD203B41FA5}">
                      <a16:colId xmlns:a16="http://schemas.microsoft.com/office/drawing/2014/main" val="1245070834"/>
                    </a:ext>
                  </a:extLst>
                </a:gridCol>
                <a:gridCol w="481590">
                  <a:extLst>
                    <a:ext uri="{9D8B030D-6E8A-4147-A177-3AD203B41FA5}">
                      <a16:colId xmlns:a16="http://schemas.microsoft.com/office/drawing/2014/main" val="3864157110"/>
                    </a:ext>
                  </a:extLst>
                </a:gridCol>
              </a:tblGrid>
              <a:tr h="18573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012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-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07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20633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66745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2317C-D707-38AD-F9DD-8999510D3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 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F69EFE-81DA-06E5-84B8-1E3264E7DA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Compare signs</a:t>
                </a:r>
              </a:p>
              <a:p>
                <a:pPr lvl="1"/>
                <a:r>
                  <a:rPr lang="en-GB" dirty="0"/>
                  <a:t>If different, treat as subtraction.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Align mantissa</a:t>
                </a:r>
              </a:p>
              <a:p>
                <a:pPr lvl="1"/>
                <a:r>
                  <a:rPr lang="en-GB" dirty="0"/>
                  <a:t>Add in leading 1</a:t>
                </a:r>
              </a:p>
              <a:p>
                <a:pPr lvl="1"/>
                <a:r>
                  <a:rPr lang="en-GB" dirty="0"/>
                  <a:t>Shift mantissa of value with smallest exponent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places to the right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is the difference in the exponents</a:t>
                </a:r>
              </a:p>
              <a:p>
                <a:pPr lvl="2"/>
                <a:r>
                  <a:rPr lang="en-GB" dirty="0"/>
                  <a:t>May need to round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Add mantissas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Renormalise the result, if necessary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F69EFE-81DA-06E5-84B8-1E3264E7DA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10131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2317C-D707-38AD-F9DD-8999510D3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Subtraction 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F69EFE-81DA-06E5-84B8-1E3264E7DAD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Compare signs</a:t>
                </a:r>
              </a:p>
              <a:p>
                <a:pPr lvl="1"/>
                <a:r>
                  <a:rPr lang="en-GB" dirty="0"/>
                  <a:t>If different signs, treat as addition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Compare magnitudes (exponents)</a:t>
                </a:r>
              </a:p>
              <a:p>
                <a:pPr lvl="1"/>
                <a:r>
                  <a:rPr lang="en-GB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GB" i="1" dirty="0"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GB" dirty="0"/>
              </a:p>
              <a:p>
                <a:pPr lvl="2"/>
                <a:r>
                  <a:rPr lang="en-GB" dirty="0"/>
                  <a:t>Compute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GB" i="1" dirty="0">
                        <a:latin typeface="Cambria Math" panose="02040503050406030204" pitchFamily="18" charset="0"/>
                      </a:rPr>
                      <m:t>&lt; </m:t>
                    </m:r>
                    <m:d>
                      <m:dPr>
                        <m:begChr m:val="|"/>
                        <m:endChr m:val="|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GB" dirty="0"/>
              </a:p>
              <a:p>
                <a:pPr lvl="2"/>
                <a:r>
                  <a:rPr lang="en-GB" dirty="0"/>
                  <a:t>Compute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GB" dirty="0"/>
              </a:p>
              <a:p>
                <a:pPr lvl="2"/>
                <a:r>
                  <a:rPr lang="en-GB" dirty="0"/>
                  <a:t>Negate result of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at end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Add 1 to front of both values (leading bit)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F69EFE-81DA-06E5-84B8-1E3264E7DA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71" t="-32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AA3B153-78A2-4B4E-51FF-219EF8A405B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514350" indent="-514350">
                  <a:buFont typeface="+mj-lt"/>
                  <a:buAutoNum type="arabicPeriod" startAt="4"/>
                </a:pPr>
                <a:r>
                  <a:rPr lang="en-GB" dirty="0"/>
                  <a:t>Align mantissas</a:t>
                </a:r>
              </a:p>
              <a:p>
                <a:pPr lvl="1"/>
                <a:r>
                  <a:rPr lang="en-GB" dirty="0"/>
                  <a:t>Shift value with smallest exponent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places to the right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is the difference in the exponents</a:t>
                </a:r>
              </a:p>
              <a:p>
                <a:pPr lvl="2"/>
                <a:r>
                  <a:rPr lang="en-GB" dirty="0"/>
                  <a:t>May need to round</a:t>
                </a:r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en-GB" dirty="0"/>
                  <a:t>Subtract the 2 values</a:t>
                </a:r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en-GB" dirty="0"/>
                  <a:t>Renormalise, if necessary</a:t>
                </a:r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en-GB" dirty="0"/>
                  <a:t>Sign bit:</a:t>
                </a:r>
              </a:p>
              <a:p>
                <a:pPr lvl="1"/>
                <a:r>
                  <a:rPr lang="en-GB" dirty="0"/>
                  <a:t>same as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,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GB" i="1" dirty="0"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opposite of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,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GB" i="1" dirty="0">
                        <a:latin typeface="Cambria Math" panose="02040503050406030204" pitchFamily="18" charset="0"/>
                      </a:rPr>
                      <m:t>&lt; </m:t>
                    </m:r>
                    <m:d>
                      <m:dPr>
                        <m:begChr m:val="|"/>
                        <m:endChr m:val="|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AA3B153-78A2-4B4E-51FF-219EF8A405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471" t="-3221" r="-17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41151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D2D9F-4646-EFC8-9BA4-69EFE012A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5D4D4-26C9-76FF-080A-03D97C947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Add the following half precision floating point numbers:</a:t>
            </a:r>
          </a:p>
          <a:p>
            <a:pPr marL="0" indent="0">
              <a:buNone/>
            </a:pPr>
            <a:r>
              <a:rPr lang="en-GB" dirty="0">
                <a:solidFill>
                  <a:srgbClr val="1F1F1F"/>
                </a:solidFill>
                <a:latin typeface="ElsevierGulliver"/>
              </a:rPr>
              <a:t>0100011111100000 (</a:t>
            </a:r>
            <a:r>
              <a:rPr lang="en-GB" b="0" i="0" dirty="0">
                <a:solidFill>
                  <a:srgbClr val="1F1F1F"/>
                </a:solidFill>
                <a:effectLst/>
                <a:latin typeface="ElsevierGulliver"/>
              </a:rPr>
              <a:t>1.11111 × 2</a:t>
            </a:r>
            <a:r>
              <a:rPr lang="en-GB" b="0" i="0" baseline="30000" dirty="0">
                <a:solidFill>
                  <a:srgbClr val="1F1F1F"/>
                </a:solidFill>
                <a:effectLst/>
                <a:latin typeface="ElsevierGulliver"/>
              </a:rPr>
              <a:t>2</a:t>
            </a:r>
            <a:r>
              <a:rPr lang="en-GB" b="0" i="0" dirty="0">
                <a:solidFill>
                  <a:srgbClr val="1F1F1F"/>
                </a:solidFill>
                <a:effectLst/>
                <a:latin typeface="ElsevierGulliver"/>
              </a:rPr>
              <a:t>) </a:t>
            </a:r>
          </a:p>
          <a:p>
            <a:pPr marL="0" indent="0">
              <a:buNone/>
            </a:pPr>
            <a:r>
              <a:rPr lang="en-GB" dirty="0">
                <a:solidFill>
                  <a:srgbClr val="1F1F1F"/>
                </a:solidFill>
                <a:latin typeface="ElsevierGulliver"/>
              </a:rPr>
              <a:t>0011001000000000 </a:t>
            </a:r>
            <a:r>
              <a:rPr lang="en-GB" b="0" i="0" dirty="0">
                <a:solidFill>
                  <a:srgbClr val="1F1F1F"/>
                </a:solidFill>
                <a:effectLst/>
                <a:latin typeface="ElsevierGulliver"/>
              </a:rPr>
              <a:t>(1.1 × 2</a:t>
            </a:r>
            <a:r>
              <a:rPr lang="en-GB" b="0" i="0" baseline="30000" dirty="0">
                <a:solidFill>
                  <a:srgbClr val="1F1F1F"/>
                </a:solidFill>
                <a:effectLst/>
                <a:latin typeface="ElsevierGulliver"/>
              </a:rPr>
              <a:t>−3</a:t>
            </a:r>
            <a:r>
              <a:rPr lang="en-GB" b="0" i="0" dirty="0">
                <a:solidFill>
                  <a:srgbClr val="1F1F1F"/>
                </a:solidFill>
                <a:effectLst/>
                <a:latin typeface="ElsevierGulliver"/>
              </a:rPr>
              <a:t> )</a:t>
            </a:r>
          </a:p>
          <a:p>
            <a:pPr marL="0" indent="0">
              <a:buNone/>
            </a:pPr>
            <a:r>
              <a:rPr lang="en-GB" dirty="0">
                <a:solidFill>
                  <a:srgbClr val="1F1F1F"/>
                </a:solidFill>
                <a:latin typeface="ElsevierGulliver"/>
              </a:rPr>
              <a:t>Give the result in half precision format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88482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12B81-CE03-36F9-5D24-B718BF17E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Multiplication and division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347E79-0E1B-C53A-E481-122D24BB82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Mantissas: multiplied or divided</a:t>
                </a:r>
              </a:p>
              <a:p>
                <a:r>
                  <a:rPr lang="en-GB" dirty="0"/>
                  <a:t>Exponents: added or subtracted</a:t>
                </a:r>
              </a:p>
              <a:p>
                <a:pPr lvl="1"/>
                <a:r>
                  <a:rPr lang="en-GB" dirty="0"/>
                  <a:t>Normalisation is necessary to restore the location of the decimal point and maintain the precision of the result</a:t>
                </a:r>
              </a:p>
              <a:p>
                <a:pPr lvl="1"/>
                <a:r>
                  <a:rPr lang="en-GB" dirty="0"/>
                  <a:t>Remember: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GB" b="0" dirty="0"/>
              </a:p>
              <a:p>
                <a:pPr lvl="1"/>
                <a:r>
                  <a:rPr lang="en-GB" dirty="0"/>
                  <a:t>Adjust excess value since added twice</a:t>
                </a:r>
              </a:p>
              <a:p>
                <a:pPr lvl="1"/>
                <a:r>
                  <a:rPr lang="en-GB" dirty="0"/>
                  <a:t>If, overflow, then stop and report error</a:t>
                </a:r>
              </a:p>
              <a:p>
                <a:pPr lvl="1"/>
                <a:r>
                  <a:rPr lang="en-GB" dirty="0"/>
                  <a:t>Example: 2 numbers with exponent = 3 represented in half precision format</a:t>
                </a:r>
              </a:p>
              <a:p>
                <a:pPr lvl="1"/>
                <a:r>
                  <a:rPr lang="en-GB" dirty="0"/>
                  <a:t>18 + 18 = 36</a:t>
                </a:r>
              </a:p>
              <a:p>
                <a:pPr lvl="1"/>
                <a:r>
                  <a:rPr lang="en-GB" dirty="0"/>
                  <a:t>Since 15 added twice, subtract: 36 − 15 = 21.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347E79-0E1B-C53A-E481-122D24BB82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60853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E0344-37C7-6BCD-16BD-192673FB0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Multiplication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4BF1B9-8B49-4D0D-9F3E-19572A1F2F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GB" dirty="0"/>
                  <a:t>Multiply two 16-bit floating point numbers: 0100001111000000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dirty="0"/>
                  <a:t> 0011100100000000.</a:t>
                </a:r>
              </a:p>
              <a:p>
                <a:r>
                  <a:rPr lang="en-GB" dirty="0"/>
                  <a:t>Add exponents, subtract offset: 10000 (16) + 01110 (14) − (01111) 15 = 01111 (15)</a:t>
                </a:r>
              </a:p>
              <a:p>
                <a:r>
                  <a:rPr lang="en-GB" dirty="0"/>
                  <a:t>Multiply mantissas</a:t>
                </a:r>
              </a:p>
              <a:p>
                <a:pPr lvl="1"/>
                <a:r>
                  <a:rPr lang="en-GB" dirty="0"/>
                  <a:t>Add in leading one</a:t>
                </a:r>
              </a:p>
              <a:p>
                <a:pPr lvl="1"/>
                <a:r>
                  <a:rPr lang="en-GB" dirty="0"/>
                  <a:t>1.1111 × 1.01 = 10.011011</a:t>
                </a:r>
              </a:p>
              <a:p>
                <a:pPr lvl="2"/>
                <a:r>
                  <a:rPr lang="en-GB" dirty="0"/>
                  <a:t>Multiply 11111 × 101 = 10011011</a:t>
                </a:r>
              </a:p>
              <a:p>
                <a:pPr lvl="2"/>
                <a:r>
                  <a:rPr lang="en-GB" dirty="0"/>
                  <a:t>From standard representation know 6 digits after radix point in multiplicands (because we don’t store the leading 1 of a mantissa)</a:t>
                </a:r>
              </a:p>
              <a:p>
                <a:pPr lvl="2"/>
                <a:r>
                  <a:rPr lang="en-GB" dirty="0"/>
                  <a:t>Hence result is 10.011011</a:t>
                </a:r>
              </a:p>
              <a:p>
                <a:r>
                  <a:rPr lang="en-GB" dirty="0"/>
                  <a:t>Normalise: 10.011011 = 1.0011011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Hence mantissa is now 0011011 and exponent increases by 1 to 16 (10000)</a:t>
                </a:r>
              </a:p>
              <a:p>
                <a:r>
                  <a:rPr lang="en-GB" dirty="0"/>
                  <a:t>Result 0</a:t>
                </a:r>
                <a:r>
                  <a:rPr lang="en-GB" dirty="0">
                    <a:solidFill>
                      <a:schemeClr val="accent6"/>
                    </a:solidFill>
                  </a:rPr>
                  <a:t>10000</a:t>
                </a:r>
                <a:r>
                  <a:rPr lang="en-GB" dirty="0">
                    <a:solidFill>
                      <a:schemeClr val="accent2"/>
                    </a:solidFill>
                  </a:rPr>
                  <a:t>0011011000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4BF1B9-8B49-4D0D-9F3E-19572A1F2F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2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23791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27EFE-5AF2-F453-7B7A-14CCD2E55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IEEE Standard 754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FFB69-0BE1-2E13-74FC-0B233C9A0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Standard was developed to facilitate the portability of programs from one processor to another and to encourage the development of sophisticated, numerically oriented programs</a:t>
            </a:r>
          </a:p>
          <a:p>
            <a:r>
              <a:rPr lang="en-GB" dirty="0"/>
              <a:t>Standard has been widely adopted and is used on virtually all contemporary processors and arithmetic coprocessors</a:t>
            </a:r>
          </a:p>
          <a:p>
            <a:r>
              <a:rPr lang="en-GB" dirty="0"/>
              <a:t>IEEE 754-2008 covers both binary and decimal floating-point representations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49062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F8036-A709-D06E-3EB8-3D572C3F7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IEEE 754: Special Values</a:t>
            </a:r>
          </a:p>
        </p:txBody>
      </p:sp>
      <p:graphicFrame>
        <p:nvGraphicFramePr>
          <p:cNvPr id="4" name="Table 3" descr="Each table has four columns labeled sign, biased exponent, fraction, and value. The rows for table A read as follows. For positive zero, 0, 0, 0, 0. For negative zero, 1 0 0 negative 0. For plus infinity, 0, all ones, 0, infinity. For minus infinity, 1, all ones, 0, negative infinity. For quiet N a N, 0 or 1, all ones, does not equal 0 first bit equals 1, 1 n a n. For signaling n a n, 0 or 1, all ones, does not equal zero first bit equals 0, s n a n. For positive normal nonzero, 0, 0 is less than e is less than 225, f, 2 to the power of e minus 127 times 1 point f. negative normal nonzero, 1, 0 is less than e, is less than 225, f, negative 2 to the power of e minus 126 times 0 point f. For negative subnormal, 1, 0, f does not equal 0, negative 2 to the power of e minus 126 times 0 point f. The rows for table B read as follows. For positive zero, 0, 0, 0, 0. For negative zero, 1 0 0 negative 0. For plus infinity, 0, all ones, 0, infinity. For minus infinity, 1, all ones, 0, negative infinity. For quiet N a N, 0 or 1, all ones, does not equal 0 first bit equals 1, 1 n a n. For signaling n a n, 0 or 1, all ones, does not equal zero first bit equals 0, s n a n. for positive normal nonzero, 0, 0 is less than e is less than 2047, f, 2 to the power of e minus 1023 times 1 point f. For negative normal nonzero, 1, 0 is less than e is less than 2047, f, negative 2 to the power of e minus 1023 times 1 point f. Positive subnormal, 0, 0, f does not equal zero, 2 to the power of e minus 1022 times 0 point f. negative subnormal, 1, 0, f does not equal 0, negative 2 to the power of e minus 1022 times 0 point f. The rows for table c read as follows. For positive zero, 0, 0, 0, 0. For negative zero, 1 0 0 negative 0. For plus infinity, 0, all ones, 0, infinity. For minus infinity, 1, all ones, 0, negative infinity. For quiet N a N, 0 or 1, all ones, does not equal 0 first bit equals 1, 1 n a n. For signaling n a n, 0 or 1, all ones, does not equal zero first bit equals 0, s n a n. For positive normal nonzero, 0, all ones, f, 2 to the power of e minus 16383 times 1 point f. For negative normal nonzero, 1, all ones, f, negative 2 to the power of e minus 16383 times 1 point f. For positive subnormal, 0, 0, f does not equal 0, 2 to the power of e minus 16383 times 0 point f. For negative subnormal, 1, 0, f does not equal 0, negative 2 to the power of e minus 16383 times 0 point f." title="3 tables, a, b, and c, are labeled, binary 32 format, binary 64 format, and binary 128 format. ">
            <a:extLst>
              <a:ext uri="{FF2B5EF4-FFF2-40B4-BE49-F238E27FC236}">
                <a16:creationId xmlns:a16="http://schemas.microsoft.com/office/drawing/2014/main" id="{46324278-C145-57EB-C5D9-078680ECD0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453883"/>
              </p:ext>
            </p:extLst>
          </p:nvPr>
        </p:nvGraphicFramePr>
        <p:xfrm>
          <a:off x="1812446" y="1834656"/>
          <a:ext cx="8718919" cy="4429509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255964">
                  <a:extLst>
                    <a:ext uri="{9D8B030D-6E8A-4147-A177-3AD203B41FA5}">
                      <a16:colId xmlns:a16="http://schemas.microsoft.com/office/drawing/2014/main" val="528802535"/>
                    </a:ext>
                  </a:extLst>
                </a:gridCol>
                <a:gridCol w="1622307">
                  <a:extLst>
                    <a:ext uri="{9D8B030D-6E8A-4147-A177-3AD203B41FA5}">
                      <a16:colId xmlns:a16="http://schemas.microsoft.com/office/drawing/2014/main" val="3102758518"/>
                    </a:ext>
                  </a:extLst>
                </a:gridCol>
                <a:gridCol w="1815243">
                  <a:extLst>
                    <a:ext uri="{9D8B030D-6E8A-4147-A177-3AD203B41FA5}">
                      <a16:colId xmlns:a16="http://schemas.microsoft.com/office/drawing/2014/main" val="2543019389"/>
                    </a:ext>
                  </a:extLst>
                </a:gridCol>
                <a:gridCol w="1663973">
                  <a:extLst>
                    <a:ext uri="{9D8B030D-6E8A-4147-A177-3AD203B41FA5}">
                      <a16:colId xmlns:a16="http://schemas.microsoft.com/office/drawing/2014/main" val="4122312373"/>
                    </a:ext>
                  </a:extLst>
                </a:gridCol>
                <a:gridCol w="1361432">
                  <a:extLst>
                    <a:ext uri="{9D8B030D-6E8A-4147-A177-3AD203B41FA5}">
                      <a16:colId xmlns:a16="http://schemas.microsoft.com/office/drawing/2014/main" val="3907586976"/>
                    </a:ext>
                  </a:extLst>
                </a:gridCol>
              </a:tblGrid>
              <a:tr h="518498"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u="none" strike="noStrike" cap="none" baseline="0" dirty="0">
                          <a:solidFill>
                            <a:schemeClr val="bg1"/>
                          </a:solidFill>
                          <a:sym typeface="Arial"/>
                        </a:rPr>
                        <a:t>Sign</a:t>
                      </a:r>
                      <a:endParaRPr lang="en-IN" sz="1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u="none" strike="noStrike" cap="none" baseline="0" dirty="0">
                          <a:solidFill>
                            <a:schemeClr val="bg1"/>
                          </a:solidFill>
                          <a:sym typeface="Arial"/>
                        </a:rPr>
                        <a:t>Biased Exponent</a:t>
                      </a:r>
                      <a:endParaRPr lang="en-IN" sz="1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bg1"/>
                          </a:solidFill>
                        </a:rPr>
                        <a:t>Fraction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bg1"/>
                          </a:solidFill>
                        </a:rPr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7666487"/>
                  </a:ext>
                </a:extLst>
              </a:tr>
              <a:tr h="668428">
                <a:tc>
                  <a:txBody>
                    <a:bodyPr/>
                    <a:lstStyle/>
                    <a:p>
                      <a:r>
                        <a:rPr lang="en-IN" dirty="0">
                          <a:sym typeface="Arial"/>
                        </a:rPr>
                        <a:t>positive zero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2764516"/>
                  </a:ext>
                </a:extLst>
              </a:tr>
              <a:tr h="578526">
                <a:tc>
                  <a:txBody>
                    <a:bodyPr/>
                    <a:lstStyle/>
                    <a:p>
                      <a:r>
                        <a:rPr lang="en-IN" dirty="0">
                          <a:sym typeface="Arial"/>
                        </a:rPr>
                        <a:t>negative zero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–0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1756320"/>
                  </a:ext>
                </a:extLst>
              </a:tr>
              <a:tr h="612468">
                <a:tc>
                  <a:txBody>
                    <a:bodyPr/>
                    <a:lstStyle/>
                    <a:p>
                      <a:r>
                        <a:rPr lang="en-IN" dirty="0">
                          <a:sym typeface="Arial"/>
                        </a:rPr>
                        <a:t>plus infinity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ym typeface="Arial"/>
                        </a:rPr>
                        <a:t>all 1s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ym typeface="Symbol" panose="05050102010706020507" pitchFamily="18" charset="2"/>
                        </a:rPr>
                        <a:t>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7438362"/>
                  </a:ext>
                </a:extLst>
              </a:tr>
              <a:tr h="687131">
                <a:tc>
                  <a:txBody>
                    <a:bodyPr/>
                    <a:lstStyle/>
                    <a:p>
                      <a:r>
                        <a:rPr lang="en-IN" dirty="0">
                          <a:sym typeface="Arial"/>
                        </a:rPr>
                        <a:t>minus infinity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ym typeface="Arial"/>
                        </a:rPr>
                        <a:t>all 1s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ym typeface="Symbol" panose="05050102010706020507" pitchFamily="18" charset="2"/>
                        </a:rPr>
                        <a:t>–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824530"/>
                  </a:ext>
                </a:extLst>
              </a:tr>
              <a:tr h="682229">
                <a:tc>
                  <a:txBody>
                    <a:bodyPr/>
                    <a:lstStyle/>
                    <a:p>
                      <a:r>
                        <a:rPr lang="en-IN" dirty="0">
                          <a:sym typeface="Arial"/>
                        </a:rPr>
                        <a:t>quiet </a:t>
                      </a:r>
                      <a:r>
                        <a:rPr lang="en-IN" dirty="0" err="1">
                          <a:sym typeface="Arial"/>
                        </a:rPr>
                        <a:t>NaN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 or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ym typeface="Arial"/>
                        </a:rPr>
                        <a:t>all 1s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ym typeface="Symbol" panose="05050102010706020507" pitchFamily="18" charset="2"/>
                        </a:rPr>
                        <a:t></a:t>
                      </a:r>
                      <a:r>
                        <a:rPr lang="en-IN" dirty="0">
                          <a:sym typeface="Arial"/>
                        </a:rPr>
                        <a:t> 0; first bit = 1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>
                          <a:sym typeface="Arial"/>
                        </a:rPr>
                        <a:t>qNaN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9877881"/>
                  </a:ext>
                </a:extLst>
              </a:tr>
              <a:tr h="682229">
                <a:tc>
                  <a:txBody>
                    <a:bodyPr/>
                    <a:lstStyle/>
                    <a:p>
                      <a:r>
                        <a:rPr lang="en-IN" dirty="0" err="1">
                          <a:sym typeface="Arial"/>
                        </a:rPr>
                        <a:t>signaling</a:t>
                      </a:r>
                      <a:r>
                        <a:rPr lang="en-IN" dirty="0">
                          <a:sym typeface="Arial"/>
                        </a:rPr>
                        <a:t> </a:t>
                      </a:r>
                      <a:r>
                        <a:rPr lang="en-IN" dirty="0" err="1">
                          <a:sym typeface="Arial"/>
                        </a:rPr>
                        <a:t>NaN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 or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ym typeface="Arial"/>
                        </a:rPr>
                        <a:t>all 1s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ym typeface="Symbol" panose="05050102010706020507" pitchFamily="18" charset="2"/>
                        </a:rPr>
                        <a:t></a:t>
                      </a:r>
                      <a:r>
                        <a:rPr lang="en-IN" dirty="0">
                          <a:sym typeface="Arial"/>
                        </a:rPr>
                        <a:t> 0; first bit = 0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>
                          <a:sym typeface="Arial"/>
                        </a:rPr>
                        <a:t>sNaN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2666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48890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BAEB6-A856-199C-5BA8-6DB482477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IEEE 754 Decimal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BF40C-A6AB-6C61-32DC-2417EE06D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We saw in the previous lecture how binary fractions can only approximate some decimal fractions</a:t>
            </a:r>
          </a:p>
          <a:p>
            <a:pPr lvl="1"/>
            <a:r>
              <a:rPr lang="en-GB" dirty="0"/>
              <a:t>Can result in rounding errors</a:t>
            </a:r>
          </a:p>
          <a:p>
            <a:r>
              <a:rPr lang="en-GB" dirty="0"/>
              <a:t>For some applications better to use decimal fractions</a:t>
            </a:r>
          </a:p>
          <a:p>
            <a:r>
              <a:rPr lang="en-GB" dirty="0"/>
              <a:t>IEEE 754 specifies decimal formats (decimal32, decimal64, etc.) as well</a:t>
            </a:r>
          </a:p>
          <a:p>
            <a:pPr lvl="1"/>
            <a:r>
              <a:rPr lang="en-GB" dirty="0"/>
              <a:t>Uses BCD or densely packed decimal (DPD) to represent significand (mantissa)</a:t>
            </a:r>
          </a:p>
          <a:p>
            <a:pPr lvl="1"/>
            <a:r>
              <a:rPr lang="en-GB" dirty="0"/>
              <a:t>DPD is a more space efficient format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30645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7C18E-4183-F1DF-BEAC-B895DDDA7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Byte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F053D-0185-60BC-9862-89B61D044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43100"/>
          </a:xfrm>
        </p:spPr>
        <p:txBody>
          <a:bodyPr/>
          <a:lstStyle/>
          <a:p>
            <a:r>
              <a:rPr lang="en-GB" dirty="0"/>
              <a:t>When a system stores a multibyte value how does it store it?</a:t>
            </a:r>
          </a:p>
          <a:p>
            <a:pPr lvl="1"/>
            <a:r>
              <a:rPr lang="en-GB" dirty="0"/>
              <a:t>E.g. 32-bit 2’s complement number is 4 bytes long</a:t>
            </a:r>
          </a:p>
          <a:p>
            <a:r>
              <a:rPr lang="en-GB" dirty="0"/>
              <a:t>The </a:t>
            </a:r>
            <a:r>
              <a:rPr lang="en-GB" b="1" i="1" dirty="0"/>
              <a:t>endianness</a:t>
            </a:r>
            <a:r>
              <a:rPr lang="en-GB" dirty="0"/>
              <a:t> is the order in which each byte of the integer will be stored</a:t>
            </a:r>
            <a:endParaRPr lang="en-GB" b="1" i="1" dirty="0"/>
          </a:p>
        </p:txBody>
      </p:sp>
      <p:pic>
        <p:nvPicPr>
          <p:cNvPr id="2050" name="Picture 2" descr="In the first layout, byte A occupies address X, and byte B occupies address X+1.  In the other layout, their positions are reversed.">
            <a:extLst>
              <a:ext uri="{FF2B5EF4-FFF2-40B4-BE49-F238E27FC236}">
                <a16:creationId xmlns:a16="http://schemas.microsoft.com/office/drawing/2014/main" id="{B2FFC076-66C1-1CC3-6B28-69C49E3D4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7" y="3768725"/>
            <a:ext cx="11172825" cy="272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01732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1F7D6-654B-77BE-1D37-6F1821383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Endianness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34A41-ECEB-BB04-EA27-F15EF5417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4739"/>
            <a:ext cx="10515600" cy="1135289"/>
          </a:xfrm>
        </p:spPr>
        <p:txBody>
          <a:bodyPr/>
          <a:lstStyle/>
          <a:p>
            <a:r>
              <a:rPr lang="en-US" dirty="0"/>
              <a:t>Integer 1430532899 (AABBCCDD in hexadecimal)</a:t>
            </a:r>
          </a:p>
        </p:txBody>
      </p:sp>
      <p:pic>
        <p:nvPicPr>
          <p:cNvPr id="1026" name="Picture 2" descr="In the big-endian format, byte AA occupies position X, and the bytes proceed in alphabetical order in consecutive addresses.  In the little-endian format, byte DD occupies position X, and the bytes proceed in reverse alphabetical order.">
            <a:extLst>
              <a:ext uri="{FF2B5EF4-FFF2-40B4-BE49-F238E27FC236}">
                <a16:creationId xmlns:a16="http://schemas.microsoft.com/office/drawing/2014/main" id="{552BCEAB-4516-B60C-AF4C-A1827AF1C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2482850"/>
            <a:ext cx="11239500" cy="401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55809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5FA9F-0E3F-C552-7756-22CCC173F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Numeric Data Representations in Programming Languages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7339E-D16E-010D-5710-D121BA8D7A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In C/C++/Java:</a:t>
                </a:r>
              </a:p>
              <a:p>
                <a:pPr lvl="1"/>
                <a:r>
                  <a:rPr lang="en-GB" b="1" dirty="0">
                    <a:latin typeface="Consolas" panose="020B0609020204030204" pitchFamily="49" charset="0"/>
                  </a:rPr>
                  <a:t>short</a:t>
                </a:r>
                <a:r>
                  <a:rPr lang="en-GB" dirty="0"/>
                  <a:t> is 16-bit two’s complement integer (2 bytes)</a:t>
                </a:r>
              </a:p>
              <a:p>
                <a:pPr lvl="1"/>
                <a:r>
                  <a:rPr lang="en-GB" b="1" dirty="0">
                    <a:latin typeface="Consolas" panose="020B0609020204030204" pitchFamily="49" charset="0"/>
                  </a:rPr>
                  <a:t>int</a:t>
                </a:r>
                <a:r>
                  <a:rPr lang="en-GB" dirty="0"/>
                  <a:t> is 32-bit two’s complement integer (4 bytes)</a:t>
                </a:r>
              </a:p>
              <a:p>
                <a:pPr lvl="1"/>
                <a:r>
                  <a:rPr lang="en-GB" b="1" dirty="0">
                    <a:latin typeface="Consolas" panose="020B0609020204030204" pitchFamily="49" charset="0"/>
                  </a:rPr>
                  <a:t>long</a:t>
                </a:r>
                <a:r>
                  <a:rPr lang="en-GB" dirty="0"/>
                  <a:t> is 64-bit two’s complement integer (8 bytes)</a:t>
                </a:r>
              </a:p>
              <a:p>
                <a:pPr lvl="1"/>
                <a:r>
                  <a:rPr lang="en-GB" b="1" dirty="0">
                    <a:latin typeface="Consolas" panose="020B0609020204030204" pitchFamily="49" charset="0"/>
                  </a:rPr>
                  <a:t>float</a:t>
                </a:r>
                <a:r>
                  <a:rPr lang="en-GB" dirty="0"/>
                  <a:t> is single precision IEEE 754 floating point (4 bytes)</a:t>
                </a:r>
              </a:p>
              <a:p>
                <a:pPr lvl="1"/>
                <a:r>
                  <a:rPr lang="en-GB" b="1" dirty="0">
                    <a:latin typeface="Consolas" panose="020B0609020204030204" pitchFamily="49" charset="0"/>
                  </a:rPr>
                  <a:t>double</a:t>
                </a:r>
                <a:r>
                  <a:rPr lang="en-GB" dirty="0"/>
                  <a:t> is double precision IEEE 754 floating point (8 bytes)</a:t>
                </a:r>
              </a:p>
              <a:p>
                <a:r>
                  <a:rPr lang="en-GB" dirty="0"/>
                  <a:t>Python:</a:t>
                </a:r>
              </a:p>
              <a:p>
                <a:pPr lvl="1"/>
                <a:r>
                  <a:rPr lang="en-GB" dirty="0"/>
                  <a:t>Integers are arbitrary precision integers – stored as a base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GB" dirty="0"/>
                  <a:t> number where each digit is stored as an unsigned 32-bit integer.</a:t>
                </a:r>
              </a:p>
              <a:p>
                <a:pPr lvl="1"/>
                <a:r>
                  <a:rPr lang="en-GB" dirty="0"/>
                  <a:t>Floats are implemented as double precision IEEE 754 floating point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7339E-D16E-010D-5710-D121BA8D7A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5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55941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5F432-DE9A-77FC-1D49-944A46455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34D8A-A16D-0F92-A337-468BE7E8D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Two’s complement integers</a:t>
            </a:r>
          </a:p>
          <a:p>
            <a:r>
              <a:rPr lang="en-GB"/>
              <a:t>Floating-Point</a:t>
            </a:r>
            <a:r>
              <a:rPr lang="en-GB" dirty="0"/>
              <a:t> Representations</a:t>
            </a:r>
          </a:p>
        </p:txBody>
      </p:sp>
    </p:spTree>
    <p:extLst>
      <p:ext uri="{BB962C8B-B14F-4D97-AF65-F5344CB8AC3E}">
        <p14:creationId xmlns:p14="http://schemas.microsoft.com/office/powerpoint/2010/main" val="3249302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3053</TotalTime>
  <Words>2970</Words>
  <Application>Microsoft Office PowerPoint</Application>
  <PresentationFormat>Widescreen</PresentationFormat>
  <Paragraphs>535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Arial</vt:lpstr>
      <vt:lpstr>Calibri</vt:lpstr>
      <vt:lpstr>Calibri Light</vt:lpstr>
      <vt:lpstr>Cambria Math</vt:lpstr>
      <vt:lpstr>Consolas</vt:lpstr>
      <vt:lpstr>ElsevierGulliver</vt:lpstr>
      <vt:lpstr>Symbol</vt:lpstr>
      <vt:lpstr>Office Theme</vt:lpstr>
      <vt:lpstr>COMP1860 Building our Digital World: Computer Systems &amp; Architecture</vt:lpstr>
      <vt:lpstr>PowerPoint Presentation</vt:lpstr>
      <vt:lpstr>Book</vt:lpstr>
      <vt:lpstr>Learning Outcomes</vt:lpstr>
      <vt:lpstr>Overview</vt:lpstr>
      <vt:lpstr>Two’s Complement Integers</vt:lpstr>
      <vt:lpstr>Two’s Complement</vt:lpstr>
      <vt:lpstr>Benefits</vt:lpstr>
      <vt:lpstr>Exercise</vt:lpstr>
      <vt:lpstr>Geometric depiction of 2’s complement</vt:lpstr>
      <vt:lpstr>Negation: Special Case 1</vt:lpstr>
      <vt:lpstr>Negation: Special Case 2</vt:lpstr>
      <vt:lpstr>Overflow</vt:lpstr>
      <vt:lpstr>Range of Numbers</vt:lpstr>
      <vt:lpstr>Conversion between lengths</vt:lpstr>
      <vt:lpstr>Addition and Subtraction</vt:lpstr>
      <vt:lpstr>Exercise</vt:lpstr>
      <vt:lpstr>Floating-Point Representations</vt:lpstr>
      <vt:lpstr>Scientific Notation</vt:lpstr>
      <vt:lpstr>Example</vt:lpstr>
      <vt:lpstr>Exercise</vt:lpstr>
      <vt:lpstr>Precision</vt:lpstr>
      <vt:lpstr>Normalising Binary Fractions</vt:lpstr>
      <vt:lpstr>Fixed Point</vt:lpstr>
      <vt:lpstr>Fixed Point Example</vt:lpstr>
      <vt:lpstr>Floating Point Formats</vt:lpstr>
      <vt:lpstr>Standard 32-bit Floating-Point Format</vt:lpstr>
      <vt:lpstr>127 bias notation</vt:lpstr>
      <vt:lpstr>Normalisation</vt:lpstr>
      <vt:lpstr>Exercise</vt:lpstr>
      <vt:lpstr>Overflow and underflow</vt:lpstr>
      <vt:lpstr>Floating Point Addition &amp; Subtraction</vt:lpstr>
      <vt:lpstr>Floating Point Addition</vt:lpstr>
      <vt:lpstr>Floating Point Subtraction</vt:lpstr>
      <vt:lpstr>Half-precision format (16-bit)</vt:lpstr>
      <vt:lpstr>Example: Addition</vt:lpstr>
      <vt:lpstr>Example: Addition</vt:lpstr>
      <vt:lpstr>Example: Addition</vt:lpstr>
      <vt:lpstr>Example: Addition</vt:lpstr>
      <vt:lpstr>Example: Subtraction</vt:lpstr>
      <vt:lpstr>Example: Subtraction</vt:lpstr>
      <vt:lpstr>Example: Subtraction</vt:lpstr>
      <vt:lpstr>Addition Summary</vt:lpstr>
      <vt:lpstr>Subtraction Summary</vt:lpstr>
      <vt:lpstr>Exercise</vt:lpstr>
      <vt:lpstr>Multiplication and division</vt:lpstr>
      <vt:lpstr>Multiplication Example</vt:lpstr>
      <vt:lpstr>IEEE Standard 754</vt:lpstr>
      <vt:lpstr>IEEE 754: Special Values</vt:lpstr>
      <vt:lpstr>IEEE 754 Decimal Representations</vt:lpstr>
      <vt:lpstr>Byte Order</vt:lpstr>
      <vt:lpstr>Example: Endianness</vt:lpstr>
      <vt:lpstr>Numeric Data Representations in Programming Languages</vt:lpstr>
      <vt:lpstr>Summary</vt:lpstr>
    </vt:vector>
  </TitlesOfParts>
  <Company>University of Leeds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Dyer</dc:creator>
  <cp:lastModifiedBy>James Dyer</cp:lastModifiedBy>
  <cp:revision>7</cp:revision>
  <dcterms:created xsi:type="dcterms:W3CDTF">2024-09-18T12:54:58Z</dcterms:created>
  <dcterms:modified xsi:type="dcterms:W3CDTF">2026-03-26T10:35:47Z</dcterms:modified>
</cp:coreProperties>
</file>