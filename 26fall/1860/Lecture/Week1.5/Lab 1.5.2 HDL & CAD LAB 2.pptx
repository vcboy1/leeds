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4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5.xml" ContentType="application/vnd.openxmlformats-officedocument.presentationml.notesSlide+xml"/>
  <Override PartName="/ppt/comments/comment2.xml" ContentType="application/vnd.openxmlformats-officedocument.presentationml.comment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4" r:id="rId1"/>
  </p:sldMasterIdLst>
  <p:notesMasterIdLst>
    <p:notesMasterId r:id="rId27"/>
  </p:notesMasterIdLst>
  <p:sldIdLst>
    <p:sldId id="256" r:id="rId2"/>
    <p:sldId id="1922" r:id="rId3"/>
    <p:sldId id="1923" r:id="rId4"/>
    <p:sldId id="259" r:id="rId5"/>
    <p:sldId id="264" r:id="rId6"/>
    <p:sldId id="1907" r:id="rId7"/>
    <p:sldId id="268" r:id="rId8"/>
    <p:sldId id="269" r:id="rId9"/>
    <p:sldId id="1902" r:id="rId10"/>
    <p:sldId id="1839" r:id="rId11"/>
    <p:sldId id="1849" r:id="rId12"/>
    <p:sldId id="1844" r:id="rId13"/>
    <p:sldId id="1847" r:id="rId14"/>
    <p:sldId id="1931" r:id="rId15"/>
    <p:sldId id="1924" r:id="rId16"/>
    <p:sldId id="1926" r:id="rId17"/>
    <p:sldId id="1904" r:id="rId18"/>
    <p:sldId id="1927" r:id="rId19"/>
    <p:sldId id="1928" r:id="rId20"/>
    <p:sldId id="1905" r:id="rId21"/>
    <p:sldId id="1930" r:id="rId22"/>
    <p:sldId id="1929" r:id="rId23"/>
    <p:sldId id="1921" r:id="rId24"/>
    <p:sldId id="1903" r:id="rId25"/>
    <p:sldId id="1919" r:id="rId26"/>
  </p:sldIdLst>
  <p:sldSz cx="9144000" cy="5143500" type="screen16x9"/>
  <p:notesSz cx="6858000" cy="9144000"/>
  <p:embeddedFontLst>
    <p:embeddedFont>
      <p:font typeface="Cambria" panose="02040503050406030204" pitchFamily="18" charset="0"/>
      <p:regular r:id="rId28"/>
      <p:bold r:id="rId29"/>
      <p:italic r:id="rId30"/>
      <p:boldItalic r:id="rId31"/>
    </p:embeddedFont>
    <p:embeddedFont>
      <p:font typeface="Cambria Math" panose="02040503050406030204" pitchFamily="18" charset="0"/>
      <p:regular r:id="rId32"/>
    </p:embeddedFont>
    <p:embeddedFont>
      <p:font typeface="Consolas" panose="020B0609020204030204" pitchFamily="49" charset="0"/>
      <p:regular r:id="rId33"/>
      <p:bold r:id="rId34"/>
      <p:italic r:id="rId35"/>
      <p:boldItalic r:id="rId36"/>
    </p:embeddedFont>
    <p:embeddedFont>
      <p:font typeface="Roboto Mono" panose="00000009000000000000" pitchFamily="49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李 尚鹏" initials="李尚" lastIdx="6" clrIdx="0">
    <p:extLst>
      <p:ext uri="{19B8F6BF-5375-455C-9EA6-DF929625EA0E}">
        <p15:presenceInfo xmlns:p15="http://schemas.microsoft.com/office/powerpoint/2012/main" userId="a58ab4c969cbaa6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360" autoAdjust="0"/>
  </p:normalViewPr>
  <p:slideViewPr>
    <p:cSldViewPr snapToGrid="0">
      <p:cViewPr varScale="1">
        <p:scale>
          <a:sx n="142" d="100"/>
          <a:sy n="142" d="100"/>
        </p:scale>
        <p:origin x="71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46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41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andro Soares Indrusiak" userId="4b6e7eae-3d9e-4469-942b-7b636975df11" providerId="ADAL" clId="{1A74EE0D-D411-4AE7-B325-456336358738}"/>
    <pc:docChg chg="modSld">
      <pc:chgData name="Leandro Soares Indrusiak" userId="4b6e7eae-3d9e-4469-942b-7b636975df11" providerId="ADAL" clId="{1A74EE0D-D411-4AE7-B325-456336358738}" dt="2026-10-19T13:01:58.463" v="119" actId="20577"/>
      <pc:docMkLst>
        <pc:docMk/>
      </pc:docMkLst>
      <pc:sldChg chg="addSp modSp mod">
        <pc:chgData name="Leandro Soares Indrusiak" userId="4b6e7eae-3d9e-4469-942b-7b636975df11" providerId="ADAL" clId="{1A74EE0D-D411-4AE7-B325-456336358738}" dt="2026-10-19T13:01:58.463" v="119" actId="20577"/>
        <pc:sldMkLst>
          <pc:docMk/>
          <pc:sldMk cId="1666519497" sldId="1921"/>
        </pc:sldMkLst>
        <pc:spChg chg="mod">
          <ac:chgData name="Leandro Soares Indrusiak" userId="4b6e7eae-3d9e-4469-942b-7b636975df11" providerId="ADAL" clId="{1A74EE0D-D411-4AE7-B325-456336358738}" dt="2026-10-19T13:01:58.463" v="119" actId="20577"/>
          <ac:spMkLst>
            <pc:docMk/>
            <pc:sldMk cId="1666519497" sldId="1921"/>
            <ac:spMk id="2" creationId="{584DE3AA-566A-1FDA-EE8B-63C7574187DB}"/>
          </ac:spMkLst>
        </pc:spChg>
        <pc:picChg chg="add mod">
          <ac:chgData name="Leandro Soares Indrusiak" userId="4b6e7eae-3d9e-4469-942b-7b636975df11" providerId="ADAL" clId="{1A74EE0D-D411-4AE7-B325-456336358738}" dt="2026-10-19T12:58:46.899" v="73" actId="1076"/>
          <ac:picMkLst>
            <pc:docMk/>
            <pc:sldMk cId="1666519497" sldId="1921"/>
            <ac:picMk id="6" creationId="{9BB7D061-4DE7-AB01-FF87-2A3251345C40}"/>
          </ac:picMkLst>
        </pc:picChg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10-26T10:01:33.818" idx="5">
    <p:pos x="10" y="10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10-26T10:42:17.037" idx="6">
    <p:pos x="10" y="10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19T15:51:21.08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0 677 24575,'0'-5'0,"0"0"0,0-1 0,3 1 0,-3 0 0,2-1 0,-2 1 0,0 0 0,0 0 0,0-1 0,0 1 0,0 0 0,0 0 0,0-1 0,0 1 0,0 0 0,0-1 0,0 1 0,0 0 0,0 0 0,0-1 0,0 1 0,-2 0 0,2 0 0,-3-1 0,3 1 0,0 0 0,0-1 0,0 1 0,0 0 0,0 0 0,0-1 0,0 1 0,0 0 0,0 0 0,0-1 0,0 1 0,0 0 0,0-1 0,0 1 0,0 0 0,0 0 0,3-1 0,-3 1 0,2 0 0,-2-1 0,0 1 0,0 0 0,3 0 0,-3-1 0,5-1 0,-5 1 0,3-2 0,-3 3 0,2 0 0,1-3 0,0 2 0,1-1 0,-1 1 0,0 1 0,2 0 0,-5 0 0,5-1 0,-2 1 0,0-3 0,1 3 0,-1-3 0,0 3 0,2-3 0,-2 2 0,2-1 0,-2 1 0,1 1 0,-1 0 0,2-1 0,1 1 0,-1 0 0,-2 0 0,1-1 0,-1 1 0,2 0 0,0 0 0,1-1 0,-1 1 0,0 0 0,0-1 0,3 1 0,0-2 0,0 1 0,2-2 0,-4 3 0,1 0 0,-2-1 0,0 1 0,1 0 0,1-1 0,-1 1 0,2 0 0,-3 0 0,0 2 0,0-2 0,3 2 0,-3-2 0,3 0 0,-1-1 0,-1 1 0,4 0 0,-4-1 0,1 1 0,-1 0 0,-1 0 0,0 2 0,2-2 0,-1 2 0,2 0 0,-3-2 0,2 3 0,2-4 0,-1 3 0,-1-1 0,-2 3 0,1-4 0,-1 5 0,0-3 0,0 3 0,0 0 0,3 0 0,-2 0 0,3-2 0,-3 1 0,4-1 0,2-1 0,-2 2 0,4-2 0,-9 3 0,3 0 0,-3-2 0,0 2 0,1-3 0,1 3 0,-1-2 0,1 1 0,1-1 0,0 2 0,0 0 0,2-2 0,-4 1 0,4-1 0,-2 2 0,0 0 0,2 0 0,-2 0 0,2 0 0,-2 0 0,0 0 0,-3 0 0,3 0 0,-3 0 0,3 0 0,-3 0 0,0 0 0,1 0 0,1 0 0,-1 0 0,1 0 0,-1 0 0,-1 0 0,0 2 0,0-2 0,0 5 0,0-2 0,3 2 0,4 4 0,-3-3 0,3 3 0,-7-4 0,1 0 0,-1 0 0,0 3 0,0-2 0,0 1 0,1-2 0,-1 1 0,0-1 0,0 2 0,0-1 0,0 4 0,1-4 0,-3 1 0,1-2 0,-3 1 0,1-1 0,0 2 0,-1-1 0,1 4 0,0-4 0,-1 1 0,4-2 0,-5 1 0,8 5 0,-4-1 0,5 2 0,-6-5 0,2 5 0,-2-3 0,1 4 0,0-3 0,-1-2 0,2 2 0,1-2 0,-4 0 0,3-1 0,-4-1 0,3 4 0,-1-4 0,0 1 0,-1-2 0,-2 3 0,0-2 0,0 4 0,0-2 0,0 2 0,0 1 0,0-3 0,0 6 0,0-7 0,0 11 0,0-9 0,0 6 0,0-1 0,0-2 0,3 3 0,-3-7 0,5 2 0,-5-5 0,3 3 0,-1-1 0,-1-1 0,1 2 0,0-3 0,-1 0 0,1 0 0,-2 0 0,2 1 0,-1-1 0,1 0 0,1 0 0,-3 0 0,2 1 0,-2-1 0,0 0 0,0 0 0,0 0 0,0 0 0,0 1 0,0 1 0,0-1 0,0 4 0,0-2 0,0 0 0,0 2 0,0-2 0,0 0 0,0 0 0,3-1 0,-3-1 0,5 2 0,-5-6 0,3 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19T15:51:27.34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1003 177 24575,'0'5'0,"0"0"0,-6 7 0,1-5 0,2 5 0,-2-4 0,2-3 0,-2 3 0,2-3 0,1 0 0,2 0 0,-2 1 0,1-1 0,-4 0 0,2 3 0,0-3 0,1 3 0,0-3 0,1 0 0,-1 0 0,2 1 0,-3-1 0,3 0 0,-5 2 0,5-1 0,-3 2 0,3-3 0,0 0 0,0 0 0,-2 1 0,1-1 0,-3 2 0,3-1 0,-4 2 0,5-3 0,-5 2 0,5-1 0,-3 4 0,1-4 0,1 1 0,-1-2 0,0 1 0,-1 1 0,0-1 0,-2 1 0,1 5 0,1-5 0,-2 5 0,2-5 0,-2 1 0,0 0 0,-1 2 0,1-4 0,0 4 0,-1-2 0,4 0 0,-3 2 0,2-2 0,-2 3 0,-1-3 0,1 2 0,0-5 0,2 3 0,-2-3 0,5 0 0,-5 3 0,2-2 0,-2 3 0,-1-3 0,4 2 0,-3-3 0,2 2 0,0-1 0,-2 2 0,2-3 0,-2 0 0,2 0 0,-2 0 0,3 1 0,-4-1 0,1 0 0,0 0 0,-1 0 0,1 1 0,0-1 0,-3 2 0,2-1 0,-1 2 0,2-3 0,-3 2 0,2-1 0,-2 2 0,0 3 0,1-4 0,-2 5 0,4-7 0,-2 3 0,1-3 0,-4 5 0,4-4 0,-2 2 0,3-3 0,0 0 0,-1 0 0,-1 0 0,-1 1 0,-1-1 0,2 0 0,2-2 0,-1 1 0,-1-1 0,-2 2 0,-1 3 0,2-2 0,-2 1 0,2 1 0,-1-2 0,-1 1 0,5-2 0,-5 0 0,1-2 0,1 2 0,1-4 0,1 3 0,1-3 0,0 1 0,-1-2 0,1 0 0,-5 0 0,4 0 0,-4 0 0,5 0 0,-1 0 0,1 0 0,0 0 0,-1-2 0,-1-1 0,-1-3 0,-1 1 0,-1 0 0,5 0 0,-3-1 0,3 1 0,-1 2 0,-1-2 0,1 3 0,-2-4 0,1 1 0,1 0 0,-4 2 0,4-2 0,-4 2 0,4-2 0,-1 0 0,1 2 0,1-2 0,0 4 0,-1-3 0,-1 1 0,1-2 0,-2-1 0,3 1 0,0 0 0,0-1 0,-1 1 0,1 0 0,0 0 0,2-1 0,-2-1 0,2 1 0,0-2 0,-1 3 0,3 0 0,-4-1 0,2 1 0,0 0 0,-1 0 0,1-3 0,0 2 0,1-4 0,-1 2 0,3 0 0,-3 0 0,3 3 0,0-3 0,0 2 0,0-1 0,0 1 0,-2 1 0,1 0 0,-1 0 0,2-3 0,-2 0 0,1 0 0,-1 0 0,2 3 0,0-1 0,0-1 0,-3 1 0,3-2 0,-3 3 0,1 0 0,2-3 0,-5 2 0,4-4 0,-3 5 0,3-5 0,-4 4 0,5-2 0,-3 3 0,1-3 0,1 0 0,-3-3 0,3 3 0,-4-2 0,5 2 0,-2 0 0,2 0 0,-3 3 0,3 0 0,-5-3 0,4 2 0,-1-1 0,0-1 0,1 2 0,-1-4 0,-1-2 0,2 3 0,-4-6 0,4 7 0,-4-2 0,5 1 0,-5-1 0,5 5 0,-3-3 0,1 3 0,1-1 0,-3-1 0,3 1 0,-1-2 0,2 3 0,0-3 0,-3 3 0,3-3 0,-3 3 0,3-1 0,0 1 0,0 0 0,-2-3 0,1 0 0,-1 0 0,2 0 0,0 3 0,0 0 0,0-1 0,0 1 0,0 0 0,0-3 0,0 2 0,0-1 0,0-1 0,0 2 0,2-4 0,1 2 0,0-2 0,2-1 0,-2 3 0,2-2 0,-2 4 0,1-4 0,-1 2 0,2 0 0,-2 0 0,2 3 0,-2-1 0,0 1 0,-1 0 0,0 0 0,-1-1 0,3 1 0,-3 0 0,1 0 0,1-3 0,-3 2 0,5-4 0,-5 7 0,3-2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2481030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Shape 6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Shape 8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hape 17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Shape 17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E89ABF-3EF1-3E41-BA86-851DA49508B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9479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150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+ 2 Images">
  <p:cSld name="Text + 2 Images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9"/>
          <p:cNvSpPr>
            <a:spLocks noGrp="1"/>
          </p:cNvSpPr>
          <p:nvPr>
            <p:ph type="pic" idx="2"/>
          </p:nvPr>
        </p:nvSpPr>
        <p:spPr>
          <a:xfrm>
            <a:off x="4600575" y="1321594"/>
            <a:ext cx="4132200" cy="16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Shape 10"/>
          <p:cNvSpPr>
            <a:spLocks noGrp="1"/>
          </p:cNvSpPr>
          <p:nvPr>
            <p:ph type="pic" idx="3"/>
          </p:nvPr>
        </p:nvSpPr>
        <p:spPr>
          <a:xfrm>
            <a:off x="4600575" y="3161110"/>
            <a:ext cx="4132200" cy="17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body" idx="1"/>
          </p:nvPr>
        </p:nvSpPr>
        <p:spPr>
          <a:xfrm>
            <a:off x="339725" y="1321594"/>
            <a:ext cx="3972000" cy="35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body" idx="4"/>
          </p:nvPr>
        </p:nvSpPr>
        <p:spPr>
          <a:xfrm>
            <a:off x="403225" y="377428"/>
            <a:ext cx="5819700" cy="6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Shape 1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5"/>
          <p:cNvSpPr txBox="1">
            <a:spLocks noGrp="1"/>
          </p:cNvSpPr>
          <p:nvPr>
            <p:ph type="body" idx="1"/>
          </p:nvPr>
        </p:nvSpPr>
        <p:spPr>
          <a:xfrm>
            <a:off x="339725" y="1831181"/>
            <a:ext cx="7526400" cy="30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Shape 1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ll Text">
  <p:cSld name="All Tex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 txBox="1">
            <a:spLocks noGrp="1"/>
          </p:cNvSpPr>
          <p:nvPr>
            <p:ph type="body" idx="1"/>
          </p:nvPr>
        </p:nvSpPr>
        <p:spPr>
          <a:xfrm>
            <a:off x="339725" y="1321594"/>
            <a:ext cx="7559700" cy="35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body" idx="2"/>
          </p:nvPr>
        </p:nvSpPr>
        <p:spPr>
          <a:xfrm>
            <a:off x="403225" y="377428"/>
            <a:ext cx="5819700" cy="6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Shape 2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+ 1 Image">
  <p:cSld name="Text + 1 Imag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 txBox="1">
            <a:spLocks noGrp="1"/>
          </p:cNvSpPr>
          <p:nvPr>
            <p:ph type="body" idx="1"/>
          </p:nvPr>
        </p:nvSpPr>
        <p:spPr>
          <a:xfrm>
            <a:off x="339725" y="1321594"/>
            <a:ext cx="3972000" cy="35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pic" idx="2"/>
          </p:nvPr>
        </p:nvSpPr>
        <p:spPr>
          <a:xfrm>
            <a:off x="4600575" y="1321594"/>
            <a:ext cx="4132200" cy="35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body" idx="3"/>
          </p:nvPr>
        </p:nvSpPr>
        <p:spPr>
          <a:xfrm>
            <a:off x="403225" y="377428"/>
            <a:ext cx="5819700" cy="6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Shape 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ll Image">
  <p:cSld name="All Image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27"/>
          <p:cNvSpPr>
            <a:spLocks noGrp="1"/>
          </p:cNvSpPr>
          <p:nvPr>
            <p:ph type="pic" idx="2"/>
          </p:nvPr>
        </p:nvSpPr>
        <p:spPr>
          <a:xfrm>
            <a:off x="403225" y="1321594"/>
            <a:ext cx="8329500" cy="35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Shape 28"/>
          <p:cNvSpPr txBox="1">
            <a:spLocks noGrp="1"/>
          </p:cNvSpPr>
          <p:nvPr>
            <p:ph type="body" idx="1"/>
          </p:nvPr>
        </p:nvSpPr>
        <p:spPr>
          <a:xfrm>
            <a:off x="403225" y="377428"/>
            <a:ext cx="5819700" cy="6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+ Points">
  <p:cSld name="Text + Point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/>
          <p:nvPr/>
        </p:nvSpPr>
        <p:spPr>
          <a:xfrm>
            <a:off x="4583584" y="1313155"/>
            <a:ext cx="1907700" cy="14307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2419" y="17567"/>
                </a:moveTo>
                <a:cubicBezTo>
                  <a:pt x="125847" y="41002"/>
                  <a:pt x="125847" y="78985"/>
                  <a:pt x="102419" y="102419"/>
                </a:cubicBezTo>
                <a:cubicBezTo>
                  <a:pt x="78985" y="125847"/>
                  <a:pt x="41002" y="125847"/>
                  <a:pt x="17567" y="102419"/>
                </a:cubicBezTo>
                <a:cubicBezTo>
                  <a:pt x="-5860" y="78985"/>
                  <a:pt x="-5860" y="41002"/>
                  <a:pt x="17567" y="17567"/>
                </a:cubicBezTo>
                <a:cubicBezTo>
                  <a:pt x="41002" y="-5860"/>
                  <a:pt x="78985" y="-5860"/>
                  <a:pt x="102419" y="17567"/>
                </a:cubicBezTo>
                <a:close/>
              </a:path>
            </a:pathLst>
          </a:custGeom>
          <a:solidFill>
            <a:srgbClr val="0C0C0C">
              <a:alpha val="80784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Shape 32"/>
          <p:cNvSpPr/>
          <p:nvPr/>
        </p:nvSpPr>
        <p:spPr>
          <a:xfrm>
            <a:off x="5704828" y="2374030"/>
            <a:ext cx="1906500" cy="14307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2419" y="17567"/>
                </a:moveTo>
                <a:cubicBezTo>
                  <a:pt x="125847" y="41002"/>
                  <a:pt x="125847" y="78985"/>
                  <a:pt x="102419" y="102419"/>
                </a:cubicBezTo>
                <a:cubicBezTo>
                  <a:pt x="78985" y="125847"/>
                  <a:pt x="41002" y="125847"/>
                  <a:pt x="17567" y="102419"/>
                </a:cubicBezTo>
                <a:cubicBezTo>
                  <a:pt x="-5860" y="78985"/>
                  <a:pt x="-5860" y="41002"/>
                  <a:pt x="17567" y="17567"/>
                </a:cubicBezTo>
                <a:cubicBezTo>
                  <a:pt x="41002" y="-5860"/>
                  <a:pt x="78985" y="-5860"/>
                  <a:pt x="102419" y="17567"/>
                </a:cubicBezTo>
                <a:close/>
              </a:path>
            </a:pathLst>
          </a:custGeom>
          <a:solidFill>
            <a:srgbClr val="757070">
              <a:alpha val="80784"/>
            </a:srgbClr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Shape 33"/>
          <p:cNvSpPr/>
          <p:nvPr/>
        </p:nvSpPr>
        <p:spPr>
          <a:xfrm>
            <a:off x="6825787" y="3447812"/>
            <a:ext cx="1907700" cy="1430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02419" y="17567"/>
                </a:moveTo>
                <a:cubicBezTo>
                  <a:pt x="125847" y="41002"/>
                  <a:pt x="125847" y="78985"/>
                  <a:pt x="102419" y="102419"/>
                </a:cubicBezTo>
                <a:cubicBezTo>
                  <a:pt x="78985" y="125847"/>
                  <a:pt x="41002" y="125847"/>
                  <a:pt x="17567" y="102419"/>
                </a:cubicBezTo>
                <a:cubicBezTo>
                  <a:pt x="-5860" y="78985"/>
                  <a:pt x="-5860" y="41002"/>
                  <a:pt x="17567" y="17567"/>
                </a:cubicBezTo>
                <a:cubicBezTo>
                  <a:pt x="41002" y="-5860"/>
                  <a:pt x="78985" y="-5860"/>
                  <a:pt x="102419" y="17567"/>
                </a:cubicBezTo>
                <a:close/>
              </a:path>
            </a:pathLst>
          </a:custGeom>
          <a:solidFill>
            <a:srgbClr val="D0CECE">
              <a:alpha val="80784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Shape 34"/>
          <p:cNvSpPr txBox="1">
            <a:spLocks noGrp="1"/>
          </p:cNvSpPr>
          <p:nvPr>
            <p:ph type="body" idx="1"/>
          </p:nvPr>
        </p:nvSpPr>
        <p:spPr>
          <a:xfrm>
            <a:off x="339725" y="1321594"/>
            <a:ext cx="3972000" cy="35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Shape 35"/>
          <p:cNvSpPr txBox="1">
            <a:spLocks noGrp="1"/>
          </p:cNvSpPr>
          <p:nvPr>
            <p:ph type="body" idx="2"/>
          </p:nvPr>
        </p:nvSpPr>
        <p:spPr>
          <a:xfrm>
            <a:off x="403225" y="377428"/>
            <a:ext cx="5819700" cy="6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body" idx="3"/>
          </p:nvPr>
        </p:nvSpPr>
        <p:spPr>
          <a:xfrm>
            <a:off x="4796725" y="1795866"/>
            <a:ext cx="1496100" cy="4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body" idx="4"/>
          </p:nvPr>
        </p:nvSpPr>
        <p:spPr>
          <a:xfrm>
            <a:off x="5910079" y="2880185"/>
            <a:ext cx="1496100" cy="4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5"/>
          </p:nvPr>
        </p:nvSpPr>
        <p:spPr>
          <a:xfrm>
            <a:off x="7031568" y="3975750"/>
            <a:ext cx="1496100" cy="4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>
              <a:spcBef>
                <a:spcPts val="0"/>
              </a:spcBef>
              <a:buNone/>
              <a:def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 1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2">
  <p:cSld name="Blank 2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3">
  <p:cSld name="Blank 3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4">
  <p:cSld name="Blank 4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5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6">
  <p:cSld name="Blank 6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7">
  <p:cSld name="Blank 7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5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8">
  <p:cSld name="Blank 8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9">
  <p:cSld name="Blank 9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>
            <a:endParaRPr/>
          </a:p>
        </p:txBody>
      </p:sp>
      <p:sp>
        <p:nvSpPr>
          <p:cNvPr id="60" name="Shape 6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1" name="Shape 6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/>
            </a:lvl1pPr>
            <a:lvl2pPr lvl="1" rtl="0">
              <a:spcBef>
                <a:spcPts val="0"/>
              </a:spcBef>
              <a:buNone/>
              <a:defRPr/>
            </a:lvl2pPr>
            <a:lvl3pPr lvl="2" rtl="0">
              <a:spcBef>
                <a:spcPts val="0"/>
              </a:spcBef>
              <a:buNone/>
              <a:defRPr/>
            </a:lvl3pPr>
            <a:lvl4pPr lvl="3" rtl="0">
              <a:spcBef>
                <a:spcPts val="0"/>
              </a:spcBef>
              <a:buNone/>
              <a:defRPr/>
            </a:lvl4pPr>
            <a:lvl5pPr lvl="4" rtl="0">
              <a:spcBef>
                <a:spcPts val="0"/>
              </a:spcBef>
              <a:buNone/>
              <a:defRPr/>
            </a:lvl5pPr>
            <a:lvl6pPr lvl="5" rtl="0">
              <a:spcBef>
                <a:spcPts val="0"/>
              </a:spcBef>
              <a:buNone/>
              <a:defRPr/>
            </a:lvl6pPr>
            <a:lvl7pPr lvl="6" rtl="0">
              <a:spcBef>
                <a:spcPts val="0"/>
              </a:spcBef>
              <a:buNone/>
              <a:defRPr/>
            </a:lvl7pPr>
            <a:lvl8pPr lvl="7" rtl="0">
              <a:spcBef>
                <a:spcPts val="0"/>
              </a:spcBef>
              <a:buNone/>
              <a:defRPr/>
            </a:lvl8pPr>
            <a:lvl9pPr lvl="8" rtl="0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411535" y="4799326"/>
            <a:ext cx="366341" cy="230627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504AB9-C8DC-1643-9750-58A77BC25CE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0993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vox basic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72F2E-3F20-0DC0-CFA3-D11D49B01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DD3D74-F972-E096-E828-44B6C11A3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3657D-8E22-4681-BD7E-16E8F6F56673}" type="datetimeFigureOut">
              <a:rPr lang="en-FI" smtClean="0"/>
              <a:t>10/26/2026</a:t>
            </a:fld>
            <a:endParaRPr lang="en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087A18-8950-3A86-D6FB-14BF0F08B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D9F6BC-1B26-1DC3-0C4B-4C12F07C7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D3D6-B89C-4D82-B254-B84B3D342745}" type="slidenum">
              <a:rPr lang="en-FI" smtClean="0"/>
              <a:t>‹#›</a:t>
            </a:fld>
            <a:endParaRPr lang="en-FI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CADAFE8-3608-FDE7-C3ED-12BD6811F72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8650" y="1348740"/>
            <a:ext cx="7886700" cy="3322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800224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hape 6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0" y="0"/>
            <a:ext cx="9144000" cy="48483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Shape 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buNone/>
              <a:defRPr sz="1300">
                <a:solidFill>
                  <a:schemeClr val="tx1"/>
                </a:solidFill>
              </a:defRPr>
            </a:lvl1pPr>
            <a:lvl2pPr lvl="1" algn="r">
              <a:spcBef>
                <a:spcPts val="0"/>
              </a:spcBef>
              <a:buNone/>
              <a:defRPr sz="1300">
                <a:solidFill>
                  <a:schemeClr val="tx1"/>
                </a:solidFill>
              </a:defRPr>
            </a:lvl2pPr>
            <a:lvl3pPr lvl="2" algn="r">
              <a:spcBef>
                <a:spcPts val="0"/>
              </a:spcBef>
              <a:buNone/>
              <a:defRPr sz="1300">
                <a:solidFill>
                  <a:schemeClr val="tx1"/>
                </a:solidFill>
              </a:defRPr>
            </a:lvl3pPr>
            <a:lvl4pPr lvl="3" algn="r">
              <a:spcBef>
                <a:spcPts val="0"/>
              </a:spcBef>
              <a:buNone/>
              <a:defRPr sz="1300">
                <a:solidFill>
                  <a:schemeClr val="tx1"/>
                </a:solidFill>
              </a:defRPr>
            </a:lvl4pPr>
            <a:lvl5pPr lvl="4" algn="r">
              <a:spcBef>
                <a:spcPts val="0"/>
              </a:spcBef>
              <a:buNone/>
              <a:defRPr sz="1300">
                <a:solidFill>
                  <a:schemeClr val="tx1"/>
                </a:solidFill>
              </a:defRPr>
            </a:lvl5pPr>
            <a:lvl6pPr lvl="5" algn="r">
              <a:spcBef>
                <a:spcPts val="0"/>
              </a:spcBef>
              <a:buNone/>
              <a:defRPr sz="1300">
                <a:solidFill>
                  <a:schemeClr val="tx1"/>
                </a:solidFill>
              </a:defRPr>
            </a:lvl6pPr>
            <a:lvl7pPr lvl="6" algn="r">
              <a:spcBef>
                <a:spcPts val="0"/>
              </a:spcBef>
              <a:buNone/>
              <a:defRPr sz="1300">
                <a:solidFill>
                  <a:schemeClr val="tx1"/>
                </a:solidFill>
              </a:defRPr>
            </a:lvl7pPr>
            <a:lvl8pPr lvl="7" algn="r">
              <a:spcBef>
                <a:spcPts val="0"/>
              </a:spcBef>
              <a:buNone/>
              <a:defRPr sz="1300">
                <a:solidFill>
                  <a:schemeClr val="tx1"/>
                </a:solidFill>
              </a:defRPr>
            </a:lvl8pPr>
            <a:lvl9pPr lvl="8" algn="r">
              <a:spcBef>
                <a:spcPts val="0"/>
              </a:spcBef>
              <a:buNone/>
              <a:defRPr sz="1300">
                <a:solidFill>
                  <a:schemeClr val="tx1"/>
                </a:solidFill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5" r:id="rId17"/>
    <p:sldLayoutId id="2147483666" r:id="rId1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dPj4XNby9iuAs-47U9k3xtYy9hJ-ET0T/view" TargetMode="Externa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drive.google.com/file/d/1dPj4XNby9iuAs-47U9k3xtYy9hJ-ET0T/view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nand2tetris.github.io/web-ide/chip/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customXml" Target="../ink/ink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1.png"/><Relationship Id="rId4" Type="http://schemas.openxmlformats.org/officeDocument/2006/relationships/image" Target="../media/image7.png"/><Relationship Id="rId9" Type="http://schemas.openxmlformats.org/officeDocument/2006/relationships/customXml" Target="../ink/ink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 txBox="1"/>
          <p:nvPr/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rgbClr val="666666"/>
                </a:solidFill>
              </a:rPr>
              <a:t>COMP1860: Building Our Digital World Computer Systems &amp; Architecture</a:t>
            </a:r>
            <a:endParaRPr sz="3600">
              <a:solidFill>
                <a:srgbClr val="666666"/>
              </a:solidFill>
            </a:endParaRPr>
          </a:p>
        </p:txBody>
      </p:sp>
      <p:sp>
        <p:nvSpPr>
          <p:cNvPr id="67" name="Shape 67"/>
          <p:cNvSpPr txBox="1"/>
          <p:nvPr/>
        </p:nvSpPr>
        <p:spPr>
          <a:xfrm>
            <a:off x="277450" y="2830875"/>
            <a:ext cx="8520600" cy="11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666666"/>
                </a:solidFill>
              </a:rPr>
              <a:t>S1.W5.L2 Hardware Description Language</a:t>
            </a:r>
            <a:endParaRPr sz="2800">
              <a:solidFill>
                <a:srgbClr val="666666"/>
              </a:solidFill>
            </a:endParaRPr>
          </a:p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666666"/>
                </a:solidFill>
              </a:rPr>
              <a:t>&amp; Computer Aided Design LAB 2</a:t>
            </a:r>
            <a:endParaRPr sz="2800">
              <a:solidFill>
                <a:srgbClr val="666666"/>
              </a:solidFill>
            </a:endParaRPr>
          </a:p>
        </p:txBody>
      </p:sp>
      <p:sp>
        <p:nvSpPr>
          <p:cNvPr id="69" name="Shape 69"/>
          <p:cNvSpPr txBox="1"/>
          <p:nvPr/>
        </p:nvSpPr>
        <p:spPr>
          <a:xfrm>
            <a:off x="7507675" y="4714300"/>
            <a:ext cx="15198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82870-0C4A-010E-A508-17DB005AA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endParaRPr lang="en-US" sz="36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D8038A-4B4E-4FDE-88A3-E894F843A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D3D6-B89C-4D82-B254-B84B3D342745}" type="slidenum">
              <a:rPr lang="en-FI" smtClean="0"/>
              <a:t>2</a:t>
            </a:fld>
            <a:endParaRPr lang="en-FI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20711D-C0C1-1E6C-6C31-D879DEA0EC3A}"/>
              </a:ext>
            </a:extLst>
          </p:cNvPr>
          <p:cNvSpPr txBox="1"/>
          <p:nvPr/>
        </p:nvSpPr>
        <p:spPr>
          <a:xfrm>
            <a:off x="352235" y="276495"/>
            <a:ext cx="37593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Learning Outcomes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697D06-B38C-C793-DF76-81D494BE6D9C}"/>
              </a:ext>
            </a:extLst>
          </p:cNvPr>
          <p:cNvSpPr txBox="1"/>
          <p:nvPr/>
        </p:nvSpPr>
        <p:spPr>
          <a:xfrm>
            <a:off x="476545" y="1266605"/>
            <a:ext cx="8460940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Analyse</a:t>
            </a:r>
            <a:r>
              <a:rPr lang="en-US" sz="2000" dirty="0"/>
              <a:t> and design a combinational logic circuit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Utilize a hardware simulator to design, test, and analyze the behavior of a digital circuit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Implement and debug combinational logic circuits using HDL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172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2FD2E-7CB8-D672-DB56-86199687F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4C0CC6-8565-8369-306D-D722B5931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D3D6-B89C-4D82-B254-B84B3D342745}" type="slidenum">
              <a:rPr lang="en-FI" smtClean="0"/>
              <a:t>3</a:t>
            </a:fld>
            <a:endParaRPr lang="en-FI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38000C-B6BB-B788-95CD-1F6EEAA225AC}"/>
              </a:ext>
            </a:extLst>
          </p:cNvPr>
          <p:cNvSpPr txBox="1"/>
          <p:nvPr/>
        </p:nvSpPr>
        <p:spPr>
          <a:xfrm>
            <a:off x="251520" y="469075"/>
            <a:ext cx="18020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Text Book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9D275F-02DB-D409-4754-D54FCC1E8396}"/>
              </a:ext>
            </a:extLst>
          </p:cNvPr>
          <p:cNvSpPr txBox="1"/>
          <p:nvPr/>
        </p:nvSpPr>
        <p:spPr>
          <a:xfrm>
            <a:off x="386534" y="1348740"/>
            <a:ext cx="6525725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indent="0">
              <a:lnSpc>
                <a:spcPct val="100000"/>
              </a:lnSpc>
              <a:spcBef>
                <a:spcPts val="600"/>
              </a:spcBef>
              <a:buSzPct val="100000"/>
              <a:buNone/>
            </a:pPr>
            <a:r>
              <a:rPr lang="en-US" sz="2000"/>
              <a:t>Nand2Tetris HDL Guide / Documentation:</a:t>
            </a:r>
          </a:p>
          <a:p>
            <a:pPr marL="0" lvl="1" indent="0">
              <a:lnSpc>
                <a:spcPct val="100000"/>
              </a:lnSpc>
              <a:spcBef>
                <a:spcPts val="600"/>
              </a:spcBef>
              <a:buSzPct val="100000"/>
              <a:buNone/>
            </a:pPr>
            <a:r>
              <a:rPr lang="en-US" sz="2000" i="1">
                <a:hlinkClick r:id="rId2"/>
              </a:rPr>
              <a:t>The Elements of Computing Systems</a:t>
            </a:r>
            <a:r>
              <a:rPr lang="en-US" sz="2000">
                <a:hlinkClick r:id="rId2"/>
              </a:rPr>
              <a:t> / Appendix 2: HDL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010950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>
            <a:spLocks noGrp="1"/>
          </p:cNvSpPr>
          <p:nvPr>
            <p:ph type="body" idx="2"/>
          </p:nvPr>
        </p:nvSpPr>
        <p:spPr>
          <a:xfrm>
            <a:off x="403225" y="377428"/>
            <a:ext cx="5819700" cy="62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Hardware Description Language	</a:t>
            </a:r>
            <a:endParaRPr/>
          </a:p>
        </p:txBody>
      </p:sp>
      <p:sp>
        <p:nvSpPr>
          <p:cNvPr id="93" name="Shape 93"/>
          <p:cNvSpPr txBox="1"/>
          <p:nvPr/>
        </p:nvSpPr>
        <p:spPr>
          <a:xfrm>
            <a:off x="5348975" y="1143750"/>
            <a:ext cx="3424500" cy="33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/**</a:t>
            </a:r>
            <a:endParaRPr sz="12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 * </a:t>
            </a:r>
            <a:r>
              <a:rPr lang="en-GB" sz="1200" err="1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Xor</a:t>
            </a:r>
            <a:r>
              <a:rPr lang="en-GB" sz="12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 gate.</a:t>
            </a:r>
            <a:endParaRPr sz="12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 */</a:t>
            </a:r>
            <a:endParaRPr sz="12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CHIP </a:t>
            </a:r>
            <a:r>
              <a:rPr lang="en-GB" sz="1200" err="1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Xor</a:t>
            </a:r>
            <a:r>
              <a:rPr lang="en-GB" sz="12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12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    IN a, b;</a:t>
            </a:r>
            <a:endParaRPr sz="12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    OUT out;</a:t>
            </a:r>
            <a:endParaRPr sz="12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    PARTS:</a:t>
            </a:r>
            <a:endParaRPr sz="12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    And (a=a, b=b, out=x);</a:t>
            </a:r>
            <a:endParaRPr sz="12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    Or (a=a, b=b, out=y);</a:t>
            </a:r>
            <a:endParaRPr sz="12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    Not (in=x, out=</a:t>
            </a:r>
            <a:r>
              <a:rPr lang="en-GB" sz="1200" err="1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notx</a:t>
            </a:r>
            <a:r>
              <a:rPr lang="en-GB" sz="12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12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    And (a=y, b=</a:t>
            </a:r>
            <a:r>
              <a:rPr lang="en-GB" sz="1200" err="1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notx</a:t>
            </a:r>
            <a:r>
              <a:rPr lang="en-GB" sz="12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, out=out);</a:t>
            </a:r>
            <a:endParaRPr sz="12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2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pSp>
        <p:nvGrpSpPr>
          <p:cNvPr id="94" name="Shape 94"/>
          <p:cNvGrpSpPr/>
          <p:nvPr/>
        </p:nvGrpSpPr>
        <p:grpSpPr>
          <a:xfrm>
            <a:off x="5508104" y="2321778"/>
            <a:ext cx="2849275" cy="390300"/>
            <a:chOff x="5753050" y="2314925"/>
            <a:chExt cx="2849275" cy="390300"/>
          </a:xfrm>
        </p:grpSpPr>
        <p:sp>
          <p:nvSpPr>
            <p:cNvPr id="95" name="Shape 95"/>
            <p:cNvSpPr/>
            <p:nvPr/>
          </p:nvSpPr>
          <p:spPr>
            <a:xfrm>
              <a:off x="5753050" y="2314925"/>
              <a:ext cx="1260300" cy="390300"/>
            </a:xfrm>
            <a:prstGeom prst="rect">
              <a:avLst/>
            </a:prstGeom>
            <a:noFill/>
            <a:ln w="9525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Shape 96"/>
            <p:cNvSpPr txBox="1"/>
            <p:nvPr/>
          </p:nvSpPr>
          <p:spPr>
            <a:xfrm>
              <a:off x="7054325" y="2314925"/>
              <a:ext cx="1548000" cy="39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Header</a:t>
              </a:r>
              <a:endParaRPr/>
            </a:p>
          </p:txBody>
        </p:sp>
      </p:grpSp>
      <p:grpSp>
        <p:nvGrpSpPr>
          <p:cNvPr id="97" name="Shape 97"/>
          <p:cNvGrpSpPr/>
          <p:nvPr/>
        </p:nvGrpSpPr>
        <p:grpSpPr>
          <a:xfrm>
            <a:off x="5580112" y="3038189"/>
            <a:ext cx="3302100" cy="767100"/>
            <a:chOff x="5814700" y="3034050"/>
            <a:chExt cx="3302100" cy="767100"/>
          </a:xfrm>
        </p:grpSpPr>
        <p:sp>
          <p:nvSpPr>
            <p:cNvPr id="98" name="Shape 98"/>
            <p:cNvSpPr/>
            <p:nvPr/>
          </p:nvSpPr>
          <p:spPr>
            <a:xfrm>
              <a:off x="5814700" y="3034050"/>
              <a:ext cx="2657400" cy="767100"/>
            </a:xfrm>
            <a:prstGeom prst="rect">
              <a:avLst/>
            </a:prstGeom>
            <a:noFill/>
            <a:ln w="9525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Shape 99"/>
            <p:cNvSpPr txBox="1"/>
            <p:nvPr/>
          </p:nvSpPr>
          <p:spPr>
            <a:xfrm>
              <a:off x="8472100" y="3198425"/>
              <a:ext cx="644700" cy="32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Parts</a:t>
              </a:r>
              <a:endParaRPr/>
            </a:p>
          </p:txBody>
        </p:sp>
      </p:grpSp>
      <p:sp>
        <p:nvSpPr>
          <p:cNvPr id="100" name="Shape 10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189DFD-34D0-AB52-6AEC-53AB512C32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04" y="1491410"/>
            <a:ext cx="3493700" cy="19172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C9F6F61-6254-8C53-1BFA-AD358ED57C1B}"/>
              </a:ext>
            </a:extLst>
          </p:cNvPr>
          <p:cNvSpPr txBox="1"/>
          <p:nvPr/>
        </p:nvSpPr>
        <p:spPr>
          <a:xfrm>
            <a:off x="4162758" y="4105293"/>
            <a:ext cx="4572000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indent="0">
              <a:lnSpc>
                <a:spcPct val="100000"/>
              </a:lnSpc>
              <a:spcBef>
                <a:spcPts val="600"/>
              </a:spcBef>
              <a:buSzPct val="100000"/>
              <a:buNone/>
            </a:pPr>
            <a:r>
              <a:rPr lang="en-US" sz="1600"/>
              <a:t>Nand2Tetris HDL Guide / Documentation:</a:t>
            </a:r>
          </a:p>
          <a:p>
            <a:pPr marL="0" lvl="1" indent="0">
              <a:lnSpc>
                <a:spcPct val="100000"/>
              </a:lnSpc>
              <a:spcBef>
                <a:spcPts val="600"/>
              </a:spcBef>
              <a:buSzPct val="100000"/>
              <a:buNone/>
            </a:pPr>
            <a:r>
              <a:rPr lang="en-US" sz="1400" i="1">
                <a:hlinkClick r:id="rId4"/>
              </a:rPr>
              <a:t>The Elements of Computing Systems</a:t>
            </a:r>
            <a:r>
              <a:rPr lang="en-US" sz="1400">
                <a:hlinkClick r:id="rId4"/>
              </a:rPr>
              <a:t> / Appendix 2: HDL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180"/>
          <p:cNvSpPr txBox="1">
            <a:spLocks noGrp="1"/>
          </p:cNvSpPr>
          <p:nvPr>
            <p:ph type="body" idx="2"/>
          </p:nvPr>
        </p:nvSpPr>
        <p:spPr>
          <a:xfrm>
            <a:off x="403225" y="377428"/>
            <a:ext cx="5819700" cy="62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Introduced the Hardware Simulator</a:t>
            </a:r>
            <a:endParaRPr/>
          </a:p>
        </p:txBody>
      </p:sp>
      <p:sp>
        <p:nvSpPr>
          <p:cNvPr id="181" name="Shape 181"/>
          <p:cNvSpPr txBox="1"/>
          <p:nvPr/>
        </p:nvSpPr>
        <p:spPr>
          <a:xfrm>
            <a:off x="417775" y="1095825"/>
            <a:ext cx="3424500" cy="38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7500" algn="l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Simulate HDL chips</a:t>
            </a:r>
            <a:endParaRPr/>
          </a:p>
          <a:p>
            <a:pPr marL="457200" marR="0" lvl="0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Automated test scripts</a:t>
            </a:r>
            <a:endParaRPr/>
          </a:p>
          <a:p>
            <a:pPr marL="0" marR="0" lvl="0" indent="0" algn="l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marR="0" lvl="0" indent="0" algn="l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Shape 18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</a:t>
            </a:fld>
            <a:endParaRPr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15B5C83-FC00-0669-8481-376C48ADD0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394" y="1221600"/>
            <a:ext cx="5553390" cy="309820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1D08592-E1B3-351B-616B-5441E8F0C7A8}"/>
              </a:ext>
            </a:extLst>
          </p:cNvPr>
          <p:cNvSpPr txBox="1"/>
          <p:nvPr/>
        </p:nvSpPr>
        <p:spPr>
          <a:xfrm>
            <a:off x="717394" y="4458295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u="sng" kern="100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4"/>
              </a:rPr>
              <a:t>https://nand2tetris.github.io/web-ide/chip/</a:t>
            </a:r>
            <a:r>
              <a:rPr lang="en-GB" sz="14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46CDC-9C07-2465-3E56-369139B51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2B36577-2A8C-019C-55C5-9ADB86613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D3D6-B89C-4D82-B254-B84B3D342745}" type="slidenum">
              <a:rPr lang="en-FI" smtClean="0"/>
              <a:t>6</a:t>
            </a:fld>
            <a:endParaRPr lang="en-F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05847E-5E84-1F4A-8BDD-CDCB0F6B9BA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425450" lvl="0" indent="-285750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•"/>
            </a:pPr>
            <a:r>
              <a:rPr lang="en-US"/>
              <a:t>Look at Solution for final problem from lab 1.5.1</a:t>
            </a:r>
          </a:p>
          <a:p>
            <a:pPr marL="425450" lvl="0" indent="-285750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•"/>
            </a:pPr>
            <a:r>
              <a:rPr lang="en-US"/>
              <a:t>Learn how to implement buses in HDL</a:t>
            </a:r>
          </a:p>
          <a:p>
            <a:pPr marL="425450" lvl="0" indent="-285750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•"/>
            </a:pPr>
            <a:r>
              <a:rPr lang="en-US"/>
              <a:t>Build some more of the chips for our Hack computer</a:t>
            </a:r>
          </a:p>
          <a:p>
            <a:pPr marL="425450" lvl="0" indent="-285750" rtl="0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•"/>
            </a:pPr>
            <a:r>
              <a:rPr lang="en-GB"/>
              <a:t>Opportunity to start work on Activity sheet 1.6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C4EDA5-FADC-2A2D-4F1E-95E36AEB4EA0}"/>
              </a:ext>
            </a:extLst>
          </p:cNvPr>
          <p:cNvSpPr txBox="1"/>
          <p:nvPr/>
        </p:nvSpPr>
        <p:spPr>
          <a:xfrm>
            <a:off x="386535" y="591530"/>
            <a:ext cx="12538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485558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9D761CE-FFCF-F471-5309-FAE94AA185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80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</a:t>
            </a:r>
            <a:r>
              <a:rPr lang="en-GB" sz="180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wo binary numbers, a and b, each of two digits, are represented as a</a:t>
            </a:r>
            <a:r>
              <a:rPr lang="en-GB" sz="1800" baseline="-2500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1</a:t>
            </a:r>
            <a:r>
              <a:rPr lang="en-GB" sz="180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</a:t>
            </a:r>
            <a:r>
              <a:rPr lang="en-GB" sz="180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­</a:t>
            </a:r>
            <a:r>
              <a:rPr lang="en-GB" sz="1800" baseline="-2500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0 </a:t>
            </a:r>
            <a:r>
              <a:rPr lang="en-GB" sz="180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and b</a:t>
            </a:r>
            <a:r>
              <a:rPr lang="en-GB" sz="1800" baseline="-2500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1</a:t>
            </a:r>
            <a:r>
              <a:rPr lang="en-GB" sz="180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b</a:t>
            </a:r>
            <a:r>
              <a:rPr lang="en-GB" sz="1800" baseline="-2500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0 </a:t>
            </a:r>
            <a:r>
              <a:rPr lang="en-GB" sz="180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where a</a:t>
            </a:r>
            <a:r>
              <a:rPr lang="en-GB" sz="1800" baseline="-2500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1</a:t>
            </a:r>
            <a:r>
              <a:rPr lang="en-GB" sz="180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a</a:t>
            </a:r>
            <a:r>
              <a:rPr lang="en-GB" sz="1800" baseline="-2500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0</a:t>
            </a:r>
            <a:r>
              <a:rPr lang="en-GB" sz="180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and b</a:t>
            </a:r>
            <a:r>
              <a:rPr lang="en-GB" sz="1800" baseline="-2500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1</a:t>
            </a:r>
            <a:r>
              <a:rPr lang="en-GB" sz="180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b</a:t>
            </a:r>
            <a:r>
              <a:rPr lang="en-GB" sz="1800" baseline="-2500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0</a:t>
            </a:r>
            <a:r>
              <a:rPr lang="en-GB" sz="180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are Boolean variables which form the digits of the binary numbers.</a:t>
            </a:r>
          </a:p>
          <a:p>
            <a:r>
              <a:rPr lang="en-GB" sz="1800">
                <a:effectLst/>
                <a:latin typeface="Cambria"/>
                <a:ea typeface="MS Mincho"/>
                <a:cs typeface="Times New Roman"/>
              </a:rPr>
              <a:t>Devise a combinatorial logic circuit, or circuits to provide outputs of X,Y, Z such that X=1 when a&gt;b, Y=1 when </a:t>
            </a:r>
            <a:r>
              <a:rPr lang="en-GB" sz="1800">
                <a:latin typeface="Cambria"/>
                <a:ea typeface="MS Mincho"/>
                <a:cs typeface="Times New Roman"/>
              </a:rPr>
              <a:t>a&lt;b</a:t>
            </a:r>
            <a:r>
              <a:rPr lang="en-GB" sz="1800">
                <a:effectLst/>
                <a:latin typeface="Cambria"/>
                <a:ea typeface="MS Mincho"/>
                <a:cs typeface="Times New Roman"/>
              </a:rPr>
              <a:t> and Z=1 when </a:t>
            </a:r>
            <a:r>
              <a:rPr lang="en-GB" sz="1800">
                <a:latin typeface="Cambria"/>
                <a:ea typeface="MS Mincho"/>
                <a:cs typeface="Times New Roman"/>
              </a:rPr>
              <a:t>a=b</a:t>
            </a:r>
            <a:r>
              <a:rPr lang="en-GB" sz="1800">
                <a:effectLst/>
                <a:latin typeface="Cambria"/>
                <a:ea typeface="MS Mincho"/>
                <a:cs typeface="Times New Roman"/>
              </a:rPr>
              <a:t>.</a:t>
            </a:r>
          </a:p>
          <a:p>
            <a:endParaRPr lang="en-GB" sz="180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r>
              <a:rPr lang="en-GB" sz="180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Implement the circuits in HDL. Create an appropriate test script and compare file to test your solution.</a:t>
            </a:r>
          </a:p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8AC7B3-C3AF-5236-1D23-4097D4F806E9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/>
              <a:t>From last time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8615C4-06E3-C51B-DBC8-28452311102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5810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oogle Shape;290;p35">
            <a:extLst>
              <a:ext uri="{FF2B5EF4-FFF2-40B4-BE49-F238E27FC236}">
                <a16:creationId xmlns:a16="http://schemas.microsoft.com/office/drawing/2014/main" id="{5F2AAC0A-C37D-021C-499B-4956650F9F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63500037"/>
              </p:ext>
            </p:extLst>
          </p:nvPr>
        </p:nvGraphicFramePr>
        <p:xfrm>
          <a:off x="2996825" y="591530"/>
          <a:ext cx="3642954" cy="23772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071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71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71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71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71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71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a1a0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00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01</a:t>
                      </a:r>
                      <a:endParaRPr/>
                    </a:p>
                  </a:txBody>
                  <a:tcPr marL="91425" marR="91425" marT="91425" marB="91425"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11</a:t>
                      </a:r>
                      <a:endParaRPr/>
                    </a:p>
                  </a:txBody>
                  <a:tcPr marL="91425" marR="91425" marT="91425" marB="91425"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10</a:t>
                      </a:r>
                      <a:endParaRPr/>
                    </a:p>
                  </a:txBody>
                  <a:tcPr marL="91425" marR="91425" marT="91425" marB="91425"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 rowSpan="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b1b0</a:t>
                      </a:r>
                      <a:endParaRPr/>
                    </a:p>
                  </a:txBody>
                  <a:tcPr marL="91425" marR="91425" marT="91425" marB="91425" anchor="ctr"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00</a:t>
                      </a:r>
                      <a:endParaRPr/>
                    </a:p>
                  </a:txBody>
                  <a:tcPr marL="91425" marR="91425" marT="91425" marB="91425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01</a:t>
                      </a:r>
                      <a:endParaRPr/>
                    </a:p>
                  </a:txBody>
                  <a:tcPr marL="91425" marR="91425" marT="91425" marB="91425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11</a:t>
                      </a:r>
                      <a:endParaRPr/>
                    </a:p>
                  </a:txBody>
                  <a:tcPr marL="91425" marR="91425" marT="91425" marB="91425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10</a:t>
                      </a:r>
                      <a:endParaRPr/>
                    </a:p>
                  </a:txBody>
                  <a:tcPr marL="91425" marR="91425" marT="91425" marB="91425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D7B219-94BE-4A6A-78D6-CAB36296032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8</a:t>
            </a:fld>
            <a:endParaRPr lang="en-GB"/>
          </a:p>
        </p:txBody>
      </p:sp>
      <p:graphicFrame>
        <p:nvGraphicFramePr>
          <p:cNvPr id="5" name="Shape 121">
            <a:extLst>
              <a:ext uri="{FF2B5EF4-FFF2-40B4-BE49-F238E27FC236}">
                <a16:creationId xmlns:a16="http://schemas.microsoft.com/office/drawing/2014/main" id="{AA4EE77E-D613-6F11-20FF-0DBE89BA64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18161844"/>
              </p:ext>
            </p:extLst>
          </p:nvPr>
        </p:nvGraphicFramePr>
        <p:xfrm>
          <a:off x="296526" y="96475"/>
          <a:ext cx="2070229" cy="50470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95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9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9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3777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/>
                        <a:t>a1a0</a:t>
                      </a:r>
                      <a:endParaRPr sz="1200" b="1"/>
                    </a:p>
                  </a:txBody>
                  <a:tcPr marL="0" marR="0" marT="0" marB="0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/>
                        <a:t>b1b0</a:t>
                      </a:r>
                      <a:endParaRPr sz="1200" b="1"/>
                    </a:p>
                  </a:txBody>
                  <a:tcPr marL="0" marR="0" marT="0" marB="0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/>
                        <a:t>x</a:t>
                      </a:r>
                      <a:endParaRPr sz="1200" b="1"/>
                    </a:p>
                  </a:txBody>
                  <a:tcPr marL="0" marR="0" marT="0" marB="0">
                    <a:lnL w="190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078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00</a:t>
                      </a:r>
                      <a:endParaRPr sz="1200"/>
                    </a:p>
                  </a:txBody>
                  <a:tcPr marL="0" marR="0" marT="0" marB="0"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00</a:t>
                      </a:r>
                      <a:endParaRPr sz="1200"/>
                    </a:p>
                  </a:txBody>
                  <a:tcPr marL="0" marR="0" marT="0" marB="0"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0</a:t>
                      </a:r>
                      <a:endParaRPr sz="1200"/>
                    </a:p>
                  </a:txBody>
                  <a:tcPr marL="0" marR="0" marT="0" marB="0">
                    <a:lnT w="190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078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00</a:t>
                      </a:r>
                      <a:endParaRPr sz="1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01</a:t>
                      </a:r>
                      <a:endParaRPr sz="1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0</a:t>
                      </a:r>
                      <a:endParaRPr sz="12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078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00</a:t>
                      </a:r>
                      <a:endParaRPr sz="1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10</a:t>
                      </a:r>
                      <a:endParaRPr sz="1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0</a:t>
                      </a:r>
                      <a:endParaRPr sz="12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078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00</a:t>
                      </a:r>
                      <a:endParaRPr sz="1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11</a:t>
                      </a:r>
                      <a:endParaRPr sz="1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0</a:t>
                      </a:r>
                      <a:endParaRPr sz="12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078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01</a:t>
                      </a:r>
                      <a:endParaRPr sz="1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00</a:t>
                      </a:r>
                      <a:endParaRPr sz="1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1</a:t>
                      </a:r>
                      <a:endParaRPr sz="12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078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01</a:t>
                      </a:r>
                      <a:endParaRPr sz="1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01</a:t>
                      </a:r>
                      <a:endParaRPr sz="1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0</a:t>
                      </a:r>
                      <a:endParaRPr sz="12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7078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01</a:t>
                      </a:r>
                      <a:endParaRPr sz="1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10</a:t>
                      </a:r>
                      <a:endParaRPr sz="1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0</a:t>
                      </a:r>
                      <a:endParaRPr sz="12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7078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01</a:t>
                      </a:r>
                      <a:endParaRPr sz="1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11</a:t>
                      </a:r>
                      <a:endParaRPr sz="1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0</a:t>
                      </a:r>
                      <a:endParaRPr sz="12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7078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10</a:t>
                      </a:r>
                      <a:endParaRPr sz="1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00</a:t>
                      </a:r>
                      <a:endParaRPr sz="1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1</a:t>
                      </a:r>
                      <a:endParaRPr sz="12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964039724"/>
                  </a:ext>
                </a:extLst>
              </a:tr>
              <a:tr h="297078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10</a:t>
                      </a:r>
                      <a:endParaRPr sz="1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01</a:t>
                      </a:r>
                      <a:endParaRPr sz="1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1</a:t>
                      </a:r>
                      <a:endParaRPr sz="12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205415512"/>
                  </a:ext>
                </a:extLst>
              </a:tr>
              <a:tr h="297078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10</a:t>
                      </a:r>
                      <a:endParaRPr sz="1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10</a:t>
                      </a:r>
                      <a:endParaRPr sz="1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0</a:t>
                      </a:r>
                      <a:endParaRPr sz="12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207095528"/>
                  </a:ext>
                </a:extLst>
              </a:tr>
              <a:tr h="297078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10</a:t>
                      </a:r>
                      <a:endParaRPr sz="1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11</a:t>
                      </a:r>
                      <a:endParaRPr sz="1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0</a:t>
                      </a:r>
                      <a:endParaRPr sz="12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820415955"/>
                  </a:ext>
                </a:extLst>
              </a:tr>
              <a:tr h="297078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11</a:t>
                      </a:r>
                      <a:endParaRPr sz="1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00</a:t>
                      </a:r>
                      <a:endParaRPr sz="1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1</a:t>
                      </a:r>
                      <a:endParaRPr sz="12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58854727"/>
                  </a:ext>
                </a:extLst>
              </a:tr>
              <a:tr h="297078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11</a:t>
                      </a:r>
                      <a:endParaRPr sz="1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01</a:t>
                      </a:r>
                      <a:endParaRPr sz="1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1</a:t>
                      </a:r>
                      <a:endParaRPr sz="12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70802817"/>
                  </a:ext>
                </a:extLst>
              </a:tr>
              <a:tr h="297078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11</a:t>
                      </a:r>
                      <a:endParaRPr sz="1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10</a:t>
                      </a:r>
                      <a:endParaRPr sz="1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1</a:t>
                      </a:r>
                      <a:endParaRPr sz="12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914511660"/>
                  </a:ext>
                </a:extLst>
              </a:tr>
              <a:tr h="297078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11</a:t>
                      </a:r>
                      <a:endParaRPr sz="1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11</a:t>
                      </a:r>
                      <a:endParaRPr sz="120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0</a:t>
                      </a:r>
                      <a:endParaRPr sz="12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42040498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958CE39-55A6-302A-20E2-16C8AA81359A}"/>
                  </a:ext>
                </a:extLst>
              </p:cNvPr>
              <p:cNvSpPr txBox="1"/>
              <p:nvPr/>
            </p:nvSpPr>
            <p:spPr>
              <a:xfrm>
                <a:off x="2569116" y="3203969"/>
                <a:ext cx="148548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GB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GB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⋀¬</m:t>
                      </m:r>
                      <m:r>
                        <a:rPr lang="en-GB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GB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8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958CE39-55A6-302A-20E2-16C8AA813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9116" y="3203969"/>
                <a:ext cx="1485488" cy="276999"/>
              </a:xfrm>
              <a:prstGeom prst="rect">
                <a:avLst/>
              </a:prstGeom>
              <a:blipFill>
                <a:blip r:embed="rId2"/>
                <a:stretch>
                  <a:fillRect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DA19C1C-AD51-C611-2FD7-A7C4552A46BA}"/>
                  </a:ext>
                </a:extLst>
              </p:cNvPr>
              <p:cNvSpPr txBox="1"/>
              <p:nvPr/>
            </p:nvSpPr>
            <p:spPr>
              <a:xfrm>
                <a:off x="4105953" y="3197796"/>
                <a:ext cx="148548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GB" sz="18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GB" sz="18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⋀¬</m:t>
                      </m:r>
                      <m:r>
                        <a:rPr lang="en-GB" sz="18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GB" sz="18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GB" sz="18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⋀¬</m:t>
                      </m:r>
                      <m:r>
                        <a:rPr lang="en-GB" sz="18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GB" sz="18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80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DA19C1C-AD51-C611-2FD7-A7C4552A46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5953" y="3197796"/>
                <a:ext cx="1485488" cy="276999"/>
              </a:xfrm>
              <a:prstGeom prst="rect">
                <a:avLst/>
              </a:prstGeom>
              <a:blipFill>
                <a:blip r:embed="rId3"/>
                <a:stretch>
                  <a:fillRect l="-4938" r="-4938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AD68D6B-7CE2-0704-FBE0-6FE4B1094E94}"/>
                  </a:ext>
                </a:extLst>
              </p:cNvPr>
              <p:cNvSpPr txBox="1"/>
              <p:nvPr/>
            </p:nvSpPr>
            <p:spPr>
              <a:xfrm>
                <a:off x="5970733" y="3191437"/>
                <a:ext cx="148548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¬</m:t>
                      </m:r>
                      <m:r>
                        <a:rPr lang="en-GB" sz="18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GB" sz="18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GB" sz="18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⋀</m:t>
                      </m:r>
                      <m:r>
                        <a:rPr lang="en-GB" sz="18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GB" sz="18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GB" sz="18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⋀</m:t>
                      </m:r>
                      <m:r>
                        <a:rPr lang="en-GB" sz="18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GB" sz="18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80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AD68D6B-7CE2-0704-FBE0-6FE4B1094E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0733" y="3191437"/>
                <a:ext cx="1485488" cy="276999"/>
              </a:xfrm>
              <a:prstGeom prst="rect">
                <a:avLst/>
              </a:prstGeom>
              <a:blipFill>
                <a:blip r:embed="rId4"/>
                <a:stretch>
                  <a:fillRect r="-820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0136D69-B983-6B3F-F3E3-A8811B3E51CF}"/>
                  </a:ext>
                </a:extLst>
              </p:cNvPr>
              <p:cNvSpPr txBox="1"/>
              <p:nvPr/>
            </p:nvSpPr>
            <p:spPr>
              <a:xfrm>
                <a:off x="3749128" y="3202336"/>
                <a:ext cx="39696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⋁</m:t>
                      </m:r>
                    </m:oMath>
                  </m:oMathPara>
                </a14:m>
                <a:endParaRPr lang="en-US" sz="180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0136D69-B983-6B3F-F3E3-A8811B3E51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9128" y="3202336"/>
                <a:ext cx="396967" cy="276999"/>
              </a:xfrm>
              <a:prstGeom prst="rect">
                <a:avLst/>
              </a:prstGeom>
              <a:blipFill>
                <a:blip r:embed="rId5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4403ED6-CE86-4E47-2983-1B0192162D31}"/>
                  </a:ext>
                </a:extLst>
              </p:cNvPr>
              <p:cNvSpPr txBox="1"/>
              <p:nvPr/>
            </p:nvSpPr>
            <p:spPr>
              <a:xfrm>
                <a:off x="5679773" y="3193859"/>
                <a:ext cx="259375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⋁</m:t>
                      </m:r>
                    </m:oMath>
                  </m:oMathPara>
                </a14:m>
                <a:endParaRPr lang="en-US" sz="180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4403ED6-CE86-4E47-2983-1B0192162D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9773" y="3193859"/>
                <a:ext cx="259375" cy="276999"/>
              </a:xfrm>
              <a:prstGeom prst="rect">
                <a:avLst/>
              </a:prstGeom>
              <a:blipFill>
                <a:blip r:embed="rId6"/>
                <a:stretch>
                  <a:fillRect l="-14286" r="-16667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AA973EE8-3614-682A-9DA3-74D7608481E8}"/>
                  </a:ext>
                </a:extLst>
              </p14:cNvPr>
              <p14:cNvContentPartPr/>
              <p14:nvPr/>
            </p14:nvContentPartPr>
            <p14:xfrm>
              <a:off x="5537293" y="2646250"/>
              <a:ext cx="351360" cy="2696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AA973EE8-3614-682A-9DA3-74D7608481E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528293" y="2637250"/>
                <a:ext cx="369000" cy="28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1536332-6C17-E43D-2D5E-0BD44DEF592C}"/>
                  </a:ext>
                </a:extLst>
              </p14:cNvPr>
              <p14:cNvContentPartPr/>
              <p14:nvPr/>
            </p14:nvContentPartPr>
            <p14:xfrm>
              <a:off x="5609293" y="1388050"/>
              <a:ext cx="361440" cy="3549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1536332-6C17-E43D-2D5E-0BD44DEF592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600293" y="1379050"/>
                <a:ext cx="379080" cy="372600"/>
              </a:xfrm>
              <a:prstGeom prst="rect">
                <a:avLst/>
              </a:prstGeom>
            </p:spPr>
          </p:pic>
        </mc:Fallback>
      </mc:AlternateContent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5530F700-DD90-45B9-A99F-6CE1A5030620}"/>
              </a:ext>
            </a:extLst>
          </p:cNvPr>
          <p:cNvSpPr/>
          <p:nvPr/>
        </p:nvSpPr>
        <p:spPr>
          <a:xfrm>
            <a:off x="5543280" y="1463400"/>
            <a:ext cx="914400" cy="731520"/>
          </a:xfrm>
          <a:prstGeom prst="rect">
            <a:avLst/>
          </a:prstGeom>
          <a:solidFill>
            <a:srgbClr val="E71224">
              <a:alpha val="5000"/>
            </a:srgbClr>
          </a:solidFill>
          <a:ln w="18000">
            <a:solidFill>
              <a:srgbClr val="E712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endParaRPr lang="en-US">
              <a:solidFill>
                <a:srgbClr val="E71224"/>
              </a:solidFill>
            </a:endParaRPr>
          </a:p>
        </p:txBody>
      </p:sp>
      <p:sp>
        <p:nvSpPr>
          <p:cNvPr id="11" name="Ovale 10">
            <a:extLst>
              <a:ext uri="{FF2B5EF4-FFF2-40B4-BE49-F238E27FC236}">
                <a16:creationId xmlns:a16="http://schemas.microsoft.com/office/drawing/2014/main" id="{AC783FFB-BD87-4DD6-A835-DF056E8E1F78}"/>
              </a:ext>
            </a:extLst>
          </p:cNvPr>
          <p:cNvSpPr/>
          <p:nvPr/>
        </p:nvSpPr>
        <p:spPr>
          <a:xfrm>
            <a:off x="4924440" y="1447560"/>
            <a:ext cx="1097280" cy="365760"/>
          </a:xfrm>
          <a:prstGeom prst="ellipse">
            <a:avLst/>
          </a:prstGeom>
          <a:solidFill>
            <a:srgbClr val="004F8B">
              <a:alpha val="5000"/>
            </a:srgbClr>
          </a:solidFill>
          <a:ln w="18000">
            <a:solidFill>
              <a:srgbClr val="004F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endParaRPr lang="de-DE">
              <a:solidFill>
                <a:srgbClr val="004F8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737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6" grpId="0"/>
      <p:bldP spid="17" grpId="0"/>
      <p:bldP spid="21" grpId="0"/>
      <p:bldP spid="28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31540" y="591530"/>
            <a:ext cx="5849463" cy="432959"/>
          </a:xfrm>
        </p:spPr>
        <p:txBody>
          <a:bodyPr/>
          <a:lstStyle/>
          <a:p>
            <a:r>
              <a:rPr lang="en-US" sz="2000"/>
              <a:t>Multi-bit bus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1021654" y="867972"/>
            <a:ext cx="18473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05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8C89B46-C5A6-504C-8C1A-FDDCC33F1DB1}"/>
              </a:ext>
            </a:extLst>
          </p:cNvPr>
          <p:cNvGrpSpPr/>
          <p:nvPr/>
        </p:nvGrpSpPr>
        <p:grpSpPr>
          <a:xfrm>
            <a:off x="334596" y="4038646"/>
            <a:ext cx="6043349" cy="513324"/>
            <a:chOff x="501648" y="3854439"/>
            <a:chExt cx="8057798" cy="684432"/>
          </a:xfrm>
        </p:grpSpPr>
        <p:sp>
          <p:nvSpPr>
            <p:cNvPr id="57" name="Rounded Rectangular Callout 56">
              <a:extLst>
                <a:ext uri="{FF2B5EF4-FFF2-40B4-BE49-F238E27FC236}">
                  <a16:creationId xmlns:a16="http://schemas.microsoft.com/office/drawing/2014/main" id="{7B67CC85-24EA-0B40-8A9E-6A269DAE3FA6}"/>
                </a:ext>
              </a:extLst>
            </p:cNvPr>
            <p:cNvSpPr/>
            <p:nvPr/>
          </p:nvSpPr>
          <p:spPr>
            <a:xfrm>
              <a:off x="6953633" y="3854439"/>
              <a:ext cx="1605813" cy="684432"/>
            </a:xfrm>
            <a:prstGeom prst="wedgeRoundRectCallout">
              <a:avLst>
                <a:gd name="adj1" fmla="val -40868"/>
                <a:gd name="adj2" fmla="val -81764"/>
                <a:gd name="adj3" fmla="val 16667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81000" tIns="35100" rtlCol="0" anchor="t" anchorCtr="0"/>
            <a:lstStyle/>
            <a:p>
              <a:pPr>
                <a:buSzPct val="100000"/>
              </a:pPr>
              <a:r>
                <a:rPr lang="en-US" sz="1200">
                  <a:solidFill>
                    <a:srgbClr val="000000"/>
                  </a:solidFill>
                  <a:latin typeface="Times New Roman"/>
                  <a:cs typeface="Times New Roman"/>
                </a:rPr>
                <a:t>LSB = Least significant bit</a:t>
              </a:r>
            </a:p>
          </p:txBody>
        </p:sp>
        <p:sp>
          <p:nvSpPr>
            <p:cNvPr id="58" name="Rounded Rectangular Callout 57">
              <a:extLst>
                <a:ext uri="{FF2B5EF4-FFF2-40B4-BE49-F238E27FC236}">
                  <a16:creationId xmlns:a16="http://schemas.microsoft.com/office/drawing/2014/main" id="{2DC098E6-325F-9240-A956-E527CD21E30E}"/>
                </a:ext>
              </a:extLst>
            </p:cNvPr>
            <p:cNvSpPr/>
            <p:nvPr/>
          </p:nvSpPr>
          <p:spPr>
            <a:xfrm>
              <a:off x="501648" y="3854439"/>
              <a:ext cx="1605815" cy="684432"/>
            </a:xfrm>
            <a:prstGeom prst="wedgeRoundRectCallout">
              <a:avLst>
                <a:gd name="adj1" fmla="val 26218"/>
                <a:gd name="adj2" fmla="val -87573"/>
                <a:gd name="adj3" fmla="val 16667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81000" tIns="35100" rtlCol="0" anchor="t" anchorCtr="0"/>
            <a:lstStyle/>
            <a:p>
              <a:pPr>
                <a:buSzPct val="100000"/>
              </a:pPr>
              <a:r>
                <a:rPr lang="en-US" sz="1200">
                  <a:solidFill>
                    <a:srgbClr val="000000"/>
                  </a:solidFill>
                  <a:latin typeface="Times New Roman"/>
                  <a:cs typeface="Times New Roman"/>
                </a:rPr>
                <a:t>MSB = Most significant bit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DCEF0007-6D2F-A942-B422-5C14EDCE51BD}"/>
              </a:ext>
            </a:extLst>
          </p:cNvPr>
          <p:cNvGrpSpPr/>
          <p:nvPr/>
        </p:nvGrpSpPr>
        <p:grpSpPr>
          <a:xfrm>
            <a:off x="543862" y="2691832"/>
            <a:ext cx="4835945" cy="1069814"/>
            <a:chOff x="780669" y="1922293"/>
            <a:chExt cx="6447927" cy="156281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3B8C042-C6CE-DD46-862D-8367F91928C9}"/>
                </a:ext>
              </a:extLst>
            </p:cNvPr>
            <p:cNvSpPr txBox="1"/>
            <p:nvPr/>
          </p:nvSpPr>
          <p:spPr>
            <a:xfrm>
              <a:off x="6799692" y="2811755"/>
              <a:ext cx="246307" cy="3077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r" defTabSz="685800" rtl="1"/>
              <a:endParaRPr lang="en-US" sz="9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42A444AF-431C-484E-968E-371B7AC74E1A}"/>
                </a:ext>
              </a:extLst>
            </p:cNvPr>
            <p:cNvSpPr/>
            <p:nvPr/>
          </p:nvSpPr>
          <p:spPr>
            <a:xfrm>
              <a:off x="2107464" y="2811755"/>
              <a:ext cx="367328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685800" rtl="1"/>
              <a:r>
                <a:rPr lang="en-US" sz="9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13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F1D6790D-6708-C844-8F97-D52581E639FB}"/>
                </a:ext>
              </a:extLst>
            </p:cNvPr>
            <p:cNvSpPr/>
            <p:nvPr/>
          </p:nvSpPr>
          <p:spPr>
            <a:xfrm>
              <a:off x="2474792" y="2811755"/>
              <a:ext cx="367328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685800" rtl="1"/>
              <a:r>
                <a:rPr lang="en-US" sz="9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0F9D380-DB49-D64F-83D1-538889868662}"/>
                </a:ext>
              </a:extLst>
            </p:cNvPr>
            <p:cNvSpPr/>
            <p:nvPr/>
          </p:nvSpPr>
          <p:spPr>
            <a:xfrm>
              <a:off x="1372950" y="2811755"/>
              <a:ext cx="367328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685800" rtl="1"/>
              <a:r>
                <a:rPr lang="en-US" sz="9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15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360511E7-0B27-194B-9C89-7E1213F92616}"/>
                </a:ext>
              </a:extLst>
            </p:cNvPr>
            <p:cNvSpPr/>
            <p:nvPr/>
          </p:nvSpPr>
          <p:spPr>
            <a:xfrm>
              <a:off x="1740278" y="2811755"/>
              <a:ext cx="367328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685800" rtl="1"/>
              <a:r>
                <a:rPr lang="en-US" sz="9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14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DD9E0146-1109-5945-AF1D-19D938224320}"/>
                </a:ext>
              </a:extLst>
            </p:cNvPr>
            <p:cNvSpPr/>
            <p:nvPr/>
          </p:nvSpPr>
          <p:spPr>
            <a:xfrm>
              <a:off x="3566117" y="2811755"/>
              <a:ext cx="367328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685800" rtl="1"/>
              <a:r>
                <a:rPr lang="en-US" sz="9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E11676A8-4218-D745-A753-2BD669CC0EE9}"/>
                </a:ext>
              </a:extLst>
            </p:cNvPr>
            <p:cNvSpPr/>
            <p:nvPr/>
          </p:nvSpPr>
          <p:spPr>
            <a:xfrm>
              <a:off x="3933445" y="2811755"/>
              <a:ext cx="367328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685800" rtl="1"/>
              <a:r>
                <a:rPr lang="en-US" sz="9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AED6E23D-5176-F443-91B0-1E643BE8109D}"/>
                </a:ext>
              </a:extLst>
            </p:cNvPr>
            <p:cNvSpPr/>
            <p:nvPr/>
          </p:nvSpPr>
          <p:spPr>
            <a:xfrm>
              <a:off x="2831603" y="2811755"/>
              <a:ext cx="367328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685800" rtl="1"/>
              <a:r>
                <a:rPr lang="en-US" sz="9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791104FC-5B96-1241-87E5-EDFAC3ABBF73}"/>
                </a:ext>
              </a:extLst>
            </p:cNvPr>
            <p:cNvSpPr/>
            <p:nvPr/>
          </p:nvSpPr>
          <p:spPr>
            <a:xfrm>
              <a:off x="3198931" y="2811755"/>
              <a:ext cx="367328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685800" rtl="1"/>
              <a:r>
                <a:rPr lang="en-US" sz="9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2376BB03-150F-D84F-9F2B-7ED1765BB2C7}"/>
                </a:ext>
              </a:extLst>
            </p:cNvPr>
            <p:cNvSpPr/>
            <p:nvPr/>
          </p:nvSpPr>
          <p:spPr>
            <a:xfrm>
              <a:off x="5035287" y="2811755"/>
              <a:ext cx="367328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685800" rtl="1"/>
              <a:r>
                <a:rPr lang="en-US" sz="9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71D12789-3323-174C-ACB1-231A1D67B4E7}"/>
                </a:ext>
              </a:extLst>
            </p:cNvPr>
            <p:cNvSpPr/>
            <p:nvPr/>
          </p:nvSpPr>
          <p:spPr>
            <a:xfrm>
              <a:off x="5402615" y="2811755"/>
              <a:ext cx="367328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685800" rtl="1"/>
              <a:r>
                <a:rPr lang="en-US" sz="9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CDEEE22A-C312-2D46-BB49-D4A77843C455}"/>
                </a:ext>
              </a:extLst>
            </p:cNvPr>
            <p:cNvSpPr/>
            <p:nvPr/>
          </p:nvSpPr>
          <p:spPr>
            <a:xfrm>
              <a:off x="4300773" y="2811755"/>
              <a:ext cx="367328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685800" rtl="1"/>
              <a:r>
                <a:rPr lang="en-US" sz="9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8E789E9E-535E-2644-80C7-8F6E84FF2E4C}"/>
                </a:ext>
              </a:extLst>
            </p:cNvPr>
            <p:cNvSpPr/>
            <p:nvPr/>
          </p:nvSpPr>
          <p:spPr>
            <a:xfrm>
              <a:off x="4668101" y="2811755"/>
              <a:ext cx="367328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685800" rtl="1"/>
              <a:r>
                <a:rPr lang="en-US" sz="9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67E8CB73-F4C2-0345-8163-4AE3F748B410}"/>
                </a:ext>
              </a:extLst>
            </p:cNvPr>
            <p:cNvSpPr/>
            <p:nvPr/>
          </p:nvSpPr>
          <p:spPr>
            <a:xfrm>
              <a:off x="6493940" y="2811755"/>
              <a:ext cx="367328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685800" rtl="1"/>
              <a:r>
                <a:rPr lang="en-US" sz="9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9F0F881D-D41A-604C-BD89-F205888387B9}"/>
                </a:ext>
              </a:extLst>
            </p:cNvPr>
            <p:cNvSpPr/>
            <p:nvPr/>
          </p:nvSpPr>
          <p:spPr>
            <a:xfrm>
              <a:off x="6861268" y="2811755"/>
              <a:ext cx="367328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685800" rtl="1"/>
              <a:r>
                <a:rPr lang="en-US" sz="9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E23FD8A6-671A-6342-94CD-74275C77EE7F}"/>
                </a:ext>
              </a:extLst>
            </p:cNvPr>
            <p:cNvSpPr/>
            <p:nvPr/>
          </p:nvSpPr>
          <p:spPr>
            <a:xfrm>
              <a:off x="5759426" y="2811755"/>
              <a:ext cx="367328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685800" rtl="1"/>
              <a:r>
                <a:rPr lang="en-US" sz="9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B4C03993-A7D1-3645-A1C0-DD278E6B2B9B}"/>
                </a:ext>
              </a:extLst>
            </p:cNvPr>
            <p:cNvSpPr/>
            <p:nvPr/>
          </p:nvSpPr>
          <p:spPr>
            <a:xfrm>
              <a:off x="6126754" y="2811755"/>
              <a:ext cx="367328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685800" rtl="1"/>
              <a:r>
                <a:rPr lang="en-US" sz="9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60" name="Content Placeholder 2">
              <a:extLst>
                <a:ext uri="{FF2B5EF4-FFF2-40B4-BE49-F238E27FC236}">
                  <a16:creationId xmlns:a16="http://schemas.microsoft.com/office/drawing/2014/main" id="{B3C79FAC-8292-DF4F-A7DB-5189FF14EDC6}"/>
                </a:ext>
              </a:extLst>
            </p:cNvPr>
            <p:cNvSpPr txBox="1">
              <a:spLocks/>
            </p:cNvSpPr>
            <p:nvPr/>
          </p:nvSpPr>
          <p:spPr>
            <a:xfrm>
              <a:off x="780669" y="1922293"/>
              <a:ext cx="2418261" cy="660772"/>
            </a:xfrm>
            <a:prstGeom prst="rect">
              <a:avLst/>
            </a:prstGeom>
          </p:spPr>
          <p:txBody>
            <a:bodyPr vert="horz" lIns="68580" tIns="34290" rIns="68580" bIns="3429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Times New Roman"/>
                  <a:ea typeface="+mn-ea"/>
                  <a:cs typeface="Times New Roman"/>
                </a:defRPr>
              </a:lvl1pPr>
              <a:lvl2pPr marL="717550" indent="-2603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SzPct val="50000"/>
                <a:buFont typeface="Wingdings" charset="2"/>
                <a:buChar char="q"/>
                <a:defRPr sz="2000" kern="1200">
                  <a:solidFill>
                    <a:schemeClr val="tx1"/>
                  </a:solidFill>
                  <a:latin typeface="Times New Roman"/>
                  <a:ea typeface="+mn-ea"/>
                  <a:cs typeface="Times New Roman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Times New Roman"/>
                  <a:ea typeface="+mn-ea"/>
                  <a:cs typeface="Times New Roman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Times New Roman"/>
                  <a:ea typeface="+mn-ea"/>
                  <a:cs typeface="Times New Roman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Times New Roman"/>
                  <a:ea typeface="+mn-ea"/>
                  <a:cs typeface="Times New Roman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ts val="1650"/>
                </a:spcBef>
                <a:buNone/>
              </a:pPr>
              <a:r>
                <a:rPr lang="en-US" sz="1500" u="sng" dirty="0"/>
                <a:t>Example: 16-bit bus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97EC943-EA77-4944-9AB3-12B6343B6157}"/>
                </a:ext>
              </a:extLst>
            </p:cNvPr>
            <p:cNvSpPr/>
            <p:nvPr/>
          </p:nvSpPr>
          <p:spPr>
            <a:xfrm>
              <a:off x="2107464" y="3115775"/>
              <a:ext cx="367328" cy="369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1"/>
              <a:r>
                <a:rPr lang="en-US" sz="90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EAC4C58-DDEC-F94E-A216-76464415B1FA}"/>
                </a:ext>
              </a:extLst>
            </p:cNvPr>
            <p:cNvSpPr/>
            <p:nvPr/>
          </p:nvSpPr>
          <p:spPr>
            <a:xfrm>
              <a:off x="2474792" y="3115775"/>
              <a:ext cx="367328" cy="369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1"/>
              <a:r>
                <a:rPr lang="en-US" sz="90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8BA947F-2917-0948-B575-9420E201FCAF}"/>
                </a:ext>
              </a:extLst>
            </p:cNvPr>
            <p:cNvSpPr/>
            <p:nvPr/>
          </p:nvSpPr>
          <p:spPr>
            <a:xfrm>
              <a:off x="1372950" y="3115775"/>
              <a:ext cx="367328" cy="369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1"/>
              <a:r>
                <a:rPr lang="en-US" sz="90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9B484E9-4934-AB46-A0B4-816A5FC0EA39}"/>
                </a:ext>
              </a:extLst>
            </p:cNvPr>
            <p:cNvSpPr/>
            <p:nvPr/>
          </p:nvSpPr>
          <p:spPr>
            <a:xfrm>
              <a:off x="1740278" y="3115775"/>
              <a:ext cx="367328" cy="369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1"/>
              <a:r>
                <a:rPr lang="en-US" sz="90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9B89B78-9E80-1C4E-8820-DF8DB6E6A140}"/>
                </a:ext>
              </a:extLst>
            </p:cNvPr>
            <p:cNvSpPr/>
            <p:nvPr/>
          </p:nvSpPr>
          <p:spPr>
            <a:xfrm>
              <a:off x="3566117" y="3115775"/>
              <a:ext cx="367328" cy="369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1"/>
              <a:r>
                <a:rPr lang="en-US" sz="90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389A936-27EF-8D48-8C11-98B33DE2D6F4}"/>
                </a:ext>
              </a:extLst>
            </p:cNvPr>
            <p:cNvSpPr/>
            <p:nvPr/>
          </p:nvSpPr>
          <p:spPr>
            <a:xfrm>
              <a:off x="3933445" y="3115775"/>
              <a:ext cx="367328" cy="369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1"/>
              <a:r>
                <a:rPr lang="en-US" sz="90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C44C0F7-4804-7443-B3F2-C634A307DC94}"/>
                </a:ext>
              </a:extLst>
            </p:cNvPr>
            <p:cNvSpPr/>
            <p:nvPr/>
          </p:nvSpPr>
          <p:spPr>
            <a:xfrm>
              <a:off x="2831603" y="3115775"/>
              <a:ext cx="367328" cy="369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1"/>
              <a:r>
                <a:rPr lang="en-US" sz="90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2DA283C-EF30-0F4B-8B94-7DF16227BE55}"/>
                </a:ext>
              </a:extLst>
            </p:cNvPr>
            <p:cNvSpPr/>
            <p:nvPr/>
          </p:nvSpPr>
          <p:spPr>
            <a:xfrm>
              <a:off x="3198931" y="3115775"/>
              <a:ext cx="367328" cy="369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1"/>
              <a:r>
                <a:rPr lang="en-US" sz="90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904D2FF-3B1A-4A4D-9217-6FEF3E9FAB00}"/>
                </a:ext>
              </a:extLst>
            </p:cNvPr>
            <p:cNvSpPr/>
            <p:nvPr/>
          </p:nvSpPr>
          <p:spPr>
            <a:xfrm>
              <a:off x="5035287" y="3115775"/>
              <a:ext cx="367328" cy="369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1"/>
              <a:r>
                <a:rPr lang="en-US" sz="90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821FC90A-380D-1548-BA07-3C6B70B4FF17}"/>
                </a:ext>
              </a:extLst>
            </p:cNvPr>
            <p:cNvSpPr/>
            <p:nvPr/>
          </p:nvSpPr>
          <p:spPr>
            <a:xfrm>
              <a:off x="5402615" y="3115775"/>
              <a:ext cx="367328" cy="369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1"/>
              <a:r>
                <a:rPr lang="en-US" sz="90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56A3EC05-6787-8E43-B48D-59A81690718C}"/>
                </a:ext>
              </a:extLst>
            </p:cNvPr>
            <p:cNvSpPr/>
            <p:nvPr/>
          </p:nvSpPr>
          <p:spPr>
            <a:xfrm>
              <a:off x="4300773" y="3115775"/>
              <a:ext cx="367328" cy="369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1"/>
              <a:r>
                <a:rPr lang="en-US" sz="90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28198AE2-52BB-3448-8633-5CE09D652746}"/>
                </a:ext>
              </a:extLst>
            </p:cNvPr>
            <p:cNvSpPr/>
            <p:nvPr/>
          </p:nvSpPr>
          <p:spPr>
            <a:xfrm>
              <a:off x="4668101" y="3115775"/>
              <a:ext cx="367328" cy="369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1"/>
              <a:r>
                <a:rPr lang="en-US" sz="90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F5143BD1-C3A3-CF45-B79D-790E6E9C5C5F}"/>
                </a:ext>
              </a:extLst>
            </p:cNvPr>
            <p:cNvSpPr/>
            <p:nvPr/>
          </p:nvSpPr>
          <p:spPr>
            <a:xfrm>
              <a:off x="6493940" y="3115775"/>
              <a:ext cx="367328" cy="369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1"/>
              <a:r>
                <a:rPr lang="en-US" sz="90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BB6153A-EB18-E74B-B8A7-D764584CC212}"/>
                </a:ext>
              </a:extLst>
            </p:cNvPr>
            <p:cNvSpPr/>
            <p:nvPr/>
          </p:nvSpPr>
          <p:spPr>
            <a:xfrm>
              <a:off x="6861268" y="3115775"/>
              <a:ext cx="367328" cy="369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1"/>
              <a:r>
                <a:rPr lang="en-US" sz="90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59B3DF1-BF7C-0A46-8F30-5ACD397D2154}"/>
                </a:ext>
              </a:extLst>
            </p:cNvPr>
            <p:cNvSpPr/>
            <p:nvPr/>
          </p:nvSpPr>
          <p:spPr>
            <a:xfrm>
              <a:off x="5759426" y="3115775"/>
              <a:ext cx="367328" cy="369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1"/>
              <a:r>
                <a:rPr lang="en-US" sz="90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E6F82456-4F87-D240-9342-1D7258185FF9}"/>
                </a:ext>
              </a:extLst>
            </p:cNvPr>
            <p:cNvSpPr/>
            <p:nvPr/>
          </p:nvSpPr>
          <p:spPr>
            <a:xfrm>
              <a:off x="6126754" y="3115775"/>
              <a:ext cx="367328" cy="369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1"/>
              <a:r>
                <a:rPr lang="en-US" sz="90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9C8559EE-5ADE-C94A-ADEE-F06C42C69BD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37645" y="1179243"/>
            <a:ext cx="7184579" cy="1111160"/>
          </a:xfrm>
        </p:spPr>
        <p:txBody>
          <a:bodyPr>
            <a:normAutofit/>
          </a:bodyPr>
          <a:lstStyle/>
          <a:p>
            <a:pPr>
              <a:spcBef>
                <a:spcPts val="900"/>
              </a:spcBef>
            </a:pPr>
            <a:r>
              <a:rPr lang="en-US" sz="1500" dirty="0"/>
              <a:t>In HDL sometimes we wish to manipulate a </a:t>
            </a:r>
            <a:r>
              <a:rPr lang="en-US" sz="1500" i="1" dirty="0"/>
              <a:t>sequence of bits</a:t>
            </a:r>
            <a:r>
              <a:rPr lang="en-US" sz="1500" dirty="0"/>
              <a:t> as a single entity</a:t>
            </a:r>
          </a:p>
          <a:p>
            <a:pPr>
              <a:spcBef>
                <a:spcPts val="900"/>
              </a:spcBef>
            </a:pPr>
            <a:r>
              <a:rPr lang="zh-CN" altLang="en-US" dirty="0"/>
              <a:t>将一系列位作为一个整体来操作</a:t>
            </a:r>
            <a:endParaRPr lang="en-US" sz="1500" dirty="0"/>
          </a:p>
          <a:p>
            <a:pPr>
              <a:spcBef>
                <a:spcPts val="900"/>
              </a:spcBef>
            </a:pPr>
            <a:r>
              <a:rPr lang="en-US" sz="1500" dirty="0"/>
              <a:t>In </a:t>
            </a:r>
            <a:r>
              <a:rPr lang="en-US" sz="1500" dirty="0" err="1"/>
              <a:t>Nand2Tetris</a:t>
            </a:r>
            <a:r>
              <a:rPr lang="en-US" sz="1500" dirty="0"/>
              <a:t> such a multi-bit </a:t>
            </a:r>
            <a:r>
              <a:rPr lang="en-US" dirty="0"/>
              <a:t>entity </a:t>
            </a:r>
            <a:r>
              <a:rPr lang="en-US" sz="1500" dirty="0"/>
              <a:t>is termed “</a:t>
            </a:r>
            <a:r>
              <a:rPr lang="en-US" sz="1500" dirty="0">
                <a:solidFill>
                  <a:schemeClr val="accent2"/>
                </a:solidFill>
              </a:rPr>
              <a:t>bus</a:t>
            </a:r>
            <a:r>
              <a:rPr lang="en-US" sz="1500" dirty="0"/>
              <a:t>”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2E364BE-4ED2-EA99-47F6-F1F771DA63AE}"/>
              </a:ext>
            </a:extLst>
          </p:cNvPr>
          <p:cNvSpPr txBox="1"/>
          <p:nvPr/>
        </p:nvSpPr>
        <p:spPr>
          <a:xfrm>
            <a:off x="5684566" y="2592095"/>
            <a:ext cx="317036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16-bit bus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把</a:t>
            </a:r>
            <a:r>
              <a:rPr lang="en-US" altLang="zh-CN" dirty="0"/>
              <a:t>16</a:t>
            </a:r>
            <a:r>
              <a:rPr lang="zh-CN" altLang="en-US" dirty="0"/>
              <a:t>个</a:t>
            </a:r>
            <a:r>
              <a:rPr lang="en-US" altLang="zh-CN" dirty="0" err="1"/>
              <a:t>1bit</a:t>
            </a:r>
            <a:r>
              <a:rPr lang="zh-CN" altLang="en-US" dirty="0"/>
              <a:t>的 输入</a:t>
            </a:r>
            <a:r>
              <a:rPr lang="en-US" altLang="zh-CN" dirty="0"/>
              <a:t>/</a:t>
            </a:r>
            <a:r>
              <a:rPr lang="zh-CN" altLang="en-US" dirty="0"/>
              <a:t>输出信号并联在一起，每</a:t>
            </a:r>
            <a:r>
              <a:rPr lang="en-US" altLang="zh-CN" dirty="0" err="1"/>
              <a:t>1bit</a:t>
            </a:r>
            <a:r>
              <a:rPr lang="zh-CN" altLang="en-US" dirty="0"/>
              <a:t>对应一个输入</a:t>
            </a:r>
            <a:r>
              <a:rPr lang="en-US" altLang="zh-CN" dirty="0"/>
              <a:t>/</a:t>
            </a:r>
            <a:r>
              <a:rPr lang="zh-CN" altLang="en-US" dirty="0"/>
              <a:t>输出信号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7478BEF-276C-9808-BE46-244F1182A275}"/>
              </a:ext>
            </a:extLst>
          </p:cNvPr>
          <p:cNvSpPr txBox="1"/>
          <p:nvPr/>
        </p:nvSpPr>
        <p:spPr>
          <a:xfrm>
            <a:off x="930766" y="3031001"/>
            <a:ext cx="44783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                                                                   d    c    b    a     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06013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97398" y="564570"/>
            <a:ext cx="5849463" cy="432959"/>
          </a:xfrm>
        </p:spPr>
        <p:txBody>
          <a:bodyPr/>
          <a:lstStyle/>
          <a:p>
            <a:r>
              <a:rPr lang="en-US" sz="2000"/>
              <a:t>Working with buses: Example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A6D5A21-B3FC-1346-BB18-195CBC63EF32}"/>
              </a:ext>
            </a:extLst>
          </p:cNvPr>
          <p:cNvGrpSpPr/>
          <p:nvPr/>
        </p:nvGrpSpPr>
        <p:grpSpPr>
          <a:xfrm>
            <a:off x="1106615" y="1401620"/>
            <a:ext cx="4222657" cy="1374929"/>
            <a:chOff x="846342" y="1080230"/>
            <a:chExt cx="5630209" cy="1833238"/>
          </a:xfrm>
        </p:grpSpPr>
        <p:sp>
          <p:nvSpPr>
            <p:cNvPr id="5" name="TextBox 4"/>
            <p:cNvSpPr txBox="1"/>
            <p:nvPr/>
          </p:nvSpPr>
          <p:spPr>
            <a:xfrm>
              <a:off x="846342" y="1080230"/>
              <a:ext cx="2820686" cy="183323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lIns="108000" tIns="70200" rIns="108000" bIns="70200" rtlCol="0" anchor="ctr" anchorCtr="0">
              <a:normAutofit/>
            </a:bodyPr>
            <a:lstStyle>
              <a:lvl1pPr indent="0">
                <a:lnSpc>
                  <a:spcPct val="90000"/>
                </a:lnSpc>
                <a:spcBef>
                  <a:spcPct val="20000"/>
                </a:spcBef>
                <a:buClr>
                  <a:srgbClr val="006600"/>
                </a:buClr>
                <a:buSzPct val="85000"/>
                <a:buFont typeface="Arial" panose="020B0604020202020204" pitchFamily="34" charset="0"/>
                <a:buNone/>
                <a:defRPr sz="1400">
                  <a:solidFill>
                    <a:srgbClr val="000000"/>
                  </a:solidFill>
                  <a:latin typeface="Consolas"/>
                  <a:cs typeface="Consolas"/>
                </a:defRPr>
              </a:lvl1pPr>
              <a:lvl2pPr indent="0">
                <a:lnSpc>
                  <a:spcPct val="90000"/>
                </a:lnSpc>
                <a:spcBef>
                  <a:spcPts val="1000"/>
                </a:spcBef>
                <a:buSzPct val="50000"/>
                <a:buFont typeface="Wingdings" charset="2"/>
                <a:buNone/>
                <a:defRPr sz="2000">
                  <a:latin typeface="Times New Roman"/>
                  <a:cs typeface="Times New Roman"/>
                </a:defRPr>
              </a:lvl2pPr>
              <a:lvl3pPr indent="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>
                  <a:latin typeface="Times New Roman"/>
                  <a:cs typeface="Times New Roman"/>
                </a:defRPr>
              </a:lvl3pPr>
              <a:lvl4pPr indent="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>
                  <a:latin typeface="Times New Roman"/>
                  <a:cs typeface="Times New Roman"/>
                </a:defRPr>
              </a:lvl4pPr>
              <a:lvl5pPr indent="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>
                  <a:latin typeface="Times New Roman"/>
                  <a:cs typeface="Times New Roman"/>
                </a:defRPr>
              </a:lvl5pPr>
              <a:lvl6pPr marL="25146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6pPr>
              <a:lvl7pPr marL="2971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7pPr>
              <a:lvl8pPr marL="3429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pPr>
                <a:lnSpc>
                  <a:spcPct val="100000"/>
                </a:lnSpc>
                <a:spcBef>
                  <a:spcPts val="150"/>
                </a:spcBef>
              </a:pPr>
              <a:r>
                <a:rPr lang="en-US" sz="900" dirty="0">
                  <a:solidFill>
                    <a:srgbClr val="008000"/>
                  </a:solidFill>
                </a:rPr>
                <a:t>/* Adds two 16-bit values. */ </a:t>
              </a:r>
            </a:p>
            <a:p>
              <a:pPr>
                <a:lnSpc>
                  <a:spcPct val="100000"/>
                </a:lnSpc>
                <a:spcBef>
                  <a:spcPts val="150"/>
                </a:spcBef>
              </a:pPr>
              <a:r>
                <a:rPr lang="en-US" sz="900" dirty="0"/>
                <a:t>CHIP Adder { </a:t>
              </a:r>
            </a:p>
            <a:p>
              <a:pPr>
                <a:lnSpc>
                  <a:spcPct val="100000"/>
                </a:lnSpc>
                <a:spcBef>
                  <a:spcPts val="150"/>
                </a:spcBef>
              </a:pPr>
              <a:r>
                <a:rPr lang="en-US" sz="900" dirty="0"/>
                <a:t>   IN a[16], b[16]; </a:t>
              </a:r>
            </a:p>
            <a:p>
              <a:pPr>
                <a:lnSpc>
                  <a:spcPct val="100000"/>
                </a:lnSpc>
                <a:spcBef>
                  <a:spcPts val="150"/>
                </a:spcBef>
              </a:pPr>
              <a:r>
                <a:rPr lang="en-US" sz="900" dirty="0"/>
                <a:t>   OUT out[16]; </a:t>
              </a:r>
            </a:p>
            <a:p>
              <a:pPr>
                <a:lnSpc>
                  <a:spcPct val="100000"/>
                </a:lnSpc>
                <a:spcBef>
                  <a:spcPts val="900"/>
                </a:spcBef>
              </a:pPr>
              <a:r>
                <a:rPr lang="en-US" sz="900" dirty="0"/>
                <a:t>   PARTS: </a:t>
              </a:r>
            </a:p>
            <a:p>
              <a:pPr>
                <a:lnSpc>
                  <a:spcPct val="100000"/>
                </a:lnSpc>
                <a:spcBef>
                  <a:spcPts val="150"/>
                </a:spcBef>
              </a:pPr>
              <a:r>
                <a:rPr lang="en-US" sz="900" dirty="0"/>
                <a:t>   ...</a:t>
              </a:r>
            </a:p>
            <a:p>
              <a:pPr>
                <a:lnSpc>
                  <a:spcPct val="100000"/>
                </a:lnSpc>
                <a:spcBef>
                  <a:spcPts val="150"/>
                </a:spcBef>
              </a:pPr>
              <a:r>
                <a:rPr lang="en-US" sz="900" dirty="0"/>
                <a:t>}</a:t>
              </a:r>
            </a:p>
          </p:txBody>
        </p:sp>
        <p:pic>
          <p:nvPicPr>
            <p:cNvPr id="7" name="Content Placeholder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40515" y="1153859"/>
              <a:ext cx="2536036" cy="1423786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B16C714-6D2B-1044-9B4F-D6D6867C1598}"/>
              </a:ext>
            </a:extLst>
          </p:cNvPr>
          <p:cNvGrpSpPr/>
          <p:nvPr/>
        </p:nvGrpSpPr>
        <p:grpSpPr>
          <a:xfrm>
            <a:off x="959105" y="2579904"/>
            <a:ext cx="3860255" cy="1646896"/>
            <a:chOff x="649663" y="2651274"/>
            <a:chExt cx="5147006" cy="2195861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3D8414D-CEF4-0546-B038-E05AB6E48921}"/>
                </a:ext>
              </a:extLst>
            </p:cNvPr>
            <p:cNvSpPr txBox="1"/>
            <p:nvPr/>
          </p:nvSpPr>
          <p:spPr>
            <a:xfrm>
              <a:off x="2779304" y="2651274"/>
              <a:ext cx="3017365" cy="219586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lIns="189000" tIns="140400" rIns="108000" bIns="70200" rtlCol="0" anchor="t" anchorCtr="0">
              <a:normAutofit/>
            </a:bodyPr>
            <a:lstStyle>
              <a:lvl1pPr indent="0">
                <a:lnSpc>
                  <a:spcPct val="90000"/>
                </a:lnSpc>
                <a:spcBef>
                  <a:spcPct val="20000"/>
                </a:spcBef>
                <a:buClr>
                  <a:srgbClr val="006600"/>
                </a:buClr>
                <a:buSzPct val="85000"/>
                <a:buFont typeface="Arial" panose="020B0604020202020204" pitchFamily="34" charset="0"/>
                <a:buNone/>
                <a:defRPr sz="1400">
                  <a:solidFill>
                    <a:srgbClr val="000000"/>
                  </a:solidFill>
                  <a:latin typeface="Consolas"/>
                  <a:cs typeface="Consolas"/>
                </a:defRPr>
              </a:lvl1pPr>
              <a:lvl2pPr indent="0">
                <a:lnSpc>
                  <a:spcPct val="90000"/>
                </a:lnSpc>
                <a:spcBef>
                  <a:spcPts val="1000"/>
                </a:spcBef>
                <a:buSzPct val="50000"/>
                <a:buFont typeface="Wingdings" charset="2"/>
                <a:buNone/>
                <a:defRPr sz="2000">
                  <a:latin typeface="Times New Roman"/>
                  <a:cs typeface="Times New Roman"/>
                </a:defRPr>
              </a:lvl2pPr>
              <a:lvl3pPr indent="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>
                  <a:latin typeface="Times New Roman"/>
                  <a:cs typeface="Times New Roman"/>
                </a:defRPr>
              </a:lvl3pPr>
              <a:lvl4pPr indent="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>
                  <a:latin typeface="Times New Roman"/>
                  <a:cs typeface="Times New Roman"/>
                </a:defRPr>
              </a:lvl4pPr>
              <a:lvl5pPr indent="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>
                  <a:latin typeface="Times New Roman"/>
                  <a:cs typeface="Times New Roman"/>
                </a:defRPr>
              </a:lvl5pPr>
              <a:lvl6pPr marL="25146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6pPr>
              <a:lvl7pPr marL="2971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7pPr>
              <a:lvl8pPr marL="3429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pPr>
                <a:lnSpc>
                  <a:spcPct val="100000"/>
                </a:lnSpc>
              </a:pPr>
              <a:r>
                <a:rPr lang="en-US" sz="900">
                  <a:solidFill>
                    <a:srgbClr val="008000"/>
                  </a:solidFill>
                </a:rPr>
                <a:t>/* Adds three 16-bit inputs. */ </a:t>
              </a:r>
            </a:p>
            <a:p>
              <a:pPr>
                <a:lnSpc>
                  <a:spcPct val="100000"/>
                </a:lnSpc>
              </a:pPr>
              <a:r>
                <a:rPr lang="en-US" sz="900"/>
                <a:t>CHIP Adder3Way { </a:t>
              </a:r>
            </a:p>
            <a:p>
              <a:pPr>
                <a:lnSpc>
                  <a:spcPct val="100000"/>
                </a:lnSpc>
              </a:pPr>
              <a:r>
                <a:rPr lang="en-US" sz="900"/>
                <a:t>   IN </a:t>
              </a:r>
              <a:r>
                <a:rPr lang="en-US" sz="900">
                  <a:solidFill>
                    <a:srgbClr val="0432FF"/>
                  </a:solidFill>
                </a:rPr>
                <a:t>a</a:t>
              </a:r>
              <a:r>
                <a:rPr lang="en-US" sz="900"/>
                <a:t>[16], </a:t>
              </a:r>
              <a:r>
                <a:rPr lang="en-US" sz="900">
                  <a:solidFill>
                    <a:srgbClr val="0432FF"/>
                  </a:solidFill>
                </a:rPr>
                <a:t>b</a:t>
              </a:r>
              <a:r>
                <a:rPr lang="en-US" sz="900"/>
                <a:t>[16], </a:t>
              </a:r>
              <a:r>
                <a:rPr lang="en-US" sz="900">
                  <a:solidFill>
                    <a:srgbClr val="0432FF"/>
                  </a:solidFill>
                </a:rPr>
                <a:t>c</a:t>
              </a:r>
              <a:r>
                <a:rPr lang="en-US" sz="900"/>
                <a:t>[16]; </a:t>
              </a:r>
            </a:p>
            <a:p>
              <a:pPr>
                <a:lnSpc>
                  <a:spcPct val="100000"/>
                </a:lnSpc>
              </a:pPr>
              <a:r>
                <a:rPr lang="en-US" sz="900"/>
                <a:t>   OUT </a:t>
              </a:r>
              <a:r>
                <a:rPr lang="en-US" sz="900">
                  <a:solidFill>
                    <a:srgbClr val="0432FF"/>
                  </a:solidFill>
                </a:rPr>
                <a:t>out</a:t>
              </a:r>
              <a:r>
                <a:rPr lang="en-US" sz="900"/>
                <a:t>[16];</a:t>
              </a:r>
            </a:p>
            <a:p>
              <a:pPr>
                <a:lnSpc>
                  <a:spcPct val="100000"/>
                </a:lnSpc>
              </a:pPr>
              <a:r>
                <a:rPr lang="en-US" sz="900"/>
                <a:t>   </a:t>
              </a: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F8C4A28-5BE5-D64F-8840-92412CBA4033}"/>
                </a:ext>
              </a:extLst>
            </p:cNvPr>
            <p:cNvGrpSpPr/>
            <p:nvPr/>
          </p:nvGrpSpPr>
          <p:grpSpPr>
            <a:xfrm>
              <a:off x="649663" y="2913468"/>
              <a:ext cx="1797124" cy="1790144"/>
              <a:chOff x="649663" y="2913468"/>
              <a:chExt cx="1797124" cy="1790144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51EA42D7-8AB9-0B4D-8D73-7861340088ED}"/>
                  </a:ext>
                </a:extLst>
              </p:cNvPr>
              <p:cNvGrpSpPr/>
              <p:nvPr/>
            </p:nvGrpSpPr>
            <p:grpSpPr>
              <a:xfrm>
                <a:off x="649663" y="4334280"/>
                <a:ext cx="1761568" cy="369332"/>
                <a:chOff x="649663" y="4334280"/>
                <a:chExt cx="1761568" cy="369332"/>
              </a:xfrm>
            </p:grpSpPr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E600D289-15CA-3F44-ABB9-DA7B170FFF70}"/>
                    </a:ext>
                  </a:extLst>
                </p:cNvPr>
                <p:cNvSpPr/>
                <p:nvPr/>
              </p:nvSpPr>
              <p:spPr>
                <a:xfrm>
                  <a:off x="649663" y="4334280"/>
                  <a:ext cx="692572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r" defTabSz="685800" rtl="1"/>
                  <a:r>
                    <a:rPr lang="en-US" sz="900">
                      <a:solidFill>
                        <a:schemeClr val="tx1"/>
                      </a:solidFill>
                      <a:latin typeface="Consolas" panose="020B0609020204030204" pitchFamily="49" charset="0"/>
                      <a:cs typeface="Consolas" panose="020B0609020204030204" pitchFamily="49" charset="0"/>
                    </a:rPr>
                    <a:t>out:</a:t>
                  </a:r>
                </a:p>
              </p:txBody>
            </p:sp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628AD8BD-F5DF-9F49-BDC8-8B4C918ABA37}"/>
                    </a:ext>
                  </a:extLst>
                </p:cNvPr>
                <p:cNvSpPr/>
                <p:nvPr/>
              </p:nvSpPr>
              <p:spPr>
                <a:xfrm>
                  <a:off x="2130255" y="4391861"/>
                  <a:ext cx="280976" cy="267677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 rtl="1"/>
                  <a:r>
                    <a:rPr lang="en-US" sz="900">
                      <a:solidFill>
                        <a:schemeClr val="tx1"/>
                      </a:solidFill>
                      <a:latin typeface="Consolas" panose="020B0609020204030204" pitchFamily="49" charset="0"/>
                      <a:cs typeface="Consolas" panose="020B0609020204030204" pitchFamily="49" charset="0"/>
                    </a:rPr>
                    <a:t>0</a:t>
                  </a:r>
                </a:p>
              </p:txBody>
            </p: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AECEF566-D2F9-C64E-8730-9948E261A846}"/>
                    </a:ext>
                  </a:extLst>
                </p:cNvPr>
                <p:cNvSpPr/>
                <p:nvPr/>
              </p:nvSpPr>
              <p:spPr>
                <a:xfrm>
                  <a:off x="1568303" y="4391861"/>
                  <a:ext cx="280976" cy="267677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 rtl="1"/>
                  <a:r>
                    <a:rPr lang="en-US" sz="675" b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. . . </a:t>
                  </a:r>
                </a:p>
              </p:txBody>
            </p:sp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93E6C2B5-22A8-B14A-8B2C-C4275B7AD071}"/>
                    </a:ext>
                  </a:extLst>
                </p:cNvPr>
                <p:cNvSpPr/>
                <p:nvPr/>
              </p:nvSpPr>
              <p:spPr>
                <a:xfrm>
                  <a:off x="1287327" y="4391861"/>
                  <a:ext cx="280976" cy="267677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 rtl="1"/>
                  <a:r>
                    <a:rPr lang="en-US" sz="900">
                      <a:solidFill>
                        <a:schemeClr val="tx1"/>
                      </a:solidFill>
                      <a:latin typeface="Consolas" panose="020B0609020204030204" pitchFamily="49" charset="0"/>
                      <a:cs typeface="Consolas" panose="020B0609020204030204" pitchFamily="49" charset="0"/>
                    </a:rPr>
                    <a:t>1</a:t>
                  </a:r>
                </a:p>
              </p:txBody>
            </p:sp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EC85D8B3-D887-6045-89D1-71D43EF8D6BA}"/>
                    </a:ext>
                  </a:extLst>
                </p:cNvPr>
                <p:cNvSpPr/>
                <p:nvPr/>
              </p:nvSpPr>
              <p:spPr>
                <a:xfrm>
                  <a:off x="1849279" y="4391861"/>
                  <a:ext cx="280976" cy="267677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1"/>
                  <a:r>
                    <a:rPr lang="en-US" sz="900">
                      <a:solidFill>
                        <a:schemeClr val="tx1"/>
                      </a:solidFill>
                      <a:latin typeface="Consolas" panose="020B0609020204030204" pitchFamily="49" charset="0"/>
                      <a:cs typeface="Consolas" panose="020B0609020204030204" pitchFamily="49" charset="0"/>
                    </a:rPr>
                    <a:t>1</a:t>
                  </a:r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976DE98C-44CC-BE49-905E-C7BD120CDF91}"/>
                  </a:ext>
                </a:extLst>
              </p:cNvPr>
              <p:cNvGrpSpPr/>
              <p:nvPr/>
            </p:nvGrpSpPr>
            <p:grpSpPr>
              <a:xfrm>
                <a:off x="967287" y="2913468"/>
                <a:ext cx="1479500" cy="1347990"/>
                <a:chOff x="967287" y="2913468"/>
                <a:chExt cx="1479500" cy="1347990"/>
              </a:xfrm>
            </p:grpSpPr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10B7DE2C-F80E-654B-AEE2-755AF728EC73}"/>
                    </a:ext>
                  </a:extLst>
                </p:cNvPr>
                <p:cNvSpPr/>
                <p:nvPr/>
              </p:nvSpPr>
              <p:spPr>
                <a:xfrm>
                  <a:off x="974907" y="3217598"/>
                  <a:ext cx="367328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 defTabSz="685800" rtl="1"/>
                  <a:r>
                    <a:rPr lang="en-US" sz="900">
                      <a:solidFill>
                        <a:schemeClr val="tx1"/>
                      </a:solidFill>
                      <a:latin typeface="Consolas" panose="020B0609020204030204" pitchFamily="49" charset="0"/>
                      <a:cs typeface="Consolas" panose="020B0609020204030204" pitchFamily="49" charset="0"/>
                    </a:rPr>
                    <a:t>a:</a:t>
                  </a:r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3D3ED41E-2DFC-FC4C-89D3-FCF17F8FFEEC}"/>
                    </a:ext>
                  </a:extLst>
                </p:cNvPr>
                <p:cNvSpPr txBox="1"/>
                <p:nvPr/>
              </p:nvSpPr>
              <p:spPr>
                <a:xfrm>
                  <a:off x="2061059" y="2913468"/>
                  <a:ext cx="246307" cy="30777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 algn="r" defTabSz="685800" rtl="1"/>
                  <a:endParaRPr lang="en-US" sz="9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7E2BA90F-FE97-694E-8A5C-DAF6673AF2C3}"/>
                    </a:ext>
                  </a:extLst>
                </p:cNvPr>
                <p:cNvSpPr/>
                <p:nvPr/>
              </p:nvSpPr>
              <p:spPr>
                <a:xfrm>
                  <a:off x="1820071" y="2972491"/>
                  <a:ext cx="367328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 rtl="1"/>
                  <a:r>
                    <a:rPr lang="en-US" sz="9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8AF91420-DD58-F94C-800C-4395B1479320}"/>
                    </a:ext>
                  </a:extLst>
                </p:cNvPr>
                <p:cNvSpPr/>
                <p:nvPr/>
              </p:nvSpPr>
              <p:spPr>
                <a:xfrm>
                  <a:off x="2079459" y="2963374"/>
                  <a:ext cx="367328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 defTabSz="685800" rtl="1"/>
                  <a:r>
                    <a:rPr lang="en-US" sz="9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</a:t>
                  </a:r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77759079-F303-574D-9C18-04354378907D}"/>
                    </a:ext>
                  </a:extLst>
                </p:cNvPr>
                <p:cNvSpPr/>
                <p:nvPr/>
              </p:nvSpPr>
              <p:spPr>
                <a:xfrm>
                  <a:off x="2122635" y="3282800"/>
                  <a:ext cx="280976" cy="2603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 rtl="1"/>
                  <a:r>
                    <a:rPr lang="en-US" sz="900">
                      <a:solidFill>
                        <a:schemeClr val="tx1"/>
                      </a:solidFill>
                      <a:latin typeface="Consolas" panose="020B0609020204030204" pitchFamily="49" charset="0"/>
                      <a:cs typeface="Consolas" panose="020B0609020204030204" pitchFamily="49" charset="0"/>
                    </a:rPr>
                    <a:t>1</a:t>
                  </a:r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3CC42B92-7C28-1A40-8DA1-5B8839D0CF9A}"/>
                    </a:ext>
                  </a:extLst>
                </p:cNvPr>
                <p:cNvSpPr txBox="1"/>
                <p:nvPr/>
              </p:nvSpPr>
              <p:spPr>
                <a:xfrm>
                  <a:off x="1560683" y="2913468"/>
                  <a:ext cx="246308" cy="30777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 defTabSz="685800"/>
                  <a:endParaRPr lang="en-US" sz="9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78F1894D-517C-3943-95AB-FFCE962D1286}"/>
                    </a:ext>
                  </a:extLst>
                </p:cNvPr>
                <p:cNvSpPr/>
                <p:nvPr/>
              </p:nvSpPr>
              <p:spPr>
                <a:xfrm>
                  <a:off x="1258119" y="2972491"/>
                  <a:ext cx="367328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 defTabSz="685800" rtl="1"/>
                  <a:r>
                    <a:rPr lang="en-US" sz="9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D0EF2121-41B3-DE43-B0C5-923C949E8476}"/>
                    </a:ext>
                  </a:extLst>
                </p:cNvPr>
                <p:cNvSpPr/>
                <p:nvPr/>
              </p:nvSpPr>
              <p:spPr>
                <a:xfrm>
                  <a:off x="1517507" y="2963374"/>
                  <a:ext cx="367328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 rtl="1"/>
                  <a:r>
                    <a:rPr lang="en-US" sz="675" b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. . .</a:t>
                  </a:r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9F889354-6F0F-CD4D-915A-9CA53DED2290}"/>
                    </a:ext>
                  </a:extLst>
                </p:cNvPr>
                <p:cNvSpPr/>
                <p:nvPr/>
              </p:nvSpPr>
              <p:spPr>
                <a:xfrm>
                  <a:off x="1560683" y="3282800"/>
                  <a:ext cx="280976" cy="2603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sz="675" b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. . . </a:t>
                  </a:r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7F50E51E-EAC7-8948-8757-5C75E1DE4DCF}"/>
                    </a:ext>
                  </a:extLst>
                </p:cNvPr>
                <p:cNvSpPr/>
                <p:nvPr/>
              </p:nvSpPr>
              <p:spPr>
                <a:xfrm>
                  <a:off x="1279707" y="3282800"/>
                  <a:ext cx="280976" cy="2603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 rtl="1"/>
                  <a:r>
                    <a:rPr lang="en-US" sz="900">
                      <a:solidFill>
                        <a:schemeClr val="tx1"/>
                      </a:solidFill>
                      <a:latin typeface="Consolas" panose="020B0609020204030204" pitchFamily="49" charset="0"/>
                      <a:cs typeface="Consolas" panose="020B0609020204030204" pitchFamily="49" charset="0"/>
                    </a:rPr>
                    <a:t>1</a:t>
                  </a:r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DEFD9712-A123-1A49-99FC-CF9ADA7C64F1}"/>
                    </a:ext>
                  </a:extLst>
                </p:cNvPr>
                <p:cNvSpPr/>
                <p:nvPr/>
              </p:nvSpPr>
              <p:spPr>
                <a:xfrm>
                  <a:off x="1841659" y="3282800"/>
                  <a:ext cx="280976" cy="2603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1"/>
                  <a:r>
                    <a:rPr lang="en-US" sz="900">
                      <a:solidFill>
                        <a:schemeClr val="tx1"/>
                      </a:solidFill>
                      <a:latin typeface="Consolas" panose="020B0609020204030204" pitchFamily="49" charset="0"/>
                      <a:cs typeface="Consolas" panose="020B0609020204030204" pitchFamily="49" charset="0"/>
                    </a:rPr>
                    <a:t>1</a:t>
                  </a:r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AD28AF14-F418-E046-B8E1-4BB2558BC762}"/>
                    </a:ext>
                  </a:extLst>
                </p:cNvPr>
                <p:cNvSpPr/>
                <p:nvPr/>
              </p:nvSpPr>
              <p:spPr>
                <a:xfrm>
                  <a:off x="967287" y="3561024"/>
                  <a:ext cx="367328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 defTabSz="685800" rtl="1"/>
                  <a:r>
                    <a:rPr lang="en-US" sz="900">
                      <a:solidFill>
                        <a:schemeClr val="tx1"/>
                      </a:solidFill>
                      <a:latin typeface="Consolas" panose="020B0609020204030204" pitchFamily="49" charset="0"/>
                      <a:cs typeface="Consolas" panose="020B0609020204030204" pitchFamily="49" charset="0"/>
                    </a:rPr>
                    <a:t>b:</a:t>
                  </a:r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B61E49C7-33CF-3748-9DF2-23437F42423F}"/>
                    </a:ext>
                  </a:extLst>
                </p:cNvPr>
                <p:cNvSpPr/>
                <p:nvPr/>
              </p:nvSpPr>
              <p:spPr>
                <a:xfrm>
                  <a:off x="2122635" y="3633846"/>
                  <a:ext cx="280976" cy="25103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 rtl="1"/>
                  <a:r>
                    <a:rPr lang="en-US" sz="900">
                      <a:solidFill>
                        <a:schemeClr val="tx1"/>
                      </a:solidFill>
                      <a:latin typeface="Consolas" panose="020B0609020204030204" pitchFamily="49" charset="0"/>
                      <a:cs typeface="Consolas" panose="020B0609020204030204" pitchFamily="49" charset="0"/>
                    </a:rPr>
                    <a:t>0</a:t>
                  </a:r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FA3E3932-3FA5-614B-AF79-35C8547918E3}"/>
                    </a:ext>
                  </a:extLst>
                </p:cNvPr>
                <p:cNvSpPr/>
                <p:nvPr/>
              </p:nvSpPr>
              <p:spPr>
                <a:xfrm>
                  <a:off x="1560683" y="3633846"/>
                  <a:ext cx="280976" cy="25103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 rtl="1"/>
                  <a:r>
                    <a:rPr lang="en-US" sz="675" b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. . .</a:t>
                  </a:r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3AA3E9E5-FB12-6F48-97C1-CE8FF0C5E91C}"/>
                    </a:ext>
                  </a:extLst>
                </p:cNvPr>
                <p:cNvSpPr/>
                <p:nvPr/>
              </p:nvSpPr>
              <p:spPr>
                <a:xfrm>
                  <a:off x="1279707" y="3633846"/>
                  <a:ext cx="280976" cy="25103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 rtl="1"/>
                  <a:r>
                    <a:rPr lang="en-US" sz="900">
                      <a:solidFill>
                        <a:schemeClr val="tx1"/>
                      </a:solidFill>
                      <a:latin typeface="Consolas" panose="020B0609020204030204" pitchFamily="49" charset="0"/>
                      <a:cs typeface="Consolas" panose="020B0609020204030204" pitchFamily="49" charset="0"/>
                    </a:rPr>
                    <a:t>0</a:t>
                  </a:r>
                </a:p>
              </p:txBody>
            </p:sp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2EA3ED6B-F98D-034D-8124-CDAF3EBC42FA}"/>
                    </a:ext>
                  </a:extLst>
                </p:cNvPr>
                <p:cNvSpPr/>
                <p:nvPr/>
              </p:nvSpPr>
              <p:spPr>
                <a:xfrm>
                  <a:off x="1841659" y="3633846"/>
                  <a:ext cx="280976" cy="25103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1"/>
                  <a:r>
                    <a:rPr lang="en-US" sz="900">
                      <a:solidFill>
                        <a:schemeClr val="tx1"/>
                      </a:solidFill>
                      <a:latin typeface="Consolas" panose="020B0609020204030204" pitchFamily="49" charset="0"/>
                      <a:cs typeface="Consolas" panose="020B0609020204030204" pitchFamily="49" charset="0"/>
                    </a:rPr>
                    <a:t>1</a:t>
                  </a:r>
                </a:p>
              </p:txBody>
            </p:sp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005ED60C-C031-2D4D-BCFF-34CD11886E88}"/>
                    </a:ext>
                  </a:extLst>
                </p:cNvPr>
                <p:cNvSpPr/>
                <p:nvPr/>
              </p:nvSpPr>
              <p:spPr>
                <a:xfrm>
                  <a:off x="974907" y="3892126"/>
                  <a:ext cx="367328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 defTabSz="685800" rtl="1"/>
                  <a:r>
                    <a:rPr lang="en-US" sz="900">
                      <a:solidFill>
                        <a:schemeClr val="tx1"/>
                      </a:solidFill>
                      <a:latin typeface="Consolas" panose="020B0609020204030204" pitchFamily="49" charset="0"/>
                      <a:cs typeface="Consolas" panose="020B0609020204030204" pitchFamily="49" charset="0"/>
                    </a:rPr>
                    <a:t>c:</a:t>
                  </a:r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41B9A446-756B-2F48-BC88-749C5DA758AE}"/>
                    </a:ext>
                  </a:extLst>
                </p:cNvPr>
                <p:cNvSpPr/>
                <p:nvPr/>
              </p:nvSpPr>
              <p:spPr>
                <a:xfrm>
                  <a:off x="2130255" y="3964948"/>
                  <a:ext cx="280976" cy="25103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 rtl="1"/>
                  <a:r>
                    <a:rPr lang="en-US" sz="900">
                      <a:solidFill>
                        <a:schemeClr val="tx1"/>
                      </a:solidFill>
                      <a:latin typeface="Consolas" panose="020B0609020204030204" pitchFamily="49" charset="0"/>
                      <a:cs typeface="Consolas" panose="020B0609020204030204" pitchFamily="49" charset="0"/>
                    </a:rPr>
                    <a:t>1</a:t>
                  </a:r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28E63589-5EBB-F546-9062-B915A06FB6F5}"/>
                    </a:ext>
                  </a:extLst>
                </p:cNvPr>
                <p:cNvSpPr/>
                <p:nvPr/>
              </p:nvSpPr>
              <p:spPr>
                <a:xfrm>
                  <a:off x="1568303" y="3964948"/>
                  <a:ext cx="280976" cy="25103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 rtl="1"/>
                  <a:r>
                    <a:rPr lang="en-US" sz="675" b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. . .</a:t>
                  </a:r>
                </a:p>
              </p:txBody>
            </p:sp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0DD375FA-9704-0849-9B3B-30BF357FAD2C}"/>
                    </a:ext>
                  </a:extLst>
                </p:cNvPr>
                <p:cNvSpPr/>
                <p:nvPr/>
              </p:nvSpPr>
              <p:spPr>
                <a:xfrm>
                  <a:off x="1287327" y="3964948"/>
                  <a:ext cx="280976" cy="25103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 rtl="1"/>
                  <a:r>
                    <a:rPr lang="en-US" sz="900">
                      <a:solidFill>
                        <a:schemeClr val="tx1"/>
                      </a:solidFill>
                      <a:latin typeface="Consolas" panose="020B0609020204030204" pitchFamily="49" charset="0"/>
                      <a:cs typeface="Consolas" panose="020B0609020204030204" pitchFamily="49" charset="0"/>
                    </a:rPr>
                    <a:t>0</a:t>
                  </a:r>
                </a:p>
              </p:txBody>
            </p:sp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9D690073-0DDB-9D42-8DDF-4A2D8E0FD003}"/>
                    </a:ext>
                  </a:extLst>
                </p:cNvPr>
                <p:cNvSpPr/>
                <p:nvPr/>
              </p:nvSpPr>
              <p:spPr>
                <a:xfrm>
                  <a:off x="1849279" y="3964948"/>
                  <a:ext cx="280976" cy="251038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1"/>
                  <a:r>
                    <a:rPr lang="en-US" sz="900">
                      <a:solidFill>
                        <a:schemeClr val="tx1"/>
                      </a:solidFill>
                      <a:latin typeface="Consolas" panose="020B0609020204030204" pitchFamily="49" charset="0"/>
                      <a:cs typeface="Consolas" panose="020B0609020204030204" pitchFamily="49" charset="0"/>
                    </a:rPr>
                    <a:t>0</a:t>
                  </a:r>
                </a:p>
              </p:txBody>
            </p:sp>
          </p:grpSp>
        </p:grp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D42430CE-1FE6-90E1-00C1-B5BF56D7A1EF}"/>
              </a:ext>
            </a:extLst>
          </p:cNvPr>
          <p:cNvSpPr txBox="1"/>
          <p:nvPr/>
        </p:nvSpPr>
        <p:spPr>
          <a:xfrm>
            <a:off x="5534387" y="2216905"/>
            <a:ext cx="22630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[16] </a:t>
            </a:r>
            <a:r>
              <a:rPr lang="zh-CN" altLang="en-US" dirty="0"/>
              <a:t>代表</a:t>
            </a:r>
            <a:r>
              <a:rPr lang="en-US" altLang="zh-CN" dirty="0"/>
              <a:t>16-bits bus</a:t>
            </a:r>
            <a:endParaRPr lang="zh-CN" altLang="en-US" dirty="0"/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598A8C7B-FCF4-8B23-B5A4-288311CB7705}"/>
              </a:ext>
            </a:extLst>
          </p:cNvPr>
          <p:cNvCxnSpPr>
            <a:cxnSpLocks/>
          </p:cNvCxnSpPr>
          <p:nvPr/>
        </p:nvCxnSpPr>
        <p:spPr>
          <a:xfrm flipH="1" flipV="1">
            <a:off x="2202382" y="1990762"/>
            <a:ext cx="3126890" cy="4454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3162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86535" y="591530"/>
            <a:ext cx="5849463" cy="432959"/>
          </a:xfrm>
        </p:spPr>
        <p:txBody>
          <a:bodyPr/>
          <a:lstStyle/>
          <a:p>
            <a:r>
              <a:rPr lang="en-US" sz="2000"/>
              <a:t>Working with buses: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2641" y="1179242"/>
            <a:ext cx="2115515" cy="137492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108000" tIns="70200" rIns="108000" bIns="70200" rtlCol="0" anchor="ctr" anchorCtr="0">
            <a:normAutofit/>
          </a:bodyPr>
          <a:lstStyle>
            <a:lvl1pPr indent="0">
              <a:lnSpc>
                <a:spcPct val="90000"/>
              </a:lnSpc>
              <a:spcBef>
                <a:spcPct val="20000"/>
              </a:spcBef>
              <a:buClr>
                <a:srgbClr val="006600"/>
              </a:buClr>
              <a:buSzPct val="85000"/>
              <a:buFont typeface="Arial" panose="020B0604020202020204" pitchFamily="34" charset="0"/>
              <a:buNone/>
              <a:defRPr sz="1400">
                <a:solidFill>
                  <a:srgbClr val="000000"/>
                </a:solidFill>
                <a:latin typeface="Consolas"/>
                <a:cs typeface="Consolas"/>
              </a:defRPr>
            </a:lvl1pPr>
            <a:lvl2pPr indent="0">
              <a:lnSpc>
                <a:spcPct val="90000"/>
              </a:lnSpc>
              <a:spcBef>
                <a:spcPts val="1000"/>
              </a:spcBef>
              <a:buSzPct val="50000"/>
              <a:buFont typeface="Wingdings" charset="2"/>
              <a:buNone/>
              <a:defRPr sz="2000">
                <a:latin typeface="Times New Roman"/>
                <a:cs typeface="Times New Roman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>
                <a:latin typeface="Times New Roman"/>
                <a:cs typeface="Times New Roman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>
                <a:latin typeface="Times New Roman"/>
                <a:cs typeface="Times New Roman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>
                <a:latin typeface="Times New Roman"/>
                <a:cs typeface="Times New Roman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lnSpc>
                <a:spcPct val="100000"/>
              </a:lnSpc>
              <a:spcBef>
                <a:spcPts val="150"/>
              </a:spcBef>
            </a:pPr>
            <a:r>
              <a:rPr lang="en-US" sz="900">
                <a:solidFill>
                  <a:srgbClr val="008000"/>
                </a:solidFill>
              </a:rPr>
              <a:t>/* Adds two 16-bit values. */ </a:t>
            </a:r>
          </a:p>
          <a:p>
            <a:pPr>
              <a:lnSpc>
                <a:spcPct val="100000"/>
              </a:lnSpc>
              <a:spcBef>
                <a:spcPts val="150"/>
              </a:spcBef>
            </a:pPr>
            <a:r>
              <a:rPr lang="en-US" sz="900"/>
              <a:t>CHIP Adder { </a:t>
            </a:r>
          </a:p>
          <a:p>
            <a:pPr>
              <a:lnSpc>
                <a:spcPct val="100000"/>
              </a:lnSpc>
              <a:spcBef>
                <a:spcPts val="150"/>
              </a:spcBef>
            </a:pPr>
            <a:r>
              <a:rPr lang="en-US" sz="900"/>
              <a:t>   IN a[16], b[16]; </a:t>
            </a:r>
          </a:p>
          <a:p>
            <a:pPr>
              <a:lnSpc>
                <a:spcPct val="100000"/>
              </a:lnSpc>
              <a:spcBef>
                <a:spcPts val="150"/>
              </a:spcBef>
            </a:pPr>
            <a:r>
              <a:rPr lang="en-US" sz="900"/>
              <a:t>   OUT out[16]; </a:t>
            </a:r>
          </a:p>
          <a:p>
            <a:pPr>
              <a:lnSpc>
                <a:spcPct val="100000"/>
              </a:lnSpc>
              <a:spcBef>
                <a:spcPts val="900"/>
              </a:spcBef>
            </a:pPr>
            <a:r>
              <a:rPr lang="en-US" sz="900"/>
              <a:t>   PARTS: </a:t>
            </a:r>
          </a:p>
          <a:p>
            <a:pPr>
              <a:lnSpc>
                <a:spcPct val="100000"/>
              </a:lnSpc>
              <a:spcBef>
                <a:spcPts val="150"/>
              </a:spcBef>
            </a:pPr>
            <a:r>
              <a:rPr lang="en-US" sz="900"/>
              <a:t>   ...</a:t>
            </a:r>
          </a:p>
          <a:p>
            <a:pPr>
              <a:lnSpc>
                <a:spcPct val="100000"/>
              </a:lnSpc>
              <a:spcBef>
                <a:spcPts val="150"/>
              </a:spcBef>
            </a:pPr>
            <a:r>
              <a:rPr lang="en-US" sz="900"/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D8414D-CEF4-0546-B038-E05AB6E48921}"/>
              </a:ext>
            </a:extLst>
          </p:cNvPr>
          <p:cNvSpPr txBox="1"/>
          <p:nvPr/>
        </p:nvSpPr>
        <p:spPr>
          <a:xfrm>
            <a:off x="1842363" y="2357526"/>
            <a:ext cx="2263024" cy="164689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189000" tIns="140400" rIns="108000" bIns="70200" rtlCol="0" anchor="t" anchorCtr="0">
            <a:normAutofit lnSpcReduction="10000"/>
          </a:bodyPr>
          <a:lstStyle>
            <a:lvl1pPr indent="0">
              <a:lnSpc>
                <a:spcPct val="90000"/>
              </a:lnSpc>
              <a:spcBef>
                <a:spcPct val="20000"/>
              </a:spcBef>
              <a:buClr>
                <a:srgbClr val="006600"/>
              </a:buClr>
              <a:buSzPct val="85000"/>
              <a:buFont typeface="Arial" panose="020B0604020202020204" pitchFamily="34" charset="0"/>
              <a:buNone/>
              <a:defRPr sz="1400">
                <a:solidFill>
                  <a:srgbClr val="000000"/>
                </a:solidFill>
                <a:latin typeface="Consolas"/>
                <a:cs typeface="Consolas"/>
              </a:defRPr>
            </a:lvl1pPr>
            <a:lvl2pPr indent="0">
              <a:lnSpc>
                <a:spcPct val="90000"/>
              </a:lnSpc>
              <a:spcBef>
                <a:spcPts val="1000"/>
              </a:spcBef>
              <a:buSzPct val="50000"/>
              <a:buFont typeface="Wingdings" charset="2"/>
              <a:buNone/>
              <a:defRPr sz="2000">
                <a:latin typeface="Times New Roman"/>
                <a:cs typeface="Times New Roman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>
                <a:latin typeface="Times New Roman"/>
                <a:cs typeface="Times New Roman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>
                <a:latin typeface="Times New Roman"/>
                <a:cs typeface="Times New Roman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>
                <a:latin typeface="Times New Roman"/>
                <a:cs typeface="Times New Roman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lnSpc>
                <a:spcPct val="100000"/>
              </a:lnSpc>
            </a:pPr>
            <a:r>
              <a:rPr lang="en-US" sz="900">
                <a:solidFill>
                  <a:srgbClr val="008000"/>
                </a:solidFill>
              </a:rPr>
              <a:t>/* Adds three 16-bit inputs. */ </a:t>
            </a:r>
          </a:p>
          <a:p>
            <a:pPr>
              <a:lnSpc>
                <a:spcPct val="100000"/>
              </a:lnSpc>
            </a:pPr>
            <a:r>
              <a:rPr lang="en-US" sz="900"/>
              <a:t>CHIP Adder3Way { </a:t>
            </a:r>
          </a:p>
          <a:p>
            <a:pPr>
              <a:lnSpc>
                <a:spcPct val="100000"/>
              </a:lnSpc>
            </a:pPr>
            <a:r>
              <a:rPr lang="en-US" sz="900"/>
              <a:t>   IN </a:t>
            </a:r>
            <a:r>
              <a:rPr lang="en-US" sz="900">
                <a:solidFill>
                  <a:srgbClr val="0432FF"/>
                </a:solidFill>
              </a:rPr>
              <a:t>a</a:t>
            </a:r>
            <a:r>
              <a:rPr lang="en-US" sz="900"/>
              <a:t>[16], </a:t>
            </a:r>
            <a:r>
              <a:rPr lang="en-US" sz="900">
                <a:solidFill>
                  <a:srgbClr val="0432FF"/>
                </a:solidFill>
              </a:rPr>
              <a:t>b</a:t>
            </a:r>
            <a:r>
              <a:rPr lang="en-US" sz="900"/>
              <a:t>[16], </a:t>
            </a:r>
            <a:r>
              <a:rPr lang="en-US" sz="900">
                <a:solidFill>
                  <a:srgbClr val="0432FF"/>
                </a:solidFill>
              </a:rPr>
              <a:t>c</a:t>
            </a:r>
            <a:r>
              <a:rPr lang="en-US" sz="900"/>
              <a:t>[16]; </a:t>
            </a:r>
          </a:p>
          <a:p>
            <a:pPr>
              <a:lnSpc>
                <a:spcPct val="100000"/>
              </a:lnSpc>
            </a:pPr>
            <a:r>
              <a:rPr lang="en-US" sz="900"/>
              <a:t>   OUT </a:t>
            </a:r>
            <a:r>
              <a:rPr lang="en-US" sz="900">
                <a:solidFill>
                  <a:srgbClr val="0432FF"/>
                </a:solidFill>
              </a:rPr>
              <a:t>out</a:t>
            </a:r>
            <a:r>
              <a:rPr lang="en-US" sz="900"/>
              <a:t>[16];</a:t>
            </a:r>
          </a:p>
          <a:p>
            <a:pPr>
              <a:lnSpc>
                <a:spcPct val="100000"/>
              </a:lnSpc>
              <a:spcBef>
                <a:spcPts val="900"/>
              </a:spcBef>
            </a:pPr>
            <a:r>
              <a:rPr lang="en-US" sz="900"/>
              <a:t>   PARTS:</a:t>
            </a:r>
          </a:p>
          <a:p>
            <a:pPr>
              <a:lnSpc>
                <a:spcPct val="100000"/>
              </a:lnSpc>
            </a:pPr>
            <a:r>
              <a:rPr lang="en-US" sz="900">
                <a:solidFill>
                  <a:schemeClr val="tx1"/>
                </a:solidFill>
              </a:rPr>
              <a:t>   Adder(a=</a:t>
            </a:r>
            <a:r>
              <a:rPr lang="en-US" sz="900">
                <a:solidFill>
                  <a:srgbClr val="0432FF"/>
                </a:solidFill>
              </a:rPr>
              <a:t>a</a:t>
            </a:r>
            <a:r>
              <a:rPr lang="en-US" sz="900">
                <a:solidFill>
                  <a:schemeClr val="tx1"/>
                </a:solidFill>
              </a:rPr>
              <a:t> , b=</a:t>
            </a:r>
            <a:r>
              <a:rPr lang="en-US" sz="900">
                <a:solidFill>
                  <a:srgbClr val="0432FF"/>
                </a:solidFill>
              </a:rPr>
              <a:t>b</a:t>
            </a:r>
            <a:r>
              <a:rPr lang="en-US" sz="900">
                <a:solidFill>
                  <a:schemeClr val="tx1"/>
                </a:solidFill>
              </a:rPr>
              <a:t>, out=</a:t>
            </a:r>
            <a:r>
              <a:rPr lang="en-US" sz="900">
                <a:solidFill>
                  <a:schemeClr val="accent2">
                    <a:lumMod val="75000"/>
                  </a:schemeClr>
                </a:solidFill>
              </a:rPr>
              <a:t>ab</a:t>
            </a:r>
            <a:r>
              <a:rPr lang="en-US" sz="900">
                <a:solidFill>
                  <a:schemeClr val="tx1"/>
                </a:solidFill>
              </a:rPr>
              <a:t>);</a:t>
            </a:r>
          </a:p>
          <a:p>
            <a:pPr>
              <a:lnSpc>
                <a:spcPct val="100000"/>
              </a:lnSpc>
            </a:pPr>
            <a:r>
              <a:rPr lang="en-US" sz="900">
                <a:solidFill>
                  <a:schemeClr val="tx1"/>
                </a:solidFill>
              </a:rPr>
              <a:t>   Adder(a=</a:t>
            </a:r>
            <a:r>
              <a:rPr lang="en-US" sz="900">
                <a:solidFill>
                  <a:schemeClr val="accent2">
                    <a:lumMod val="75000"/>
                  </a:schemeClr>
                </a:solidFill>
              </a:rPr>
              <a:t>ab</a:t>
            </a:r>
            <a:r>
              <a:rPr lang="en-US" sz="900">
                <a:solidFill>
                  <a:schemeClr val="tx1"/>
                </a:solidFill>
              </a:rPr>
              <a:t>, b=</a:t>
            </a:r>
            <a:r>
              <a:rPr lang="en-US" sz="900">
                <a:solidFill>
                  <a:srgbClr val="0432FF"/>
                </a:solidFill>
              </a:rPr>
              <a:t>c</a:t>
            </a:r>
            <a:r>
              <a:rPr lang="en-US" sz="900">
                <a:solidFill>
                  <a:schemeClr val="tx1"/>
                </a:solidFill>
              </a:rPr>
              <a:t>, out=</a:t>
            </a:r>
            <a:r>
              <a:rPr lang="en-US" sz="900">
                <a:solidFill>
                  <a:srgbClr val="0432FF"/>
                </a:solidFill>
              </a:rPr>
              <a:t>out</a:t>
            </a:r>
            <a:r>
              <a:rPr lang="en-US" sz="900">
                <a:solidFill>
                  <a:schemeClr val="tx1"/>
                </a:solidFill>
              </a:rPr>
              <a:t>);   </a:t>
            </a:r>
          </a:p>
          <a:p>
            <a:pPr>
              <a:lnSpc>
                <a:spcPct val="100000"/>
              </a:lnSpc>
            </a:pPr>
            <a:r>
              <a:rPr lang="en-US" sz="900"/>
              <a:t>}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3187C0A-6B65-854E-99AA-645974FA40D0}"/>
              </a:ext>
            </a:extLst>
          </p:cNvPr>
          <p:cNvGrpSpPr/>
          <p:nvPr/>
        </p:nvGrpSpPr>
        <p:grpSpPr>
          <a:xfrm>
            <a:off x="245132" y="3619780"/>
            <a:ext cx="1321176" cy="276999"/>
            <a:chOff x="649663" y="4334280"/>
            <a:chExt cx="1761568" cy="369332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FFE6FB3-0E1C-FE48-B471-D45D6FABCBF1}"/>
                </a:ext>
              </a:extLst>
            </p:cNvPr>
            <p:cNvSpPr/>
            <p:nvPr/>
          </p:nvSpPr>
          <p:spPr>
            <a:xfrm>
              <a:off x="649663" y="4334280"/>
              <a:ext cx="692572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r" defTabSz="685800" rtl="1"/>
              <a:r>
                <a:rPr lang="en-US" sz="90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out: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139F84B-F4FA-2B4C-B466-5D1D0A840CDB}"/>
                </a:ext>
              </a:extLst>
            </p:cNvPr>
            <p:cNvSpPr/>
            <p:nvPr/>
          </p:nvSpPr>
          <p:spPr>
            <a:xfrm>
              <a:off x="2130255" y="4391861"/>
              <a:ext cx="280976" cy="2676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1"/>
              <a:r>
                <a:rPr lang="en-US" sz="90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0D58D0A-7510-C048-8497-280B7E392166}"/>
                </a:ext>
              </a:extLst>
            </p:cNvPr>
            <p:cNvSpPr/>
            <p:nvPr/>
          </p:nvSpPr>
          <p:spPr>
            <a:xfrm>
              <a:off x="1568303" y="4391861"/>
              <a:ext cx="280976" cy="2676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 rtl="1"/>
              <a:r>
                <a:rPr lang="en-US" sz="675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 . . 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EE1CCFE-0C0F-8547-A70C-AA56599B27B0}"/>
                </a:ext>
              </a:extLst>
            </p:cNvPr>
            <p:cNvSpPr/>
            <p:nvPr/>
          </p:nvSpPr>
          <p:spPr>
            <a:xfrm>
              <a:off x="1287327" y="4391861"/>
              <a:ext cx="280976" cy="2676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1"/>
              <a:r>
                <a:rPr lang="en-US" sz="90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850FD19-1FFC-0D41-A895-139F33D39D50}"/>
                </a:ext>
              </a:extLst>
            </p:cNvPr>
            <p:cNvSpPr/>
            <p:nvPr/>
          </p:nvSpPr>
          <p:spPr>
            <a:xfrm>
              <a:off x="1849279" y="4391861"/>
              <a:ext cx="280976" cy="2676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r>
                <a:rPr lang="en-US" sz="90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CB89BEEE-1B4D-4444-854C-C60E6DBC232C}"/>
              </a:ext>
            </a:extLst>
          </p:cNvPr>
          <p:cNvGrpSpPr/>
          <p:nvPr/>
        </p:nvGrpSpPr>
        <p:grpSpPr>
          <a:xfrm>
            <a:off x="483350" y="2554171"/>
            <a:ext cx="1109625" cy="1010993"/>
            <a:chOff x="967287" y="2913468"/>
            <a:chExt cx="1479500" cy="134799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24A7592-56A3-D64E-B0AC-DB51F8B5308F}"/>
                </a:ext>
              </a:extLst>
            </p:cNvPr>
            <p:cNvSpPr/>
            <p:nvPr/>
          </p:nvSpPr>
          <p:spPr>
            <a:xfrm>
              <a:off x="974907" y="3217598"/>
              <a:ext cx="367328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685800" rtl="1"/>
              <a:r>
                <a:rPr lang="en-US" sz="90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a: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D5C4B5E-F319-3947-8C9D-FC38855F89D1}"/>
                </a:ext>
              </a:extLst>
            </p:cNvPr>
            <p:cNvSpPr txBox="1"/>
            <p:nvPr/>
          </p:nvSpPr>
          <p:spPr>
            <a:xfrm>
              <a:off x="2061059" y="2913468"/>
              <a:ext cx="246307" cy="3077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r" defTabSz="685800" rtl="1"/>
              <a:endParaRPr lang="en-US" sz="9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5B4856F-9AC9-434A-A259-038B64A53AB2}"/>
                </a:ext>
              </a:extLst>
            </p:cNvPr>
            <p:cNvSpPr/>
            <p:nvPr/>
          </p:nvSpPr>
          <p:spPr>
            <a:xfrm>
              <a:off x="1820071" y="2972491"/>
              <a:ext cx="367328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rtl="1"/>
              <a:r>
                <a:rPr lang="en-US" sz="9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EAF2474-79D4-3E49-8BFD-FA0D2DE4CEFD}"/>
                </a:ext>
              </a:extLst>
            </p:cNvPr>
            <p:cNvSpPr/>
            <p:nvPr/>
          </p:nvSpPr>
          <p:spPr>
            <a:xfrm>
              <a:off x="2079459" y="2963374"/>
              <a:ext cx="367328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685800" rtl="1"/>
              <a:r>
                <a:rPr lang="en-US" sz="9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FC64C79-6565-744F-A870-D8BDE3DC0AA2}"/>
                </a:ext>
              </a:extLst>
            </p:cNvPr>
            <p:cNvSpPr/>
            <p:nvPr/>
          </p:nvSpPr>
          <p:spPr>
            <a:xfrm>
              <a:off x="2122635" y="3282800"/>
              <a:ext cx="280976" cy="2603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1"/>
              <a:r>
                <a:rPr lang="en-US" sz="90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3F2D5CF-A352-BE47-B002-0413AEFCEB5C}"/>
                </a:ext>
              </a:extLst>
            </p:cNvPr>
            <p:cNvSpPr txBox="1"/>
            <p:nvPr/>
          </p:nvSpPr>
          <p:spPr>
            <a:xfrm>
              <a:off x="1560683" y="2913468"/>
              <a:ext cx="246308" cy="3077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685800"/>
              <a:endParaRPr lang="en-US" sz="9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F28B079-FFFE-8F41-950B-A03506DF63BB}"/>
                </a:ext>
              </a:extLst>
            </p:cNvPr>
            <p:cNvSpPr/>
            <p:nvPr/>
          </p:nvSpPr>
          <p:spPr>
            <a:xfrm>
              <a:off x="1258119" y="2972491"/>
              <a:ext cx="367328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685800" rtl="1"/>
              <a:r>
                <a:rPr lang="en-US" sz="9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15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A0716D8-66A2-A24B-852F-1A76F3D2E313}"/>
                </a:ext>
              </a:extLst>
            </p:cNvPr>
            <p:cNvSpPr/>
            <p:nvPr/>
          </p:nvSpPr>
          <p:spPr>
            <a:xfrm>
              <a:off x="1517507" y="2963374"/>
              <a:ext cx="367328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rtl="1"/>
              <a:r>
                <a:rPr lang="en-US" sz="675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 . .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6D176DC-A655-174D-9DA3-0CB9C4499A28}"/>
                </a:ext>
              </a:extLst>
            </p:cNvPr>
            <p:cNvSpPr/>
            <p:nvPr/>
          </p:nvSpPr>
          <p:spPr>
            <a:xfrm>
              <a:off x="1560683" y="3282800"/>
              <a:ext cx="280976" cy="2603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675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 . . 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ACD47CC-9457-E240-A99C-1C41D4E2A0DB}"/>
                </a:ext>
              </a:extLst>
            </p:cNvPr>
            <p:cNvSpPr/>
            <p:nvPr/>
          </p:nvSpPr>
          <p:spPr>
            <a:xfrm>
              <a:off x="1279707" y="3282800"/>
              <a:ext cx="280976" cy="2603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1"/>
              <a:r>
                <a:rPr lang="en-US" sz="90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2B82D2E-C5B4-7A4D-A211-571C91739F69}"/>
                </a:ext>
              </a:extLst>
            </p:cNvPr>
            <p:cNvSpPr/>
            <p:nvPr/>
          </p:nvSpPr>
          <p:spPr>
            <a:xfrm>
              <a:off x="1841659" y="3282800"/>
              <a:ext cx="280976" cy="2603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r>
                <a:rPr lang="en-US" sz="90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206BBE1-29B1-CF46-8AFD-614A1A6A73C9}"/>
                </a:ext>
              </a:extLst>
            </p:cNvPr>
            <p:cNvSpPr/>
            <p:nvPr/>
          </p:nvSpPr>
          <p:spPr>
            <a:xfrm>
              <a:off x="967287" y="3561024"/>
              <a:ext cx="367328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685800" rtl="1"/>
              <a:r>
                <a:rPr lang="en-US" sz="90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b: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94B7FAC-83A5-BD49-9842-A5B1FFB2DA91}"/>
                </a:ext>
              </a:extLst>
            </p:cNvPr>
            <p:cNvSpPr/>
            <p:nvPr/>
          </p:nvSpPr>
          <p:spPr>
            <a:xfrm>
              <a:off x="2122635" y="3633846"/>
              <a:ext cx="280976" cy="2510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1"/>
              <a:r>
                <a:rPr lang="en-US" sz="90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67E8467-3F1F-F545-945E-D7727E8CD603}"/>
                </a:ext>
              </a:extLst>
            </p:cNvPr>
            <p:cNvSpPr/>
            <p:nvPr/>
          </p:nvSpPr>
          <p:spPr>
            <a:xfrm>
              <a:off x="1560683" y="3633846"/>
              <a:ext cx="280976" cy="2510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 rtl="1"/>
              <a:r>
                <a:rPr lang="en-US" sz="675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 . .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CB59038-A159-5F47-AB6B-DD6F9DCA4860}"/>
                </a:ext>
              </a:extLst>
            </p:cNvPr>
            <p:cNvSpPr/>
            <p:nvPr/>
          </p:nvSpPr>
          <p:spPr>
            <a:xfrm>
              <a:off x="1279707" y="3633846"/>
              <a:ext cx="280976" cy="2510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1"/>
              <a:r>
                <a:rPr lang="en-US" sz="90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7A592DC-46D7-0140-A3A8-4267732F91E7}"/>
                </a:ext>
              </a:extLst>
            </p:cNvPr>
            <p:cNvSpPr/>
            <p:nvPr/>
          </p:nvSpPr>
          <p:spPr>
            <a:xfrm>
              <a:off x="1841659" y="3633846"/>
              <a:ext cx="280976" cy="2510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r>
                <a:rPr lang="en-US" sz="90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6862448-4AEA-224A-8749-E48D1D26FC07}"/>
                </a:ext>
              </a:extLst>
            </p:cNvPr>
            <p:cNvSpPr/>
            <p:nvPr/>
          </p:nvSpPr>
          <p:spPr>
            <a:xfrm>
              <a:off x="974907" y="3892126"/>
              <a:ext cx="367328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685800" rtl="1"/>
              <a:r>
                <a:rPr lang="en-US" sz="90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c: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D5812EA-E22E-8442-90FE-DBAC7602C6BD}"/>
                </a:ext>
              </a:extLst>
            </p:cNvPr>
            <p:cNvSpPr/>
            <p:nvPr/>
          </p:nvSpPr>
          <p:spPr>
            <a:xfrm>
              <a:off x="2130255" y="3964948"/>
              <a:ext cx="280976" cy="2510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1"/>
              <a:r>
                <a:rPr lang="en-US" sz="90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129FC677-6287-0545-8471-4C6FFE71D7E0}"/>
                </a:ext>
              </a:extLst>
            </p:cNvPr>
            <p:cNvSpPr/>
            <p:nvPr/>
          </p:nvSpPr>
          <p:spPr>
            <a:xfrm>
              <a:off x="1568303" y="3964948"/>
              <a:ext cx="280976" cy="2510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 rtl="1"/>
              <a:r>
                <a:rPr lang="en-US" sz="675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 . .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C4D87FC-C4F7-2D47-BB12-093C08BDE72A}"/>
                </a:ext>
              </a:extLst>
            </p:cNvPr>
            <p:cNvSpPr/>
            <p:nvPr/>
          </p:nvSpPr>
          <p:spPr>
            <a:xfrm>
              <a:off x="1287327" y="3964948"/>
              <a:ext cx="280976" cy="2510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1"/>
              <a:r>
                <a:rPr lang="en-US" sz="90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838BF95-B687-1A4B-8F98-2839231E73C8}"/>
                </a:ext>
              </a:extLst>
            </p:cNvPr>
            <p:cNvSpPr/>
            <p:nvPr/>
          </p:nvSpPr>
          <p:spPr>
            <a:xfrm>
              <a:off x="1849279" y="3964948"/>
              <a:ext cx="280976" cy="2510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1"/>
              <a:r>
                <a:rPr lang="en-US" sz="90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pic>
        <p:nvPicPr>
          <p:cNvPr id="38" name="Content Placeholder 5">
            <a:extLst>
              <a:ext uri="{FF2B5EF4-FFF2-40B4-BE49-F238E27FC236}">
                <a16:creationId xmlns:a16="http://schemas.microsoft.com/office/drawing/2014/main" id="{0A9E2BD6-21B3-834D-A8BE-CEF445A410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3271" y="1234464"/>
            <a:ext cx="1902027" cy="1067840"/>
          </a:xfrm>
          <a:prstGeom prst="rect">
            <a:avLst/>
          </a:prstGeom>
        </p:spPr>
      </p:pic>
      <p:sp>
        <p:nvSpPr>
          <p:cNvPr id="39" name="Rounded Rectangular Callout 38">
            <a:extLst>
              <a:ext uri="{FF2B5EF4-FFF2-40B4-BE49-F238E27FC236}">
                <a16:creationId xmlns:a16="http://schemas.microsoft.com/office/drawing/2014/main" id="{DDA825F0-1BCD-8F48-9CC8-304644D910C2}"/>
              </a:ext>
            </a:extLst>
          </p:cNvPr>
          <p:cNvSpPr/>
          <p:nvPr/>
        </p:nvSpPr>
        <p:spPr>
          <a:xfrm>
            <a:off x="4354775" y="2669232"/>
            <a:ext cx="1749728" cy="509106"/>
          </a:xfrm>
          <a:prstGeom prst="wedgeRoundRectCallout">
            <a:avLst>
              <a:gd name="adj1" fmla="val -122298"/>
              <a:gd name="adj2" fmla="val 82553"/>
              <a:gd name="adj3" fmla="val 16667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1000" tIns="35100" rtlCol="0" anchor="t" anchorCtr="0"/>
          <a:lstStyle/>
          <a:p>
            <a:pPr>
              <a:buSzPct val="100000"/>
            </a:pPr>
            <a:r>
              <a:rPr lang="en-US" sz="1200" i="1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r>
              <a:rPr lang="en-US" sz="1200">
                <a:solidFill>
                  <a:srgbClr val="000000"/>
                </a:solidFill>
                <a:latin typeface="Times New Roman"/>
                <a:cs typeface="Times New Roman"/>
              </a:rPr>
              <a:t>-bit value (bus) can be treated as a single entity</a:t>
            </a:r>
          </a:p>
        </p:txBody>
      </p:sp>
      <p:sp>
        <p:nvSpPr>
          <p:cNvPr id="40" name="Rounded Rectangular Callout 39">
            <a:extLst>
              <a:ext uri="{FF2B5EF4-FFF2-40B4-BE49-F238E27FC236}">
                <a16:creationId xmlns:a16="http://schemas.microsoft.com/office/drawing/2014/main" id="{F92AE3E2-2B8F-6544-9148-C0854F1E17D6}"/>
              </a:ext>
            </a:extLst>
          </p:cNvPr>
          <p:cNvSpPr/>
          <p:nvPr/>
        </p:nvSpPr>
        <p:spPr>
          <a:xfrm>
            <a:off x="4458279" y="3342781"/>
            <a:ext cx="1396190" cy="520943"/>
          </a:xfrm>
          <a:prstGeom prst="wedgeRoundRectCallout">
            <a:avLst>
              <a:gd name="adj1" fmla="val -94620"/>
              <a:gd name="adj2" fmla="val -17894"/>
              <a:gd name="adj3" fmla="val 16667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1000" tIns="35100" rtlCol="0" anchor="t" anchorCtr="0"/>
          <a:lstStyle/>
          <a:p>
            <a:pPr>
              <a:buSzPct val="100000"/>
            </a:pPr>
            <a:r>
              <a:rPr lang="en-US" sz="1200">
                <a:solidFill>
                  <a:srgbClr val="000000"/>
                </a:solidFill>
                <a:latin typeface="Times New Roman"/>
                <a:cs typeface="Times New Roman"/>
              </a:rPr>
              <a:t>Creates an internal bus pin (</a:t>
            </a:r>
            <a:r>
              <a:rPr lang="en-US" sz="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ab</a:t>
            </a:r>
            <a:r>
              <a:rPr lang="en-US" sz="1200">
                <a:solidFill>
                  <a:srgbClr val="000000"/>
                </a:solidFill>
                <a:latin typeface="Times New Roman"/>
                <a:cs typeface="Times New Roman"/>
              </a:rPr>
              <a:t>)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1EC03DF-9476-90AF-DCCE-DE567FB04D60}"/>
              </a:ext>
            </a:extLst>
          </p:cNvPr>
          <p:cNvSpPr txBox="1"/>
          <p:nvPr/>
        </p:nvSpPr>
        <p:spPr>
          <a:xfrm>
            <a:off x="4354775" y="2302304"/>
            <a:ext cx="4300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6"/>
                </a:solidFill>
              </a:rPr>
              <a:t>定义</a:t>
            </a:r>
            <a:r>
              <a:rPr lang="en-US" altLang="zh-CN" dirty="0">
                <a:solidFill>
                  <a:schemeClr val="accent6"/>
                </a:solidFill>
              </a:rPr>
              <a:t>3</a:t>
            </a:r>
            <a:r>
              <a:rPr lang="zh-CN" altLang="en-US" dirty="0">
                <a:solidFill>
                  <a:schemeClr val="accent6"/>
                </a:solidFill>
              </a:rPr>
              <a:t>个</a:t>
            </a:r>
            <a:r>
              <a:rPr lang="en-US" altLang="zh-CN" dirty="0">
                <a:solidFill>
                  <a:schemeClr val="accent6"/>
                </a:solidFill>
              </a:rPr>
              <a:t>16-bits bus</a:t>
            </a:r>
            <a:r>
              <a:rPr lang="zh-CN" altLang="en-US" dirty="0">
                <a:solidFill>
                  <a:schemeClr val="accent6"/>
                </a:solidFill>
              </a:rPr>
              <a:t>输入</a:t>
            </a:r>
            <a:r>
              <a:rPr lang="en-US" altLang="zh-CN" dirty="0">
                <a:solidFill>
                  <a:schemeClr val="accent6"/>
                </a:solidFill>
              </a:rPr>
              <a:t>a, b, c</a:t>
            </a:r>
            <a:r>
              <a:rPr lang="zh-CN" altLang="en-US" dirty="0">
                <a:solidFill>
                  <a:schemeClr val="accent6"/>
                </a:solidFill>
              </a:rPr>
              <a:t>；和</a:t>
            </a:r>
            <a:r>
              <a:rPr lang="en-US" altLang="zh-CN" dirty="0">
                <a:solidFill>
                  <a:schemeClr val="accent6"/>
                </a:solidFill>
              </a:rPr>
              <a:t>1</a:t>
            </a:r>
            <a:r>
              <a:rPr lang="zh-CN" altLang="en-US" dirty="0">
                <a:solidFill>
                  <a:schemeClr val="accent6"/>
                </a:solidFill>
              </a:rPr>
              <a:t>个</a:t>
            </a:r>
            <a:r>
              <a:rPr lang="en-US" altLang="zh-CN" dirty="0">
                <a:solidFill>
                  <a:schemeClr val="accent6"/>
                </a:solidFill>
              </a:rPr>
              <a:t>16-bits</a:t>
            </a:r>
            <a:r>
              <a:rPr lang="zh-CN" altLang="en-US" dirty="0">
                <a:solidFill>
                  <a:schemeClr val="accent6"/>
                </a:solidFill>
              </a:rPr>
              <a:t>输出</a:t>
            </a:r>
            <a:r>
              <a:rPr lang="en-US" altLang="zh-CN" dirty="0">
                <a:solidFill>
                  <a:schemeClr val="accent6"/>
                </a:solidFill>
              </a:rPr>
              <a:t>out</a:t>
            </a:r>
            <a:endParaRPr lang="zh-CN" altLang="en-US" dirty="0">
              <a:solidFill>
                <a:schemeClr val="accent6"/>
              </a:solidFill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58687A89-2750-5BB2-E323-E597A9327016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3190388" y="2456193"/>
            <a:ext cx="1164387" cy="4805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C7044E76-8DF8-136D-1AFF-7B5A6121033B}"/>
              </a:ext>
            </a:extLst>
          </p:cNvPr>
          <p:cNvSpPr txBox="1"/>
          <p:nvPr/>
        </p:nvSpPr>
        <p:spPr>
          <a:xfrm>
            <a:off x="4458279" y="4111462"/>
            <a:ext cx="4300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/>
                </a:solidFill>
              </a:rPr>
              <a:t>16-bits</a:t>
            </a:r>
            <a:r>
              <a:rPr lang="zh-CN" altLang="en-US" dirty="0">
                <a:solidFill>
                  <a:schemeClr val="accent6"/>
                </a:solidFill>
              </a:rPr>
              <a:t>数 </a:t>
            </a:r>
            <a:r>
              <a:rPr lang="en-US" altLang="zh-CN" dirty="0">
                <a:solidFill>
                  <a:schemeClr val="accent6"/>
                </a:solidFill>
              </a:rPr>
              <a:t>a + b + c = out:   a + b-&gt;ab ;   ab + c -&gt; out  </a:t>
            </a:r>
            <a:endParaRPr lang="zh-CN" altLang="en-US" dirty="0">
              <a:solidFill>
                <a:schemeClr val="accent6"/>
              </a:solidFill>
            </a:endParaRPr>
          </a:p>
        </p:txBody>
      </p: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946536EF-7923-78E3-A740-61FDB09116DE}"/>
              </a:ext>
            </a:extLst>
          </p:cNvPr>
          <p:cNvCxnSpPr>
            <a:stCxn id="41" idx="1"/>
          </p:cNvCxnSpPr>
          <p:nvPr/>
        </p:nvCxnSpPr>
        <p:spPr>
          <a:xfrm flipH="1" flipV="1">
            <a:off x="2442850" y="3758279"/>
            <a:ext cx="2015429" cy="507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9301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4391B71F-09C8-C24B-9806-EC55808782CB}"/>
              </a:ext>
            </a:extLst>
          </p:cNvPr>
          <p:cNvSpPr txBox="1"/>
          <p:nvPr/>
        </p:nvSpPr>
        <p:spPr>
          <a:xfrm>
            <a:off x="341531" y="1080814"/>
            <a:ext cx="2121620" cy="118753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108000" tIns="0" rIns="108000" bIns="0" rtlCol="0" anchor="ctr" anchorCtr="0">
            <a:normAutofit/>
          </a:bodyPr>
          <a:lstStyle>
            <a:lvl1pPr indent="0">
              <a:lnSpc>
                <a:spcPct val="90000"/>
              </a:lnSpc>
              <a:spcBef>
                <a:spcPct val="20000"/>
              </a:spcBef>
              <a:buClr>
                <a:srgbClr val="006600"/>
              </a:buClr>
              <a:buSzPct val="85000"/>
              <a:buFont typeface="Arial" panose="020B0604020202020204" pitchFamily="34" charset="0"/>
              <a:buNone/>
              <a:defRPr sz="1400">
                <a:solidFill>
                  <a:srgbClr val="000000"/>
                </a:solidFill>
                <a:latin typeface="Consolas"/>
                <a:cs typeface="Consolas"/>
              </a:defRPr>
            </a:lvl1pPr>
            <a:lvl2pPr indent="0">
              <a:lnSpc>
                <a:spcPct val="90000"/>
              </a:lnSpc>
              <a:spcBef>
                <a:spcPts val="1000"/>
              </a:spcBef>
              <a:buSzPct val="50000"/>
              <a:buFont typeface="Wingdings" charset="2"/>
              <a:buNone/>
              <a:defRPr sz="2000">
                <a:latin typeface="Times New Roman"/>
                <a:cs typeface="Times New Roman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>
                <a:latin typeface="Times New Roman"/>
                <a:cs typeface="Times New Roman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>
                <a:latin typeface="Times New Roman"/>
                <a:cs typeface="Times New Roman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>
                <a:latin typeface="Times New Roman"/>
                <a:cs typeface="Times New Roman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lnSpc>
                <a:spcPct val="100000"/>
              </a:lnSpc>
              <a:spcBef>
                <a:spcPts val="150"/>
              </a:spcBef>
            </a:pPr>
            <a:r>
              <a:rPr lang="en-US" sz="900">
                <a:solidFill>
                  <a:srgbClr val="008000"/>
                </a:solidFill>
              </a:rPr>
              <a:t>/* Returns 1 if a==1 and b==1,</a:t>
            </a:r>
          </a:p>
          <a:p>
            <a:pPr>
              <a:lnSpc>
                <a:spcPct val="100000"/>
              </a:lnSpc>
              <a:spcBef>
                <a:spcPts val="150"/>
              </a:spcBef>
            </a:pPr>
            <a:r>
              <a:rPr lang="en-US" sz="900">
                <a:solidFill>
                  <a:srgbClr val="008000"/>
                </a:solidFill>
              </a:rPr>
              <a:t> * 0 otherwise. */ </a:t>
            </a:r>
          </a:p>
          <a:p>
            <a:pPr>
              <a:lnSpc>
                <a:spcPct val="100000"/>
              </a:lnSpc>
              <a:spcBef>
                <a:spcPts val="150"/>
              </a:spcBef>
            </a:pPr>
            <a:r>
              <a:rPr lang="en-US" sz="900"/>
              <a:t>CHIP And { </a:t>
            </a:r>
          </a:p>
          <a:p>
            <a:pPr>
              <a:lnSpc>
                <a:spcPct val="100000"/>
              </a:lnSpc>
              <a:spcBef>
                <a:spcPts val="150"/>
              </a:spcBef>
            </a:pPr>
            <a:r>
              <a:rPr lang="en-US" sz="900"/>
              <a:t>   IN a, b; </a:t>
            </a:r>
          </a:p>
          <a:p>
            <a:pPr>
              <a:lnSpc>
                <a:spcPct val="100000"/>
              </a:lnSpc>
              <a:spcBef>
                <a:spcPts val="150"/>
              </a:spcBef>
            </a:pPr>
            <a:r>
              <a:rPr lang="en-US" sz="900"/>
              <a:t>   OUT out;</a:t>
            </a:r>
          </a:p>
          <a:p>
            <a:pPr>
              <a:lnSpc>
                <a:spcPct val="100000"/>
              </a:lnSpc>
              <a:spcBef>
                <a:spcPts val="150"/>
              </a:spcBef>
            </a:pPr>
            <a:r>
              <a:rPr lang="en-US" sz="900"/>
              <a:t>   ... </a:t>
            </a:r>
          </a:p>
          <a:p>
            <a:pPr>
              <a:lnSpc>
                <a:spcPct val="100000"/>
              </a:lnSpc>
              <a:spcBef>
                <a:spcPts val="150"/>
              </a:spcBef>
            </a:pPr>
            <a:r>
              <a:rPr lang="en-US" sz="900"/>
              <a:t>}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41530" y="546525"/>
            <a:ext cx="5849463" cy="432959"/>
          </a:xfrm>
        </p:spPr>
        <p:txBody>
          <a:bodyPr/>
          <a:lstStyle/>
          <a:p>
            <a:r>
              <a:rPr lang="en-US" sz="2000"/>
              <a:t>Working with individual bits within buses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29823" y="1570801"/>
            <a:ext cx="2707949" cy="1597744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189000" tIns="54000" rIns="108000" bIns="0" rtlCol="0" anchor="t" anchorCtr="0">
            <a:norm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ct val="20000"/>
              </a:spcBef>
              <a:buClr>
                <a:srgbClr val="006600"/>
              </a:buClr>
              <a:buSzPct val="85000"/>
              <a:buFont typeface="Arial" panose="020B0604020202020204" pitchFamily="34" charset="0"/>
              <a:buNone/>
              <a:defRPr sz="1400">
                <a:solidFill>
                  <a:srgbClr val="008000"/>
                </a:solidFill>
                <a:latin typeface="Consolas"/>
                <a:cs typeface="Consolas"/>
              </a:defRPr>
            </a:lvl1pPr>
            <a:lvl2pPr indent="0">
              <a:lnSpc>
                <a:spcPct val="90000"/>
              </a:lnSpc>
              <a:spcBef>
                <a:spcPts val="1000"/>
              </a:spcBef>
              <a:buSzPct val="50000"/>
              <a:buFont typeface="Wingdings" charset="2"/>
              <a:buNone/>
              <a:defRPr sz="2000">
                <a:latin typeface="Times New Roman"/>
                <a:cs typeface="Times New Roman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>
                <a:latin typeface="Times New Roman"/>
                <a:cs typeface="Times New Roman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>
                <a:latin typeface="Times New Roman"/>
                <a:cs typeface="Times New Roman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>
                <a:latin typeface="Times New Roman"/>
                <a:cs typeface="Times New Roman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spcBef>
                <a:spcPts val="150"/>
              </a:spcBef>
            </a:pPr>
            <a:r>
              <a:rPr lang="en-US" sz="900"/>
              <a:t>/* 4-way And: Ands 4 bits. */ </a:t>
            </a:r>
          </a:p>
          <a:p>
            <a:pPr>
              <a:spcBef>
                <a:spcPts val="150"/>
              </a:spcBef>
            </a:pPr>
            <a:r>
              <a:rPr lang="en-US" sz="900">
                <a:solidFill>
                  <a:schemeClr val="tx1"/>
                </a:solidFill>
              </a:rPr>
              <a:t>CHIP And4Way { </a:t>
            </a:r>
          </a:p>
          <a:p>
            <a:pPr>
              <a:spcBef>
                <a:spcPts val="150"/>
              </a:spcBef>
            </a:pPr>
            <a:r>
              <a:rPr lang="en-US" sz="900">
                <a:solidFill>
                  <a:schemeClr val="tx1"/>
                </a:solidFill>
              </a:rPr>
              <a:t>   IN </a:t>
            </a:r>
            <a:r>
              <a:rPr lang="en-US" sz="900">
                <a:solidFill>
                  <a:srgbClr val="0432FF"/>
                </a:solidFill>
              </a:rPr>
              <a:t>a[4]</a:t>
            </a:r>
            <a:r>
              <a:rPr lang="en-US" sz="900">
                <a:solidFill>
                  <a:schemeClr val="tx1"/>
                </a:solidFill>
              </a:rPr>
              <a:t>; </a:t>
            </a:r>
          </a:p>
          <a:p>
            <a:pPr>
              <a:spcBef>
                <a:spcPts val="150"/>
              </a:spcBef>
            </a:pPr>
            <a:r>
              <a:rPr lang="en-US" sz="900">
                <a:solidFill>
                  <a:schemeClr val="tx1"/>
                </a:solidFill>
              </a:rPr>
              <a:t>   OUT </a:t>
            </a:r>
            <a:r>
              <a:rPr lang="en-US" sz="900">
                <a:solidFill>
                  <a:srgbClr val="0432FF"/>
                </a:solidFill>
              </a:rPr>
              <a:t>out</a:t>
            </a:r>
            <a:r>
              <a:rPr lang="en-US" sz="900">
                <a:solidFill>
                  <a:schemeClr val="tx1"/>
                </a:solidFill>
              </a:rPr>
              <a:t>;</a:t>
            </a:r>
          </a:p>
          <a:p>
            <a:pPr>
              <a:spcBef>
                <a:spcPts val="900"/>
              </a:spcBef>
            </a:pPr>
            <a:r>
              <a:rPr lang="en-US" sz="900">
                <a:solidFill>
                  <a:schemeClr val="tx1"/>
                </a:solidFill>
              </a:rPr>
              <a:t>   PARTS: </a:t>
            </a:r>
          </a:p>
          <a:p>
            <a:pPr>
              <a:spcBef>
                <a:spcPts val="150"/>
              </a:spcBef>
            </a:pPr>
            <a:r>
              <a:rPr lang="en-US" sz="900">
                <a:solidFill>
                  <a:schemeClr val="tx1"/>
                </a:solidFill>
              </a:rPr>
              <a:t>   And(a=</a:t>
            </a:r>
            <a:r>
              <a:rPr lang="en-US" sz="900">
                <a:solidFill>
                  <a:srgbClr val="0432FF"/>
                </a:solidFill>
              </a:rPr>
              <a:t>a[0]</a:t>
            </a:r>
            <a:r>
              <a:rPr lang="en-US" sz="900">
                <a:solidFill>
                  <a:schemeClr val="tx1"/>
                </a:solidFill>
              </a:rPr>
              <a:t>,   b=</a:t>
            </a:r>
            <a:r>
              <a:rPr lang="en-US" sz="900">
                <a:solidFill>
                  <a:srgbClr val="0432FF"/>
                </a:solidFill>
              </a:rPr>
              <a:t>a[1]</a:t>
            </a:r>
            <a:r>
              <a:rPr lang="en-US" sz="900">
                <a:solidFill>
                  <a:schemeClr val="tx1"/>
                </a:solidFill>
              </a:rPr>
              <a:t>, out=</a:t>
            </a:r>
            <a:r>
              <a:rPr lang="en-US" sz="900">
                <a:solidFill>
                  <a:schemeClr val="accent2">
                    <a:lumMod val="75000"/>
                  </a:schemeClr>
                </a:solidFill>
              </a:rPr>
              <a:t>and01</a:t>
            </a:r>
            <a:r>
              <a:rPr lang="en-US" sz="900">
                <a:solidFill>
                  <a:schemeClr val="tx1"/>
                </a:solidFill>
              </a:rPr>
              <a:t>);</a:t>
            </a:r>
          </a:p>
          <a:p>
            <a:pPr>
              <a:spcBef>
                <a:spcPts val="150"/>
              </a:spcBef>
            </a:pPr>
            <a:r>
              <a:rPr lang="en-US" sz="900">
                <a:solidFill>
                  <a:schemeClr val="tx1"/>
                </a:solidFill>
              </a:rPr>
              <a:t>   And(a=</a:t>
            </a:r>
            <a:r>
              <a:rPr lang="en-US" sz="900">
                <a:solidFill>
                  <a:schemeClr val="accent2">
                    <a:lumMod val="75000"/>
                  </a:schemeClr>
                </a:solidFill>
              </a:rPr>
              <a:t>and01</a:t>
            </a:r>
            <a:r>
              <a:rPr lang="en-US" sz="900">
                <a:solidFill>
                  <a:schemeClr val="tx1"/>
                </a:solidFill>
              </a:rPr>
              <a:t>,  b=</a:t>
            </a:r>
            <a:r>
              <a:rPr lang="en-US" sz="900">
                <a:solidFill>
                  <a:srgbClr val="0432FF"/>
                </a:solidFill>
              </a:rPr>
              <a:t>a[2]</a:t>
            </a:r>
            <a:r>
              <a:rPr lang="en-US" sz="900">
                <a:solidFill>
                  <a:schemeClr val="tx1"/>
                </a:solidFill>
              </a:rPr>
              <a:t>, out=</a:t>
            </a:r>
            <a:r>
              <a:rPr lang="en-US" sz="900">
                <a:solidFill>
                  <a:schemeClr val="accent2">
                    <a:lumMod val="75000"/>
                  </a:schemeClr>
                </a:solidFill>
              </a:rPr>
              <a:t>and012</a:t>
            </a:r>
            <a:r>
              <a:rPr lang="en-US" sz="900">
                <a:solidFill>
                  <a:schemeClr val="tx1"/>
                </a:solidFill>
              </a:rPr>
              <a:t>);</a:t>
            </a:r>
          </a:p>
          <a:p>
            <a:pPr>
              <a:spcBef>
                <a:spcPts val="150"/>
              </a:spcBef>
            </a:pPr>
            <a:r>
              <a:rPr lang="en-US" sz="900">
                <a:solidFill>
                  <a:schemeClr val="tx1"/>
                </a:solidFill>
              </a:rPr>
              <a:t>   And(a=</a:t>
            </a:r>
            <a:r>
              <a:rPr lang="en-US" sz="900">
                <a:solidFill>
                  <a:schemeClr val="accent2">
                    <a:lumMod val="75000"/>
                  </a:schemeClr>
                </a:solidFill>
              </a:rPr>
              <a:t>and012</a:t>
            </a:r>
            <a:r>
              <a:rPr lang="en-US" sz="900">
                <a:solidFill>
                  <a:schemeClr val="tx1"/>
                </a:solidFill>
              </a:rPr>
              <a:t>, b=</a:t>
            </a:r>
            <a:r>
              <a:rPr lang="en-US" sz="900">
                <a:solidFill>
                  <a:srgbClr val="0432FF"/>
                </a:solidFill>
              </a:rPr>
              <a:t>a[3]</a:t>
            </a:r>
            <a:r>
              <a:rPr lang="en-US" sz="900">
                <a:solidFill>
                  <a:schemeClr val="tx1"/>
                </a:solidFill>
              </a:rPr>
              <a:t>, out=</a:t>
            </a:r>
            <a:r>
              <a:rPr lang="en-US" sz="900">
                <a:solidFill>
                  <a:srgbClr val="0432FF"/>
                </a:solidFill>
              </a:rPr>
              <a:t>out</a:t>
            </a:r>
            <a:r>
              <a:rPr lang="en-US" sz="900">
                <a:solidFill>
                  <a:schemeClr val="tx1"/>
                </a:solidFill>
              </a:rPr>
              <a:t>);</a:t>
            </a:r>
          </a:p>
          <a:p>
            <a:pPr>
              <a:spcBef>
                <a:spcPts val="150"/>
              </a:spcBef>
            </a:pPr>
            <a:r>
              <a:rPr lang="en-US" sz="90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22" name="Rounded Rectangular Callout 21">
            <a:extLst>
              <a:ext uri="{FF2B5EF4-FFF2-40B4-BE49-F238E27FC236}">
                <a16:creationId xmlns:a16="http://schemas.microsoft.com/office/drawing/2014/main" id="{6A09EFD2-AE2C-1640-8844-DB0C6CED8555}"/>
              </a:ext>
            </a:extLst>
          </p:cNvPr>
          <p:cNvSpPr/>
          <p:nvPr/>
        </p:nvSpPr>
        <p:spPr>
          <a:xfrm>
            <a:off x="3193179" y="1860567"/>
            <a:ext cx="1378821" cy="509106"/>
          </a:xfrm>
          <a:prstGeom prst="wedgeRoundRectCallout">
            <a:avLst>
              <a:gd name="adj1" fmla="val -86303"/>
              <a:gd name="adj2" fmla="val 77055"/>
              <a:gd name="adj3" fmla="val 16667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1000" tIns="35100" rtlCol="0" anchor="t" anchorCtr="0"/>
          <a:lstStyle/>
          <a:p>
            <a:pPr>
              <a:buSzPct val="100000"/>
            </a:pPr>
            <a:r>
              <a:rPr lang="en-US" sz="1200">
                <a:solidFill>
                  <a:srgbClr val="000000"/>
                </a:solidFill>
                <a:latin typeface="Times New Roman"/>
                <a:cs typeface="Times New Roman"/>
              </a:rPr>
              <a:t>Input bus pins can be subscripted.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FD197B2-C8B5-B142-97EE-4194F53ACA2D}"/>
              </a:ext>
            </a:extLst>
          </p:cNvPr>
          <p:cNvGrpSpPr/>
          <p:nvPr/>
        </p:nvGrpSpPr>
        <p:grpSpPr>
          <a:xfrm>
            <a:off x="381535" y="2274598"/>
            <a:ext cx="1098195" cy="818487"/>
            <a:chOff x="891540" y="2554414"/>
            <a:chExt cx="1464260" cy="1091316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A1DCC5-3BBF-B248-A5AA-99EB25BA26CD}"/>
                </a:ext>
              </a:extLst>
            </p:cNvPr>
            <p:cNvGrpSpPr/>
            <p:nvPr/>
          </p:nvGrpSpPr>
          <p:grpSpPr>
            <a:xfrm>
              <a:off x="891540" y="2554414"/>
              <a:ext cx="1464260" cy="681082"/>
              <a:chOff x="891540" y="2554414"/>
              <a:chExt cx="1464260" cy="681082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D85F38CB-9755-044F-B798-C03B094AAC4A}"/>
                  </a:ext>
                </a:extLst>
              </p:cNvPr>
              <p:cNvSpPr/>
              <p:nvPr/>
            </p:nvSpPr>
            <p:spPr>
              <a:xfrm>
                <a:off x="891540" y="2866164"/>
                <a:ext cx="367328" cy="3693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 defTabSz="685800" rtl="1"/>
                <a:r>
                  <a:rPr lang="en-US" sz="900">
                    <a:solidFill>
                      <a:schemeClr val="tx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a: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57F3F6F-3060-0C4F-B572-FDA058098613}"/>
                  </a:ext>
                </a:extLst>
              </p:cNvPr>
              <p:cNvSpPr txBox="1"/>
              <p:nvPr/>
            </p:nvSpPr>
            <p:spPr>
              <a:xfrm>
                <a:off x="1970072" y="2554414"/>
                <a:ext cx="246307" cy="3077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r" defTabSz="685800" rtl="1"/>
                <a:endParaRPr lang="en-US" sz="9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8D83F022-C3A1-424D-8C23-7DA522B65949}"/>
                  </a:ext>
                </a:extLst>
              </p:cNvPr>
              <p:cNvSpPr/>
              <p:nvPr/>
            </p:nvSpPr>
            <p:spPr>
              <a:xfrm>
                <a:off x="1729084" y="2613437"/>
                <a:ext cx="367328" cy="3693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 defTabSz="685800" rtl="1"/>
                <a:r>
                  <a:rPr lang="en-US" sz="9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8EFDEFC7-FC99-9A41-BC0B-9CA8145F84FB}"/>
                  </a:ext>
                </a:extLst>
              </p:cNvPr>
              <p:cNvSpPr/>
              <p:nvPr/>
            </p:nvSpPr>
            <p:spPr>
              <a:xfrm>
                <a:off x="1988472" y="2604320"/>
                <a:ext cx="367328" cy="3693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 defTabSz="685800" rtl="1"/>
                <a:r>
                  <a:rPr lang="en-US" sz="9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6A230248-3BC0-DF4B-8A58-01547F12A592}"/>
                  </a:ext>
                </a:extLst>
              </p:cNvPr>
              <p:cNvSpPr/>
              <p:nvPr/>
            </p:nvSpPr>
            <p:spPr>
              <a:xfrm>
                <a:off x="2031648" y="2923745"/>
                <a:ext cx="280976" cy="26032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 rtl="1"/>
                <a:r>
                  <a:rPr lang="en-US" sz="900">
                    <a:solidFill>
                      <a:schemeClr val="tx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D7A3CDA-5E78-A245-94D0-081C089B9398}"/>
                  </a:ext>
                </a:extLst>
              </p:cNvPr>
              <p:cNvSpPr txBox="1"/>
              <p:nvPr/>
            </p:nvSpPr>
            <p:spPr>
              <a:xfrm>
                <a:off x="1469696" y="2554414"/>
                <a:ext cx="246308" cy="3077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defTabSz="685800"/>
                <a:endParaRPr lang="en-US" sz="9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73CC8E91-8A1E-2A40-B126-0B8631DB987A}"/>
                  </a:ext>
                </a:extLst>
              </p:cNvPr>
              <p:cNvSpPr/>
              <p:nvPr/>
            </p:nvSpPr>
            <p:spPr>
              <a:xfrm>
                <a:off x="1167132" y="2613437"/>
                <a:ext cx="367328" cy="3693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 defTabSz="685800" rtl="1"/>
                <a:r>
                  <a:rPr lang="en-US" sz="9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B60F7928-6815-EE4E-9840-D5E1C3A3BCF4}"/>
                  </a:ext>
                </a:extLst>
              </p:cNvPr>
              <p:cNvSpPr/>
              <p:nvPr/>
            </p:nvSpPr>
            <p:spPr>
              <a:xfrm>
                <a:off x="1426520" y="2604320"/>
                <a:ext cx="367328" cy="3693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 defTabSz="685800" rtl="1"/>
                <a:r>
                  <a:rPr lang="en-US" sz="9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E540A59E-11C8-8242-A976-7E396FB2DFF1}"/>
                  </a:ext>
                </a:extLst>
              </p:cNvPr>
              <p:cNvSpPr/>
              <p:nvPr/>
            </p:nvSpPr>
            <p:spPr>
              <a:xfrm>
                <a:off x="1469696" y="2923745"/>
                <a:ext cx="280976" cy="26032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 rtl="1"/>
                <a:r>
                  <a:rPr lang="en-US" sz="900">
                    <a:solidFill>
                      <a:schemeClr val="tx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2B86F606-B55B-4B4F-BEB6-F98457011AA8}"/>
                  </a:ext>
                </a:extLst>
              </p:cNvPr>
              <p:cNvSpPr/>
              <p:nvPr/>
            </p:nvSpPr>
            <p:spPr>
              <a:xfrm>
                <a:off x="1188720" y="2923745"/>
                <a:ext cx="280976" cy="26032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 rtl="1"/>
                <a:r>
                  <a:rPr lang="en-US" sz="900">
                    <a:solidFill>
                      <a:schemeClr val="tx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6DA69C9D-3266-A747-875E-9ACA4D54B8E5}"/>
                  </a:ext>
                </a:extLst>
              </p:cNvPr>
              <p:cNvSpPr/>
              <p:nvPr/>
            </p:nvSpPr>
            <p:spPr>
              <a:xfrm>
                <a:off x="1750672" y="2923745"/>
                <a:ext cx="280976" cy="26032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 rtl="1"/>
                <a:r>
                  <a:rPr lang="en-US" sz="900">
                    <a:solidFill>
                      <a:schemeClr val="tx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FFE43C95-DA54-F24E-A8B2-3578D545CDE5}"/>
                </a:ext>
              </a:extLst>
            </p:cNvPr>
            <p:cNvGrpSpPr/>
            <p:nvPr/>
          </p:nvGrpSpPr>
          <p:grpSpPr>
            <a:xfrm>
              <a:off x="1403840" y="3276398"/>
              <a:ext cx="922514" cy="369332"/>
              <a:chOff x="1403840" y="3276398"/>
              <a:chExt cx="922514" cy="369332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778E7295-9FF4-174E-BBBD-4EB54E4CF91C}"/>
                  </a:ext>
                </a:extLst>
              </p:cNvPr>
              <p:cNvSpPr/>
              <p:nvPr/>
            </p:nvSpPr>
            <p:spPr>
              <a:xfrm>
                <a:off x="1403840" y="3276398"/>
                <a:ext cx="692572" cy="3693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r" defTabSz="685800" rtl="1"/>
                <a:r>
                  <a:rPr lang="en-US" sz="900">
                    <a:solidFill>
                      <a:schemeClr val="tx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out: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64907B54-664E-574C-A7A3-332B11A99677}"/>
                  </a:ext>
                </a:extLst>
              </p:cNvPr>
              <p:cNvSpPr/>
              <p:nvPr/>
            </p:nvSpPr>
            <p:spPr>
              <a:xfrm>
                <a:off x="2045378" y="3363287"/>
                <a:ext cx="280976" cy="23465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 rtl="1"/>
                <a:r>
                  <a:rPr lang="en-US" sz="900">
                    <a:solidFill>
                      <a:schemeClr val="tx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</a:p>
            </p:txBody>
          </p:sp>
        </p:grp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5708BF08-D43A-E89A-E7F0-3D997E68A83E}"/>
              </a:ext>
            </a:extLst>
          </p:cNvPr>
          <p:cNvSpPr txBox="1"/>
          <p:nvPr/>
        </p:nvSpPr>
        <p:spPr>
          <a:xfrm>
            <a:off x="4572000" y="1193428"/>
            <a:ext cx="33539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6"/>
                </a:solidFill>
              </a:rPr>
              <a:t>回到题目，我们用</a:t>
            </a:r>
            <a:r>
              <a:rPr lang="en-US" altLang="zh-CN" dirty="0" err="1">
                <a:solidFill>
                  <a:schemeClr val="accent6"/>
                </a:solidFill>
              </a:rPr>
              <a:t>a0a1</a:t>
            </a:r>
            <a:r>
              <a:rPr lang="zh-CN" altLang="en-US" dirty="0">
                <a:solidFill>
                  <a:schemeClr val="accent6"/>
                </a:solidFill>
              </a:rPr>
              <a:t>和</a:t>
            </a:r>
            <a:r>
              <a:rPr lang="en-US" altLang="zh-CN" dirty="0" err="1">
                <a:solidFill>
                  <a:schemeClr val="accent6"/>
                </a:solidFill>
              </a:rPr>
              <a:t>b0b1</a:t>
            </a:r>
            <a:r>
              <a:rPr lang="zh-CN" altLang="en-US" dirty="0">
                <a:solidFill>
                  <a:schemeClr val="accent6"/>
                </a:solidFill>
              </a:rPr>
              <a:t>比较，输入用到了</a:t>
            </a:r>
            <a:r>
              <a:rPr lang="en-US" altLang="zh-CN" dirty="0">
                <a:solidFill>
                  <a:schemeClr val="accent6"/>
                </a:solidFill>
              </a:rPr>
              <a:t>4</a:t>
            </a:r>
            <a:r>
              <a:rPr lang="zh-CN" altLang="en-US" dirty="0">
                <a:solidFill>
                  <a:schemeClr val="accent6"/>
                </a:solidFill>
              </a:rPr>
              <a:t>个</a:t>
            </a:r>
            <a:r>
              <a:rPr lang="en-US" altLang="zh-CN" dirty="0" err="1">
                <a:solidFill>
                  <a:schemeClr val="accent6"/>
                </a:solidFill>
              </a:rPr>
              <a:t>1bits</a:t>
            </a:r>
            <a:r>
              <a:rPr lang="zh-CN" altLang="en-US" dirty="0">
                <a:solidFill>
                  <a:schemeClr val="accent6"/>
                </a:solidFill>
              </a:rPr>
              <a:t>信号，所以用一个</a:t>
            </a:r>
            <a:r>
              <a:rPr lang="en-US" altLang="zh-CN" dirty="0">
                <a:solidFill>
                  <a:schemeClr val="accent6"/>
                </a:solidFill>
              </a:rPr>
              <a:t>16-bits</a:t>
            </a:r>
            <a:r>
              <a:rPr lang="zh-CN" altLang="en-US" dirty="0">
                <a:solidFill>
                  <a:schemeClr val="accent6"/>
                </a:solidFill>
              </a:rPr>
              <a:t>的</a:t>
            </a:r>
            <a:r>
              <a:rPr lang="en-US" altLang="zh-CN" dirty="0">
                <a:solidFill>
                  <a:schemeClr val="accent6"/>
                </a:solidFill>
              </a:rPr>
              <a:t>bus</a:t>
            </a:r>
            <a:r>
              <a:rPr lang="zh-CN" altLang="en-US" dirty="0">
                <a:solidFill>
                  <a:schemeClr val="accent6"/>
                </a:solidFill>
              </a:rPr>
              <a:t>中的</a:t>
            </a:r>
            <a:r>
              <a:rPr lang="en-US" altLang="zh-CN" dirty="0" err="1">
                <a:solidFill>
                  <a:schemeClr val="accent6"/>
                </a:solidFill>
              </a:rPr>
              <a:t>4bits</a:t>
            </a:r>
            <a:r>
              <a:rPr lang="zh-CN" altLang="en-US" dirty="0">
                <a:solidFill>
                  <a:schemeClr val="accent6"/>
                </a:solidFill>
              </a:rPr>
              <a:t>就够了</a:t>
            </a:r>
            <a:r>
              <a:rPr lang="en-US" altLang="zh-CN" dirty="0">
                <a:solidFill>
                  <a:schemeClr val="accent6"/>
                </a:solidFill>
              </a:rPr>
              <a:t>:</a:t>
            </a:r>
            <a:r>
              <a:rPr lang="zh-CN" altLang="en-US" dirty="0">
                <a:solidFill>
                  <a:schemeClr val="accent6"/>
                </a:solidFill>
              </a:rPr>
              <a:t> </a:t>
            </a:r>
            <a:r>
              <a:rPr lang="en-US" altLang="zh-CN" dirty="0">
                <a:solidFill>
                  <a:schemeClr val="accent6"/>
                </a:solidFill>
              </a:rPr>
              <a:t>a[4]</a:t>
            </a:r>
            <a:endParaRPr lang="zh-CN" altLang="en-US" dirty="0">
              <a:solidFill>
                <a:schemeClr val="accent6"/>
              </a:solidFill>
            </a:endParaRP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A012136B-0E4E-EBC0-75D8-EF396869A01C}"/>
              </a:ext>
            </a:extLst>
          </p:cNvPr>
          <p:cNvCxnSpPr>
            <a:cxnSpLocks/>
          </p:cNvCxnSpPr>
          <p:nvPr/>
        </p:nvCxnSpPr>
        <p:spPr>
          <a:xfrm flipH="1">
            <a:off x="2566466" y="1469471"/>
            <a:ext cx="2005534" cy="5922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8138BBEF-CED4-2B99-2B8A-FD24B03202BD}"/>
              </a:ext>
            </a:extLst>
          </p:cNvPr>
          <p:cNvSpPr txBox="1"/>
          <p:nvPr/>
        </p:nvSpPr>
        <p:spPr>
          <a:xfrm>
            <a:off x="4687865" y="2485967"/>
            <a:ext cx="402229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6"/>
                </a:solidFill>
              </a:rPr>
              <a:t>但是 </a:t>
            </a:r>
            <a:r>
              <a:rPr lang="en-US" altLang="zh-CN" dirty="0">
                <a:solidFill>
                  <a:schemeClr val="accent6"/>
                </a:solidFill>
              </a:rPr>
              <a:t>and</a:t>
            </a:r>
            <a:r>
              <a:rPr lang="zh-CN" altLang="en-US" dirty="0">
                <a:solidFill>
                  <a:schemeClr val="accent6"/>
                </a:solidFill>
              </a:rPr>
              <a:t> </a:t>
            </a:r>
            <a:r>
              <a:rPr lang="en-US" altLang="zh-CN" dirty="0">
                <a:solidFill>
                  <a:schemeClr val="accent6"/>
                </a:solidFill>
              </a:rPr>
              <a:t>gate</a:t>
            </a:r>
            <a:r>
              <a:rPr lang="zh-CN" altLang="en-US" dirty="0">
                <a:solidFill>
                  <a:schemeClr val="accent6"/>
                </a:solidFill>
              </a:rPr>
              <a:t>只要</a:t>
            </a:r>
            <a:r>
              <a:rPr lang="en-US" altLang="zh-CN" dirty="0">
                <a:solidFill>
                  <a:schemeClr val="accent6"/>
                </a:solidFill>
              </a:rPr>
              <a:t>1-bit</a:t>
            </a:r>
            <a:r>
              <a:rPr lang="zh-CN" altLang="en-US" dirty="0">
                <a:solidFill>
                  <a:schemeClr val="accent6"/>
                </a:solidFill>
              </a:rPr>
              <a:t>信号作为输入，</a:t>
            </a:r>
            <a:endParaRPr lang="en-US" altLang="zh-CN" dirty="0">
              <a:solidFill>
                <a:schemeClr val="accent6"/>
              </a:solidFill>
            </a:endParaRPr>
          </a:p>
          <a:p>
            <a:r>
              <a:rPr lang="zh-CN" altLang="en-US" dirty="0">
                <a:solidFill>
                  <a:schemeClr val="accent6"/>
                </a:solidFill>
              </a:rPr>
              <a:t>所以传入时，需要指定用</a:t>
            </a:r>
            <a:r>
              <a:rPr lang="en-US" altLang="zh-CN" dirty="0">
                <a:solidFill>
                  <a:schemeClr val="accent6"/>
                </a:solidFill>
              </a:rPr>
              <a:t>4-bits</a:t>
            </a:r>
            <a:r>
              <a:rPr lang="zh-CN" altLang="en-US" dirty="0">
                <a:solidFill>
                  <a:schemeClr val="accent6"/>
                </a:solidFill>
              </a:rPr>
              <a:t>信号中的哪一位作为输入，所以用下标指定（和数组一样</a:t>
            </a:r>
            <a:r>
              <a:rPr lang="en-US" altLang="zh-CN" dirty="0">
                <a:solidFill>
                  <a:schemeClr val="accent6"/>
                </a:solidFill>
              </a:rPr>
              <a:t>a[1]</a:t>
            </a:r>
            <a:r>
              <a:rPr lang="zh-CN" altLang="en-US" dirty="0">
                <a:solidFill>
                  <a:schemeClr val="accent6"/>
                </a:solidFill>
              </a:rPr>
              <a:t>）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532EC193-8E0B-7629-C7DF-7318A571E5E0}"/>
              </a:ext>
            </a:extLst>
          </p:cNvPr>
          <p:cNvCxnSpPr/>
          <p:nvPr/>
        </p:nvCxnSpPr>
        <p:spPr>
          <a:xfrm flipH="1" flipV="1">
            <a:off x="3378933" y="2648646"/>
            <a:ext cx="1221425" cy="1963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F82E65F4-52CF-D0D2-03F0-C430750B9F7A}"/>
              </a:ext>
            </a:extLst>
          </p:cNvPr>
          <p:cNvCxnSpPr>
            <a:cxnSpLocks/>
          </p:cNvCxnSpPr>
          <p:nvPr/>
        </p:nvCxnSpPr>
        <p:spPr>
          <a:xfrm flipH="1">
            <a:off x="3397296" y="2845029"/>
            <a:ext cx="1174704" cy="362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4253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>
            <a:extLst>
              <a:ext uri="{FF2B5EF4-FFF2-40B4-BE49-F238E27FC236}">
                <a16:creationId xmlns:a16="http://schemas.microsoft.com/office/drawing/2014/main" id="{BE5447E7-4895-134A-B368-CD772B56ECDF}"/>
              </a:ext>
            </a:extLst>
          </p:cNvPr>
          <p:cNvSpPr txBox="1"/>
          <p:nvPr/>
        </p:nvSpPr>
        <p:spPr>
          <a:xfrm>
            <a:off x="341531" y="1035809"/>
            <a:ext cx="2121620" cy="118753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108000" tIns="0" rIns="108000" bIns="0" rtlCol="0" anchor="ctr" anchorCtr="0">
            <a:normAutofit/>
          </a:bodyPr>
          <a:lstStyle>
            <a:lvl1pPr indent="0">
              <a:lnSpc>
                <a:spcPct val="90000"/>
              </a:lnSpc>
              <a:spcBef>
                <a:spcPct val="20000"/>
              </a:spcBef>
              <a:buClr>
                <a:srgbClr val="006600"/>
              </a:buClr>
              <a:buSzPct val="85000"/>
              <a:buFont typeface="Arial" panose="020B0604020202020204" pitchFamily="34" charset="0"/>
              <a:buNone/>
              <a:defRPr sz="1400">
                <a:solidFill>
                  <a:srgbClr val="000000"/>
                </a:solidFill>
                <a:latin typeface="Consolas"/>
                <a:cs typeface="Consolas"/>
              </a:defRPr>
            </a:lvl1pPr>
            <a:lvl2pPr indent="0">
              <a:lnSpc>
                <a:spcPct val="90000"/>
              </a:lnSpc>
              <a:spcBef>
                <a:spcPts val="1000"/>
              </a:spcBef>
              <a:buSzPct val="50000"/>
              <a:buFont typeface="Wingdings" charset="2"/>
              <a:buNone/>
              <a:defRPr sz="2000">
                <a:latin typeface="Times New Roman"/>
                <a:cs typeface="Times New Roman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>
                <a:latin typeface="Times New Roman"/>
                <a:cs typeface="Times New Roman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>
                <a:latin typeface="Times New Roman"/>
                <a:cs typeface="Times New Roman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>
                <a:latin typeface="Times New Roman"/>
                <a:cs typeface="Times New Roman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lnSpc>
                <a:spcPct val="100000"/>
              </a:lnSpc>
              <a:spcBef>
                <a:spcPts val="150"/>
              </a:spcBef>
            </a:pPr>
            <a:r>
              <a:rPr lang="en-US" sz="900">
                <a:solidFill>
                  <a:srgbClr val="008000"/>
                </a:solidFill>
              </a:rPr>
              <a:t>/* Returns 1 if a==1 and b==1,</a:t>
            </a:r>
          </a:p>
          <a:p>
            <a:pPr>
              <a:lnSpc>
                <a:spcPct val="100000"/>
              </a:lnSpc>
              <a:spcBef>
                <a:spcPts val="150"/>
              </a:spcBef>
            </a:pPr>
            <a:r>
              <a:rPr lang="en-US" sz="900">
                <a:solidFill>
                  <a:srgbClr val="008000"/>
                </a:solidFill>
              </a:rPr>
              <a:t> * 0 otherwise. */ </a:t>
            </a:r>
          </a:p>
          <a:p>
            <a:pPr>
              <a:lnSpc>
                <a:spcPct val="100000"/>
              </a:lnSpc>
              <a:spcBef>
                <a:spcPts val="150"/>
              </a:spcBef>
            </a:pPr>
            <a:r>
              <a:rPr lang="en-US" sz="900"/>
              <a:t>CHIP And { </a:t>
            </a:r>
          </a:p>
          <a:p>
            <a:pPr>
              <a:lnSpc>
                <a:spcPct val="100000"/>
              </a:lnSpc>
              <a:spcBef>
                <a:spcPts val="150"/>
              </a:spcBef>
            </a:pPr>
            <a:r>
              <a:rPr lang="en-US" sz="900"/>
              <a:t>   IN a, b; </a:t>
            </a:r>
          </a:p>
          <a:p>
            <a:pPr>
              <a:lnSpc>
                <a:spcPct val="100000"/>
              </a:lnSpc>
              <a:spcBef>
                <a:spcPts val="150"/>
              </a:spcBef>
            </a:pPr>
            <a:r>
              <a:rPr lang="en-US" sz="900"/>
              <a:t>   OUT out;</a:t>
            </a:r>
          </a:p>
          <a:p>
            <a:pPr>
              <a:lnSpc>
                <a:spcPct val="100000"/>
              </a:lnSpc>
              <a:spcBef>
                <a:spcPts val="150"/>
              </a:spcBef>
            </a:pPr>
            <a:r>
              <a:rPr lang="en-US" sz="900"/>
              <a:t>   ... </a:t>
            </a:r>
          </a:p>
          <a:p>
            <a:pPr>
              <a:lnSpc>
                <a:spcPct val="100000"/>
              </a:lnSpc>
              <a:spcBef>
                <a:spcPts val="150"/>
              </a:spcBef>
            </a:pPr>
            <a:r>
              <a:rPr lang="en-US" sz="900"/>
              <a:t>}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41530" y="501520"/>
            <a:ext cx="5849463" cy="432959"/>
          </a:xfrm>
        </p:spPr>
        <p:txBody>
          <a:bodyPr/>
          <a:lstStyle/>
          <a:p>
            <a:r>
              <a:rPr lang="en-US" sz="2000" dirty="0"/>
              <a:t>Working with individual bits within buses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5DFDFC-71D6-914C-A470-5714BEEACFAB}"/>
              </a:ext>
            </a:extLst>
          </p:cNvPr>
          <p:cNvSpPr txBox="1"/>
          <p:nvPr/>
        </p:nvSpPr>
        <p:spPr>
          <a:xfrm>
            <a:off x="1729823" y="3204578"/>
            <a:ext cx="2730680" cy="181417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189000" tIns="54000" rIns="108000" bIns="0" rtlCol="0" anchor="t" anchorCtr="0">
            <a:norm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ct val="20000"/>
              </a:spcBef>
              <a:buClr>
                <a:srgbClr val="006600"/>
              </a:buClr>
              <a:buSzPct val="85000"/>
              <a:buFont typeface="Arial" panose="020B0604020202020204" pitchFamily="34" charset="0"/>
              <a:buNone/>
              <a:defRPr sz="1400">
                <a:solidFill>
                  <a:srgbClr val="008000"/>
                </a:solidFill>
                <a:latin typeface="Consolas"/>
                <a:cs typeface="Consolas"/>
              </a:defRPr>
            </a:lvl1pPr>
            <a:lvl2pPr indent="0">
              <a:lnSpc>
                <a:spcPct val="90000"/>
              </a:lnSpc>
              <a:spcBef>
                <a:spcPts val="1000"/>
              </a:spcBef>
              <a:buSzPct val="50000"/>
              <a:buFont typeface="Wingdings" charset="2"/>
              <a:buNone/>
              <a:defRPr sz="2000">
                <a:latin typeface="Times New Roman"/>
                <a:cs typeface="Times New Roman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>
                <a:latin typeface="Times New Roman"/>
                <a:cs typeface="Times New Roman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>
                <a:latin typeface="Times New Roman"/>
                <a:cs typeface="Times New Roman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>
                <a:latin typeface="Times New Roman"/>
                <a:cs typeface="Times New Roman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spcBef>
                <a:spcPts val="225"/>
              </a:spcBef>
            </a:pPr>
            <a:r>
              <a:rPr lang="en-US" sz="900"/>
              <a:t>/* Bit-wise And of two 4-bit inputs */ </a:t>
            </a:r>
          </a:p>
          <a:p>
            <a:pPr>
              <a:spcBef>
                <a:spcPts val="225"/>
              </a:spcBef>
            </a:pPr>
            <a:r>
              <a:rPr lang="en-US" sz="900">
                <a:solidFill>
                  <a:schemeClr val="tx1"/>
                </a:solidFill>
              </a:rPr>
              <a:t>CHIP And4 { </a:t>
            </a:r>
          </a:p>
          <a:p>
            <a:pPr>
              <a:spcBef>
                <a:spcPts val="225"/>
              </a:spcBef>
            </a:pPr>
            <a:r>
              <a:rPr lang="en-US" sz="900">
                <a:solidFill>
                  <a:schemeClr val="tx1"/>
                </a:solidFill>
              </a:rPr>
              <a:t>   IN </a:t>
            </a:r>
            <a:r>
              <a:rPr lang="en-US" sz="900">
                <a:solidFill>
                  <a:srgbClr val="0432FF"/>
                </a:solidFill>
              </a:rPr>
              <a:t>a[4]</a:t>
            </a:r>
            <a:r>
              <a:rPr lang="en-US" sz="900">
                <a:solidFill>
                  <a:schemeClr val="tx1"/>
                </a:solidFill>
              </a:rPr>
              <a:t>, </a:t>
            </a:r>
            <a:r>
              <a:rPr lang="en-US" sz="900">
                <a:solidFill>
                  <a:srgbClr val="0432FF"/>
                </a:solidFill>
              </a:rPr>
              <a:t>b[4]</a:t>
            </a:r>
            <a:r>
              <a:rPr lang="en-US" sz="900">
                <a:solidFill>
                  <a:schemeClr val="tx1"/>
                </a:solidFill>
              </a:rPr>
              <a:t>; </a:t>
            </a:r>
          </a:p>
          <a:p>
            <a:pPr>
              <a:spcBef>
                <a:spcPts val="225"/>
              </a:spcBef>
            </a:pPr>
            <a:r>
              <a:rPr lang="en-US" sz="900">
                <a:solidFill>
                  <a:schemeClr val="tx1"/>
                </a:solidFill>
              </a:rPr>
              <a:t>   OUT </a:t>
            </a:r>
            <a:r>
              <a:rPr lang="en-US" sz="900">
                <a:solidFill>
                  <a:srgbClr val="0432FF"/>
                </a:solidFill>
              </a:rPr>
              <a:t>out[4]</a:t>
            </a:r>
            <a:r>
              <a:rPr lang="en-US" sz="900">
                <a:solidFill>
                  <a:schemeClr val="tx1"/>
                </a:solidFill>
              </a:rPr>
              <a:t>;   </a:t>
            </a:r>
          </a:p>
          <a:p>
            <a:pPr>
              <a:spcBef>
                <a:spcPts val="900"/>
              </a:spcBef>
            </a:pPr>
            <a:r>
              <a:rPr lang="en-US" sz="900">
                <a:solidFill>
                  <a:schemeClr val="tx1"/>
                </a:solidFill>
              </a:rPr>
              <a:t>   PARTS: </a:t>
            </a:r>
          </a:p>
          <a:p>
            <a:pPr>
              <a:spcBef>
                <a:spcPts val="225"/>
              </a:spcBef>
            </a:pPr>
            <a:r>
              <a:rPr lang="en-US" sz="900">
                <a:solidFill>
                  <a:schemeClr val="tx1"/>
                </a:solidFill>
              </a:rPr>
              <a:t>   And(a=</a:t>
            </a:r>
            <a:r>
              <a:rPr lang="en-US" sz="900">
                <a:solidFill>
                  <a:srgbClr val="0432FF"/>
                </a:solidFill>
              </a:rPr>
              <a:t>a[0]</a:t>
            </a:r>
            <a:r>
              <a:rPr lang="en-US" sz="900">
                <a:solidFill>
                  <a:schemeClr val="tx1"/>
                </a:solidFill>
              </a:rPr>
              <a:t>, b=</a:t>
            </a:r>
            <a:r>
              <a:rPr lang="en-US" sz="900">
                <a:solidFill>
                  <a:srgbClr val="0432FF"/>
                </a:solidFill>
              </a:rPr>
              <a:t>b[0]</a:t>
            </a:r>
            <a:r>
              <a:rPr lang="en-US" sz="900">
                <a:solidFill>
                  <a:schemeClr val="tx1"/>
                </a:solidFill>
              </a:rPr>
              <a:t>, out=</a:t>
            </a:r>
            <a:r>
              <a:rPr lang="en-US" sz="900">
                <a:solidFill>
                  <a:srgbClr val="0432FF"/>
                </a:solidFill>
              </a:rPr>
              <a:t>out[0]</a:t>
            </a:r>
            <a:r>
              <a:rPr lang="en-US" sz="900">
                <a:solidFill>
                  <a:schemeClr val="tx1"/>
                </a:solidFill>
              </a:rPr>
              <a:t>);</a:t>
            </a:r>
          </a:p>
          <a:p>
            <a:pPr>
              <a:spcBef>
                <a:spcPts val="225"/>
              </a:spcBef>
            </a:pPr>
            <a:r>
              <a:rPr lang="en-US" sz="900">
                <a:solidFill>
                  <a:schemeClr val="tx1"/>
                </a:solidFill>
              </a:rPr>
              <a:t>   And(a=</a:t>
            </a:r>
            <a:r>
              <a:rPr lang="en-US" sz="900">
                <a:solidFill>
                  <a:srgbClr val="0432FF"/>
                </a:solidFill>
              </a:rPr>
              <a:t>a[1]</a:t>
            </a:r>
            <a:r>
              <a:rPr lang="en-US" sz="900">
                <a:solidFill>
                  <a:schemeClr val="tx1"/>
                </a:solidFill>
              </a:rPr>
              <a:t>, b=</a:t>
            </a:r>
            <a:r>
              <a:rPr lang="en-US" sz="900">
                <a:solidFill>
                  <a:srgbClr val="0432FF"/>
                </a:solidFill>
              </a:rPr>
              <a:t>b[1]</a:t>
            </a:r>
            <a:r>
              <a:rPr lang="en-US" sz="900">
                <a:solidFill>
                  <a:schemeClr val="tx1"/>
                </a:solidFill>
              </a:rPr>
              <a:t>, out=</a:t>
            </a:r>
            <a:r>
              <a:rPr lang="en-US" sz="900">
                <a:solidFill>
                  <a:srgbClr val="0432FF"/>
                </a:solidFill>
              </a:rPr>
              <a:t>out[1]</a:t>
            </a:r>
            <a:r>
              <a:rPr lang="en-US" sz="900">
                <a:solidFill>
                  <a:schemeClr val="tx1"/>
                </a:solidFill>
              </a:rPr>
              <a:t>);</a:t>
            </a:r>
          </a:p>
          <a:p>
            <a:pPr>
              <a:spcBef>
                <a:spcPts val="225"/>
              </a:spcBef>
            </a:pPr>
            <a:r>
              <a:rPr lang="en-US" sz="900">
                <a:solidFill>
                  <a:schemeClr val="tx1"/>
                </a:solidFill>
              </a:rPr>
              <a:t>   And(a=</a:t>
            </a:r>
            <a:r>
              <a:rPr lang="en-US" sz="900">
                <a:solidFill>
                  <a:srgbClr val="0432FF"/>
                </a:solidFill>
              </a:rPr>
              <a:t>a[2]</a:t>
            </a:r>
            <a:r>
              <a:rPr lang="en-US" sz="900">
                <a:solidFill>
                  <a:schemeClr val="tx1"/>
                </a:solidFill>
              </a:rPr>
              <a:t>, b=</a:t>
            </a:r>
            <a:r>
              <a:rPr lang="en-US" sz="900">
                <a:solidFill>
                  <a:srgbClr val="0432FF"/>
                </a:solidFill>
              </a:rPr>
              <a:t>b[2]</a:t>
            </a:r>
            <a:r>
              <a:rPr lang="en-US" sz="900">
                <a:solidFill>
                  <a:schemeClr val="tx1"/>
                </a:solidFill>
              </a:rPr>
              <a:t>, out=</a:t>
            </a:r>
            <a:r>
              <a:rPr lang="en-US" sz="900">
                <a:solidFill>
                  <a:srgbClr val="0432FF"/>
                </a:solidFill>
              </a:rPr>
              <a:t>out[2]</a:t>
            </a:r>
            <a:r>
              <a:rPr lang="en-US" sz="900">
                <a:solidFill>
                  <a:schemeClr val="tx1"/>
                </a:solidFill>
              </a:rPr>
              <a:t>);</a:t>
            </a:r>
          </a:p>
          <a:p>
            <a:pPr>
              <a:spcBef>
                <a:spcPts val="225"/>
              </a:spcBef>
            </a:pPr>
            <a:r>
              <a:rPr lang="en-US" sz="900">
                <a:solidFill>
                  <a:schemeClr val="tx1"/>
                </a:solidFill>
              </a:rPr>
              <a:t>   And(a=</a:t>
            </a:r>
            <a:r>
              <a:rPr lang="en-US" sz="900">
                <a:solidFill>
                  <a:srgbClr val="0432FF"/>
                </a:solidFill>
              </a:rPr>
              <a:t>a[3]</a:t>
            </a:r>
            <a:r>
              <a:rPr lang="en-US" sz="900">
                <a:solidFill>
                  <a:schemeClr val="tx1"/>
                </a:solidFill>
              </a:rPr>
              <a:t>, b=</a:t>
            </a:r>
            <a:r>
              <a:rPr lang="en-US" sz="900">
                <a:solidFill>
                  <a:srgbClr val="0432FF"/>
                </a:solidFill>
              </a:rPr>
              <a:t>b[3]</a:t>
            </a:r>
            <a:r>
              <a:rPr lang="en-US" sz="900">
                <a:solidFill>
                  <a:schemeClr val="tx1"/>
                </a:solidFill>
              </a:rPr>
              <a:t>, out=</a:t>
            </a:r>
            <a:r>
              <a:rPr lang="en-US" sz="900">
                <a:solidFill>
                  <a:srgbClr val="0432FF"/>
                </a:solidFill>
              </a:rPr>
              <a:t>out[3]</a:t>
            </a:r>
            <a:r>
              <a:rPr lang="en-US" sz="900">
                <a:solidFill>
                  <a:schemeClr val="tx1"/>
                </a:solidFill>
              </a:rPr>
              <a:t>);</a:t>
            </a:r>
          </a:p>
          <a:p>
            <a:pPr>
              <a:spcBef>
                <a:spcPts val="225"/>
              </a:spcBef>
            </a:pPr>
            <a:r>
              <a:rPr lang="en-US" sz="90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11" name="Rounded Rectangular Callout 10">
            <a:extLst>
              <a:ext uri="{FF2B5EF4-FFF2-40B4-BE49-F238E27FC236}">
                <a16:creationId xmlns:a16="http://schemas.microsoft.com/office/drawing/2014/main" id="{92DE46C3-D3AE-3348-BB6D-4249174C47DB}"/>
              </a:ext>
            </a:extLst>
          </p:cNvPr>
          <p:cNvSpPr/>
          <p:nvPr/>
        </p:nvSpPr>
        <p:spPr>
          <a:xfrm>
            <a:off x="4334567" y="3460303"/>
            <a:ext cx="1395224" cy="509106"/>
          </a:xfrm>
          <a:prstGeom prst="wedgeRoundRectCallout">
            <a:avLst>
              <a:gd name="adj1" fmla="val -93130"/>
              <a:gd name="adj2" fmla="val 80797"/>
              <a:gd name="adj3" fmla="val 16667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1000" tIns="35100" rtlCol="0" anchor="t" anchorCtr="0"/>
          <a:lstStyle/>
          <a:p>
            <a:pPr>
              <a:buSzPct val="100000"/>
            </a:pPr>
            <a:r>
              <a:rPr lang="en-US" sz="1200">
                <a:solidFill>
                  <a:srgbClr val="000000"/>
                </a:solidFill>
                <a:latin typeface="Times New Roman"/>
                <a:cs typeface="Times New Roman"/>
              </a:rPr>
              <a:t>Output bus pins can be subscripted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32C8CE5-7FBD-BF4F-83D6-646C2FC0D1B6}"/>
              </a:ext>
            </a:extLst>
          </p:cNvPr>
          <p:cNvGrpSpPr/>
          <p:nvPr/>
        </p:nvGrpSpPr>
        <p:grpSpPr>
          <a:xfrm>
            <a:off x="370105" y="3204578"/>
            <a:ext cx="1109625" cy="854511"/>
            <a:chOff x="876300" y="3900691"/>
            <a:chExt cx="1479500" cy="1139348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656EC25E-8A3D-944D-AAA5-4E4EB62B2F60}"/>
                </a:ext>
              </a:extLst>
            </p:cNvPr>
            <p:cNvSpPr/>
            <p:nvPr/>
          </p:nvSpPr>
          <p:spPr>
            <a:xfrm>
              <a:off x="883920" y="4204821"/>
              <a:ext cx="367328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685800" rtl="1"/>
              <a:r>
                <a:rPr lang="en-US" sz="90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a: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956DB325-F688-A141-99F5-2CB7D1B33476}"/>
                </a:ext>
              </a:extLst>
            </p:cNvPr>
            <p:cNvSpPr txBox="1"/>
            <p:nvPr/>
          </p:nvSpPr>
          <p:spPr>
            <a:xfrm>
              <a:off x="1970072" y="3900691"/>
              <a:ext cx="246307" cy="3077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r" defTabSz="685800" rtl="1"/>
              <a:endParaRPr lang="en-US" sz="9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9C1A1F1A-AC9E-5F4C-85C0-6A569979DCFC}"/>
                </a:ext>
              </a:extLst>
            </p:cNvPr>
            <p:cNvSpPr/>
            <p:nvPr/>
          </p:nvSpPr>
          <p:spPr>
            <a:xfrm>
              <a:off x="1729084" y="3959714"/>
              <a:ext cx="367328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685800" rtl="1"/>
              <a:r>
                <a:rPr lang="en-US" sz="9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C2A4BAC5-AFCF-ED48-BE20-A6014086035A}"/>
                </a:ext>
              </a:extLst>
            </p:cNvPr>
            <p:cNvSpPr/>
            <p:nvPr/>
          </p:nvSpPr>
          <p:spPr>
            <a:xfrm>
              <a:off x="1988472" y="3950597"/>
              <a:ext cx="367328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685800" rtl="1"/>
              <a:r>
                <a:rPr lang="en-US" sz="9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D820DCAA-8086-AA47-AAA8-8ED2D508DC00}"/>
                </a:ext>
              </a:extLst>
            </p:cNvPr>
            <p:cNvSpPr/>
            <p:nvPr/>
          </p:nvSpPr>
          <p:spPr>
            <a:xfrm>
              <a:off x="2031648" y="4270023"/>
              <a:ext cx="280976" cy="2603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1"/>
              <a:r>
                <a:rPr lang="en-US" sz="90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58F33E9-811C-BB41-8677-BCB06E215A82}"/>
                </a:ext>
              </a:extLst>
            </p:cNvPr>
            <p:cNvSpPr txBox="1"/>
            <p:nvPr/>
          </p:nvSpPr>
          <p:spPr>
            <a:xfrm>
              <a:off x="1469696" y="3900691"/>
              <a:ext cx="246308" cy="3077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685800"/>
              <a:endParaRPr lang="en-US" sz="9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52C14239-17E6-FF45-8206-AB65F799EB04}"/>
                </a:ext>
              </a:extLst>
            </p:cNvPr>
            <p:cNvSpPr/>
            <p:nvPr/>
          </p:nvSpPr>
          <p:spPr>
            <a:xfrm>
              <a:off x="1167132" y="3959714"/>
              <a:ext cx="367328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685800" rtl="1"/>
              <a:r>
                <a:rPr lang="en-US" sz="9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3F86B6F8-6555-3C4C-A08C-1BFB3EBEC7AB}"/>
                </a:ext>
              </a:extLst>
            </p:cNvPr>
            <p:cNvSpPr/>
            <p:nvPr/>
          </p:nvSpPr>
          <p:spPr>
            <a:xfrm>
              <a:off x="1426520" y="3950597"/>
              <a:ext cx="367328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685800" rtl="1"/>
              <a:r>
                <a:rPr lang="en-US" sz="9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A5517009-6351-E248-88EC-B981DF0730EA}"/>
                </a:ext>
              </a:extLst>
            </p:cNvPr>
            <p:cNvSpPr/>
            <p:nvPr/>
          </p:nvSpPr>
          <p:spPr>
            <a:xfrm>
              <a:off x="1469696" y="4270023"/>
              <a:ext cx="280976" cy="2603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1"/>
              <a:r>
                <a:rPr lang="en-US" sz="90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84B84E0C-3A41-2D42-97C1-1DE5234D7D81}"/>
                </a:ext>
              </a:extLst>
            </p:cNvPr>
            <p:cNvSpPr/>
            <p:nvPr/>
          </p:nvSpPr>
          <p:spPr>
            <a:xfrm>
              <a:off x="1188720" y="4270023"/>
              <a:ext cx="280976" cy="2603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1"/>
              <a:r>
                <a:rPr lang="en-US" sz="90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8C2DA846-4F95-8048-B156-306960536CF1}"/>
                </a:ext>
              </a:extLst>
            </p:cNvPr>
            <p:cNvSpPr/>
            <p:nvPr/>
          </p:nvSpPr>
          <p:spPr>
            <a:xfrm>
              <a:off x="1750672" y="4270023"/>
              <a:ext cx="280976" cy="2603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1"/>
              <a:r>
                <a:rPr lang="en-US" sz="90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45559C21-D42D-4A41-9902-18E3E83B8897}"/>
                </a:ext>
              </a:extLst>
            </p:cNvPr>
            <p:cNvSpPr/>
            <p:nvPr/>
          </p:nvSpPr>
          <p:spPr>
            <a:xfrm>
              <a:off x="876300" y="4670707"/>
              <a:ext cx="367328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685800" rtl="1"/>
              <a:r>
                <a:rPr lang="en-US" sz="90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b: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94681C2F-0BEC-EA46-98EC-C1645EEA1AB8}"/>
                </a:ext>
              </a:extLst>
            </p:cNvPr>
            <p:cNvSpPr/>
            <p:nvPr/>
          </p:nvSpPr>
          <p:spPr>
            <a:xfrm>
              <a:off x="2031648" y="4743529"/>
              <a:ext cx="280976" cy="2510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1"/>
              <a:r>
                <a:rPr lang="en-US" sz="90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549CCFC1-6D40-5E48-9906-01C9A59BB5DC}"/>
                </a:ext>
              </a:extLst>
            </p:cNvPr>
            <p:cNvSpPr/>
            <p:nvPr/>
          </p:nvSpPr>
          <p:spPr>
            <a:xfrm>
              <a:off x="1469696" y="4743529"/>
              <a:ext cx="280976" cy="2510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1"/>
              <a:r>
                <a:rPr lang="en-US" sz="90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F0618545-83C9-5D42-85A0-2768DFB26B0D}"/>
                </a:ext>
              </a:extLst>
            </p:cNvPr>
            <p:cNvSpPr/>
            <p:nvPr/>
          </p:nvSpPr>
          <p:spPr>
            <a:xfrm>
              <a:off x="1188720" y="4743529"/>
              <a:ext cx="280976" cy="2510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1"/>
              <a:r>
                <a:rPr lang="en-US" sz="90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26F898BD-03D9-CA45-BE1E-8C883FF48EA3}"/>
                </a:ext>
              </a:extLst>
            </p:cNvPr>
            <p:cNvSpPr/>
            <p:nvPr/>
          </p:nvSpPr>
          <p:spPr>
            <a:xfrm>
              <a:off x="1750672" y="4743529"/>
              <a:ext cx="280976" cy="2510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1"/>
              <a:r>
                <a:rPr lang="en-US" sz="90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5F36F8B-43B4-564C-8E99-48E2E426FF6E}"/>
              </a:ext>
            </a:extLst>
          </p:cNvPr>
          <p:cNvGrpSpPr/>
          <p:nvPr/>
        </p:nvGrpSpPr>
        <p:grpSpPr>
          <a:xfrm>
            <a:off x="126172" y="4132772"/>
            <a:ext cx="1321176" cy="276999"/>
            <a:chOff x="551056" y="5138282"/>
            <a:chExt cx="1761568" cy="369332"/>
          </a:xfrm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7EBE6084-716F-5A46-81DC-7F6D2E26AC06}"/>
                </a:ext>
              </a:extLst>
            </p:cNvPr>
            <p:cNvSpPr/>
            <p:nvPr/>
          </p:nvSpPr>
          <p:spPr>
            <a:xfrm>
              <a:off x="551056" y="5138282"/>
              <a:ext cx="692572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r" defTabSz="685800" rtl="1"/>
              <a:r>
                <a:rPr lang="en-US" sz="90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out:</a:t>
              </a: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796BDDCE-BE9B-FF44-9BA9-43ECADD7C19C}"/>
                </a:ext>
              </a:extLst>
            </p:cNvPr>
            <p:cNvSpPr/>
            <p:nvPr/>
          </p:nvSpPr>
          <p:spPr>
            <a:xfrm>
              <a:off x="2031648" y="5195863"/>
              <a:ext cx="280976" cy="2676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1"/>
              <a:r>
                <a:rPr lang="en-US" sz="90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954C763F-6BB8-4042-A1F5-019AA5222CD9}"/>
                </a:ext>
              </a:extLst>
            </p:cNvPr>
            <p:cNvSpPr/>
            <p:nvPr/>
          </p:nvSpPr>
          <p:spPr>
            <a:xfrm>
              <a:off x="1469696" y="5195863"/>
              <a:ext cx="280976" cy="2676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1"/>
              <a:r>
                <a:rPr lang="en-US" sz="90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E36C6855-A568-084F-B308-A8FCE6C7D08C}"/>
                </a:ext>
              </a:extLst>
            </p:cNvPr>
            <p:cNvSpPr/>
            <p:nvPr/>
          </p:nvSpPr>
          <p:spPr>
            <a:xfrm>
              <a:off x="1188720" y="5195863"/>
              <a:ext cx="280976" cy="2676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1"/>
              <a:r>
                <a:rPr lang="en-US" sz="90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D8437EF9-3BF9-7647-B273-421E03279652}"/>
                </a:ext>
              </a:extLst>
            </p:cNvPr>
            <p:cNvSpPr/>
            <p:nvPr/>
          </p:nvSpPr>
          <p:spPr>
            <a:xfrm>
              <a:off x="1750672" y="5195863"/>
              <a:ext cx="280976" cy="2676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 rtl="1"/>
              <a:r>
                <a:rPr lang="en-US" sz="90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1729823" y="1525796"/>
            <a:ext cx="2707949" cy="1597744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189000" tIns="54000" rIns="108000" bIns="0" rtlCol="0" anchor="t" anchorCtr="0">
            <a:norm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ct val="20000"/>
              </a:spcBef>
              <a:buClr>
                <a:srgbClr val="006600"/>
              </a:buClr>
              <a:buSzPct val="85000"/>
              <a:buFont typeface="Arial" panose="020B0604020202020204" pitchFamily="34" charset="0"/>
              <a:buNone/>
              <a:defRPr sz="1400">
                <a:solidFill>
                  <a:srgbClr val="008000"/>
                </a:solidFill>
                <a:latin typeface="Consolas"/>
                <a:cs typeface="Consolas"/>
              </a:defRPr>
            </a:lvl1pPr>
            <a:lvl2pPr indent="0">
              <a:lnSpc>
                <a:spcPct val="90000"/>
              </a:lnSpc>
              <a:spcBef>
                <a:spcPts val="1000"/>
              </a:spcBef>
              <a:buSzPct val="50000"/>
              <a:buFont typeface="Wingdings" charset="2"/>
              <a:buNone/>
              <a:defRPr sz="2000">
                <a:latin typeface="Times New Roman"/>
                <a:cs typeface="Times New Roman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>
                <a:latin typeface="Times New Roman"/>
                <a:cs typeface="Times New Roman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>
                <a:latin typeface="Times New Roman"/>
                <a:cs typeface="Times New Roman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>
                <a:latin typeface="Times New Roman"/>
                <a:cs typeface="Times New Roman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spcBef>
                <a:spcPts val="150"/>
              </a:spcBef>
            </a:pPr>
            <a:r>
              <a:rPr lang="en-US" sz="900"/>
              <a:t>/* 4-way And: Ands 4 bits. */ </a:t>
            </a:r>
          </a:p>
          <a:p>
            <a:pPr>
              <a:spcBef>
                <a:spcPts val="150"/>
              </a:spcBef>
            </a:pPr>
            <a:r>
              <a:rPr lang="en-US" sz="900">
                <a:solidFill>
                  <a:schemeClr val="tx1"/>
                </a:solidFill>
              </a:rPr>
              <a:t>CHIP And4Way { </a:t>
            </a:r>
          </a:p>
          <a:p>
            <a:pPr>
              <a:spcBef>
                <a:spcPts val="150"/>
              </a:spcBef>
            </a:pPr>
            <a:r>
              <a:rPr lang="en-US" sz="900">
                <a:solidFill>
                  <a:schemeClr val="tx1"/>
                </a:solidFill>
              </a:rPr>
              <a:t>   IN a[4]; </a:t>
            </a:r>
          </a:p>
          <a:p>
            <a:pPr>
              <a:spcBef>
                <a:spcPts val="150"/>
              </a:spcBef>
            </a:pPr>
            <a:r>
              <a:rPr lang="en-US" sz="900">
                <a:solidFill>
                  <a:schemeClr val="tx1"/>
                </a:solidFill>
              </a:rPr>
              <a:t>   OUT out;</a:t>
            </a:r>
          </a:p>
          <a:p>
            <a:pPr>
              <a:spcBef>
                <a:spcPts val="900"/>
              </a:spcBef>
            </a:pPr>
            <a:r>
              <a:rPr lang="en-US" sz="900">
                <a:solidFill>
                  <a:schemeClr val="tx1"/>
                </a:solidFill>
              </a:rPr>
              <a:t>   PARTS: </a:t>
            </a:r>
          </a:p>
          <a:p>
            <a:pPr>
              <a:spcBef>
                <a:spcPts val="150"/>
              </a:spcBef>
            </a:pPr>
            <a:r>
              <a:rPr lang="en-US" sz="900">
                <a:solidFill>
                  <a:schemeClr val="tx1"/>
                </a:solidFill>
              </a:rPr>
              <a:t>   And(a=a[0],   b=a[1], out=and01);</a:t>
            </a:r>
          </a:p>
          <a:p>
            <a:pPr>
              <a:spcBef>
                <a:spcPts val="150"/>
              </a:spcBef>
            </a:pPr>
            <a:r>
              <a:rPr lang="en-US" sz="900">
                <a:solidFill>
                  <a:schemeClr val="tx1"/>
                </a:solidFill>
              </a:rPr>
              <a:t>   And(a=and01,  b=a[2], out=and012);</a:t>
            </a:r>
          </a:p>
          <a:p>
            <a:pPr>
              <a:spcBef>
                <a:spcPts val="150"/>
              </a:spcBef>
            </a:pPr>
            <a:r>
              <a:rPr lang="en-US" sz="900">
                <a:solidFill>
                  <a:schemeClr val="tx1"/>
                </a:solidFill>
              </a:rPr>
              <a:t>   And(a=and012, b=a[3], out=out);</a:t>
            </a:r>
          </a:p>
          <a:p>
            <a:pPr>
              <a:spcBef>
                <a:spcPts val="150"/>
              </a:spcBef>
            </a:pPr>
            <a:r>
              <a:rPr lang="en-US" sz="90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45" name="Rounded Rectangular Callout 44">
            <a:extLst>
              <a:ext uri="{FF2B5EF4-FFF2-40B4-BE49-F238E27FC236}">
                <a16:creationId xmlns:a16="http://schemas.microsoft.com/office/drawing/2014/main" id="{A6878C6E-DD32-FF43-8E12-4676F840153D}"/>
              </a:ext>
            </a:extLst>
          </p:cNvPr>
          <p:cNvSpPr/>
          <p:nvPr/>
        </p:nvSpPr>
        <p:spPr>
          <a:xfrm>
            <a:off x="3762891" y="1739740"/>
            <a:ext cx="1378821" cy="509106"/>
          </a:xfrm>
          <a:prstGeom prst="wedgeRoundRectCallout">
            <a:avLst>
              <a:gd name="adj1" fmla="val -86303"/>
              <a:gd name="adj2" fmla="val 77055"/>
              <a:gd name="adj3" fmla="val 16667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1000" tIns="35100" rtlCol="0" anchor="t" anchorCtr="0"/>
          <a:lstStyle/>
          <a:p>
            <a:pPr>
              <a:buSzPct val="100000"/>
            </a:pPr>
            <a:r>
              <a:rPr lang="en-US" sz="1200">
                <a:solidFill>
                  <a:srgbClr val="000000"/>
                </a:solidFill>
                <a:latin typeface="Times New Roman"/>
                <a:cs typeface="Times New Roman"/>
              </a:rPr>
              <a:t>Input bus pins can be subscripted.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DBCE415-EC5B-A041-8C75-645B1DE65676}"/>
              </a:ext>
            </a:extLst>
          </p:cNvPr>
          <p:cNvGrpSpPr/>
          <p:nvPr/>
        </p:nvGrpSpPr>
        <p:grpSpPr>
          <a:xfrm>
            <a:off x="381535" y="2229593"/>
            <a:ext cx="1098195" cy="818487"/>
            <a:chOff x="891540" y="2554414"/>
            <a:chExt cx="1464260" cy="1091316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449C0375-39C6-FA43-8C9B-48F54EC5A74F}"/>
                </a:ext>
              </a:extLst>
            </p:cNvPr>
            <p:cNvGrpSpPr/>
            <p:nvPr/>
          </p:nvGrpSpPr>
          <p:grpSpPr>
            <a:xfrm>
              <a:off x="891540" y="2554414"/>
              <a:ext cx="1464260" cy="681082"/>
              <a:chOff x="891540" y="2554414"/>
              <a:chExt cx="1464260" cy="681082"/>
            </a:xfrm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F3AD5490-5CB1-A542-BFF0-CFC4DBE482F2}"/>
                  </a:ext>
                </a:extLst>
              </p:cNvPr>
              <p:cNvSpPr/>
              <p:nvPr/>
            </p:nvSpPr>
            <p:spPr>
              <a:xfrm>
                <a:off x="891540" y="2866164"/>
                <a:ext cx="367328" cy="3693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 defTabSz="685800" rtl="1"/>
                <a:r>
                  <a:rPr lang="en-US" sz="900">
                    <a:solidFill>
                      <a:schemeClr val="tx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a:</a:t>
                </a: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006284B9-9662-0242-B87B-84C2F2855E8D}"/>
                  </a:ext>
                </a:extLst>
              </p:cNvPr>
              <p:cNvSpPr txBox="1"/>
              <p:nvPr/>
            </p:nvSpPr>
            <p:spPr>
              <a:xfrm>
                <a:off x="1970072" y="2554414"/>
                <a:ext cx="246307" cy="3077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r" defTabSz="685800" rtl="1"/>
                <a:endParaRPr lang="en-US" sz="9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F4AEEAC4-2AC6-5846-AD4A-681340FE7A8B}"/>
                  </a:ext>
                </a:extLst>
              </p:cNvPr>
              <p:cNvSpPr/>
              <p:nvPr/>
            </p:nvSpPr>
            <p:spPr>
              <a:xfrm>
                <a:off x="1729084" y="2613437"/>
                <a:ext cx="367328" cy="3693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 defTabSz="685800" rtl="1"/>
                <a:r>
                  <a:rPr lang="en-US" sz="9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D1AD9790-5062-C14A-B160-A14DF58A63F7}"/>
                  </a:ext>
                </a:extLst>
              </p:cNvPr>
              <p:cNvSpPr/>
              <p:nvPr/>
            </p:nvSpPr>
            <p:spPr>
              <a:xfrm>
                <a:off x="1988472" y="2604320"/>
                <a:ext cx="367328" cy="3693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 defTabSz="685800" rtl="1"/>
                <a:r>
                  <a:rPr lang="en-US" sz="9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8A192B83-0867-0D43-B847-9CE0143E1327}"/>
                  </a:ext>
                </a:extLst>
              </p:cNvPr>
              <p:cNvSpPr/>
              <p:nvPr/>
            </p:nvSpPr>
            <p:spPr>
              <a:xfrm>
                <a:off x="2031648" y="2923745"/>
                <a:ext cx="280976" cy="26032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 rtl="1"/>
                <a:r>
                  <a:rPr lang="en-US" sz="900">
                    <a:solidFill>
                      <a:schemeClr val="tx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F0993CAC-3220-9043-B42F-EDB48998995B}"/>
                  </a:ext>
                </a:extLst>
              </p:cNvPr>
              <p:cNvSpPr txBox="1"/>
              <p:nvPr/>
            </p:nvSpPr>
            <p:spPr>
              <a:xfrm>
                <a:off x="1469696" y="2554414"/>
                <a:ext cx="246308" cy="3077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defTabSz="685800"/>
                <a:endParaRPr lang="en-US" sz="9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5BAAA8F2-D827-2249-AE9D-6C155E0AF354}"/>
                  </a:ext>
                </a:extLst>
              </p:cNvPr>
              <p:cNvSpPr/>
              <p:nvPr/>
            </p:nvSpPr>
            <p:spPr>
              <a:xfrm>
                <a:off x="1167132" y="2613437"/>
                <a:ext cx="367328" cy="3693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 defTabSz="685800" rtl="1"/>
                <a:r>
                  <a:rPr lang="en-US" sz="9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FA535F10-89CE-BF4B-AA3C-3C612525E87E}"/>
                  </a:ext>
                </a:extLst>
              </p:cNvPr>
              <p:cNvSpPr/>
              <p:nvPr/>
            </p:nvSpPr>
            <p:spPr>
              <a:xfrm>
                <a:off x="1426520" y="2604320"/>
                <a:ext cx="367328" cy="3693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 defTabSz="685800" rtl="1"/>
                <a:r>
                  <a:rPr lang="en-US" sz="9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B618F8CB-A3A5-704B-9A01-CCCB548ACE89}"/>
                  </a:ext>
                </a:extLst>
              </p:cNvPr>
              <p:cNvSpPr/>
              <p:nvPr/>
            </p:nvSpPr>
            <p:spPr>
              <a:xfrm>
                <a:off x="1469696" y="2923745"/>
                <a:ext cx="280976" cy="26032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 rtl="1"/>
                <a:r>
                  <a:rPr lang="en-US" sz="900">
                    <a:solidFill>
                      <a:schemeClr val="tx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</p:txBody>
          </p:sp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C018BBCD-11AD-C545-8CC2-76172BB66E9C}"/>
                  </a:ext>
                </a:extLst>
              </p:cNvPr>
              <p:cNvSpPr/>
              <p:nvPr/>
            </p:nvSpPr>
            <p:spPr>
              <a:xfrm>
                <a:off x="1188720" y="2923745"/>
                <a:ext cx="280976" cy="26032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 rtl="1"/>
                <a:r>
                  <a:rPr lang="en-US" sz="900">
                    <a:solidFill>
                      <a:schemeClr val="tx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31B6292B-D214-234B-8A0A-752EB20FCB24}"/>
                  </a:ext>
                </a:extLst>
              </p:cNvPr>
              <p:cNvSpPr/>
              <p:nvPr/>
            </p:nvSpPr>
            <p:spPr>
              <a:xfrm>
                <a:off x="1750672" y="2923745"/>
                <a:ext cx="280976" cy="26032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 rtl="1"/>
                <a:r>
                  <a:rPr lang="en-US" sz="900">
                    <a:solidFill>
                      <a:schemeClr val="tx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FAFD13D2-C93A-0B44-AB5E-1FD8A533D291}"/>
                </a:ext>
              </a:extLst>
            </p:cNvPr>
            <p:cNvGrpSpPr/>
            <p:nvPr/>
          </p:nvGrpSpPr>
          <p:grpSpPr>
            <a:xfrm>
              <a:off x="1403840" y="3276398"/>
              <a:ext cx="922514" cy="369332"/>
              <a:chOff x="1403840" y="3276398"/>
              <a:chExt cx="922514" cy="369332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41562F4E-E2B3-AA4F-9192-FC928BA94FB0}"/>
                  </a:ext>
                </a:extLst>
              </p:cNvPr>
              <p:cNvSpPr/>
              <p:nvPr/>
            </p:nvSpPr>
            <p:spPr>
              <a:xfrm>
                <a:off x="1403840" y="3276398"/>
                <a:ext cx="692572" cy="3693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r" defTabSz="685800" rtl="1"/>
                <a:r>
                  <a:rPr lang="en-US" sz="900">
                    <a:solidFill>
                      <a:schemeClr val="tx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out:</a:t>
                </a: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67C15E5A-2BDD-8D48-BADA-69696B00EFDC}"/>
                  </a:ext>
                </a:extLst>
              </p:cNvPr>
              <p:cNvSpPr/>
              <p:nvPr/>
            </p:nvSpPr>
            <p:spPr>
              <a:xfrm>
                <a:off x="2045378" y="3363287"/>
                <a:ext cx="280976" cy="23465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 rtl="1"/>
                <a:r>
                  <a:rPr lang="en-US" sz="900">
                    <a:solidFill>
                      <a:schemeClr val="tx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</a:p>
            </p:txBody>
          </p:sp>
        </p:grp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79FD7ECE-36C9-61ED-3A33-DB492ADDC8FA}"/>
              </a:ext>
            </a:extLst>
          </p:cNvPr>
          <p:cNvSpPr txBox="1"/>
          <p:nvPr/>
        </p:nvSpPr>
        <p:spPr>
          <a:xfrm>
            <a:off x="5213242" y="1525796"/>
            <a:ext cx="290487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chemeClr val="accent6"/>
                </a:solidFill>
              </a:rPr>
              <a:t>and01</a:t>
            </a:r>
            <a:r>
              <a:rPr lang="en-US" altLang="zh-CN" dirty="0">
                <a:solidFill>
                  <a:schemeClr val="accent6"/>
                </a:solidFill>
              </a:rPr>
              <a:t> =    a[0]  and a[1]</a:t>
            </a:r>
          </a:p>
          <a:p>
            <a:r>
              <a:rPr lang="en-US" altLang="zh-CN" dirty="0" err="1">
                <a:solidFill>
                  <a:schemeClr val="accent6"/>
                </a:solidFill>
              </a:rPr>
              <a:t>and02</a:t>
            </a:r>
            <a:r>
              <a:rPr lang="en-US" altLang="zh-CN" dirty="0">
                <a:solidFill>
                  <a:schemeClr val="accent6"/>
                </a:solidFill>
              </a:rPr>
              <a:t> = </a:t>
            </a:r>
            <a:r>
              <a:rPr lang="en-US" altLang="zh-CN" dirty="0" err="1">
                <a:solidFill>
                  <a:schemeClr val="accent6"/>
                </a:solidFill>
              </a:rPr>
              <a:t>and01</a:t>
            </a:r>
            <a:r>
              <a:rPr lang="en-US" altLang="zh-CN" dirty="0">
                <a:solidFill>
                  <a:schemeClr val="accent6"/>
                </a:solidFill>
              </a:rPr>
              <a:t> and a[2]</a:t>
            </a:r>
          </a:p>
          <a:p>
            <a:r>
              <a:rPr lang="en-US" altLang="zh-CN" dirty="0">
                <a:solidFill>
                  <a:schemeClr val="accent6"/>
                </a:solidFill>
              </a:rPr>
              <a:t>out      = </a:t>
            </a:r>
            <a:r>
              <a:rPr lang="en-US" altLang="zh-CN" dirty="0" err="1">
                <a:solidFill>
                  <a:schemeClr val="accent6"/>
                </a:solidFill>
              </a:rPr>
              <a:t>and01</a:t>
            </a:r>
            <a:r>
              <a:rPr lang="en-US" altLang="zh-CN" dirty="0">
                <a:solidFill>
                  <a:schemeClr val="accent6"/>
                </a:solidFill>
              </a:rPr>
              <a:t> and </a:t>
            </a:r>
            <a:r>
              <a:rPr lang="en-US" altLang="zh-CN" dirty="0" err="1">
                <a:solidFill>
                  <a:schemeClr val="accent6"/>
                </a:solidFill>
              </a:rPr>
              <a:t>and2</a:t>
            </a:r>
            <a:endParaRPr lang="en-US" altLang="zh-CN" dirty="0">
              <a:solidFill>
                <a:schemeClr val="accent6"/>
              </a:solidFill>
            </a:endParaRPr>
          </a:p>
          <a:p>
            <a:endParaRPr lang="en-US" altLang="zh-CN" dirty="0">
              <a:solidFill>
                <a:schemeClr val="accent6"/>
              </a:solidFill>
            </a:endParaRPr>
          </a:p>
          <a:p>
            <a:r>
              <a:rPr lang="en-US" altLang="zh-CN" dirty="0" err="1">
                <a:solidFill>
                  <a:schemeClr val="accent6"/>
                </a:solidFill>
              </a:rPr>
              <a:t>and01</a:t>
            </a:r>
            <a:r>
              <a:rPr lang="en-US" altLang="zh-CN" dirty="0">
                <a:solidFill>
                  <a:schemeClr val="accent6"/>
                </a:solidFill>
              </a:rPr>
              <a:t>/02</a:t>
            </a:r>
            <a:r>
              <a:rPr lang="zh-CN" altLang="en-US" dirty="0">
                <a:solidFill>
                  <a:schemeClr val="accent6"/>
                </a:solidFill>
              </a:rPr>
              <a:t>是芯片内引脚</a:t>
            </a:r>
            <a:r>
              <a:rPr lang="en-US" altLang="zh-CN" dirty="0">
                <a:solidFill>
                  <a:schemeClr val="accent6"/>
                </a:solidFill>
              </a:rPr>
              <a:t>pin</a:t>
            </a:r>
          </a:p>
          <a:p>
            <a:r>
              <a:rPr lang="en-US" altLang="zh-CN" dirty="0">
                <a:solidFill>
                  <a:schemeClr val="accent6"/>
                </a:solidFill>
              </a:rPr>
              <a:t>out</a:t>
            </a:r>
            <a:r>
              <a:rPr lang="zh-CN" altLang="en-US" dirty="0">
                <a:solidFill>
                  <a:schemeClr val="accent6"/>
                </a:solidFill>
              </a:rPr>
              <a:t>是芯片外引脚</a:t>
            </a:r>
            <a:r>
              <a:rPr lang="en-US" altLang="zh-CN" dirty="0">
                <a:solidFill>
                  <a:schemeClr val="accent6"/>
                </a:solidFill>
              </a:rPr>
              <a:t>pin</a:t>
            </a:r>
            <a:r>
              <a:rPr lang="zh-CN" altLang="en-US" dirty="0">
                <a:solidFill>
                  <a:schemeClr val="accent6"/>
                </a:solidFill>
              </a:rPr>
              <a:t>（</a:t>
            </a:r>
            <a:r>
              <a:rPr lang="en-US" altLang="zh-CN" dirty="0">
                <a:solidFill>
                  <a:schemeClr val="accent6"/>
                </a:solidFill>
              </a:rPr>
              <a:t>1-bit</a:t>
            </a:r>
            <a:r>
              <a:rPr lang="zh-CN" altLang="en-US" dirty="0">
                <a:solidFill>
                  <a:schemeClr val="accent6"/>
                </a:solidFill>
              </a:rPr>
              <a:t>）</a:t>
            </a:r>
            <a:endParaRPr lang="en-US" altLang="zh-CN" dirty="0">
              <a:solidFill>
                <a:schemeClr val="accent6"/>
              </a:solidFill>
            </a:endParaRPr>
          </a:p>
          <a:p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DAE2001-CE3F-CCD5-9EB2-54513FFF89A3}"/>
              </a:ext>
            </a:extLst>
          </p:cNvPr>
          <p:cNvSpPr txBox="1"/>
          <p:nvPr/>
        </p:nvSpPr>
        <p:spPr>
          <a:xfrm>
            <a:off x="5818264" y="3198985"/>
            <a:ext cx="239612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/>
                </a:solidFill>
              </a:rPr>
              <a:t>out[0] = a[0] and b[0]</a:t>
            </a:r>
          </a:p>
          <a:p>
            <a:r>
              <a:rPr lang="en-US" altLang="zh-CN" dirty="0">
                <a:solidFill>
                  <a:schemeClr val="accent6"/>
                </a:solidFill>
              </a:rPr>
              <a:t>out[1] = a[1] and b[1]</a:t>
            </a:r>
            <a:endParaRPr lang="zh-CN" altLang="en-US" dirty="0">
              <a:solidFill>
                <a:schemeClr val="accent6"/>
              </a:solidFill>
            </a:endParaRPr>
          </a:p>
          <a:p>
            <a:r>
              <a:rPr lang="en-US" altLang="zh-CN" dirty="0">
                <a:solidFill>
                  <a:schemeClr val="accent6"/>
                </a:solidFill>
              </a:rPr>
              <a:t>out[2] = a[2] and b[2]</a:t>
            </a:r>
            <a:endParaRPr lang="zh-CN" altLang="en-US" dirty="0">
              <a:solidFill>
                <a:schemeClr val="accent6"/>
              </a:solidFill>
            </a:endParaRPr>
          </a:p>
          <a:p>
            <a:r>
              <a:rPr lang="en-US" altLang="zh-CN" dirty="0">
                <a:solidFill>
                  <a:schemeClr val="accent6"/>
                </a:solidFill>
              </a:rPr>
              <a:t>out[3] = a[3] and b[3]</a:t>
            </a:r>
            <a:endParaRPr lang="zh-CN" altLang="en-US" dirty="0">
              <a:solidFill>
                <a:schemeClr val="accent6"/>
              </a:solidFill>
            </a:endParaRPr>
          </a:p>
          <a:p>
            <a:endParaRPr lang="en-US" altLang="zh-CN" dirty="0">
              <a:solidFill>
                <a:schemeClr val="accent6"/>
              </a:solidFill>
            </a:endParaRPr>
          </a:p>
          <a:p>
            <a:r>
              <a:rPr lang="en-US" altLang="zh-CN" dirty="0" err="1">
                <a:solidFill>
                  <a:schemeClr val="accent6"/>
                </a:solidFill>
              </a:rPr>
              <a:t>out1</a:t>
            </a:r>
            <a:r>
              <a:rPr lang="en-US" altLang="zh-CN" dirty="0">
                <a:solidFill>
                  <a:schemeClr val="accent6"/>
                </a:solidFill>
              </a:rPr>
              <a:t>-4</a:t>
            </a:r>
            <a:r>
              <a:rPr lang="zh-CN" altLang="en-US" dirty="0">
                <a:solidFill>
                  <a:schemeClr val="accent6"/>
                </a:solidFill>
              </a:rPr>
              <a:t>是芯片外</a:t>
            </a:r>
            <a:r>
              <a:rPr lang="en-US" altLang="zh-CN" dirty="0">
                <a:solidFill>
                  <a:schemeClr val="accent6"/>
                </a:solidFill>
              </a:rPr>
              <a:t>16-bits</a:t>
            </a:r>
            <a:r>
              <a:rPr lang="zh-CN" altLang="en-US" dirty="0">
                <a:solidFill>
                  <a:schemeClr val="accent6"/>
                </a:solidFill>
              </a:rPr>
              <a:t>引脚</a:t>
            </a:r>
            <a:r>
              <a:rPr lang="en-US" altLang="zh-CN" dirty="0">
                <a:solidFill>
                  <a:schemeClr val="accent6"/>
                </a:solidFill>
              </a:rPr>
              <a:t>pin</a:t>
            </a:r>
            <a:r>
              <a:rPr lang="zh-CN" altLang="en-US" dirty="0">
                <a:solidFill>
                  <a:schemeClr val="accent6"/>
                </a:solidFill>
              </a:rPr>
              <a:t>的低</a:t>
            </a:r>
            <a:r>
              <a:rPr lang="en-US" altLang="zh-CN" dirty="0">
                <a:solidFill>
                  <a:schemeClr val="accent6"/>
                </a:solidFill>
              </a:rPr>
              <a:t>4</a:t>
            </a:r>
            <a:r>
              <a:rPr lang="zh-CN" altLang="en-US" dirty="0">
                <a:solidFill>
                  <a:schemeClr val="accent6"/>
                </a:solidFill>
              </a:rPr>
              <a:t>位</a:t>
            </a:r>
            <a:endParaRPr lang="en-US" altLang="zh-CN" dirty="0">
              <a:solidFill>
                <a:schemeClr val="accent6"/>
              </a:solidFill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14386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39F0669-26CE-325E-EF79-24F4517078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9504AB9-C8DC-1643-9750-58A77BC25CE8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C0CD8BB-33F2-C225-8EAE-7EF91A02D741}"/>
              </a:ext>
            </a:extLst>
          </p:cNvPr>
          <p:cNvSpPr txBox="1"/>
          <p:nvPr/>
        </p:nvSpPr>
        <p:spPr>
          <a:xfrm>
            <a:off x="336176" y="295836"/>
            <a:ext cx="3274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/>
              <a:t>将</a:t>
            </a:r>
            <a:r>
              <a:rPr lang="en-US" altLang="zh-CN" sz="1800" dirty="0"/>
              <a:t>1-bit</a:t>
            </a:r>
            <a:r>
              <a:rPr lang="zh-CN" altLang="en-US" sz="1800" dirty="0"/>
              <a:t>信号扩展到</a:t>
            </a:r>
            <a:r>
              <a:rPr lang="en-US" altLang="zh-CN" sz="1800" dirty="0"/>
              <a:t>16-bits bus</a:t>
            </a:r>
            <a:endParaRPr lang="zh-CN" altLang="en-US" sz="18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BAC27AE-6286-5AE5-46C6-4B76B803F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992" y="1321580"/>
            <a:ext cx="4934639" cy="219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9878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40806-FEEE-193B-B9D7-B32C5A45F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4C94443-6EB2-7D78-974D-306965616A90}"/>
              </a:ext>
            </a:extLst>
          </p:cNvPr>
          <p:cNvSpPr txBox="1"/>
          <p:nvPr/>
        </p:nvSpPr>
        <p:spPr>
          <a:xfrm>
            <a:off x="521550" y="2436735"/>
            <a:ext cx="4230470" cy="1750173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144000" tIns="93600" rIns="144000" bIns="93600" rtlCol="0" anchor="ctr" anchorCtr="0">
            <a:normAutofit lnSpcReduction="10000"/>
          </a:bodyPr>
          <a:lstStyle>
            <a:lvl1pPr indent="0">
              <a:lnSpc>
                <a:spcPct val="90000"/>
              </a:lnSpc>
              <a:spcBef>
                <a:spcPct val="20000"/>
              </a:spcBef>
              <a:buClr>
                <a:srgbClr val="006600"/>
              </a:buClr>
              <a:buSzPct val="85000"/>
              <a:buFont typeface="Arial" panose="020B0604020202020204" pitchFamily="34" charset="0"/>
              <a:buNone/>
              <a:defRPr sz="1400">
                <a:solidFill>
                  <a:srgbClr val="000000"/>
                </a:solidFill>
                <a:latin typeface="Consolas"/>
                <a:cs typeface="Consolas"/>
              </a:defRPr>
            </a:lvl1pPr>
            <a:lvl2pPr indent="0">
              <a:lnSpc>
                <a:spcPct val="90000"/>
              </a:lnSpc>
              <a:spcBef>
                <a:spcPts val="1000"/>
              </a:spcBef>
              <a:buSzPct val="50000"/>
              <a:buFont typeface="Wingdings" charset="2"/>
              <a:buNone/>
              <a:defRPr sz="2000">
                <a:latin typeface="Times New Roman"/>
                <a:cs typeface="Times New Roman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>
                <a:latin typeface="Times New Roman"/>
                <a:cs typeface="Times New Roman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>
                <a:latin typeface="Times New Roman"/>
                <a:cs typeface="Times New Roman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>
                <a:latin typeface="Times New Roman"/>
                <a:cs typeface="Times New Roman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sz="1200"/>
              <a:t>CHIP </a:t>
            </a:r>
            <a:r>
              <a:rPr lang="en-US" sz="1200" err="1"/>
              <a:t>MyChip</a:t>
            </a:r>
            <a:r>
              <a:rPr lang="en-US" sz="1200"/>
              <a:t> {</a:t>
            </a:r>
          </a:p>
          <a:p>
            <a:r>
              <a:rPr lang="en-US" sz="1200"/>
              <a:t>    IN a[16], b[16];</a:t>
            </a:r>
          </a:p>
          <a:p>
            <a:r>
              <a:rPr lang="en-US" sz="1200"/>
              <a:t>    OUT out[16];</a:t>
            </a:r>
          </a:p>
          <a:p>
            <a:endParaRPr lang="en-US" sz="1200"/>
          </a:p>
          <a:p>
            <a:r>
              <a:rPr lang="en-US" sz="1200"/>
              <a:t>     PARTS:</a:t>
            </a:r>
          </a:p>
          <a:p>
            <a:r>
              <a:rPr lang="en-US"/>
              <a:t>    </a:t>
            </a:r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And16(a=a, b=b, out=out, out[0..3]=</a:t>
            </a:r>
            <a:r>
              <a:rPr lang="en-US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lsb</a:t>
            </a:r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And4Way(a=</a:t>
            </a:r>
            <a:r>
              <a:rPr lang="en-US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lsb</a:t>
            </a:r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out=4wayout);</a:t>
            </a:r>
          </a:p>
          <a:p>
            <a:r>
              <a:rPr lang="en-US" sz="1200"/>
              <a:t>}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634EAB-A49A-1779-CCF7-C76B35AFB9F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41530" y="501520"/>
            <a:ext cx="5849463" cy="432959"/>
          </a:xfrm>
        </p:spPr>
        <p:txBody>
          <a:bodyPr/>
          <a:lstStyle/>
          <a:p>
            <a:r>
              <a:rPr lang="zh-CN" altLang="en-US" sz="2000" dirty="0"/>
              <a:t>信号切片</a:t>
            </a:r>
            <a:endParaRPr lang="en-US" sz="2000" dirty="0"/>
          </a:p>
        </p:txBody>
      </p:sp>
      <p:sp>
        <p:nvSpPr>
          <p:cNvPr id="11" name="Rounded Rectangular Callout 10">
            <a:extLst>
              <a:ext uri="{FF2B5EF4-FFF2-40B4-BE49-F238E27FC236}">
                <a16:creationId xmlns:a16="http://schemas.microsoft.com/office/drawing/2014/main" id="{478456A7-B3CA-55CA-C260-5A81D9F678AB}"/>
              </a:ext>
            </a:extLst>
          </p:cNvPr>
          <p:cNvSpPr/>
          <p:nvPr/>
        </p:nvSpPr>
        <p:spPr>
          <a:xfrm>
            <a:off x="5570848" y="3918966"/>
            <a:ext cx="1737715" cy="720080"/>
          </a:xfrm>
          <a:prstGeom prst="wedgeRoundRectCallout">
            <a:avLst>
              <a:gd name="adj1" fmla="val -157778"/>
              <a:gd name="adj2" fmla="val -86066"/>
              <a:gd name="adj3" fmla="val 16667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1000" tIns="35100" rtlCol="0" anchor="t" anchorCtr="0"/>
          <a:lstStyle/>
          <a:p>
            <a:pPr>
              <a:buSzPct val="100000"/>
            </a:pPr>
            <a:r>
              <a:rPr lang="en-US" sz="1200" dirty="0">
                <a:solidFill>
                  <a:srgbClr val="000000"/>
                </a:solidFill>
                <a:latin typeface="Times New Roman"/>
                <a:cs typeface="Times New Roman"/>
              </a:rPr>
              <a:t>Outputs only bus pins 0 to 7 as an internal bus called </a:t>
            </a:r>
            <a:r>
              <a:rPr lang="en-US" sz="1200" dirty="0" err="1">
                <a:solidFill>
                  <a:srgbClr val="000000"/>
                </a:solidFill>
                <a:latin typeface="Times New Roman"/>
                <a:cs typeface="Times New Roman"/>
              </a:rPr>
              <a:t>lsb</a:t>
            </a:r>
            <a:r>
              <a:rPr lang="en-US" sz="1200" dirty="0">
                <a:solidFill>
                  <a:srgbClr val="000000"/>
                </a:solidFill>
                <a:latin typeface="Times New Roman"/>
                <a:cs typeface="Times New Roman"/>
              </a:rPr>
              <a:t> of width 4.</a:t>
            </a:r>
          </a:p>
        </p:txBody>
      </p:sp>
      <p:sp>
        <p:nvSpPr>
          <p:cNvPr id="45" name="Rounded Rectangular Callout 44">
            <a:extLst>
              <a:ext uri="{FF2B5EF4-FFF2-40B4-BE49-F238E27FC236}">
                <a16:creationId xmlns:a16="http://schemas.microsoft.com/office/drawing/2014/main" id="{220E6EB8-3475-0D93-72F6-01231B5F69F1}"/>
              </a:ext>
            </a:extLst>
          </p:cNvPr>
          <p:cNvSpPr/>
          <p:nvPr/>
        </p:nvSpPr>
        <p:spPr>
          <a:xfrm>
            <a:off x="5391962" y="2223021"/>
            <a:ext cx="1485166" cy="509106"/>
          </a:xfrm>
          <a:prstGeom prst="wedgeRoundRectCallout">
            <a:avLst>
              <a:gd name="adj1" fmla="val -226461"/>
              <a:gd name="adj2" fmla="val 203637"/>
              <a:gd name="adj3" fmla="val 16667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1000" tIns="35100" rtlCol="0" anchor="t" anchorCtr="0"/>
          <a:lstStyle/>
          <a:p>
            <a:pPr>
              <a:buSzPct val="100000"/>
            </a:pPr>
            <a:r>
              <a:rPr lang="en-US" sz="1200">
                <a:solidFill>
                  <a:srgbClr val="000000"/>
                </a:solidFill>
                <a:latin typeface="Times New Roman"/>
                <a:cs typeface="Times New Roman"/>
              </a:rPr>
              <a:t>Outputs the whole 16 bit bus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EBB688-DD23-8440-87A1-76B1C4E9086A}"/>
              </a:ext>
            </a:extLst>
          </p:cNvPr>
          <p:cNvSpPr txBox="1"/>
          <p:nvPr/>
        </p:nvSpPr>
        <p:spPr>
          <a:xfrm>
            <a:off x="381535" y="1167211"/>
            <a:ext cx="83309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您还可以使用总线中的一系列位，而不是整个总线。</a:t>
            </a:r>
          </a:p>
          <a:p>
            <a:br>
              <a:rPr lang="zh-CN" altLang="en-US" dirty="0"/>
            </a:br>
            <a:endParaRPr lang="zh-CN" altLang="en-US" dirty="0"/>
          </a:p>
          <a:p>
            <a:r>
              <a:rPr lang="zh-CN" altLang="en-US" dirty="0"/>
              <a:t>例如，如果您只想</a:t>
            </a:r>
            <a:r>
              <a:rPr lang="zh-CN" altLang="en-US" dirty="0">
                <a:solidFill>
                  <a:schemeClr val="accent2"/>
                </a:solidFill>
              </a:rPr>
              <a:t>使用</a:t>
            </a:r>
            <a:r>
              <a:rPr lang="en-US" altLang="zh-CN" dirty="0" err="1">
                <a:solidFill>
                  <a:schemeClr val="accent2"/>
                </a:solidFill>
              </a:rPr>
              <a:t>And16</a:t>
            </a:r>
            <a:r>
              <a:rPr lang="zh-CN" altLang="en-US" dirty="0">
                <a:solidFill>
                  <a:schemeClr val="accent2"/>
                </a:solidFill>
              </a:rPr>
              <a:t>门输出中的</a:t>
            </a:r>
            <a:r>
              <a:rPr lang="en-US" altLang="zh-CN" dirty="0">
                <a:solidFill>
                  <a:schemeClr val="accent2"/>
                </a:solidFill>
              </a:rPr>
              <a:t>4</a:t>
            </a:r>
            <a:r>
              <a:rPr lang="zh-CN" altLang="en-US" dirty="0">
                <a:solidFill>
                  <a:schemeClr val="accent2"/>
                </a:solidFill>
              </a:rPr>
              <a:t>个最低有效位</a:t>
            </a:r>
            <a:r>
              <a:rPr lang="zh-CN" altLang="en-US" dirty="0"/>
              <a:t>，或者只想使用</a:t>
            </a:r>
            <a:r>
              <a:rPr lang="en-US" altLang="zh-CN" dirty="0"/>
              <a:t>16</a:t>
            </a:r>
            <a:r>
              <a:rPr lang="zh-CN" altLang="en-US" dirty="0"/>
              <a:t>位计数器或寄存器的</a:t>
            </a:r>
            <a:r>
              <a:rPr lang="en-US" altLang="zh-CN" dirty="0"/>
              <a:t>8</a:t>
            </a:r>
            <a:r>
              <a:rPr lang="zh-CN" altLang="en-US" dirty="0"/>
              <a:t>位。</a:t>
            </a:r>
          </a:p>
        </p:txBody>
      </p:sp>
    </p:spTree>
    <p:extLst>
      <p:ext uri="{BB962C8B-B14F-4D97-AF65-F5344CB8AC3E}">
        <p14:creationId xmlns:p14="http://schemas.microsoft.com/office/powerpoint/2010/main" val="3513622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A381B-5F07-5F54-C293-3B904A087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EA47708-245F-B3E1-52DF-13ADD1D543C9}"/>
              </a:ext>
            </a:extLst>
          </p:cNvPr>
          <p:cNvSpPr txBox="1"/>
          <p:nvPr/>
        </p:nvSpPr>
        <p:spPr>
          <a:xfrm>
            <a:off x="566555" y="2148773"/>
            <a:ext cx="4725525" cy="1750173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144000" tIns="93600" rIns="144000" bIns="93600" rtlCol="0" anchor="ctr" anchorCtr="0">
            <a:normAutofit fontScale="92500"/>
          </a:bodyPr>
          <a:lstStyle>
            <a:lvl1pPr indent="0">
              <a:lnSpc>
                <a:spcPct val="90000"/>
              </a:lnSpc>
              <a:spcBef>
                <a:spcPct val="20000"/>
              </a:spcBef>
              <a:buClr>
                <a:srgbClr val="006600"/>
              </a:buClr>
              <a:buSzPct val="85000"/>
              <a:buFont typeface="Arial" panose="020B0604020202020204" pitchFamily="34" charset="0"/>
              <a:buNone/>
              <a:defRPr sz="1400">
                <a:solidFill>
                  <a:srgbClr val="000000"/>
                </a:solidFill>
                <a:latin typeface="Consolas"/>
                <a:cs typeface="Consolas"/>
              </a:defRPr>
            </a:lvl1pPr>
            <a:lvl2pPr indent="0">
              <a:lnSpc>
                <a:spcPct val="90000"/>
              </a:lnSpc>
              <a:spcBef>
                <a:spcPts val="1000"/>
              </a:spcBef>
              <a:buSzPct val="50000"/>
              <a:buFont typeface="Wingdings" charset="2"/>
              <a:buNone/>
              <a:defRPr sz="2000">
                <a:latin typeface="Times New Roman"/>
                <a:cs typeface="Times New Roman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>
                <a:latin typeface="Times New Roman"/>
                <a:cs typeface="Times New Roman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>
                <a:latin typeface="Times New Roman"/>
                <a:cs typeface="Times New Roman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>
                <a:latin typeface="Times New Roman"/>
                <a:cs typeface="Times New Roman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sz="1200" dirty="0"/>
              <a:t>CHIP </a:t>
            </a:r>
            <a:r>
              <a:rPr lang="en-US" sz="1200" dirty="0" err="1"/>
              <a:t>MyChip</a:t>
            </a:r>
            <a:r>
              <a:rPr lang="en-US" sz="1200" dirty="0"/>
              <a:t> {</a:t>
            </a:r>
          </a:p>
          <a:p>
            <a:r>
              <a:rPr lang="en-US" sz="1200" dirty="0"/>
              <a:t>    IN </a:t>
            </a:r>
            <a:r>
              <a:rPr lang="en-US" sz="1200" dirty="0" err="1"/>
              <a:t>input1</a:t>
            </a:r>
            <a:r>
              <a:rPr lang="en-US" sz="1200" dirty="0"/>
              <a:t>[16], </a:t>
            </a:r>
            <a:r>
              <a:rPr lang="en-US" sz="1200" dirty="0" err="1"/>
              <a:t>input2</a:t>
            </a:r>
            <a:r>
              <a:rPr lang="en-US" sz="1200" dirty="0"/>
              <a:t>[16];</a:t>
            </a:r>
          </a:p>
          <a:p>
            <a:r>
              <a:rPr lang="en-US" sz="1200" dirty="0"/>
              <a:t>    OUT output[16];</a:t>
            </a:r>
          </a:p>
          <a:p>
            <a:endParaRPr lang="en-US" sz="1200" dirty="0"/>
          </a:p>
          <a:p>
            <a:r>
              <a:rPr lang="en-US" sz="1200" dirty="0"/>
              <a:t>     PARTS:</a:t>
            </a:r>
          </a:p>
          <a:p>
            <a:r>
              <a:rPr lang="en-US" dirty="0"/>
              <a:t>   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And16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(a=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input1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b=true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out=output);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And16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a[0..7]=false, a[8..15]=</a:t>
            </a:r>
            <a:r>
              <a:rPr lang="en-US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input1</a:t>
            </a: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[8..15],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out=output);</a:t>
            </a:r>
          </a:p>
          <a:p>
            <a:r>
              <a:rPr lang="en-US" sz="1200" dirty="0"/>
              <a:t>}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1E556E-094E-7A80-ADC7-8356F46A69C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41530" y="501520"/>
            <a:ext cx="5849463" cy="432959"/>
          </a:xfrm>
        </p:spPr>
        <p:txBody>
          <a:bodyPr/>
          <a:lstStyle/>
          <a:p>
            <a:r>
              <a:rPr lang="zh-CN" altLang="en-US" sz="2000" dirty="0"/>
              <a:t>信号切片</a:t>
            </a:r>
            <a:endParaRPr lang="en-US" sz="2000" dirty="0"/>
          </a:p>
        </p:txBody>
      </p:sp>
      <p:sp>
        <p:nvSpPr>
          <p:cNvPr id="11" name="Rounded Rectangular Callout 10">
            <a:extLst>
              <a:ext uri="{FF2B5EF4-FFF2-40B4-BE49-F238E27FC236}">
                <a16:creationId xmlns:a16="http://schemas.microsoft.com/office/drawing/2014/main" id="{16BDFDF5-183D-D471-399A-BE460C55AD15}"/>
              </a:ext>
            </a:extLst>
          </p:cNvPr>
          <p:cNvSpPr/>
          <p:nvPr/>
        </p:nvSpPr>
        <p:spPr>
          <a:xfrm>
            <a:off x="5562110" y="3921900"/>
            <a:ext cx="2985280" cy="720080"/>
          </a:xfrm>
          <a:prstGeom prst="wedgeRoundRectCallout">
            <a:avLst>
              <a:gd name="adj1" fmla="val -157778"/>
              <a:gd name="adj2" fmla="val -86066"/>
              <a:gd name="adj3" fmla="val 16667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1000" tIns="35100" rtlCol="0" anchor="t" anchorCtr="0"/>
          <a:lstStyle/>
          <a:p>
            <a:pPr>
              <a:buSzPct val="100000"/>
            </a:pPr>
            <a:r>
              <a:rPr lang="zh-CN" altLang="en-US" sz="1200" dirty="0">
                <a:solidFill>
                  <a:schemeClr val="tx1"/>
                </a:solidFill>
              </a:rPr>
              <a:t>将</a:t>
            </a:r>
            <a:r>
              <a:rPr lang="en-US" altLang="zh-CN" sz="1200" dirty="0">
                <a:solidFill>
                  <a:schemeClr val="tx1"/>
                </a:solidFill>
              </a:rPr>
              <a:t>a</a:t>
            </a:r>
            <a:r>
              <a:rPr lang="zh-CN" altLang="en-US" sz="1200" dirty="0">
                <a:solidFill>
                  <a:schemeClr val="tx1"/>
                </a:solidFill>
              </a:rPr>
              <a:t>的</a:t>
            </a:r>
            <a:r>
              <a:rPr lang="en-US" altLang="zh-CN" sz="1200" dirty="0">
                <a:solidFill>
                  <a:schemeClr val="tx1"/>
                </a:solidFill>
              </a:rPr>
              <a:t>8</a:t>
            </a:r>
            <a:r>
              <a:rPr lang="zh-CN" altLang="en-US" sz="1200" dirty="0">
                <a:solidFill>
                  <a:schemeClr val="tx1"/>
                </a:solidFill>
              </a:rPr>
              <a:t>个最低有效位设置为</a:t>
            </a:r>
            <a:r>
              <a:rPr lang="en-US" altLang="zh-CN" sz="1200" dirty="0">
                <a:solidFill>
                  <a:schemeClr val="tx1"/>
                </a:solidFill>
              </a:rPr>
              <a:t>false</a:t>
            </a:r>
            <a:r>
              <a:rPr lang="zh-CN" altLang="en-US" sz="1200" dirty="0">
                <a:solidFill>
                  <a:schemeClr val="tx1"/>
                </a:solidFill>
              </a:rPr>
              <a:t>，将输入</a:t>
            </a:r>
            <a:r>
              <a:rPr lang="en-US" altLang="zh-CN" sz="1200" dirty="0">
                <a:solidFill>
                  <a:schemeClr val="tx1"/>
                </a:solidFill>
              </a:rPr>
              <a:t>1</a:t>
            </a:r>
            <a:r>
              <a:rPr lang="zh-CN" altLang="en-US" sz="1200" dirty="0">
                <a:solidFill>
                  <a:schemeClr val="tx1"/>
                </a:solidFill>
              </a:rPr>
              <a:t>的</a:t>
            </a:r>
            <a:r>
              <a:rPr lang="en-US" altLang="zh-CN" sz="1200" dirty="0">
                <a:solidFill>
                  <a:schemeClr val="tx1"/>
                </a:solidFill>
              </a:rPr>
              <a:t>8</a:t>
            </a:r>
            <a:r>
              <a:rPr lang="zh-CN" altLang="en-US" sz="1200" dirty="0">
                <a:solidFill>
                  <a:schemeClr val="tx1"/>
                </a:solidFill>
              </a:rPr>
              <a:t>个最高有效位设置成最高有效位。</a:t>
            </a:r>
            <a:r>
              <a:rPr lang="en-US" sz="120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</a:p>
        </p:txBody>
      </p:sp>
      <p:sp>
        <p:nvSpPr>
          <p:cNvPr id="45" name="Rounded Rectangular Callout 44">
            <a:extLst>
              <a:ext uri="{FF2B5EF4-FFF2-40B4-BE49-F238E27FC236}">
                <a16:creationId xmlns:a16="http://schemas.microsoft.com/office/drawing/2014/main" id="{61B5D94F-56C8-3343-F6FC-C7C6A358877A}"/>
              </a:ext>
            </a:extLst>
          </p:cNvPr>
          <p:cNvSpPr/>
          <p:nvPr/>
        </p:nvSpPr>
        <p:spPr>
          <a:xfrm>
            <a:off x="5022050" y="1894220"/>
            <a:ext cx="1485166" cy="509106"/>
          </a:xfrm>
          <a:prstGeom prst="wedgeRoundRectCallout">
            <a:avLst>
              <a:gd name="adj1" fmla="val -230566"/>
              <a:gd name="adj2" fmla="val 207058"/>
              <a:gd name="adj3" fmla="val 16667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1000" tIns="35100" rtlCol="0" anchor="t" anchorCtr="0"/>
          <a:lstStyle/>
          <a:p>
            <a:pPr>
              <a:buSzPct val="100000"/>
            </a:pPr>
            <a:r>
              <a:rPr lang="en-US" sz="1200" dirty="0">
                <a:solidFill>
                  <a:srgbClr val="000000"/>
                </a:solidFill>
                <a:latin typeface="Times New Roman"/>
                <a:cs typeface="Times New Roman"/>
              </a:rPr>
              <a:t>Sets all 16 bits of input b to true.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780DA4-4BDE-51A3-6019-9AF74056C063}"/>
              </a:ext>
            </a:extLst>
          </p:cNvPr>
          <p:cNvSpPr txBox="1"/>
          <p:nvPr/>
        </p:nvSpPr>
        <p:spPr>
          <a:xfrm>
            <a:off x="406537" y="1089016"/>
            <a:ext cx="833092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You can manually set pins, buses or parts of buses to high (true) or low (false) values. This can be useful for masking bits.</a:t>
            </a:r>
          </a:p>
          <a:p>
            <a:r>
              <a:rPr lang="en-US"/>
              <a:t>You can also connect different sources to different parts of a bus.</a:t>
            </a:r>
          </a:p>
        </p:txBody>
      </p:sp>
    </p:spTree>
    <p:extLst>
      <p:ext uri="{BB962C8B-B14F-4D97-AF65-F5344CB8AC3E}">
        <p14:creationId xmlns:p14="http://schemas.microsoft.com/office/powerpoint/2010/main" val="1371482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697DC5-4126-FE7B-A7D7-9C45299A1B7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17</a:t>
            </a:fld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CDE6B2-21D4-3A01-B202-D389B50E61AB}"/>
              </a:ext>
            </a:extLst>
          </p:cNvPr>
          <p:cNvSpPr txBox="1">
            <a:spLocks/>
          </p:cNvSpPr>
          <p:nvPr/>
        </p:nvSpPr>
        <p:spPr>
          <a:xfrm>
            <a:off x="341530" y="524231"/>
            <a:ext cx="7799284" cy="57727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/>
              <a:t>Your Turn: And16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8FC711-15D9-CB42-2216-5CDED93A5D48}"/>
              </a:ext>
            </a:extLst>
          </p:cNvPr>
          <p:cNvSpPr txBox="1"/>
          <p:nvPr/>
        </p:nvSpPr>
        <p:spPr>
          <a:xfrm>
            <a:off x="4709329" y="2091649"/>
            <a:ext cx="4876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Consolas"/>
                <a:cs typeface="Consolas"/>
              </a:rPr>
              <a:t>out = 0 0 1 0 1 0 0 1 0 0 0 0 1 0 0 0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2FF3E53-B816-F7A6-169B-2406FC9A77EB}"/>
              </a:ext>
            </a:extLst>
          </p:cNvPr>
          <p:cNvGrpSpPr/>
          <p:nvPr/>
        </p:nvGrpSpPr>
        <p:grpSpPr>
          <a:xfrm>
            <a:off x="4873079" y="1495990"/>
            <a:ext cx="4827044" cy="546523"/>
            <a:chOff x="1695681" y="3816297"/>
            <a:chExt cx="4827044" cy="54652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8CB48AB-B15E-62FA-6082-C101318D64CA}"/>
                </a:ext>
              </a:extLst>
            </p:cNvPr>
            <p:cNvSpPr txBox="1"/>
            <p:nvPr/>
          </p:nvSpPr>
          <p:spPr>
            <a:xfrm>
              <a:off x="1695681" y="3816297"/>
              <a:ext cx="482078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latin typeface="Consolas"/>
                  <a:cs typeface="Consolas"/>
                </a:rPr>
                <a:t>a = 1 0 1 0 1 0 1 1 0 1 0 1 1 1 0 0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4C2A694-3E48-5E75-178A-A124A54C7A60}"/>
                </a:ext>
              </a:extLst>
            </p:cNvPr>
            <p:cNvSpPr txBox="1"/>
            <p:nvPr/>
          </p:nvSpPr>
          <p:spPr>
            <a:xfrm>
              <a:off x="1701937" y="4036686"/>
              <a:ext cx="482078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latin typeface="Consolas"/>
                  <a:cs typeface="Consolas"/>
                </a:rPr>
                <a:t>b = 0 0 1 0 1 1 0 1 0 0 1 0 1 0 1 0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B70E2743-159E-473B-83AA-54FDC64E9978}"/>
                </a:ext>
              </a:extLst>
            </p:cNvPr>
            <p:cNvCxnSpPr>
              <a:cxnSpLocks/>
            </p:cNvCxnSpPr>
            <p:nvPr/>
          </p:nvCxnSpPr>
          <p:spPr>
            <a:xfrm>
              <a:off x="2094457" y="4362820"/>
              <a:ext cx="261318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4719F52D-729B-4704-CAE2-FC9A881C3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218" y="985797"/>
            <a:ext cx="3042466" cy="1767817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9BE02642-9125-BEA4-403B-CB3516F880A6}"/>
              </a:ext>
            </a:extLst>
          </p:cNvPr>
          <p:cNvGrpSpPr/>
          <p:nvPr/>
        </p:nvGrpSpPr>
        <p:grpSpPr>
          <a:xfrm>
            <a:off x="1194178" y="3094795"/>
            <a:ext cx="7030302" cy="1750173"/>
            <a:chOff x="1539218" y="3403047"/>
            <a:chExt cx="7030302" cy="1750173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1220ACE-D169-EEC6-1B3A-04088F697E14}"/>
                </a:ext>
              </a:extLst>
            </p:cNvPr>
            <p:cNvSpPr txBox="1"/>
            <p:nvPr/>
          </p:nvSpPr>
          <p:spPr>
            <a:xfrm>
              <a:off x="1539218" y="3403047"/>
              <a:ext cx="2406249" cy="175017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lIns="144000" tIns="93600" rIns="144000" bIns="93600" rtlCol="0" anchor="ctr" anchorCtr="0">
              <a:normAutofit/>
            </a:bodyPr>
            <a:lstStyle>
              <a:lvl1pPr indent="0">
                <a:lnSpc>
                  <a:spcPct val="90000"/>
                </a:lnSpc>
                <a:spcBef>
                  <a:spcPct val="20000"/>
                </a:spcBef>
                <a:buClr>
                  <a:srgbClr val="006600"/>
                </a:buClr>
                <a:buSzPct val="85000"/>
                <a:buFont typeface="Arial" panose="020B0604020202020204" pitchFamily="34" charset="0"/>
                <a:buNone/>
                <a:defRPr sz="1400">
                  <a:solidFill>
                    <a:srgbClr val="000000"/>
                  </a:solidFill>
                  <a:latin typeface="Consolas"/>
                  <a:cs typeface="Consolas"/>
                </a:defRPr>
              </a:lvl1pPr>
              <a:lvl2pPr indent="0">
                <a:lnSpc>
                  <a:spcPct val="90000"/>
                </a:lnSpc>
                <a:spcBef>
                  <a:spcPts val="1000"/>
                </a:spcBef>
                <a:buSzPct val="50000"/>
                <a:buFont typeface="Wingdings" charset="2"/>
                <a:buNone/>
                <a:defRPr sz="2000">
                  <a:latin typeface="Times New Roman"/>
                  <a:cs typeface="Times New Roman"/>
                </a:defRPr>
              </a:lvl2pPr>
              <a:lvl3pPr indent="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>
                  <a:latin typeface="Times New Roman"/>
                  <a:cs typeface="Times New Roman"/>
                </a:defRPr>
              </a:lvl3pPr>
              <a:lvl4pPr indent="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>
                  <a:latin typeface="Times New Roman"/>
                  <a:cs typeface="Times New Roman"/>
                </a:defRPr>
              </a:lvl4pPr>
              <a:lvl5pPr indent="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>
                  <a:latin typeface="Times New Roman"/>
                  <a:cs typeface="Times New Roman"/>
                </a:defRPr>
              </a:lvl5pPr>
              <a:lvl6pPr marL="25146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6pPr>
              <a:lvl7pPr marL="2971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7pPr>
              <a:lvl8pPr marL="3429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r>
                <a:rPr lang="en-US" sz="1200"/>
                <a:t>CHIP And16 {</a:t>
              </a:r>
            </a:p>
            <a:p>
              <a:r>
                <a:rPr lang="en-US" sz="1200"/>
                <a:t>    IN a[16], b[16];</a:t>
              </a:r>
            </a:p>
            <a:p>
              <a:r>
                <a:rPr lang="en-US" sz="1200"/>
                <a:t>    OUT out[16];</a:t>
              </a:r>
            </a:p>
            <a:p>
              <a:endParaRPr lang="en-US" sz="1200"/>
            </a:p>
            <a:p>
              <a:r>
                <a:rPr lang="en-US" sz="1200"/>
                <a:t>     PARTS:</a:t>
              </a:r>
            </a:p>
            <a:p>
              <a:r>
                <a:rPr lang="en-US"/>
                <a:t>    </a:t>
              </a:r>
              <a:r>
                <a:rPr lang="en-US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// Put your code here:</a:t>
              </a:r>
            </a:p>
            <a:p>
              <a:r>
                <a:rPr lang="en-US" sz="1200"/>
                <a:t>}</a:t>
              </a:r>
            </a:p>
          </p:txBody>
        </p:sp>
        <p:sp>
          <p:nvSpPr>
            <p:cNvPr id="14" name="Content Placeholder 2">
              <a:extLst>
                <a:ext uri="{FF2B5EF4-FFF2-40B4-BE49-F238E27FC236}">
                  <a16:creationId xmlns:a16="http://schemas.microsoft.com/office/drawing/2014/main" id="{690303F4-A22C-9A7C-BECD-322B27A70757}"/>
                </a:ext>
              </a:extLst>
            </p:cNvPr>
            <p:cNvSpPr txBox="1">
              <a:spLocks/>
            </p:cNvSpPr>
            <p:nvPr/>
          </p:nvSpPr>
          <p:spPr>
            <a:xfrm>
              <a:off x="4513720" y="3537271"/>
              <a:ext cx="4055800" cy="1481724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800" kern="1200">
                  <a:solidFill>
                    <a:schemeClr val="tx1"/>
                  </a:solidFill>
                  <a:latin typeface="Comic Sans MS"/>
                  <a:ea typeface="+mn-ea"/>
                  <a:cs typeface="Comic Sans MS"/>
                </a:defRPr>
              </a:lvl1pPr>
              <a:lvl2pPr marL="742950" indent="-28575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800" kern="1200">
                  <a:solidFill>
                    <a:schemeClr val="tx1"/>
                  </a:solidFill>
                  <a:latin typeface="Comic Sans MS"/>
                  <a:ea typeface="+mn-ea"/>
                  <a:cs typeface="Comic Sans MS"/>
                </a:defRPr>
              </a:lvl2pPr>
              <a:lvl3pPr marL="1143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ct val="20000"/>
                </a:spcBef>
                <a:buFont typeface="Arial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ts val="1200"/>
                </a:spcBef>
                <a:buNone/>
              </a:pPr>
              <a:r>
                <a:rPr lang="en-US" sz="1800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Implementation tip</a:t>
              </a:r>
            </a:p>
            <a:p>
              <a:pPr marL="0" indent="0">
                <a:spcBef>
                  <a:spcPts val="1200"/>
                </a:spcBef>
                <a:buNone/>
              </a:pP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 straightforward 16-bit extension of the elementary </a:t>
              </a:r>
              <a:r>
                <a:rPr lang="en-US" sz="1200" dirty="0">
                  <a:latin typeface="Consolas" panose="020B0609020204030204" pitchFamily="49" charset="0"/>
                  <a:cs typeface="Consolas" panose="020B0609020204030204" pitchFamily="49" charset="0"/>
                </a:rPr>
                <a:t>And</a:t>
              </a: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gate</a:t>
              </a:r>
            </a:p>
            <a:p>
              <a:pPr marL="0" indent="0">
                <a:spcBef>
                  <a:spcPts val="1200"/>
                </a:spcBef>
                <a:buClr>
                  <a:schemeClr val="bg1"/>
                </a:buClr>
                <a:buNone/>
              </a:pP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(See notes about working with </a:t>
              </a:r>
              <a:r>
                <a:rPr lang="en-US" sz="1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multi-bit buses</a:t>
              </a: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).   </a:t>
              </a:r>
            </a:p>
          </p:txBody>
        </p:sp>
      </p:grp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A6BB060-C4C4-4350-03B7-7C6541F8ADC0}"/>
              </a:ext>
            </a:extLst>
          </p:cNvPr>
          <p:cNvSpPr txBox="1">
            <a:spLocks/>
          </p:cNvSpPr>
          <p:nvPr/>
        </p:nvSpPr>
        <p:spPr>
          <a:xfrm>
            <a:off x="4873079" y="1177330"/>
            <a:ext cx="3170254" cy="3393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omic Sans MS"/>
                <a:ea typeface="+mn-ea"/>
                <a:cs typeface="Comic Sans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Comic Sans MS"/>
                <a:ea typeface="+mn-ea"/>
                <a:cs typeface="Comic Sans M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1200"/>
              </a:spcBef>
              <a:buNone/>
            </a:pP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318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F0AAC-5C22-1252-9FDA-9580C4C5B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0AB64D-B877-E4DC-3E6B-F09F4F0796D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18</a:t>
            </a:fld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76DAB31-CA04-F27F-20C2-B683A428883B}"/>
              </a:ext>
            </a:extLst>
          </p:cNvPr>
          <p:cNvSpPr txBox="1">
            <a:spLocks/>
          </p:cNvSpPr>
          <p:nvPr/>
        </p:nvSpPr>
        <p:spPr>
          <a:xfrm>
            <a:off x="331619" y="550804"/>
            <a:ext cx="7799284" cy="57727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/>
              <a:t>Your turn: Implement a 2-Way 1-bit multiplexer (MUX)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41265AA-0856-76AF-F329-476519E29E9C}"/>
              </a:ext>
            </a:extLst>
          </p:cNvPr>
          <p:cNvGrpSpPr/>
          <p:nvPr/>
        </p:nvGrpSpPr>
        <p:grpSpPr>
          <a:xfrm>
            <a:off x="331619" y="2765010"/>
            <a:ext cx="3283448" cy="2192045"/>
            <a:chOff x="836748" y="3883200"/>
            <a:chExt cx="3283448" cy="219204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CECEA74-95BB-0B58-8B51-83415C2C0584}"/>
                </a:ext>
              </a:extLst>
            </p:cNvPr>
            <p:cNvSpPr txBox="1"/>
            <p:nvPr/>
          </p:nvSpPr>
          <p:spPr>
            <a:xfrm>
              <a:off x="890522" y="4225654"/>
              <a:ext cx="3229674" cy="184959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lIns="144000" tIns="93600" rIns="144000" bIns="93600" rtlCol="0" anchor="ctr" anchorCtr="0">
              <a:normAutofit/>
            </a:bodyPr>
            <a:lstStyle>
              <a:lvl1pPr indent="0">
                <a:lnSpc>
                  <a:spcPct val="90000"/>
                </a:lnSpc>
                <a:spcBef>
                  <a:spcPct val="20000"/>
                </a:spcBef>
                <a:buClr>
                  <a:srgbClr val="006600"/>
                </a:buClr>
                <a:buSzPct val="85000"/>
                <a:buFont typeface="Arial" panose="020B0604020202020204" pitchFamily="34" charset="0"/>
                <a:buNone/>
                <a:defRPr sz="1400">
                  <a:solidFill>
                    <a:srgbClr val="000000"/>
                  </a:solidFill>
                  <a:latin typeface="Consolas"/>
                  <a:cs typeface="Consolas"/>
                </a:defRPr>
              </a:lvl1pPr>
              <a:lvl2pPr indent="0">
                <a:lnSpc>
                  <a:spcPct val="90000"/>
                </a:lnSpc>
                <a:spcBef>
                  <a:spcPts val="1000"/>
                </a:spcBef>
                <a:buSzPct val="50000"/>
                <a:buFont typeface="Wingdings" charset="2"/>
                <a:buNone/>
                <a:defRPr sz="2000">
                  <a:latin typeface="Times New Roman"/>
                  <a:cs typeface="Times New Roman"/>
                </a:defRPr>
              </a:lvl2pPr>
              <a:lvl3pPr indent="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>
                  <a:latin typeface="Times New Roman"/>
                  <a:cs typeface="Times New Roman"/>
                </a:defRPr>
              </a:lvl3pPr>
              <a:lvl4pPr indent="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>
                  <a:latin typeface="Times New Roman"/>
                  <a:cs typeface="Times New Roman"/>
                </a:defRPr>
              </a:lvl4pPr>
              <a:lvl5pPr indent="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>
                  <a:latin typeface="Times New Roman"/>
                  <a:cs typeface="Times New Roman"/>
                </a:defRPr>
              </a:lvl5pPr>
              <a:lvl6pPr marL="25146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6pPr>
              <a:lvl7pPr marL="2971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7pPr>
              <a:lvl8pPr marL="3429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r>
                <a:rPr lang="en-US" sz="1200"/>
                <a:t>CHIP Mux {</a:t>
              </a:r>
            </a:p>
            <a:p>
              <a:r>
                <a:rPr lang="en-US" sz="1200"/>
                <a:t>    IN a, b, </a:t>
              </a:r>
              <a:r>
                <a:rPr lang="en-US" sz="1200" err="1"/>
                <a:t>sel</a:t>
              </a:r>
              <a:r>
                <a:rPr lang="en-US" sz="1200"/>
                <a:t>;</a:t>
              </a:r>
            </a:p>
            <a:p>
              <a:r>
                <a:rPr lang="en-US" sz="1200"/>
                <a:t>    OUT out;</a:t>
              </a:r>
            </a:p>
            <a:p>
              <a:endParaRPr lang="en-US" sz="1200"/>
            </a:p>
            <a:p>
              <a:r>
                <a:rPr lang="en-US" sz="1200"/>
                <a:t>    </a:t>
              </a:r>
              <a:r>
                <a:rPr lang="en-US" sz="1000"/>
                <a:t>PARTS:</a:t>
              </a:r>
            </a:p>
            <a:p>
              <a:r>
                <a:rPr lang="en-US" sz="1200"/>
                <a:t>    </a:t>
              </a:r>
              <a:r>
                <a:rPr lang="en-US" sz="120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// Put your code here:</a:t>
              </a:r>
              <a:endParaRPr lang="en-US" sz="1200">
                <a:solidFill>
                  <a:srgbClr val="008000"/>
                </a:solidFill>
              </a:endParaRPr>
            </a:p>
            <a:p>
              <a:r>
                <a:rPr lang="en-US" sz="1200"/>
                <a:t>}</a:t>
              </a:r>
            </a:p>
          </p:txBody>
        </p:sp>
        <p:sp>
          <p:nvSpPr>
            <p:cNvPr id="12" name="Content Placeholder 2">
              <a:extLst>
                <a:ext uri="{FF2B5EF4-FFF2-40B4-BE49-F238E27FC236}">
                  <a16:creationId xmlns:a16="http://schemas.microsoft.com/office/drawing/2014/main" id="{355DDEAC-8FB6-2FF5-9E90-61ACF7E1313E}"/>
                </a:ext>
              </a:extLst>
            </p:cNvPr>
            <p:cNvSpPr txBox="1">
              <a:spLocks/>
            </p:cNvSpPr>
            <p:nvPr/>
          </p:nvSpPr>
          <p:spPr>
            <a:xfrm>
              <a:off x="836748" y="3883200"/>
              <a:ext cx="2187551" cy="38349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800" kern="1200">
                  <a:solidFill>
                    <a:schemeClr val="tx1"/>
                  </a:solidFill>
                  <a:latin typeface="Comic Sans MS"/>
                  <a:ea typeface="+mn-ea"/>
                  <a:cs typeface="Comic Sans MS"/>
                </a:defRPr>
              </a:lvl1pPr>
              <a:lvl2pPr marL="742950" indent="-28575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800" kern="1200">
                  <a:solidFill>
                    <a:schemeClr val="tx1"/>
                  </a:solidFill>
                  <a:latin typeface="Comic Sans MS"/>
                  <a:ea typeface="+mn-ea"/>
                  <a:cs typeface="Comic Sans MS"/>
                </a:defRPr>
              </a:lvl2pPr>
              <a:lvl3pPr marL="1143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ct val="20000"/>
                </a:spcBef>
                <a:buFont typeface="Arial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/>
                <a:buNone/>
              </a:pPr>
              <a:r>
                <a:rPr lang="en-US" sz="1600" err="1">
                  <a:latin typeface="Consolas"/>
                  <a:cs typeface="Consolas"/>
                </a:rPr>
                <a:t>Mux.hdl</a:t>
              </a:r>
              <a:endParaRPr lang="en-US" sz="2000">
                <a:latin typeface="Times New Roman"/>
                <a:cs typeface="Times New Roman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AB61938-11FA-11A5-07A7-6EFED831F6A5}"/>
              </a:ext>
            </a:extLst>
          </p:cNvPr>
          <p:cNvSpPr txBox="1"/>
          <p:nvPr/>
        </p:nvSpPr>
        <p:spPr>
          <a:xfrm>
            <a:off x="457318" y="1097026"/>
            <a:ext cx="322967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Your saw Multiplexers in lecture 1.4.1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A multiplexer is a selector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One of the inputs will be output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Which one depends on the selection input (</a:t>
            </a:r>
            <a:r>
              <a:rPr lang="en-GB" err="1"/>
              <a:t>sel</a:t>
            </a:r>
            <a:r>
              <a:rPr lang="en-GB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The preamble for the chip is: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D5DDB3A-4458-0660-0ADA-84C841DBFF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6019074"/>
              </p:ext>
            </p:extLst>
          </p:nvPr>
        </p:nvGraphicFramePr>
        <p:xfrm>
          <a:off x="6912260" y="1509611"/>
          <a:ext cx="1432958" cy="9144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716479">
                  <a:extLst>
                    <a:ext uri="{9D8B030D-6E8A-4147-A177-3AD203B41FA5}">
                      <a16:colId xmlns:a16="http://schemas.microsoft.com/office/drawing/2014/main" val="3700279771"/>
                    </a:ext>
                  </a:extLst>
                </a:gridCol>
                <a:gridCol w="716479">
                  <a:extLst>
                    <a:ext uri="{9D8B030D-6E8A-4147-A177-3AD203B41FA5}">
                      <a16:colId xmlns:a16="http://schemas.microsoft.com/office/drawing/2014/main" val="680435529"/>
                    </a:ext>
                  </a:extLst>
                </a:gridCol>
              </a:tblGrid>
              <a:tr h="177084">
                <a:tc>
                  <a:txBody>
                    <a:bodyPr/>
                    <a:lstStyle/>
                    <a:p>
                      <a:r>
                        <a:rPr lang="en-GB" err="1"/>
                        <a:t>sel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out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1920668"/>
                  </a:ext>
                </a:extLst>
              </a:tr>
              <a:tr h="215452">
                <a:tc>
                  <a:txBody>
                    <a:bodyPr/>
                    <a:lstStyle/>
                    <a:p>
                      <a:r>
                        <a:rPr lang="en-GB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3539795"/>
                  </a:ext>
                </a:extLst>
              </a:tr>
              <a:tr h="215452">
                <a:tc>
                  <a:txBody>
                    <a:bodyPr/>
                    <a:lstStyle/>
                    <a:p>
                      <a:r>
                        <a:rPr lang="en-GB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3571767"/>
                  </a:ext>
                </a:extLst>
              </a:tr>
            </a:tbl>
          </a:graphicData>
        </a:graphic>
      </p:graphicFrame>
      <p:cxnSp>
        <p:nvCxnSpPr>
          <p:cNvPr id="14" name="Straight Connector 13" descr="D0 input">
            <a:extLst>
              <a:ext uri="{FF2B5EF4-FFF2-40B4-BE49-F238E27FC236}">
                <a16:creationId xmlns:a16="http://schemas.microsoft.com/office/drawing/2014/main" id="{D5979F9B-B06E-0259-67A6-21217B797974}"/>
              </a:ext>
            </a:extLst>
          </p:cNvPr>
          <p:cNvCxnSpPr>
            <a:cxnSpLocks/>
          </p:cNvCxnSpPr>
          <p:nvPr/>
        </p:nvCxnSpPr>
        <p:spPr>
          <a:xfrm>
            <a:off x="4116578" y="1443151"/>
            <a:ext cx="464693" cy="0"/>
          </a:xfrm>
          <a:prstGeom prst="line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 descr="D1 input">
            <a:extLst>
              <a:ext uri="{FF2B5EF4-FFF2-40B4-BE49-F238E27FC236}">
                <a16:creationId xmlns:a16="http://schemas.microsoft.com/office/drawing/2014/main" id="{0DB1F12D-468D-7EA5-7D11-51EAD33CF58F}"/>
              </a:ext>
            </a:extLst>
          </p:cNvPr>
          <p:cNvCxnSpPr>
            <a:cxnSpLocks/>
          </p:cNvCxnSpPr>
          <p:nvPr/>
        </p:nvCxnSpPr>
        <p:spPr>
          <a:xfrm>
            <a:off x="4116578" y="1810986"/>
            <a:ext cx="464969" cy="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 descr="S input">
            <a:extLst>
              <a:ext uri="{FF2B5EF4-FFF2-40B4-BE49-F238E27FC236}">
                <a16:creationId xmlns:a16="http://schemas.microsoft.com/office/drawing/2014/main" id="{58579840-81EF-C76D-0EE6-A7269145642A}"/>
              </a:ext>
            </a:extLst>
          </p:cNvPr>
          <p:cNvCxnSpPr>
            <a:cxnSpLocks/>
          </p:cNvCxnSpPr>
          <p:nvPr/>
        </p:nvCxnSpPr>
        <p:spPr>
          <a:xfrm>
            <a:off x="5010361" y="1895094"/>
            <a:ext cx="0" cy="422629"/>
          </a:xfrm>
          <a:prstGeom prst="line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 descr="F output">
            <a:extLst>
              <a:ext uri="{FF2B5EF4-FFF2-40B4-BE49-F238E27FC236}">
                <a16:creationId xmlns:a16="http://schemas.microsoft.com/office/drawing/2014/main" id="{F9C7E264-CB3D-004D-F72B-4D6756C31028}"/>
              </a:ext>
            </a:extLst>
          </p:cNvPr>
          <p:cNvCxnSpPr>
            <a:cxnSpLocks/>
          </p:cNvCxnSpPr>
          <p:nvPr/>
        </p:nvCxnSpPr>
        <p:spPr>
          <a:xfrm flipV="1">
            <a:off x="5350818" y="1618574"/>
            <a:ext cx="464969" cy="1"/>
          </a:xfrm>
          <a:prstGeom prst="line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7CF5F9F-301F-F99B-14FE-EBC81C1A8ED5}"/>
              </a:ext>
            </a:extLst>
          </p:cNvPr>
          <p:cNvSpPr txBox="1"/>
          <p:nvPr/>
        </p:nvSpPr>
        <p:spPr>
          <a:xfrm>
            <a:off x="3806714" y="1267338"/>
            <a:ext cx="4646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0C6D782-0D74-99AF-D45F-F94C45827F8A}"/>
              </a:ext>
            </a:extLst>
          </p:cNvPr>
          <p:cNvSpPr txBox="1"/>
          <p:nvPr/>
        </p:nvSpPr>
        <p:spPr>
          <a:xfrm>
            <a:off x="3806718" y="1662243"/>
            <a:ext cx="4646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ABA40B4-4175-17F8-02CE-365F64D03A6C}"/>
              </a:ext>
            </a:extLst>
          </p:cNvPr>
          <p:cNvSpPr txBox="1"/>
          <p:nvPr/>
        </p:nvSpPr>
        <p:spPr>
          <a:xfrm>
            <a:off x="4800217" y="2328132"/>
            <a:ext cx="4202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err="1"/>
              <a:t>sel</a:t>
            </a:r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86DD674-8814-CE1E-6F49-575CBAD66A79}"/>
              </a:ext>
            </a:extLst>
          </p:cNvPr>
          <p:cNvSpPr txBox="1"/>
          <p:nvPr/>
        </p:nvSpPr>
        <p:spPr>
          <a:xfrm>
            <a:off x="5815787" y="1450380"/>
            <a:ext cx="4649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out</a:t>
            </a:r>
          </a:p>
        </p:txBody>
      </p:sp>
      <p:pic>
        <p:nvPicPr>
          <p:cNvPr id="26" name="Content Placeholder 4" descr="Circuit diagram for 2-to-1 multiplexer">
            <a:extLst>
              <a:ext uri="{FF2B5EF4-FFF2-40B4-BE49-F238E27FC236}">
                <a16:creationId xmlns:a16="http://schemas.microsoft.com/office/drawing/2014/main" id="{CB9E2BEF-C382-B916-8FED-C760D68FE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0596" y="2908056"/>
            <a:ext cx="3746081" cy="1981322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Triangle 26">
            <a:extLst>
              <a:ext uri="{FF2B5EF4-FFF2-40B4-BE49-F238E27FC236}">
                <a16:creationId xmlns:a16="http://schemas.microsoft.com/office/drawing/2014/main" id="{45C1E8BD-A41B-4EA5-EFD1-07160C69E7CC}"/>
              </a:ext>
            </a:extLst>
          </p:cNvPr>
          <p:cNvSpPr/>
          <p:nvPr/>
        </p:nvSpPr>
        <p:spPr>
          <a:xfrm rot="5400000">
            <a:off x="4513990" y="1264643"/>
            <a:ext cx="975670" cy="707862"/>
          </a:xfrm>
          <a:prstGeom prst="triangle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36EF3A5-F27C-F909-872E-2E77B6EC2B77}"/>
              </a:ext>
            </a:extLst>
          </p:cNvPr>
          <p:cNvSpPr txBox="1"/>
          <p:nvPr/>
        </p:nvSpPr>
        <p:spPr>
          <a:xfrm>
            <a:off x="4642411" y="1481746"/>
            <a:ext cx="5229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Mux</a:t>
            </a:r>
          </a:p>
        </p:txBody>
      </p:sp>
    </p:spTree>
    <p:extLst>
      <p:ext uri="{BB962C8B-B14F-4D97-AF65-F5344CB8AC3E}">
        <p14:creationId xmlns:p14="http://schemas.microsoft.com/office/powerpoint/2010/main" val="9943184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B6BA3-C865-8B60-E498-2505EEFA6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EADA3-279C-C54B-BD0C-275B0FF0DB0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19</a:t>
            </a:fld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14B230E-B37F-2103-FD12-9E3DD6BCB269}"/>
              </a:ext>
            </a:extLst>
          </p:cNvPr>
          <p:cNvSpPr txBox="1">
            <a:spLocks/>
          </p:cNvSpPr>
          <p:nvPr/>
        </p:nvSpPr>
        <p:spPr>
          <a:xfrm>
            <a:off x="331619" y="550804"/>
            <a:ext cx="7799284" cy="57727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/>
              <a:t>Your turn: Implement a 2-Way 16-bit multiplexer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D9088F0-CF2D-A2BC-0F2B-2AE9903A6445}"/>
              </a:ext>
            </a:extLst>
          </p:cNvPr>
          <p:cNvGrpSpPr/>
          <p:nvPr/>
        </p:nvGrpSpPr>
        <p:grpSpPr>
          <a:xfrm>
            <a:off x="331619" y="2765010"/>
            <a:ext cx="3283448" cy="2192045"/>
            <a:chOff x="836748" y="3883200"/>
            <a:chExt cx="3283448" cy="219204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F94FDA9-753F-F965-2380-5EAA34392C8F}"/>
                </a:ext>
              </a:extLst>
            </p:cNvPr>
            <p:cNvSpPr txBox="1"/>
            <p:nvPr/>
          </p:nvSpPr>
          <p:spPr>
            <a:xfrm>
              <a:off x="890522" y="4225654"/>
              <a:ext cx="3229674" cy="184959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lIns="144000" tIns="93600" rIns="144000" bIns="93600" rtlCol="0" anchor="ctr" anchorCtr="0">
              <a:normAutofit/>
            </a:bodyPr>
            <a:lstStyle>
              <a:lvl1pPr indent="0">
                <a:lnSpc>
                  <a:spcPct val="90000"/>
                </a:lnSpc>
                <a:spcBef>
                  <a:spcPct val="20000"/>
                </a:spcBef>
                <a:buClr>
                  <a:srgbClr val="006600"/>
                </a:buClr>
                <a:buSzPct val="85000"/>
                <a:buFont typeface="Arial" panose="020B0604020202020204" pitchFamily="34" charset="0"/>
                <a:buNone/>
                <a:defRPr sz="1400">
                  <a:solidFill>
                    <a:srgbClr val="000000"/>
                  </a:solidFill>
                  <a:latin typeface="Consolas"/>
                  <a:cs typeface="Consolas"/>
                </a:defRPr>
              </a:lvl1pPr>
              <a:lvl2pPr indent="0">
                <a:lnSpc>
                  <a:spcPct val="90000"/>
                </a:lnSpc>
                <a:spcBef>
                  <a:spcPts val="1000"/>
                </a:spcBef>
                <a:buSzPct val="50000"/>
                <a:buFont typeface="Wingdings" charset="2"/>
                <a:buNone/>
                <a:defRPr sz="2000">
                  <a:latin typeface="Times New Roman"/>
                  <a:cs typeface="Times New Roman"/>
                </a:defRPr>
              </a:lvl2pPr>
              <a:lvl3pPr indent="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>
                  <a:latin typeface="Times New Roman"/>
                  <a:cs typeface="Times New Roman"/>
                </a:defRPr>
              </a:lvl3pPr>
              <a:lvl4pPr indent="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>
                  <a:latin typeface="Times New Roman"/>
                  <a:cs typeface="Times New Roman"/>
                </a:defRPr>
              </a:lvl4pPr>
              <a:lvl5pPr indent="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>
                  <a:latin typeface="Times New Roman"/>
                  <a:cs typeface="Times New Roman"/>
                </a:defRPr>
              </a:lvl5pPr>
              <a:lvl6pPr marL="25146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6pPr>
              <a:lvl7pPr marL="2971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7pPr>
              <a:lvl8pPr marL="3429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r>
                <a:rPr lang="en-US" sz="1200"/>
                <a:t>CHIP Mux16 {</a:t>
              </a:r>
            </a:p>
            <a:p>
              <a:r>
                <a:rPr lang="en-US" sz="1200"/>
                <a:t>    IN a[16], b[16], </a:t>
              </a:r>
              <a:r>
                <a:rPr lang="en-US" sz="1200" err="1"/>
                <a:t>sel</a:t>
              </a:r>
              <a:r>
                <a:rPr lang="en-US" sz="1200"/>
                <a:t>;</a:t>
              </a:r>
            </a:p>
            <a:p>
              <a:r>
                <a:rPr lang="en-US" sz="1200"/>
                <a:t>    OUT out[16];</a:t>
              </a:r>
            </a:p>
            <a:p>
              <a:endParaRPr lang="en-US" sz="1200"/>
            </a:p>
            <a:p>
              <a:r>
                <a:rPr lang="en-US" sz="1200"/>
                <a:t>    </a:t>
              </a:r>
              <a:r>
                <a:rPr lang="en-US" sz="1000"/>
                <a:t>PARTS:</a:t>
              </a:r>
            </a:p>
            <a:p>
              <a:r>
                <a:rPr lang="en-US" sz="1200"/>
                <a:t>    </a:t>
              </a:r>
              <a:r>
                <a:rPr lang="en-US" sz="120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// Put your code here:</a:t>
              </a:r>
              <a:endParaRPr lang="en-US" sz="1200">
                <a:solidFill>
                  <a:srgbClr val="008000"/>
                </a:solidFill>
              </a:endParaRPr>
            </a:p>
            <a:p>
              <a:r>
                <a:rPr lang="en-US" sz="1200"/>
                <a:t>}</a:t>
              </a:r>
            </a:p>
          </p:txBody>
        </p:sp>
        <p:sp>
          <p:nvSpPr>
            <p:cNvPr id="12" name="Content Placeholder 2">
              <a:extLst>
                <a:ext uri="{FF2B5EF4-FFF2-40B4-BE49-F238E27FC236}">
                  <a16:creationId xmlns:a16="http://schemas.microsoft.com/office/drawing/2014/main" id="{BFA67CD6-F917-9EC9-9BEE-F6314DFA08C7}"/>
                </a:ext>
              </a:extLst>
            </p:cNvPr>
            <p:cNvSpPr txBox="1">
              <a:spLocks/>
            </p:cNvSpPr>
            <p:nvPr/>
          </p:nvSpPr>
          <p:spPr>
            <a:xfrm>
              <a:off x="836748" y="3883200"/>
              <a:ext cx="2187551" cy="38349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800" kern="1200">
                  <a:solidFill>
                    <a:schemeClr val="tx1"/>
                  </a:solidFill>
                  <a:latin typeface="Comic Sans MS"/>
                  <a:ea typeface="+mn-ea"/>
                  <a:cs typeface="Comic Sans MS"/>
                </a:defRPr>
              </a:lvl1pPr>
              <a:lvl2pPr marL="742950" indent="-28575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800" kern="1200">
                  <a:solidFill>
                    <a:schemeClr val="tx1"/>
                  </a:solidFill>
                  <a:latin typeface="Comic Sans MS"/>
                  <a:ea typeface="+mn-ea"/>
                  <a:cs typeface="Comic Sans MS"/>
                </a:defRPr>
              </a:lvl2pPr>
              <a:lvl3pPr marL="1143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ct val="20000"/>
                </a:spcBef>
                <a:buFont typeface="Arial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/>
                <a:buNone/>
              </a:pPr>
              <a:r>
                <a:rPr lang="en-US" sz="1600">
                  <a:latin typeface="Consolas"/>
                  <a:cs typeface="Consolas"/>
                </a:rPr>
                <a:t>Mux16.hdl</a:t>
              </a:r>
              <a:endParaRPr lang="en-US" sz="2000">
                <a:latin typeface="Times New Roman"/>
                <a:cs typeface="Times New Roman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66C1B77-63B8-3979-54F7-1D14F2D73305}"/>
              </a:ext>
            </a:extLst>
          </p:cNvPr>
          <p:cNvSpPr txBox="1"/>
          <p:nvPr/>
        </p:nvSpPr>
        <p:spPr>
          <a:xfrm>
            <a:off x="457318" y="1097026"/>
            <a:ext cx="322967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our computer we are likely to want to select between 16-values rather than 1-bit values.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  <a:cs typeface="Times New Roman"/>
              </a:rPr>
              <a:t>Create a new chip </a:t>
            </a:r>
            <a:r>
              <a:rPr lang="en-US" dirty="0" err="1">
                <a:latin typeface="+mj-lt"/>
                <a:cs typeface="Times New Roman"/>
              </a:rPr>
              <a:t>Mux16</a:t>
            </a:r>
            <a:r>
              <a:rPr lang="en-US" dirty="0">
                <a:latin typeface="+mj-lt"/>
                <a:cs typeface="Times New Roman"/>
              </a:rPr>
              <a:t> that selects between 16-bit input values and outputs a 16-bit output.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415AD4-E2A3-A13C-C49E-0B04C5FF9B89}"/>
              </a:ext>
            </a:extLst>
          </p:cNvPr>
          <p:cNvSpPr txBox="1"/>
          <p:nvPr/>
        </p:nvSpPr>
        <p:spPr>
          <a:xfrm>
            <a:off x="4436985" y="1452173"/>
            <a:ext cx="424969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dirty="0" err="1"/>
              <a:t>Nand2Tetris</a:t>
            </a:r>
            <a:r>
              <a:rPr lang="en-US" dirty="0"/>
              <a:t> built in chips provides the following chips that you might find helpful: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accent2"/>
                </a:solidFill>
              </a:rPr>
              <a:t>Not16</a:t>
            </a:r>
            <a:r>
              <a:rPr lang="en-US" dirty="0">
                <a:solidFill>
                  <a:schemeClr val="accent2"/>
                </a:solidFill>
              </a:rPr>
              <a:t>(</a:t>
            </a:r>
            <a:r>
              <a:rPr lang="en-US" dirty="0" err="1">
                <a:solidFill>
                  <a:schemeClr val="accent2"/>
                </a:solidFill>
              </a:rPr>
              <a:t>in,out</a:t>
            </a:r>
            <a:r>
              <a:rPr lang="en-US" dirty="0">
                <a:solidFill>
                  <a:schemeClr val="accent2"/>
                </a:solidFill>
              </a:rPr>
              <a:t>) </a:t>
            </a:r>
            <a:r>
              <a:rPr lang="en-US" dirty="0"/>
              <a:t>a 16-bit wide Not gate.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accent2"/>
                </a:solidFill>
              </a:rPr>
              <a:t>Or16</a:t>
            </a:r>
            <a:r>
              <a:rPr lang="en-US" dirty="0">
                <a:solidFill>
                  <a:schemeClr val="accent2"/>
                </a:solidFill>
              </a:rPr>
              <a:t>(</a:t>
            </a:r>
            <a:r>
              <a:rPr lang="en-US" dirty="0" err="1">
                <a:solidFill>
                  <a:schemeClr val="accent2"/>
                </a:solidFill>
              </a:rPr>
              <a:t>a,b,out</a:t>
            </a:r>
            <a:r>
              <a:rPr lang="en-US" dirty="0">
                <a:solidFill>
                  <a:schemeClr val="accent2"/>
                </a:solidFill>
              </a:rPr>
              <a:t>)  </a:t>
            </a:r>
            <a:r>
              <a:rPr lang="en-US" dirty="0"/>
              <a:t>a 16-bit wide Or Gate.</a:t>
            </a:r>
          </a:p>
        </p:txBody>
      </p:sp>
    </p:spTree>
    <p:extLst>
      <p:ext uri="{BB962C8B-B14F-4D97-AF65-F5344CB8AC3E}">
        <p14:creationId xmlns:p14="http://schemas.microsoft.com/office/powerpoint/2010/main" val="23477423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6D9054-ABE4-F6C1-0FBF-381090B0D6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20</a:t>
            </a:fld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C323474-E045-B2C6-927C-143D05797B2C}"/>
              </a:ext>
            </a:extLst>
          </p:cNvPr>
          <p:cNvSpPr txBox="1">
            <a:spLocks/>
          </p:cNvSpPr>
          <p:nvPr/>
        </p:nvSpPr>
        <p:spPr>
          <a:xfrm>
            <a:off x="331619" y="550804"/>
            <a:ext cx="7799284" cy="57727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/>
              <a:t>Your turn: Implement a 16-bit, 4-way multiplexer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334025-CBC9-04CB-D8A1-6C78128E51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9272" y="1104014"/>
            <a:ext cx="2237049" cy="1457993"/>
          </a:xfrm>
          <a:prstGeom prst="rect">
            <a:avLst/>
          </a:prstGeom>
        </p:spPr>
      </p:pic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16A10492-F70A-E138-BAAA-7558E4332DE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7955619"/>
              </p:ext>
            </p:extLst>
          </p:nvPr>
        </p:nvGraphicFramePr>
        <p:xfrm>
          <a:off x="7090453" y="1611303"/>
          <a:ext cx="1755195" cy="1132970"/>
        </p:xfrm>
        <a:graphic>
          <a:graphicData uri="http://schemas.openxmlformats.org/drawingml/2006/table">
            <a:tbl>
              <a:tblPr firstRow="1" lastCol="1" bandRow="1">
                <a:tableStyleId>{B301B821-A1FF-4177-AEE7-76D212191A09}</a:tableStyleId>
              </a:tblPr>
              <a:tblGrid>
                <a:gridCol w="5829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6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62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2581"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solidFill>
                            <a:srgbClr val="000000"/>
                          </a:solidFill>
                          <a:latin typeface="Consolas"/>
                          <a:cs typeface="Consolas"/>
                        </a:rPr>
                        <a:t>sel[1]</a:t>
                      </a:r>
                    </a:p>
                  </a:txBody>
                  <a:tcPr marL="74194" marR="74194" marT="37097" marB="3709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solidFill>
                            <a:srgbClr val="000000"/>
                          </a:solidFill>
                          <a:latin typeface="Consolas"/>
                          <a:cs typeface="Consolas"/>
                        </a:rPr>
                        <a:t>sel[0]</a:t>
                      </a:r>
                    </a:p>
                  </a:txBody>
                  <a:tcPr marL="74194" marR="74194" marT="37097" marB="3709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solidFill>
                            <a:srgbClr val="000000"/>
                          </a:solidFill>
                          <a:latin typeface="Consolas"/>
                          <a:cs typeface="Consolas"/>
                        </a:rPr>
                        <a:t>out</a:t>
                      </a:r>
                    </a:p>
                  </a:txBody>
                  <a:tcPr marL="0" marR="0" marT="37097" marB="3709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581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 marL="74194" marR="74194" marT="37097" marB="37097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 marL="74194" marR="74194" marT="37097" marB="37097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a</a:t>
                      </a:r>
                    </a:p>
                  </a:txBody>
                  <a:tcPr marL="74194" marR="74194" marT="37097" marB="37097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581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 marL="74194" marR="74194" marT="37097" marB="37097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74194" marR="74194" marT="37097" marB="37097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b</a:t>
                      </a:r>
                    </a:p>
                  </a:txBody>
                  <a:tcPr marL="74194" marR="74194" marT="37097" marB="37097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581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74194" marR="74194" marT="37097" marB="37097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 marL="74194" marR="74194" marT="37097" marB="37097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c</a:t>
                      </a:r>
                    </a:p>
                  </a:txBody>
                  <a:tcPr marL="74194" marR="74194" marT="37097" marB="37097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581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74194" marR="74194" marT="37097" marB="37097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74194" marR="74194" marT="37097" marB="37097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d</a:t>
                      </a:r>
                    </a:p>
                  </a:txBody>
                  <a:tcPr marL="74194" marR="74194" marT="37097" marB="37097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830EEC5F-318C-2D5D-7467-068863C1600F}"/>
              </a:ext>
            </a:extLst>
          </p:cNvPr>
          <p:cNvGrpSpPr/>
          <p:nvPr/>
        </p:nvGrpSpPr>
        <p:grpSpPr>
          <a:xfrm>
            <a:off x="331619" y="2765010"/>
            <a:ext cx="8151331" cy="2192045"/>
            <a:chOff x="1220495" y="3445425"/>
            <a:chExt cx="8151331" cy="2192045"/>
          </a:xfrm>
        </p:grpSpPr>
        <p:sp>
          <p:nvSpPr>
            <p:cNvPr id="9" name="Content Placeholder 2">
              <a:extLst>
                <a:ext uri="{FF2B5EF4-FFF2-40B4-BE49-F238E27FC236}">
                  <a16:creationId xmlns:a16="http://schemas.microsoft.com/office/drawing/2014/main" id="{159EA11E-EFF5-AC02-1D20-73FC27E1B114}"/>
                </a:ext>
              </a:extLst>
            </p:cNvPr>
            <p:cNvSpPr txBox="1">
              <a:spLocks/>
            </p:cNvSpPr>
            <p:nvPr/>
          </p:nvSpPr>
          <p:spPr>
            <a:xfrm>
              <a:off x="4830806" y="3828917"/>
              <a:ext cx="4541020" cy="1481724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800" kern="1200">
                  <a:solidFill>
                    <a:schemeClr val="tx1"/>
                  </a:solidFill>
                  <a:latin typeface="Comic Sans MS"/>
                  <a:ea typeface="+mn-ea"/>
                  <a:cs typeface="Comic Sans MS"/>
                </a:defRPr>
              </a:lvl1pPr>
              <a:lvl2pPr marL="742950" indent="-28575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800" kern="1200">
                  <a:solidFill>
                    <a:schemeClr val="tx1"/>
                  </a:solidFill>
                  <a:latin typeface="Comic Sans MS"/>
                  <a:ea typeface="+mn-ea"/>
                  <a:cs typeface="Comic Sans MS"/>
                </a:defRPr>
              </a:lvl2pPr>
              <a:lvl3pPr marL="1143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ct val="20000"/>
                </a:spcBef>
                <a:buFont typeface="Arial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ts val="1200"/>
                </a:spcBef>
                <a:buNone/>
              </a:pPr>
              <a:r>
                <a:rPr lang="en-US" sz="1800" u="sng" dirty="0">
                  <a:latin typeface="Times New Roman"/>
                  <a:cs typeface="Times New Roman"/>
                </a:rPr>
                <a:t>Implementation tip:</a:t>
              </a:r>
            </a:p>
            <a:p>
              <a:pPr marL="0" indent="0">
                <a:spcBef>
                  <a:spcPts val="1200"/>
                </a:spcBef>
                <a:buNone/>
              </a:pPr>
              <a:r>
                <a:rPr lang="en-US" sz="1600" dirty="0">
                  <a:solidFill>
                    <a:schemeClr val="accent2"/>
                  </a:solidFill>
                  <a:latin typeface="Times New Roman"/>
                  <a:cs typeface="Times New Roman"/>
                </a:rPr>
                <a:t>We can use a 2-bit bus for the selection bits to provide 4 possible values for sel..</a:t>
              </a:r>
              <a:endParaRPr lang="en-US" sz="1600" u="sng" dirty="0">
                <a:solidFill>
                  <a:schemeClr val="accent2"/>
                </a:solidFill>
                <a:latin typeface="Times New Roman"/>
                <a:cs typeface="Times New Roman"/>
              </a:endParaRPr>
            </a:p>
            <a:p>
              <a:pPr marL="0" indent="0">
                <a:spcBef>
                  <a:spcPts val="1200"/>
                </a:spcBef>
                <a:buNone/>
              </a:pPr>
              <a:r>
                <a:rPr lang="en-US" sz="1600" dirty="0">
                  <a:latin typeface="Times New Roman"/>
                  <a:cs typeface="Times New Roman"/>
                </a:rPr>
                <a:t>The chip can be built from several </a:t>
              </a:r>
              <a:r>
                <a:rPr lang="en-US" sz="1200" dirty="0" err="1">
                  <a:solidFill>
                    <a:schemeClr val="accent2"/>
                  </a:solidFill>
                  <a:latin typeface="Consolas"/>
                  <a:cs typeface="Consolas"/>
                </a:rPr>
                <a:t>Mux16</a:t>
              </a:r>
              <a:r>
                <a:rPr lang="en-US" sz="1600" dirty="0">
                  <a:solidFill>
                    <a:schemeClr val="accent2"/>
                  </a:solidFill>
                  <a:latin typeface="Times New Roman"/>
                  <a:cs typeface="Times New Roman"/>
                </a:rPr>
                <a:t> gates</a:t>
              </a:r>
              <a:r>
                <a:rPr lang="en-US" sz="1600" dirty="0">
                  <a:latin typeface="Times New Roman"/>
                  <a:cs typeface="Times New Roman"/>
                </a:rPr>
                <a:t>.</a:t>
              </a: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34B834A-0565-BD8B-DCDA-73C6C75A3368}"/>
                </a:ext>
              </a:extLst>
            </p:cNvPr>
            <p:cNvGrpSpPr/>
            <p:nvPr/>
          </p:nvGrpSpPr>
          <p:grpSpPr>
            <a:xfrm>
              <a:off x="1220495" y="3445425"/>
              <a:ext cx="3283448" cy="2192045"/>
              <a:chOff x="836748" y="3883200"/>
              <a:chExt cx="3283448" cy="2192045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5773747-E118-8F72-CD38-415B00E392AF}"/>
                  </a:ext>
                </a:extLst>
              </p:cNvPr>
              <p:cNvSpPr txBox="1"/>
              <p:nvPr/>
            </p:nvSpPr>
            <p:spPr>
              <a:xfrm>
                <a:off x="890522" y="4225654"/>
                <a:ext cx="3229674" cy="184959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lIns="144000" tIns="93600" rIns="144000" bIns="93600" rtlCol="0" anchor="ctr" anchorCtr="0">
                <a:normAutofit/>
              </a:bodyPr>
              <a:lstStyle>
                <a:lvl1pPr indent="0">
                  <a:lnSpc>
                    <a:spcPct val="90000"/>
                  </a:lnSpc>
                  <a:spcBef>
                    <a:spcPct val="20000"/>
                  </a:spcBef>
                  <a:buClr>
                    <a:srgbClr val="006600"/>
                  </a:buClr>
                  <a:buSzPct val="85000"/>
                  <a:buFont typeface="Arial" panose="020B0604020202020204" pitchFamily="34" charset="0"/>
                  <a:buNone/>
                  <a:defRPr sz="1400">
                    <a:solidFill>
                      <a:srgbClr val="000000"/>
                    </a:solidFill>
                    <a:latin typeface="Consolas"/>
                    <a:cs typeface="Consolas"/>
                  </a:defRPr>
                </a:lvl1pPr>
                <a:lvl2pPr indent="0">
                  <a:lnSpc>
                    <a:spcPct val="90000"/>
                  </a:lnSpc>
                  <a:spcBef>
                    <a:spcPts val="1000"/>
                  </a:spcBef>
                  <a:buSzPct val="50000"/>
                  <a:buFont typeface="Wingdings" charset="2"/>
                  <a:buNone/>
                  <a:defRPr sz="2000">
                    <a:latin typeface="Times New Roman"/>
                    <a:cs typeface="Times New Roman"/>
                  </a:defRPr>
                </a:lvl2pPr>
                <a:lvl3pPr indent="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>
                    <a:latin typeface="Times New Roman"/>
                    <a:cs typeface="Times New Roman"/>
                  </a:defRPr>
                </a:lvl3pPr>
                <a:lvl4pPr indent="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>
                    <a:latin typeface="Times New Roman"/>
                    <a:cs typeface="Times New Roman"/>
                  </a:defRPr>
                </a:lvl4pPr>
                <a:lvl5pPr indent="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>
                    <a:latin typeface="Times New Roman"/>
                    <a:cs typeface="Times New Roman"/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US" sz="1200"/>
                  <a:t>CHIP Mux4Way16 {</a:t>
                </a:r>
              </a:p>
              <a:p>
                <a:r>
                  <a:rPr lang="en-US" sz="1200"/>
                  <a:t>    IN a[16], b[16], c[16], d[16],</a:t>
                </a:r>
              </a:p>
              <a:p>
                <a:r>
                  <a:rPr lang="en-US" sz="1200"/>
                  <a:t>       sel[2];</a:t>
                </a:r>
              </a:p>
              <a:p>
                <a:r>
                  <a:rPr lang="en-US" sz="1200"/>
                  <a:t>    OUT out[16];</a:t>
                </a:r>
              </a:p>
              <a:p>
                <a:endParaRPr lang="en-US" sz="1200"/>
              </a:p>
              <a:p>
                <a:r>
                  <a:rPr lang="en-US" sz="1200"/>
                  <a:t>    </a:t>
                </a:r>
                <a:r>
                  <a:rPr lang="en-US" sz="1000"/>
                  <a:t>PARTS:</a:t>
                </a:r>
              </a:p>
              <a:p>
                <a:r>
                  <a:rPr lang="en-US" sz="1200"/>
                  <a:t>    </a:t>
                </a:r>
                <a:r>
                  <a:rPr lang="en-US" sz="1200">
                    <a:solidFill>
                      <a:schemeClr val="accent6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// Put your code here:</a:t>
                </a:r>
                <a:endParaRPr lang="en-US" sz="1200">
                  <a:solidFill>
                    <a:srgbClr val="008000"/>
                  </a:solidFill>
                </a:endParaRPr>
              </a:p>
              <a:p>
                <a:r>
                  <a:rPr lang="en-US" sz="1200"/>
                  <a:t>}</a:t>
                </a:r>
              </a:p>
            </p:txBody>
          </p:sp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EF2F22B1-892E-8CDB-E969-58E5D556B8E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6748" y="3883200"/>
                <a:ext cx="2187551" cy="38349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800" kern="1200">
                    <a:solidFill>
                      <a:schemeClr val="tx1"/>
                    </a:solidFill>
                    <a:latin typeface="Comic Sans MS"/>
                    <a:ea typeface="+mn-ea"/>
                    <a:cs typeface="Comic Sans M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800" kern="1200">
                    <a:solidFill>
                      <a:schemeClr val="tx1"/>
                    </a:solidFill>
                    <a:latin typeface="Comic Sans MS"/>
                    <a:ea typeface="+mn-ea"/>
                    <a:cs typeface="Comic Sans M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/>
                  <a:buNone/>
                </a:pPr>
                <a:r>
                  <a:rPr lang="en-US" sz="1600">
                    <a:latin typeface="Consolas"/>
                    <a:cs typeface="Consolas"/>
                  </a:rPr>
                  <a:t>Mux4Way16.hdl</a:t>
                </a:r>
                <a:endParaRPr lang="en-US" sz="2000">
                  <a:latin typeface="Times New Roman"/>
                  <a:cs typeface="Times New Roman"/>
                </a:endParaRPr>
              </a:p>
            </p:txBody>
          </p:sp>
        </p:grpSp>
      </p:grp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E5E0571-46C4-46DD-8E1A-82D533BAAE23}"/>
              </a:ext>
            </a:extLst>
          </p:cNvPr>
          <p:cNvSpPr txBox="1">
            <a:spLocks/>
          </p:cNvSpPr>
          <p:nvPr/>
        </p:nvSpPr>
        <p:spPr>
          <a:xfrm>
            <a:off x="331619" y="1080284"/>
            <a:ext cx="4541020" cy="14817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omic Sans MS"/>
                <a:ea typeface="+mn-ea"/>
                <a:cs typeface="Comic Sans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Comic Sans MS"/>
                <a:ea typeface="+mn-ea"/>
                <a:cs typeface="Comic Sans M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r>
              <a:rPr lang="en-US" sz="1600">
                <a:latin typeface="Times New Roman"/>
                <a:cs typeface="Times New Roman"/>
              </a:rPr>
              <a:t>As you saw in lecture 1.4.1 you can also build multiplexers that select between more than 2 inputs.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1600">
                <a:latin typeface="Times New Roman"/>
                <a:cs typeface="Times New Roman"/>
              </a:rPr>
              <a:t>On the right is an example of a  4-way (4-to-1) Multiplexer. </a:t>
            </a:r>
          </a:p>
        </p:txBody>
      </p:sp>
    </p:spTree>
    <p:extLst>
      <p:ext uri="{BB962C8B-B14F-4D97-AF65-F5344CB8AC3E}">
        <p14:creationId xmlns:p14="http://schemas.microsoft.com/office/powerpoint/2010/main" val="3137445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F5C42-6D15-6E4E-A073-FFF59EB76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3CB0A3-81FE-F578-2AA8-DFBAD8C098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21</a:t>
            </a:fld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48CCB7F-C1F1-0876-338A-C2D36314DE1D}"/>
              </a:ext>
            </a:extLst>
          </p:cNvPr>
          <p:cNvSpPr txBox="1">
            <a:spLocks/>
          </p:cNvSpPr>
          <p:nvPr/>
        </p:nvSpPr>
        <p:spPr>
          <a:xfrm>
            <a:off x="331619" y="550804"/>
            <a:ext cx="7799284" cy="57727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/>
              <a:t>Your turn: Implement a 2-way demultiplexer (DMUX)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9C63A91A-2200-267C-2EF5-FBABF5ADCE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57799883"/>
              </p:ext>
            </p:extLst>
          </p:nvPr>
        </p:nvGraphicFramePr>
        <p:xfrm>
          <a:off x="7661828" y="1187807"/>
          <a:ext cx="1129135" cy="901932"/>
        </p:xfrm>
        <a:graphic>
          <a:graphicData uri="http://schemas.openxmlformats.org/drawingml/2006/table">
            <a:tbl>
              <a:tblPr firstRow="1" lastCol="1" bandRow="1">
                <a:tableStyleId>{B301B821-A1FF-4177-AEE7-76D212191A09}</a:tableStyleId>
              </a:tblPr>
              <a:tblGrid>
                <a:gridCol w="5829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62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1469">
                <a:tc>
                  <a:txBody>
                    <a:bodyPr/>
                    <a:lstStyle/>
                    <a:p>
                      <a:pPr algn="ctr"/>
                      <a:r>
                        <a:rPr lang="en-US" sz="1000" b="0" err="1">
                          <a:solidFill>
                            <a:srgbClr val="000000"/>
                          </a:solidFill>
                          <a:latin typeface="Consolas"/>
                          <a:cs typeface="Consolas"/>
                        </a:rPr>
                        <a:t>sel</a:t>
                      </a:r>
                      <a:endParaRPr lang="en-US" sz="1000" b="0">
                        <a:solidFill>
                          <a:srgbClr val="000000"/>
                        </a:solidFill>
                        <a:latin typeface="Consolas"/>
                        <a:cs typeface="Consolas"/>
                      </a:endParaRPr>
                    </a:p>
                  </a:txBody>
                  <a:tcPr marL="74194" marR="74194" marT="37097" marB="3709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solidFill>
                            <a:srgbClr val="000000"/>
                          </a:solidFill>
                          <a:latin typeface="Consolas"/>
                          <a:cs typeface="Consolas"/>
                        </a:rPr>
                        <a:t>Use output</a:t>
                      </a:r>
                    </a:p>
                  </a:txBody>
                  <a:tcPr marL="0" marR="0" marT="37097" marB="3709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469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 marL="74194" marR="74194" marT="37097" marB="37097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a</a:t>
                      </a:r>
                    </a:p>
                  </a:txBody>
                  <a:tcPr marL="74194" marR="74194" marT="37097" marB="37097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469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74194" marR="74194" marT="37097" marB="37097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b</a:t>
                      </a:r>
                    </a:p>
                  </a:txBody>
                  <a:tcPr marL="74194" marR="74194" marT="37097" marB="37097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351C9B2E-8CA6-9795-361C-85D7413C2A28}"/>
              </a:ext>
            </a:extLst>
          </p:cNvPr>
          <p:cNvGrpSpPr/>
          <p:nvPr/>
        </p:nvGrpSpPr>
        <p:grpSpPr>
          <a:xfrm>
            <a:off x="331619" y="2765010"/>
            <a:ext cx="3283448" cy="2192045"/>
            <a:chOff x="836748" y="3883200"/>
            <a:chExt cx="3283448" cy="219204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15020D0-E298-6B89-41DD-CA926E8BA40F}"/>
                </a:ext>
              </a:extLst>
            </p:cNvPr>
            <p:cNvSpPr txBox="1"/>
            <p:nvPr/>
          </p:nvSpPr>
          <p:spPr>
            <a:xfrm>
              <a:off x="890522" y="4225654"/>
              <a:ext cx="3229674" cy="184959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lIns="144000" tIns="93600" rIns="144000" bIns="93600" rtlCol="0" anchor="ctr" anchorCtr="0">
              <a:normAutofit/>
            </a:bodyPr>
            <a:lstStyle>
              <a:lvl1pPr indent="0">
                <a:lnSpc>
                  <a:spcPct val="90000"/>
                </a:lnSpc>
                <a:spcBef>
                  <a:spcPct val="20000"/>
                </a:spcBef>
                <a:buClr>
                  <a:srgbClr val="006600"/>
                </a:buClr>
                <a:buSzPct val="85000"/>
                <a:buFont typeface="Arial" panose="020B0604020202020204" pitchFamily="34" charset="0"/>
                <a:buNone/>
                <a:defRPr sz="1400">
                  <a:solidFill>
                    <a:srgbClr val="000000"/>
                  </a:solidFill>
                  <a:latin typeface="Consolas"/>
                  <a:cs typeface="Consolas"/>
                </a:defRPr>
              </a:lvl1pPr>
              <a:lvl2pPr indent="0">
                <a:lnSpc>
                  <a:spcPct val="90000"/>
                </a:lnSpc>
                <a:spcBef>
                  <a:spcPts val="1000"/>
                </a:spcBef>
                <a:buSzPct val="50000"/>
                <a:buFont typeface="Wingdings" charset="2"/>
                <a:buNone/>
                <a:defRPr sz="2000">
                  <a:latin typeface="Times New Roman"/>
                  <a:cs typeface="Times New Roman"/>
                </a:defRPr>
              </a:lvl2pPr>
              <a:lvl3pPr indent="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>
                  <a:latin typeface="Times New Roman"/>
                  <a:cs typeface="Times New Roman"/>
                </a:defRPr>
              </a:lvl3pPr>
              <a:lvl4pPr indent="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>
                  <a:latin typeface="Times New Roman"/>
                  <a:cs typeface="Times New Roman"/>
                </a:defRPr>
              </a:lvl4pPr>
              <a:lvl5pPr indent="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>
                  <a:latin typeface="Times New Roman"/>
                  <a:cs typeface="Times New Roman"/>
                </a:defRPr>
              </a:lvl5pPr>
              <a:lvl6pPr marL="25146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6pPr>
              <a:lvl7pPr marL="2971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7pPr>
              <a:lvl8pPr marL="3429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r>
                <a:rPr lang="en-US" sz="1200"/>
                <a:t>CHIP </a:t>
              </a:r>
              <a:r>
                <a:rPr lang="en-US" sz="1200" err="1"/>
                <a:t>DMux</a:t>
              </a:r>
              <a:r>
                <a:rPr lang="en-US" sz="1200"/>
                <a:t> {</a:t>
              </a:r>
            </a:p>
            <a:p>
              <a:endParaRPr lang="en-US" sz="1200"/>
            </a:p>
            <a:p>
              <a:r>
                <a:rPr lang="en-US" sz="1200"/>
                <a:t>    IN in, </a:t>
              </a:r>
              <a:r>
                <a:rPr lang="en-US" sz="1200" err="1"/>
                <a:t>sel</a:t>
              </a:r>
              <a:r>
                <a:rPr lang="en-US" sz="1200"/>
                <a:t>;</a:t>
              </a:r>
            </a:p>
            <a:p>
              <a:r>
                <a:rPr lang="en-US" sz="1200"/>
                <a:t>    OUT a, b;</a:t>
              </a:r>
            </a:p>
            <a:p>
              <a:endParaRPr lang="en-US" sz="1200"/>
            </a:p>
            <a:p>
              <a:r>
                <a:rPr lang="en-US" sz="1200"/>
                <a:t>    PARTS:</a:t>
              </a:r>
            </a:p>
            <a:p>
              <a:r>
                <a:rPr lang="en-US" sz="120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	// Put your code here:</a:t>
              </a:r>
              <a:endParaRPr lang="en-US" sz="1200">
                <a:solidFill>
                  <a:srgbClr val="008000"/>
                </a:solidFill>
              </a:endParaRPr>
            </a:p>
            <a:p>
              <a:r>
                <a:rPr lang="en-US" sz="1200"/>
                <a:t>}</a:t>
              </a:r>
            </a:p>
          </p:txBody>
        </p:sp>
        <p:sp>
          <p:nvSpPr>
            <p:cNvPr id="12" name="Content Placeholder 2">
              <a:extLst>
                <a:ext uri="{FF2B5EF4-FFF2-40B4-BE49-F238E27FC236}">
                  <a16:creationId xmlns:a16="http://schemas.microsoft.com/office/drawing/2014/main" id="{F3C10406-BDB0-1272-05FE-853A356CEB71}"/>
                </a:ext>
              </a:extLst>
            </p:cNvPr>
            <p:cNvSpPr txBox="1">
              <a:spLocks/>
            </p:cNvSpPr>
            <p:nvPr/>
          </p:nvSpPr>
          <p:spPr>
            <a:xfrm>
              <a:off x="836748" y="3883200"/>
              <a:ext cx="2187551" cy="38349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800" kern="1200">
                  <a:solidFill>
                    <a:schemeClr val="tx1"/>
                  </a:solidFill>
                  <a:latin typeface="Comic Sans MS"/>
                  <a:ea typeface="+mn-ea"/>
                  <a:cs typeface="Comic Sans MS"/>
                </a:defRPr>
              </a:lvl1pPr>
              <a:lvl2pPr marL="742950" indent="-28575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800" kern="1200">
                  <a:solidFill>
                    <a:schemeClr val="tx1"/>
                  </a:solidFill>
                  <a:latin typeface="Comic Sans MS"/>
                  <a:ea typeface="+mn-ea"/>
                  <a:cs typeface="Comic Sans MS"/>
                </a:defRPr>
              </a:lvl2pPr>
              <a:lvl3pPr marL="1143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ct val="20000"/>
                </a:spcBef>
                <a:buFont typeface="Arial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/>
                <a:buNone/>
              </a:pPr>
              <a:r>
                <a:rPr lang="en-US" sz="1600" err="1">
                  <a:latin typeface="Consolas"/>
                  <a:cs typeface="Consolas"/>
                </a:rPr>
                <a:t>DMux.hdl</a:t>
              </a:r>
              <a:endParaRPr lang="en-US" sz="2000">
                <a:latin typeface="Times New Roman"/>
                <a:cs typeface="Times New Roman"/>
              </a:endParaRPr>
            </a:p>
          </p:txBody>
        </p:sp>
      </p:grp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0E2A60F-CE83-6901-C67C-F63E5617EF14}"/>
              </a:ext>
            </a:extLst>
          </p:cNvPr>
          <p:cNvSpPr txBox="1">
            <a:spLocks/>
          </p:cNvSpPr>
          <p:nvPr/>
        </p:nvSpPr>
        <p:spPr>
          <a:xfrm>
            <a:off x="331619" y="1080284"/>
            <a:ext cx="4541020" cy="14817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omic Sans MS"/>
                <a:ea typeface="+mn-ea"/>
                <a:cs typeface="Comic Sans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Comic Sans MS"/>
                <a:ea typeface="+mn-ea"/>
                <a:cs typeface="Comic Sans M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r>
              <a:rPr lang="en-US" sz="1600" dirty="0">
                <a:latin typeface="Times New Roman"/>
                <a:cs typeface="Times New Roman"/>
              </a:rPr>
              <a:t>As you saw in lecture 1.4.1 Demultiplexers work the other way. </a:t>
            </a:r>
            <a:r>
              <a:rPr lang="en-GB" sz="1600" dirty="0">
                <a:latin typeface="+mn-lt"/>
              </a:rPr>
              <a:t>They select the output path</a:t>
            </a:r>
          </a:p>
          <a:p>
            <a:pPr>
              <a:spcBef>
                <a:spcPts val="1200"/>
              </a:spcBef>
            </a:pPr>
            <a:r>
              <a:rPr lang="en-GB" sz="1600" dirty="0">
                <a:latin typeface="+mn-lt"/>
              </a:rPr>
              <a:t>The </a:t>
            </a:r>
            <a:r>
              <a:rPr lang="en-GB" sz="1600" dirty="0" err="1">
                <a:latin typeface="+mn-lt"/>
              </a:rPr>
              <a:t>sel</a:t>
            </a:r>
            <a:r>
              <a:rPr lang="en-GB" sz="1600" dirty="0">
                <a:latin typeface="+mn-lt"/>
              </a:rPr>
              <a:t> input determines which output line (a or b) the input (in) is sent to. </a:t>
            </a:r>
          </a:p>
          <a:p>
            <a:pPr marL="0" indent="0">
              <a:spcBef>
                <a:spcPts val="1200"/>
              </a:spcBef>
              <a:buNone/>
            </a:pPr>
            <a:endParaRPr lang="en-US" sz="1600" dirty="0">
              <a:latin typeface="Times New Roman"/>
              <a:cs typeface="Times New Roman"/>
            </a:endParaRPr>
          </a:p>
        </p:txBody>
      </p:sp>
      <p:pic>
        <p:nvPicPr>
          <p:cNvPr id="13" name="Picture 12" descr="A diagram of a circuit&#10;&#10;AI-generated content may be incorrect.">
            <a:extLst>
              <a:ext uri="{FF2B5EF4-FFF2-40B4-BE49-F238E27FC236}">
                <a16:creationId xmlns:a16="http://schemas.microsoft.com/office/drawing/2014/main" id="{E09E930E-0CB1-EF60-6983-1BC409E68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266" y="2823655"/>
            <a:ext cx="3550986" cy="1769037"/>
          </a:xfrm>
          <a:prstGeom prst="rect">
            <a:avLst/>
          </a:prstGeom>
        </p:spPr>
      </p:pic>
      <p:sp>
        <p:nvSpPr>
          <p:cNvPr id="14" name="Triangle 13">
            <a:extLst>
              <a:ext uri="{FF2B5EF4-FFF2-40B4-BE49-F238E27FC236}">
                <a16:creationId xmlns:a16="http://schemas.microsoft.com/office/drawing/2014/main" id="{97395F1E-C9A6-E1BE-19D0-301B544D0CDE}"/>
              </a:ext>
            </a:extLst>
          </p:cNvPr>
          <p:cNvSpPr/>
          <p:nvPr/>
        </p:nvSpPr>
        <p:spPr>
          <a:xfrm rot="16200000">
            <a:off x="5477562" y="1201234"/>
            <a:ext cx="1060704" cy="914400"/>
          </a:xfrm>
          <a:prstGeom prst="triangle">
            <a:avLst/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0CE748F-C4B3-BC4B-2544-BEE61A2FA497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5202070" y="1658434"/>
            <a:ext cx="34864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0142AFB-57B9-09FE-385A-65C7A982BE2A}"/>
              </a:ext>
            </a:extLst>
          </p:cNvPr>
          <p:cNvSpPr txBox="1"/>
          <p:nvPr/>
        </p:nvSpPr>
        <p:spPr>
          <a:xfrm>
            <a:off x="4932040" y="1491631"/>
            <a:ext cx="368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in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30BD65B-85E4-20CB-921D-80E82A30FB2D}"/>
              </a:ext>
            </a:extLst>
          </p:cNvPr>
          <p:cNvCxnSpPr>
            <a:cxnSpLocks/>
          </p:cNvCxnSpPr>
          <p:nvPr/>
        </p:nvCxnSpPr>
        <p:spPr>
          <a:xfrm>
            <a:off x="6465114" y="1491631"/>
            <a:ext cx="34864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C13DCD4-0532-6171-1A0B-2CB67879ED43}"/>
              </a:ext>
            </a:extLst>
          </p:cNvPr>
          <p:cNvCxnSpPr>
            <a:cxnSpLocks/>
          </p:cNvCxnSpPr>
          <p:nvPr/>
        </p:nvCxnSpPr>
        <p:spPr>
          <a:xfrm>
            <a:off x="6465114" y="1799408"/>
            <a:ext cx="34864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AD64028-1325-9E08-B203-DA527ED62EFF}"/>
              </a:ext>
            </a:extLst>
          </p:cNvPr>
          <p:cNvSpPr txBox="1"/>
          <p:nvPr/>
        </p:nvSpPr>
        <p:spPr>
          <a:xfrm>
            <a:off x="6813758" y="1311311"/>
            <a:ext cx="3854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12B89B8-3D34-A468-C627-93C38CD65044}"/>
              </a:ext>
            </a:extLst>
          </p:cNvPr>
          <p:cNvSpPr txBox="1"/>
          <p:nvPr/>
        </p:nvSpPr>
        <p:spPr>
          <a:xfrm>
            <a:off x="6813758" y="1658434"/>
            <a:ext cx="4425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b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7718091-B61A-9A16-300D-E281071F7A00}"/>
              </a:ext>
            </a:extLst>
          </p:cNvPr>
          <p:cNvCxnSpPr>
            <a:cxnSpLocks/>
          </p:cNvCxnSpPr>
          <p:nvPr/>
        </p:nvCxnSpPr>
        <p:spPr>
          <a:xfrm flipV="1">
            <a:off x="5967155" y="1895050"/>
            <a:ext cx="0" cy="3893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C481C5D-20F6-5C86-09EC-80C00904A684}"/>
              </a:ext>
            </a:extLst>
          </p:cNvPr>
          <p:cNvSpPr txBox="1"/>
          <p:nvPr/>
        </p:nvSpPr>
        <p:spPr>
          <a:xfrm>
            <a:off x="5760207" y="2254231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err="1"/>
              <a:t>sel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5542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4DF70-D771-F55A-53B3-1A071D98E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15DE7A-AA0B-D21A-1150-52820FF0E95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22</a:t>
            </a:fld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189BF1F-7D2A-A55A-AA54-6BBF868A4090}"/>
              </a:ext>
            </a:extLst>
          </p:cNvPr>
          <p:cNvSpPr txBox="1">
            <a:spLocks/>
          </p:cNvSpPr>
          <p:nvPr/>
        </p:nvSpPr>
        <p:spPr>
          <a:xfrm>
            <a:off x="331619" y="550804"/>
            <a:ext cx="7799284" cy="57727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/>
              <a:t>Your turn: A 4-way demultiplexer 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EF93ADA7-A3F5-C8BD-7261-CF20733AAED9}"/>
              </a:ext>
            </a:extLst>
          </p:cNvPr>
          <p:cNvGraphicFramePr>
            <a:graphicFrameLocks/>
          </p:cNvGraphicFramePr>
          <p:nvPr/>
        </p:nvGraphicFramePr>
        <p:xfrm>
          <a:off x="7090453" y="1611303"/>
          <a:ext cx="1755195" cy="1132970"/>
        </p:xfrm>
        <a:graphic>
          <a:graphicData uri="http://schemas.openxmlformats.org/drawingml/2006/table">
            <a:tbl>
              <a:tblPr firstRow="1" lastCol="1" bandRow="1">
                <a:tableStyleId>{B301B821-A1FF-4177-AEE7-76D212191A09}</a:tableStyleId>
              </a:tblPr>
              <a:tblGrid>
                <a:gridCol w="5829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6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62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2581"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solidFill>
                            <a:srgbClr val="000000"/>
                          </a:solidFill>
                          <a:latin typeface="Consolas"/>
                          <a:cs typeface="Consolas"/>
                        </a:rPr>
                        <a:t>sel[1]</a:t>
                      </a:r>
                    </a:p>
                  </a:txBody>
                  <a:tcPr marL="74194" marR="74194" marT="37097" marB="3709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solidFill>
                            <a:srgbClr val="000000"/>
                          </a:solidFill>
                          <a:latin typeface="Consolas"/>
                          <a:cs typeface="Consolas"/>
                        </a:rPr>
                        <a:t>sel[0]</a:t>
                      </a:r>
                    </a:p>
                  </a:txBody>
                  <a:tcPr marL="74194" marR="74194" marT="37097" marB="3709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solidFill>
                            <a:srgbClr val="000000"/>
                          </a:solidFill>
                          <a:latin typeface="Consolas"/>
                          <a:cs typeface="Consolas"/>
                        </a:rPr>
                        <a:t>out</a:t>
                      </a:r>
                    </a:p>
                  </a:txBody>
                  <a:tcPr marL="0" marR="0" marT="37097" marB="3709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581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 marL="74194" marR="74194" marT="37097" marB="37097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 marL="74194" marR="74194" marT="37097" marB="37097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a</a:t>
                      </a:r>
                    </a:p>
                  </a:txBody>
                  <a:tcPr marL="74194" marR="74194" marT="37097" marB="37097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581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 marL="74194" marR="74194" marT="37097" marB="37097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74194" marR="74194" marT="37097" marB="37097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b</a:t>
                      </a:r>
                    </a:p>
                  </a:txBody>
                  <a:tcPr marL="74194" marR="74194" marT="37097" marB="37097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581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74194" marR="74194" marT="37097" marB="37097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 marL="74194" marR="74194" marT="37097" marB="37097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c</a:t>
                      </a:r>
                    </a:p>
                  </a:txBody>
                  <a:tcPr marL="74194" marR="74194" marT="37097" marB="37097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581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74194" marR="74194" marT="37097" marB="37097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 marL="74194" marR="74194" marT="37097" marB="37097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d</a:t>
                      </a:r>
                    </a:p>
                  </a:txBody>
                  <a:tcPr marL="74194" marR="74194" marT="37097" marB="37097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12170A06-12CB-7393-352E-94D26297FB97}"/>
              </a:ext>
            </a:extLst>
          </p:cNvPr>
          <p:cNvGrpSpPr/>
          <p:nvPr/>
        </p:nvGrpSpPr>
        <p:grpSpPr>
          <a:xfrm>
            <a:off x="331619" y="2765010"/>
            <a:ext cx="8151331" cy="2192045"/>
            <a:chOff x="1220495" y="3445425"/>
            <a:chExt cx="8151331" cy="2192045"/>
          </a:xfrm>
        </p:grpSpPr>
        <p:sp>
          <p:nvSpPr>
            <p:cNvPr id="9" name="Content Placeholder 2">
              <a:extLst>
                <a:ext uri="{FF2B5EF4-FFF2-40B4-BE49-F238E27FC236}">
                  <a16:creationId xmlns:a16="http://schemas.microsoft.com/office/drawing/2014/main" id="{ED5C2B09-6B1D-17AC-A8BE-B08A45709FDD}"/>
                </a:ext>
              </a:extLst>
            </p:cNvPr>
            <p:cNvSpPr txBox="1">
              <a:spLocks/>
            </p:cNvSpPr>
            <p:nvPr/>
          </p:nvSpPr>
          <p:spPr>
            <a:xfrm>
              <a:off x="4830806" y="3828917"/>
              <a:ext cx="4541020" cy="1481724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800" kern="1200">
                  <a:solidFill>
                    <a:schemeClr val="tx1"/>
                  </a:solidFill>
                  <a:latin typeface="Comic Sans MS"/>
                  <a:ea typeface="+mn-ea"/>
                  <a:cs typeface="Comic Sans MS"/>
                </a:defRPr>
              </a:lvl1pPr>
              <a:lvl2pPr marL="742950" indent="-28575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800" kern="1200">
                  <a:solidFill>
                    <a:schemeClr val="tx1"/>
                  </a:solidFill>
                  <a:latin typeface="Comic Sans MS"/>
                  <a:ea typeface="+mn-ea"/>
                  <a:cs typeface="Comic Sans MS"/>
                </a:defRPr>
              </a:lvl2pPr>
              <a:lvl3pPr marL="1143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ct val="20000"/>
                </a:spcBef>
                <a:buFont typeface="Arial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ts val="1200"/>
                </a:spcBef>
                <a:buNone/>
              </a:pPr>
              <a:r>
                <a:rPr lang="en-US" sz="1800" u="sng" dirty="0">
                  <a:latin typeface="Times New Roman"/>
                  <a:cs typeface="Times New Roman"/>
                </a:rPr>
                <a:t>Implementation tip:</a:t>
              </a:r>
            </a:p>
            <a:p>
              <a:pPr marL="0" indent="0">
                <a:spcBef>
                  <a:spcPts val="1200"/>
                </a:spcBef>
                <a:buNone/>
              </a:pPr>
              <a:r>
                <a:rPr lang="en-US" sz="1600" dirty="0">
                  <a:latin typeface="Times New Roman"/>
                  <a:cs typeface="Times New Roman"/>
                </a:rPr>
                <a:t>The chip can be built from </a:t>
              </a:r>
              <a:r>
                <a:rPr lang="en-US" sz="1600" dirty="0">
                  <a:solidFill>
                    <a:schemeClr val="accent2"/>
                  </a:solidFill>
                  <a:latin typeface="Times New Roman"/>
                  <a:cs typeface="Times New Roman"/>
                </a:rPr>
                <a:t>several </a:t>
              </a:r>
              <a:r>
                <a:rPr lang="en-US" sz="1200" dirty="0" err="1">
                  <a:solidFill>
                    <a:schemeClr val="accent2"/>
                  </a:solidFill>
                  <a:latin typeface="Consolas"/>
                  <a:cs typeface="Consolas"/>
                </a:rPr>
                <a:t>DMux</a:t>
              </a:r>
              <a:r>
                <a:rPr lang="en-US" sz="1600" dirty="0">
                  <a:solidFill>
                    <a:schemeClr val="accent2"/>
                  </a:solidFill>
                  <a:latin typeface="Times New Roman"/>
                  <a:cs typeface="Times New Roman"/>
                </a:rPr>
                <a:t> gates</a:t>
              </a:r>
              <a:r>
                <a:rPr lang="en-US" sz="1600" dirty="0">
                  <a:latin typeface="Times New Roman"/>
                  <a:cs typeface="Times New Roman"/>
                </a:rPr>
                <a:t>.</a:t>
              </a: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916692C-DC27-E9FF-3303-A59DCEE229F2}"/>
                </a:ext>
              </a:extLst>
            </p:cNvPr>
            <p:cNvGrpSpPr/>
            <p:nvPr/>
          </p:nvGrpSpPr>
          <p:grpSpPr>
            <a:xfrm>
              <a:off x="1220495" y="3445425"/>
              <a:ext cx="3283448" cy="2192045"/>
              <a:chOff x="836748" y="3883200"/>
              <a:chExt cx="3283448" cy="2192045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29ADDCD-A9E2-DBE6-9366-F8BE2E842199}"/>
                  </a:ext>
                </a:extLst>
              </p:cNvPr>
              <p:cNvSpPr txBox="1"/>
              <p:nvPr/>
            </p:nvSpPr>
            <p:spPr>
              <a:xfrm>
                <a:off x="890522" y="4225654"/>
                <a:ext cx="3229674" cy="184959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lIns="144000" tIns="93600" rIns="144000" bIns="93600" rtlCol="0" anchor="ctr" anchorCtr="0">
                <a:normAutofit/>
              </a:bodyPr>
              <a:lstStyle>
                <a:lvl1pPr indent="0">
                  <a:lnSpc>
                    <a:spcPct val="90000"/>
                  </a:lnSpc>
                  <a:spcBef>
                    <a:spcPct val="20000"/>
                  </a:spcBef>
                  <a:buClr>
                    <a:srgbClr val="006600"/>
                  </a:buClr>
                  <a:buSzPct val="85000"/>
                  <a:buFont typeface="Arial" panose="020B0604020202020204" pitchFamily="34" charset="0"/>
                  <a:buNone/>
                  <a:defRPr sz="1400">
                    <a:solidFill>
                      <a:srgbClr val="000000"/>
                    </a:solidFill>
                    <a:latin typeface="Consolas"/>
                    <a:cs typeface="Consolas"/>
                  </a:defRPr>
                </a:lvl1pPr>
                <a:lvl2pPr indent="0">
                  <a:lnSpc>
                    <a:spcPct val="90000"/>
                  </a:lnSpc>
                  <a:spcBef>
                    <a:spcPts val="1000"/>
                  </a:spcBef>
                  <a:buSzPct val="50000"/>
                  <a:buFont typeface="Wingdings" charset="2"/>
                  <a:buNone/>
                  <a:defRPr sz="2000">
                    <a:latin typeface="Times New Roman"/>
                    <a:cs typeface="Times New Roman"/>
                  </a:defRPr>
                </a:lvl2pPr>
                <a:lvl3pPr indent="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>
                    <a:latin typeface="Times New Roman"/>
                    <a:cs typeface="Times New Roman"/>
                  </a:defRPr>
                </a:lvl3pPr>
                <a:lvl4pPr indent="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>
                    <a:latin typeface="Times New Roman"/>
                    <a:cs typeface="Times New Roman"/>
                  </a:defRPr>
                </a:lvl4pPr>
                <a:lvl5pPr indent="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>
                    <a:latin typeface="Times New Roman"/>
                    <a:cs typeface="Times New Roman"/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US" sz="1200" dirty="0"/>
                  <a:t>CHIP </a:t>
                </a:r>
                <a:r>
                  <a:rPr lang="en-US" sz="1200" dirty="0" err="1"/>
                  <a:t>DMux4Way</a:t>
                </a:r>
                <a:r>
                  <a:rPr lang="en-US" sz="1200" dirty="0"/>
                  <a:t> {</a:t>
                </a:r>
              </a:p>
              <a:p>
                <a:endParaRPr lang="en-US" sz="1200" dirty="0"/>
              </a:p>
              <a:p>
                <a:r>
                  <a:rPr lang="en-US" sz="1200" dirty="0"/>
                  <a:t>    IN in, </a:t>
                </a:r>
                <a:r>
                  <a:rPr lang="en-US" sz="1200" dirty="0" err="1"/>
                  <a:t>sel</a:t>
                </a:r>
                <a:r>
                  <a:rPr lang="en-US" sz="1200" dirty="0"/>
                  <a:t>[2];</a:t>
                </a:r>
              </a:p>
              <a:p>
                <a:r>
                  <a:rPr lang="en-US" sz="1200" dirty="0"/>
                  <a:t>    OUT a, b, c, d;</a:t>
                </a:r>
              </a:p>
              <a:p>
                <a:endParaRPr lang="en-US" sz="1200" dirty="0"/>
              </a:p>
              <a:p>
                <a:r>
                  <a:rPr lang="en-US" sz="1200" dirty="0"/>
                  <a:t>    PARTS:</a:t>
                </a:r>
              </a:p>
              <a:p>
                <a:r>
                  <a:rPr lang="en-US" sz="1200" dirty="0">
                    <a:solidFill>
                      <a:schemeClr val="accent6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// Put your code here:</a:t>
                </a:r>
                <a:endParaRPr lang="en-US" sz="1200" dirty="0">
                  <a:solidFill>
                    <a:srgbClr val="008000"/>
                  </a:solidFill>
                </a:endParaRPr>
              </a:p>
              <a:p>
                <a:r>
                  <a:rPr lang="en-US" sz="1200" dirty="0"/>
                  <a:t>}</a:t>
                </a:r>
              </a:p>
            </p:txBody>
          </p:sp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158619CC-8D01-3254-1A2B-770DA4E8CE1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6748" y="3883200"/>
                <a:ext cx="2187551" cy="38349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800" kern="1200">
                    <a:solidFill>
                      <a:schemeClr val="tx1"/>
                    </a:solidFill>
                    <a:latin typeface="Comic Sans MS"/>
                    <a:ea typeface="+mn-ea"/>
                    <a:cs typeface="Comic Sans M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800" kern="1200">
                    <a:solidFill>
                      <a:schemeClr val="tx1"/>
                    </a:solidFill>
                    <a:latin typeface="Comic Sans MS"/>
                    <a:ea typeface="+mn-ea"/>
                    <a:cs typeface="Comic Sans M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/>
                  <a:buNone/>
                </a:pPr>
                <a:r>
                  <a:rPr lang="en-US" sz="1600">
                    <a:latin typeface="Consolas"/>
                    <a:cs typeface="Consolas"/>
                  </a:rPr>
                  <a:t>DMux4Way.hdl</a:t>
                </a:r>
                <a:endParaRPr lang="en-US" sz="2000">
                  <a:latin typeface="Times New Roman"/>
                  <a:cs typeface="Times New Roman"/>
                </a:endParaRPr>
              </a:p>
            </p:txBody>
          </p:sp>
        </p:grpSp>
      </p:grp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EA4B56D-D458-8114-8580-5ACDD4358B4C}"/>
              </a:ext>
            </a:extLst>
          </p:cNvPr>
          <p:cNvSpPr txBox="1">
            <a:spLocks/>
          </p:cNvSpPr>
          <p:nvPr/>
        </p:nvSpPr>
        <p:spPr>
          <a:xfrm>
            <a:off x="331619" y="1080284"/>
            <a:ext cx="4541020" cy="14817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omic Sans MS"/>
                <a:ea typeface="+mn-ea"/>
                <a:cs typeface="Comic Sans M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Comic Sans MS"/>
                <a:ea typeface="+mn-ea"/>
                <a:cs typeface="Comic Sans M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r>
              <a:rPr lang="en-US" sz="1600">
                <a:latin typeface="Times New Roman"/>
                <a:cs typeface="Times New Roman"/>
              </a:rPr>
              <a:t>We can expand this to have as many outputs as we wish.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1600">
                <a:latin typeface="Times New Roman"/>
                <a:cs typeface="Times New Roman"/>
              </a:rPr>
              <a:t>We can use a bus for the selection bits to provide all possible values for sel.</a:t>
            </a:r>
            <a:endParaRPr lang="en-US" sz="1600" u="sng">
              <a:latin typeface="Times New Roman"/>
              <a:cs typeface="Times New Roman"/>
            </a:endParaRPr>
          </a:p>
          <a:p>
            <a:pPr marL="0" indent="0">
              <a:spcBef>
                <a:spcPts val="1200"/>
              </a:spcBef>
              <a:buNone/>
            </a:pPr>
            <a:endParaRPr lang="en-US" sz="1600">
              <a:latin typeface="Times New Roman"/>
              <a:cs typeface="Times New Roman"/>
            </a:endParaRPr>
          </a:p>
        </p:txBody>
      </p:sp>
      <p:sp>
        <p:nvSpPr>
          <p:cNvPr id="19" name="Triangle 18">
            <a:extLst>
              <a:ext uri="{FF2B5EF4-FFF2-40B4-BE49-F238E27FC236}">
                <a16:creationId xmlns:a16="http://schemas.microsoft.com/office/drawing/2014/main" id="{DEE31D24-9B5F-94EE-B4D8-2F38983575C9}"/>
              </a:ext>
            </a:extLst>
          </p:cNvPr>
          <p:cNvSpPr/>
          <p:nvPr/>
        </p:nvSpPr>
        <p:spPr>
          <a:xfrm rot="16200000">
            <a:off x="5266463" y="1209176"/>
            <a:ext cx="1060704" cy="914400"/>
          </a:xfrm>
          <a:prstGeom prst="triangle">
            <a:avLst/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FEA3A6E-05CE-90E2-516F-B4A370C430AA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4990971" y="1666376"/>
            <a:ext cx="34864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8787DAB-DF23-466C-CB29-BD7A1FFE5663}"/>
              </a:ext>
            </a:extLst>
          </p:cNvPr>
          <p:cNvSpPr txBox="1"/>
          <p:nvPr/>
        </p:nvSpPr>
        <p:spPr>
          <a:xfrm>
            <a:off x="4720941" y="1499573"/>
            <a:ext cx="368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in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4844EBD-E5DA-17D3-CCE3-6781A584E39E}"/>
              </a:ext>
            </a:extLst>
          </p:cNvPr>
          <p:cNvCxnSpPr>
            <a:cxnSpLocks/>
          </p:cNvCxnSpPr>
          <p:nvPr/>
        </p:nvCxnSpPr>
        <p:spPr>
          <a:xfrm>
            <a:off x="6254015" y="1499573"/>
            <a:ext cx="34864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B06967A-9769-6782-49AF-539465AD8308}"/>
              </a:ext>
            </a:extLst>
          </p:cNvPr>
          <p:cNvCxnSpPr>
            <a:cxnSpLocks/>
          </p:cNvCxnSpPr>
          <p:nvPr/>
        </p:nvCxnSpPr>
        <p:spPr>
          <a:xfrm>
            <a:off x="6254015" y="1807350"/>
            <a:ext cx="34864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5F4164F-AFC3-D3FE-FA0C-B33B0E103F71}"/>
              </a:ext>
            </a:extLst>
          </p:cNvPr>
          <p:cNvSpPr txBox="1"/>
          <p:nvPr/>
        </p:nvSpPr>
        <p:spPr>
          <a:xfrm>
            <a:off x="6602659" y="1319253"/>
            <a:ext cx="3854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b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3D05F7-FE3C-D231-808F-8E7BDBC9530B}"/>
              </a:ext>
            </a:extLst>
          </p:cNvPr>
          <p:cNvSpPr txBox="1"/>
          <p:nvPr/>
        </p:nvSpPr>
        <p:spPr>
          <a:xfrm>
            <a:off x="6596684" y="1621978"/>
            <a:ext cx="4425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EE2124E-EBE0-8992-6ECD-D9C0674035BB}"/>
              </a:ext>
            </a:extLst>
          </p:cNvPr>
          <p:cNvCxnSpPr>
            <a:cxnSpLocks/>
          </p:cNvCxnSpPr>
          <p:nvPr/>
        </p:nvCxnSpPr>
        <p:spPr>
          <a:xfrm flipV="1">
            <a:off x="5756056" y="1902992"/>
            <a:ext cx="0" cy="3893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E4529C9D-8A7C-AEE3-DF5B-9FD30818CE38}"/>
              </a:ext>
            </a:extLst>
          </p:cNvPr>
          <p:cNvSpPr txBox="1"/>
          <p:nvPr/>
        </p:nvSpPr>
        <p:spPr>
          <a:xfrm>
            <a:off x="5549108" y="2262173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err="1"/>
              <a:t>sel</a:t>
            </a:r>
            <a:endParaRPr lang="en-US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77ADF0F-4032-1BB3-4F73-63BC3A48F81D}"/>
              </a:ext>
            </a:extLst>
          </p:cNvPr>
          <p:cNvCxnSpPr>
            <a:cxnSpLocks/>
          </p:cNvCxnSpPr>
          <p:nvPr/>
        </p:nvCxnSpPr>
        <p:spPr>
          <a:xfrm>
            <a:off x="6254015" y="1215804"/>
            <a:ext cx="34864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558CC3B-238C-09EB-58D2-816E84CD77CA}"/>
              </a:ext>
            </a:extLst>
          </p:cNvPr>
          <p:cNvSpPr txBox="1"/>
          <p:nvPr/>
        </p:nvSpPr>
        <p:spPr>
          <a:xfrm>
            <a:off x="6602659" y="1035484"/>
            <a:ext cx="3854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D1B5506-820A-F1AE-0D41-C7DDF7D7B95E}"/>
              </a:ext>
            </a:extLst>
          </p:cNvPr>
          <p:cNvCxnSpPr>
            <a:cxnSpLocks/>
          </p:cNvCxnSpPr>
          <p:nvPr/>
        </p:nvCxnSpPr>
        <p:spPr>
          <a:xfrm>
            <a:off x="6243851" y="2086068"/>
            <a:ext cx="34864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AFC3500E-8C42-8F37-0209-F7723BB6B265}"/>
              </a:ext>
            </a:extLst>
          </p:cNvPr>
          <p:cNvSpPr txBox="1"/>
          <p:nvPr/>
        </p:nvSpPr>
        <p:spPr>
          <a:xfrm>
            <a:off x="6588024" y="1934256"/>
            <a:ext cx="3854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419416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84DE3AA-566A-1FDA-EE8B-63C7574187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9726" y="1321594"/>
            <a:ext cx="5241018" cy="3512400"/>
          </a:xfrm>
        </p:spPr>
        <p:txBody>
          <a:bodyPr/>
          <a:lstStyle/>
          <a:p>
            <a:pPr marL="454025" indent="-225425">
              <a:buFont typeface="Arial" panose="020B0604020202020204" pitchFamily="34" charset="0"/>
              <a:buChar char="•"/>
            </a:pPr>
            <a:r>
              <a:rPr lang="en-US" sz="2400" dirty="0"/>
              <a:t>Now have a go at Activity Sheet 1.5</a:t>
            </a:r>
          </a:p>
          <a:p>
            <a:pPr marL="954088" lvl="1" indent="-268288">
              <a:buFont typeface="Arial" panose="020B0604020202020204" pitchFamily="34" charset="0"/>
              <a:buChar char="•"/>
            </a:pPr>
            <a:r>
              <a:rPr lang="en-US" dirty="0"/>
              <a:t>Request the activity sheet using the link in Minerva (question 2 is part of your portfolio)</a:t>
            </a:r>
          </a:p>
          <a:p>
            <a:pPr marL="954088" lvl="1" indent="-268288">
              <a:buFont typeface="Arial" panose="020B0604020202020204" pitchFamily="34" charset="0"/>
              <a:buChar char="•"/>
            </a:pPr>
            <a:r>
              <a:rPr lang="en-US" dirty="0"/>
              <a:t>You should upload the </a:t>
            </a:r>
            <a:r>
              <a:rPr lang="en-US" dirty="0" err="1"/>
              <a:t>tst</a:t>
            </a:r>
            <a:r>
              <a:rPr lang="en-US" dirty="0"/>
              <a:t> files obtained from the activity sheet to your repository to help you test your solutions to question 2.</a:t>
            </a:r>
          </a:p>
          <a:p>
            <a:pPr marL="954088" lvl="1" indent="-268288">
              <a:buFont typeface="Arial" panose="020B0604020202020204" pitchFamily="34" charset="0"/>
              <a:buChar char="•"/>
            </a:pPr>
            <a:r>
              <a:rPr lang="en-US" dirty="0"/>
              <a:t>Once you have a working solution for question 2, submit your solution to </a:t>
            </a:r>
            <a:r>
              <a:rPr lang="en-US" dirty="0" err="1"/>
              <a:t>Gradescope</a:t>
            </a:r>
            <a:r>
              <a:rPr lang="en-US" dirty="0"/>
              <a:t> to see if it passes all the tests. You can do this by uploading your </a:t>
            </a:r>
            <a:r>
              <a:rPr lang="en-US" dirty="0" err="1"/>
              <a:t>A6Q2.hdl</a:t>
            </a:r>
            <a:r>
              <a:rPr lang="en-US" dirty="0"/>
              <a:t> file.</a:t>
            </a:r>
          </a:p>
          <a:p>
            <a:pPr marL="911225" lvl="1" indent="-225425">
              <a:buFont typeface="Arial" panose="020B0604020202020204" pitchFamily="34" charset="0"/>
              <a:buChar char="•"/>
            </a:pPr>
            <a:endParaRPr lang="en-US" dirty="0"/>
          </a:p>
          <a:p>
            <a:pPr marL="911225" lvl="1" indent="-225425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BA422C-0D80-0424-D521-E60252D4D720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/>
              <a:t>Your turn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E57D04-6380-7EEA-C700-E8422F9584C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23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B7D061-4DE7-AB01-FF87-2A3251345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0744" y="1053244"/>
            <a:ext cx="3696607" cy="3696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5194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56966-8E44-D628-74C5-0E46A8BF3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F0DAB-8183-3C3E-ACE2-F05EB142B982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/>
              <a:t>Your turn: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4B7993-C2F0-F408-0F31-45AF9E58F2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24</a:t>
            </a:fld>
            <a:endParaRPr lang="en-GB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1349FBB-499F-CFD3-41D5-FC5D9AD25DFD}"/>
              </a:ext>
            </a:extLst>
          </p:cNvPr>
          <p:cNvGrpSpPr/>
          <p:nvPr/>
        </p:nvGrpSpPr>
        <p:grpSpPr>
          <a:xfrm>
            <a:off x="1151620" y="1536635"/>
            <a:ext cx="6474705" cy="3821863"/>
            <a:chOff x="1075170" y="970316"/>
            <a:chExt cx="6474705" cy="3821863"/>
          </a:xfrm>
        </p:grpSpPr>
        <p:sp>
          <p:nvSpPr>
            <p:cNvPr id="6" name="Content Placeholder 2">
              <a:extLst>
                <a:ext uri="{FF2B5EF4-FFF2-40B4-BE49-F238E27FC236}">
                  <a16:creationId xmlns:a16="http://schemas.microsoft.com/office/drawing/2014/main" id="{4F135090-E5D6-B9C2-AA4D-F9C48DFC30E8}"/>
                </a:ext>
              </a:extLst>
            </p:cNvPr>
            <p:cNvSpPr txBox="1">
              <a:spLocks/>
            </p:cNvSpPr>
            <p:nvPr/>
          </p:nvSpPr>
          <p:spPr>
            <a:xfrm>
              <a:off x="1075170" y="970316"/>
              <a:ext cx="5793533" cy="57869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800" kern="1200">
                  <a:solidFill>
                    <a:schemeClr val="tx1"/>
                  </a:solidFill>
                  <a:latin typeface="Comic Sans MS"/>
                  <a:ea typeface="+mn-ea"/>
                  <a:cs typeface="Comic Sans MS"/>
                </a:defRPr>
              </a:lvl1pPr>
              <a:lvl2pPr marL="742950" indent="-28575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800" kern="1200">
                  <a:solidFill>
                    <a:schemeClr val="tx1"/>
                  </a:solidFill>
                  <a:latin typeface="Comic Sans MS"/>
                  <a:ea typeface="+mn-ea"/>
                  <a:cs typeface="Comic Sans MS"/>
                </a:defRPr>
              </a:lvl2pPr>
              <a:lvl3pPr marL="1143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ct val="20000"/>
                </a:spcBef>
                <a:buFont typeface="Arial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/>
                <a:buNone/>
              </a:pPr>
              <a:r>
                <a:rPr lang="en-US" sz="1800" u="sng">
                  <a:latin typeface="Times New Roman"/>
                  <a:cs typeface="Times New Roman"/>
                </a:rPr>
                <a:t>Given:</a:t>
              </a:r>
              <a:r>
                <a:rPr lang="en-US" sz="1800">
                  <a:latin typeface="Times New Roman"/>
                  <a:cs typeface="Times New Roman"/>
                </a:rPr>
                <a:t>   </a:t>
              </a:r>
              <a:r>
                <a:rPr lang="en-US" sz="1400">
                  <a:latin typeface="Consolas"/>
                  <a:cs typeface="Consolas"/>
                </a:rPr>
                <a:t>Nand</a:t>
              </a:r>
            </a:p>
            <a:p>
              <a:pPr marL="0" indent="0">
                <a:buFont typeface="Arial"/>
                <a:buNone/>
              </a:pPr>
              <a:r>
                <a:rPr lang="en-US" sz="1800" u="sng">
                  <a:latin typeface="Times New Roman"/>
                  <a:cs typeface="Times New Roman"/>
                </a:rPr>
                <a:t>Goal:</a:t>
              </a:r>
              <a:r>
                <a:rPr lang="en-US" sz="1800">
                  <a:latin typeface="Times New Roman"/>
                  <a:cs typeface="Times New Roman"/>
                </a:rPr>
                <a:t>     Build the following gates: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13292DF-E7CE-A059-153F-BD2C09BE0C34}"/>
                </a:ext>
              </a:extLst>
            </p:cNvPr>
            <p:cNvGrpSpPr/>
            <p:nvPr/>
          </p:nvGrpSpPr>
          <p:grpSpPr>
            <a:xfrm>
              <a:off x="1416076" y="1801519"/>
              <a:ext cx="2274475" cy="2990660"/>
              <a:chOff x="561459" y="1123713"/>
              <a:chExt cx="2274475" cy="3278608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03ACB70-DBA2-658E-7776-9F45FCCE5A30}"/>
                  </a:ext>
                </a:extLst>
              </p:cNvPr>
              <p:cNvSpPr txBox="1"/>
              <p:nvPr/>
            </p:nvSpPr>
            <p:spPr>
              <a:xfrm>
                <a:off x="561459" y="1123713"/>
                <a:ext cx="1737360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u="sng">
                    <a:latin typeface="Times New Roman"/>
                    <a:cs typeface="Times New Roman"/>
                  </a:rPr>
                  <a:t>Elementary logic gates</a:t>
                </a:r>
              </a:p>
            </p:txBody>
          </p:sp>
          <p:sp>
            <p:nvSpPr>
              <p:cNvPr id="15" name="Content Placeholder 2">
                <a:extLst>
                  <a:ext uri="{FF2B5EF4-FFF2-40B4-BE49-F238E27FC236}">
                    <a16:creationId xmlns:a16="http://schemas.microsoft.com/office/drawing/2014/main" id="{11561FA7-A2A3-6391-AF7C-2279EF4B0AD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80414" y="1829339"/>
                <a:ext cx="2255520" cy="2572982"/>
              </a:xfrm>
              <a:prstGeom prst="rect">
                <a:avLst/>
              </a:prstGeom>
              <a:ln>
                <a:noFill/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ts val="168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Comic Sans MS"/>
                    <a:ea typeface="+mn-ea"/>
                    <a:cs typeface="Comic Sans MS"/>
                  </a:defRPr>
                </a:lvl1pPr>
                <a:lvl2pPr marL="742950" indent="-285750" algn="l" defTabSz="457200" rtl="0" eaLnBrk="1" latinLnBrk="0" hangingPunct="1">
                  <a:spcBef>
                    <a:spcPts val="1680"/>
                  </a:spcBef>
                  <a:buFont typeface="Arial"/>
                  <a:buChar char="–"/>
                  <a:defRPr sz="1800" kern="1200">
                    <a:solidFill>
                      <a:schemeClr val="tx1"/>
                    </a:solidFill>
                    <a:latin typeface="Comic Sans MS"/>
                    <a:ea typeface="+mn-ea"/>
                    <a:cs typeface="Comic Sans MS"/>
                  </a:defRPr>
                </a:lvl2pPr>
                <a:lvl3pPr marL="1143000" indent="-228600" algn="l" defTabSz="457200" rtl="0" eaLnBrk="1" latinLnBrk="0" hangingPunct="1">
                  <a:spcBef>
                    <a:spcPts val="1680"/>
                  </a:spcBef>
                  <a:buFont typeface="Arial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ts val="1680"/>
                  </a:spcBef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ts val="1680"/>
                  </a:spcBef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82563" indent="-182563">
                  <a:spcBef>
                    <a:spcPts val="800"/>
                  </a:spcBef>
                  <a:buSzPct val="50000"/>
                  <a:buFont typeface="Wingdings" charset="2"/>
                  <a:buChar char="q"/>
                </a:pPr>
                <a:r>
                  <a:rPr lang="en-US" sz="1400">
                    <a:latin typeface="Consolas"/>
                    <a:cs typeface="Consolas"/>
                  </a:rPr>
                  <a:t>Not</a:t>
                </a:r>
              </a:p>
              <a:p>
                <a:pPr marL="182563" indent="-182563">
                  <a:spcBef>
                    <a:spcPts val="800"/>
                  </a:spcBef>
                  <a:buSzPct val="50000"/>
                  <a:buFont typeface="Wingdings" charset="2"/>
                  <a:buChar char="q"/>
                </a:pPr>
                <a:r>
                  <a:rPr lang="en-US" sz="1400">
                    <a:latin typeface="Consolas"/>
                    <a:cs typeface="Consolas"/>
                  </a:rPr>
                  <a:t>And</a:t>
                </a:r>
              </a:p>
              <a:p>
                <a:pPr marL="182563" indent="-182563">
                  <a:spcBef>
                    <a:spcPts val="800"/>
                  </a:spcBef>
                  <a:buSzPct val="50000"/>
                  <a:buFont typeface="Wingdings" charset="2"/>
                  <a:buChar char="q"/>
                </a:pPr>
                <a:r>
                  <a:rPr lang="en-US" sz="1400">
                    <a:latin typeface="Consolas"/>
                    <a:cs typeface="Consolas"/>
                  </a:rPr>
                  <a:t>Or</a:t>
                </a:r>
              </a:p>
              <a:p>
                <a:pPr marL="182563" indent="-182563">
                  <a:spcBef>
                    <a:spcPts val="800"/>
                  </a:spcBef>
                  <a:buSzPct val="50000"/>
                  <a:buFont typeface="Wingdings" charset="2"/>
                  <a:buChar char="q"/>
                </a:pPr>
                <a:r>
                  <a:rPr lang="en-US" sz="1400">
                    <a:latin typeface="Consolas"/>
                    <a:cs typeface="Consolas"/>
                  </a:rPr>
                  <a:t>Xor</a:t>
                </a:r>
              </a:p>
              <a:p>
                <a:pPr marL="182563" indent="-182563">
                  <a:spcBef>
                    <a:spcPts val="800"/>
                  </a:spcBef>
                  <a:buSzPct val="50000"/>
                  <a:buFont typeface="Wingdings" charset="2"/>
                  <a:buChar char="q"/>
                </a:pPr>
                <a:r>
                  <a:rPr lang="en-US" sz="1400">
                    <a:latin typeface="Consolas"/>
                    <a:cs typeface="Consolas"/>
                  </a:rPr>
                  <a:t>Mux</a:t>
                </a:r>
              </a:p>
              <a:p>
                <a:pPr marL="182563" indent="-182563">
                  <a:spcBef>
                    <a:spcPts val="800"/>
                  </a:spcBef>
                  <a:buSzPct val="50000"/>
                  <a:buFont typeface="Wingdings" charset="2"/>
                  <a:buChar char="q"/>
                </a:pPr>
                <a:r>
                  <a:rPr lang="en-US" sz="1400">
                    <a:latin typeface="Consolas"/>
                    <a:cs typeface="Consolas"/>
                  </a:rPr>
                  <a:t>DMux</a:t>
                </a:r>
                <a:endParaRPr lang="en-US" sz="1600">
                  <a:latin typeface="Consolas"/>
                  <a:cs typeface="Consolas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9B4AFF1-EEB7-085A-96E3-71E92284BA65}"/>
                </a:ext>
              </a:extLst>
            </p:cNvPr>
            <p:cNvGrpSpPr/>
            <p:nvPr/>
          </p:nvGrpSpPr>
          <p:grpSpPr>
            <a:xfrm>
              <a:off x="5075467" y="1821033"/>
              <a:ext cx="2474408" cy="2963842"/>
              <a:chOff x="3733652" y="1137354"/>
              <a:chExt cx="2474408" cy="2963842"/>
            </a:xfrm>
          </p:grpSpPr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198B0209-758D-8991-1A09-81FF5A401D8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33652" y="1829338"/>
                <a:ext cx="1703653" cy="227185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ts val="168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Comic Sans MS"/>
                    <a:ea typeface="+mn-ea"/>
                    <a:cs typeface="Comic Sans MS"/>
                  </a:defRPr>
                </a:lvl1pPr>
                <a:lvl2pPr marL="742950" indent="-285750" algn="l" defTabSz="457200" rtl="0" eaLnBrk="1" latinLnBrk="0" hangingPunct="1">
                  <a:spcBef>
                    <a:spcPts val="1680"/>
                  </a:spcBef>
                  <a:buFont typeface="Arial"/>
                  <a:buChar char="–"/>
                  <a:defRPr sz="1800" kern="1200">
                    <a:solidFill>
                      <a:schemeClr val="tx1"/>
                    </a:solidFill>
                    <a:latin typeface="Comic Sans MS"/>
                    <a:ea typeface="+mn-ea"/>
                    <a:cs typeface="Comic Sans MS"/>
                  </a:defRPr>
                </a:lvl2pPr>
                <a:lvl3pPr marL="1143000" indent="-228600" algn="l" defTabSz="457200" rtl="0" eaLnBrk="1" latinLnBrk="0" hangingPunct="1">
                  <a:spcBef>
                    <a:spcPts val="1680"/>
                  </a:spcBef>
                  <a:buFont typeface="Arial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ts val="1680"/>
                  </a:spcBef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ts val="1680"/>
                  </a:spcBef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82563" indent="-182563">
                  <a:spcBef>
                    <a:spcPts val="800"/>
                  </a:spcBef>
                  <a:buSzPct val="50000"/>
                  <a:buFont typeface="Wingdings" charset="2"/>
                  <a:buChar char="q"/>
                </a:pPr>
                <a:r>
                  <a:rPr lang="en-US" sz="1400">
                    <a:latin typeface="Consolas"/>
                    <a:cs typeface="Consolas"/>
                  </a:rPr>
                  <a:t>Or8Way</a:t>
                </a:r>
              </a:p>
              <a:p>
                <a:pPr marL="182563" indent="-182563">
                  <a:spcBef>
                    <a:spcPts val="800"/>
                  </a:spcBef>
                  <a:buSzPct val="50000"/>
                  <a:buFont typeface="Wingdings" charset="2"/>
                  <a:buChar char="q"/>
                </a:pPr>
                <a:r>
                  <a:rPr lang="en-US" sz="1400">
                    <a:latin typeface="Consolas"/>
                    <a:cs typeface="Consolas"/>
                  </a:rPr>
                  <a:t>Mux4Way16</a:t>
                </a:r>
              </a:p>
              <a:p>
                <a:pPr marL="182563" indent="-182563">
                  <a:spcBef>
                    <a:spcPts val="800"/>
                  </a:spcBef>
                  <a:buSzPct val="50000"/>
                  <a:buFont typeface="Wingdings" charset="2"/>
                  <a:buChar char="q"/>
                </a:pPr>
                <a:r>
                  <a:rPr lang="en-US" sz="1400">
                    <a:latin typeface="Consolas"/>
                    <a:cs typeface="Consolas"/>
                  </a:rPr>
                  <a:t>Mux8Way16</a:t>
                </a:r>
              </a:p>
              <a:p>
                <a:pPr marL="182563" indent="-182563">
                  <a:spcBef>
                    <a:spcPts val="800"/>
                  </a:spcBef>
                  <a:buSzPct val="50000"/>
                  <a:buFont typeface="Wingdings" charset="2"/>
                  <a:buChar char="q"/>
                </a:pPr>
                <a:r>
                  <a:rPr lang="en-US" sz="1400">
                    <a:latin typeface="Consolas"/>
                    <a:cs typeface="Consolas"/>
                  </a:rPr>
                  <a:t>DMux4Way</a:t>
                </a:r>
              </a:p>
              <a:p>
                <a:pPr marL="182563" indent="-182563">
                  <a:spcBef>
                    <a:spcPts val="800"/>
                  </a:spcBef>
                  <a:buSzPct val="50000"/>
                  <a:buFont typeface="Wingdings" charset="2"/>
                  <a:buChar char="q"/>
                </a:pPr>
                <a:r>
                  <a:rPr lang="en-US" sz="1400">
                    <a:latin typeface="Consolas"/>
                    <a:cs typeface="Consolas"/>
                  </a:rPr>
                  <a:t>DMux8Way</a:t>
                </a:r>
                <a:endParaRPr lang="en-US" sz="1600">
                  <a:latin typeface="Consolas"/>
                  <a:cs typeface="Consolas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BB2D60B-E6CE-F9CA-CAFE-DC0C9EBB9B5E}"/>
                  </a:ext>
                </a:extLst>
              </p:cNvPr>
              <p:cNvSpPr txBox="1"/>
              <p:nvPr/>
            </p:nvSpPr>
            <p:spPr>
              <a:xfrm>
                <a:off x="3749021" y="1137354"/>
                <a:ext cx="245903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u="sng">
                    <a:latin typeface="Times New Roman"/>
                    <a:cs typeface="Times New Roman"/>
                  </a:rPr>
                  <a:t>Multi-way</a:t>
                </a:r>
                <a:br>
                  <a:rPr lang="en-US" u="sng">
                    <a:latin typeface="Times New Roman"/>
                    <a:cs typeface="Times New Roman"/>
                  </a:rPr>
                </a:br>
                <a:r>
                  <a:rPr lang="en-US" u="sng">
                    <a:latin typeface="Times New Roman"/>
                    <a:cs typeface="Times New Roman"/>
                  </a:rPr>
                  <a:t>variants</a:t>
                </a: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D9590CC-3B4F-808D-1B34-E231C5C1E6AF}"/>
                </a:ext>
              </a:extLst>
            </p:cNvPr>
            <p:cNvGrpSpPr/>
            <p:nvPr/>
          </p:nvGrpSpPr>
          <p:grpSpPr>
            <a:xfrm>
              <a:off x="3313315" y="1847732"/>
              <a:ext cx="1315621" cy="2482349"/>
              <a:chOff x="2667214" y="1183007"/>
              <a:chExt cx="1315621" cy="2482349"/>
            </a:xfrm>
          </p:grpSpPr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F681CC2D-0452-D8C2-B0A2-0B712E462CA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667214" y="1841599"/>
                <a:ext cx="1298589" cy="182375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ts val="168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Comic Sans MS"/>
                    <a:ea typeface="+mn-ea"/>
                    <a:cs typeface="Comic Sans MS"/>
                  </a:defRPr>
                </a:lvl1pPr>
                <a:lvl2pPr marL="742950" indent="-285750" algn="l" defTabSz="457200" rtl="0" eaLnBrk="1" latinLnBrk="0" hangingPunct="1">
                  <a:spcBef>
                    <a:spcPts val="1680"/>
                  </a:spcBef>
                  <a:buFont typeface="Arial"/>
                  <a:buChar char="–"/>
                  <a:defRPr sz="1800" kern="1200">
                    <a:solidFill>
                      <a:schemeClr val="tx1"/>
                    </a:solidFill>
                    <a:latin typeface="Comic Sans MS"/>
                    <a:ea typeface="+mn-ea"/>
                    <a:cs typeface="Comic Sans MS"/>
                  </a:defRPr>
                </a:lvl2pPr>
                <a:lvl3pPr marL="1143000" indent="-228600" algn="l" defTabSz="457200" rtl="0" eaLnBrk="1" latinLnBrk="0" hangingPunct="1">
                  <a:spcBef>
                    <a:spcPts val="1680"/>
                  </a:spcBef>
                  <a:buFont typeface="Arial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ts val="1680"/>
                  </a:spcBef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ts val="1680"/>
                  </a:spcBef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82563" indent="-182563">
                  <a:spcBef>
                    <a:spcPts val="800"/>
                  </a:spcBef>
                  <a:buSzPct val="50000"/>
                  <a:buFont typeface="Wingdings" charset="2"/>
                  <a:buChar char="q"/>
                </a:pPr>
                <a:r>
                  <a:rPr lang="en-US" sz="1400">
                    <a:latin typeface="Consolas"/>
                    <a:cs typeface="Consolas"/>
                  </a:rPr>
                  <a:t>Not16</a:t>
                </a:r>
              </a:p>
              <a:p>
                <a:pPr marL="182563" indent="-182563">
                  <a:spcBef>
                    <a:spcPts val="800"/>
                  </a:spcBef>
                  <a:buSzPct val="50000"/>
                  <a:buFont typeface="Wingdings" charset="2"/>
                  <a:buChar char="q"/>
                </a:pPr>
                <a:r>
                  <a:rPr lang="en-US" sz="1400">
                    <a:latin typeface="Consolas"/>
                    <a:cs typeface="Consolas"/>
                  </a:rPr>
                  <a:t>And16</a:t>
                </a:r>
              </a:p>
              <a:p>
                <a:pPr marL="182563" indent="-182563">
                  <a:spcBef>
                    <a:spcPts val="800"/>
                  </a:spcBef>
                  <a:buSzPct val="50000"/>
                  <a:buFont typeface="Wingdings" charset="2"/>
                  <a:buChar char="q"/>
                </a:pPr>
                <a:r>
                  <a:rPr lang="en-US" sz="1400">
                    <a:latin typeface="Consolas"/>
                    <a:cs typeface="Consolas"/>
                  </a:rPr>
                  <a:t>Or16</a:t>
                </a:r>
              </a:p>
              <a:p>
                <a:pPr marL="182563" indent="-182563">
                  <a:spcBef>
                    <a:spcPts val="800"/>
                  </a:spcBef>
                  <a:buSzPct val="50000"/>
                  <a:buFont typeface="Wingdings" charset="2"/>
                  <a:buChar char="q"/>
                </a:pPr>
                <a:r>
                  <a:rPr lang="en-US" sz="1400">
                    <a:latin typeface="Consolas"/>
                    <a:cs typeface="Consolas"/>
                  </a:rPr>
                  <a:t>Mux16</a:t>
                </a:r>
                <a:endParaRPr lang="en-US" sz="1600">
                  <a:latin typeface="Consolas"/>
                  <a:cs typeface="Consolas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306EEFC-B94B-CD0A-9AF3-4EC3C9FBA56D}"/>
                  </a:ext>
                </a:extLst>
              </p:cNvPr>
              <p:cNvSpPr txBox="1"/>
              <p:nvPr/>
            </p:nvSpPr>
            <p:spPr>
              <a:xfrm>
                <a:off x="2668838" y="1183007"/>
                <a:ext cx="131399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u="sng">
                    <a:latin typeface="Times New Roman"/>
                    <a:cs typeface="Times New Roman"/>
                  </a:rPr>
                  <a:t>16-bit</a:t>
                </a:r>
                <a:br>
                  <a:rPr lang="en-US" u="sng">
                    <a:latin typeface="Times New Roman"/>
                    <a:cs typeface="Times New Roman"/>
                  </a:rPr>
                </a:br>
                <a:r>
                  <a:rPr lang="en-US" u="sng">
                    <a:latin typeface="Times New Roman"/>
                    <a:cs typeface="Times New Roman"/>
                  </a:rPr>
                  <a:t>variants</a:t>
                </a:r>
              </a:p>
            </p:txBody>
          </p:sp>
        </p:grpSp>
      </p:grpSp>
      <p:pic>
        <p:nvPicPr>
          <p:cNvPr id="17" name="Graphic 16" descr="Tick with solid fill">
            <a:extLst>
              <a:ext uri="{FF2B5EF4-FFF2-40B4-BE49-F238E27FC236}">
                <a16:creationId xmlns:a16="http://schemas.microsoft.com/office/drawing/2014/main" id="{B69FCD8B-7FCE-3B9A-68F9-B59D95A609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00557" y="3853564"/>
            <a:ext cx="241568" cy="388647"/>
          </a:xfrm>
          <a:prstGeom prst="rect">
            <a:avLst/>
          </a:prstGeom>
        </p:spPr>
      </p:pic>
      <p:pic>
        <p:nvPicPr>
          <p:cNvPr id="18" name="Graphic 17" descr="Tick with solid fill">
            <a:extLst>
              <a:ext uri="{FF2B5EF4-FFF2-40B4-BE49-F238E27FC236}">
                <a16:creationId xmlns:a16="http://schemas.microsoft.com/office/drawing/2014/main" id="{85E779D7-4440-4C1D-B380-99194FB551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40422" y="4209563"/>
            <a:ext cx="241568" cy="388647"/>
          </a:xfrm>
          <a:prstGeom prst="rect">
            <a:avLst/>
          </a:prstGeom>
        </p:spPr>
      </p:pic>
      <p:pic>
        <p:nvPicPr>
          <p:cNvPr id="19" name="Graphic 18" descr="Tick with solid fill">
            <a:extLst>
              <a:ext uri="{FF2B5EF4-FFF2-40B4-BE49-F238E27FC236}">
                <a16:creationId xmlns:a16="http://schemas.microsoft.com/office/drawing/2014/main" id="{A328A5CD-EF3C-801B-68A7-2BAF93E55E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32173" y="4547011"/>
            <a:ext cx="241568" cy="388647"/>
          </a:xfrm>
          <a:prstGeom prst="rect">
            <a:avLst/>
          </a:prstGeom>
        </p:spPr>
      </p:pic>
      <p:pic>
        <p:nvPicPr>
          <p:cNvPr id="20" name="Graphic 19" descr="Tick with solid fill">
            <a:extLst>
              <a:ext uri="{FF2B5EF4-FFF2-40B4-BE49-F238E27FC236}">
                <a16:creationId xmlns:a16="http://schemas.microsoft.com/office/drawing/2014/main" id="{F032A2FE-14B9-83F5-7234-FA3C57F36E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17891" y="3359102"/>
            <a:ext cx="241568" cy="388647"/>
          </a:xfrm>
          <a:prstGeom prst="rect">
            <a:avLst/>
          </a:prstGeom>
        </p:spPr>
      </p:pic>
      <p:pic>
        <p:nvPicPr>
          <p:cNvPr id="21" name="Graphic 20" descr="Tick with solid fill">
            <a:extLst>
              <a:ext uri="{FF2B5EF4-FFF2-40B4-BE49-F238E27FC236}">
                <a16:creationId xmlns:a16="http://schemas.microsoft.com/office/drawing/2014/main" id="{CCAB3EDE-AD03-D113-4B60-A9B47CE198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14509" y="3990670"/>
            <a:ext cx="241568" cy="388647"/>
          </a:xfrm>
          <a:prstGeom prst="rect">
            <a:avLst/>
          </a:prstGeom>
        </p:spPr>
      </p:pic>
      <p:pic>
        <p:nvPicPr>
          <p:cNvPr id="22" name="Graphic 21" descr="Tick with solid fill">
            <a:extLst>
              <a:ext uri="{FF2B5EF4-FFF2-40B4-BE49-F238E27FC236}">
                <a16:creationId xmlns:a16="http://schemas.microsoft.com/office/drawing/2014/main" id="{A7415C0C-C96C-6515-A425-1B1DB0A54D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96805" y="3305704"/>
            <a:ext cx="241568" cy="388647"/>
          </a:xfrm>
          <a:prstGeom prst="rect">
            <a:avLst/>
          </a:prstGeom>
        </p:spPr>
      </p:pic>
      <p:pic>
        <p:nvPicPr>
          <p:cNvPr id="23" name="Graphic 22" descr="Tick with solid fill">
            <a:extLst>
              <a:ext uri="{FF2B5EF4-FFF2-40B4-BE49-F238E27FC236}">
                <a16:creationId xmlns:a16="http://schemas.microsoft.com/office/drawing/2014/main" id="{FE398F66-A831-7C20-F9F8-387A3AA9AA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96805" y="3990670"/>
            <a:ext cx="241568" cy="38864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EEDDE438-5592-B70F-82A4-E74E6C999284}"/>
              </a:ext>
            </a:extLst>
          </p:cNvPr>
          <p:cNvSpPr txBox="1"/>
          <p:nvPr/>
        </p:nvSpPr>
        <p:spPr>
          <a:xfrm>
            <a:off x="834390" y="1154430"/>
            <a:ext cx="69717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you wish to finish building some other gates we will use then complete the list below</a:t>
            </a:r>
          </a:p>
        </p:txBody>
      </p:sp>
    </p:spTree>
    <p:extLst>
      <p:ext uri="{BB962C8B-B14F-4D97-AF65-F5344CB8AC3E}">
        <p14:creationId xmlns:p14="http://schemas.microsoft.com/office/powerpoint/2010/main" val="34427955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E6028-650F-0846-0B89-C31E35ADD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DA5A6-3584-FE42-412B-49CF3D7CE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BACAAF-15A5-A4F8-8CE4-859709818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D3D6-B89C-4D82-B254-B84B3D342745}" type="slidenum">
              <a:rPr lang="en-FI" smtClean="0"/>
              <a:t>25</a:t>
            </a:fld>
            <a:endParaRPr lang="en-F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335653-4F00-0C8E-9209-B56BE5C337F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425450" lvl="0" indent="-285750" rtl="0">
              <a:spcBef>
                <a:spcPts val="100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•"/>
            </a:pPr>
            <a:r>
              <a:rPr lang="en-US"/>
              <a:t>Learnt how to implement buses in HDL</a:t>
            </a:r>
          </a:p>
          <a:p>
            <a:pPr marL="425450" lvl="0" indent="-285750" rtl="0">
              <a:spcBef>
                <a:spcPts val="100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•"/>
            </a:pPr>
            <a:r>
              <a:rPr lang="en-US"/>
              <a:t>Started to build the chips we will need for our Hack computer</a:t>
            </a:r>
          </a:p>
          <a:p>
            <a:pPr marL="139700" lvl="0" rtl="0">
              <a:spcBef>
                <a:spcPts val="1000"/>
              </a:spcBef>
              <a:spcAft>
                <a:spcPts val="0"/>
              </a:spcAft>
              <a:buSzPts val="1400"/>
            </a:pPr>
            <a:r>
              <a:rPr lang="en-US"/>
              <a:t>	And16</a:t>
            </a:r>
          </a:p>
          <a:p>
            <a:pPr marL="139700" lvl="0" rtl="0">
              <a:spcAft>
                <a:spcPts val="0"/>
              </a:spcAft>
              <a:buSzPts val="1400"/>
            </a:pPr>
            <a:r>
              <a:rPr lang="en-US"/>
              <a:t>	Mux</a:t>
            </a:r>
          </a:p>
          <a:p>
            <a:pPr marL="139700" lvl="8">
              <a:buSzPts val="1400"/>
            </a:pPr>
            <a:r>
              <a:rPr lang="en-US"/>
              <a:t>	Mux16</a:t>
            </a:r>
          </a:p>
          <a:p>
            <a:pPr marL="139700" lvl="8">
              <a:buSzPts val="1400"/>
            </a:pPr>
            <a:r>
              <a:rPr lang="en-US"/>
              <a:t>	Mux4Way16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DFF9A4-A8E0-7CA7-2004-F02E4FE270AA}"/>
              </a:ext>
            </a:extLst>
          </p:cNvPr>
          <p:cNvSpPr txBox="1"/>
          <p:nvPr/>
        </p:nvSpPr>
        <p:spPr>
          <a:xfrm>
            <a:off x="386535" y="591530"/>
            <a:ext cx="12811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2178100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E0A6F38-A5E7-EA4D-96B0-467E21BB3A37}">
  <we:reference id="3e0fcce7-415c-4081-926c-b4e449c650e4" version="1.1.0.2" store="EXCatalog" storeType="EXCatalog"/>
  <we:alternateReferences>
    <we:reference id="WA200004709" version="1.1.0.2" store="en-GB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627</TotalTime>
  <Words>2584</Words>
  <Application>Microsoft Office PowerPoint</Application>
  <PresentationFormat>全屏显示(16:9)</PresentationFormat>
  <Paragraphs>580</Paragraphs>
  <Slides>25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5" baseType="lpstr">
      <vt:lpstr>Times New Roman</vt:lpstr>
      <vt:lpstr>Cambria</vt:lpstr>
      <vt:lpstr>Cambria Math</vt:lpstr>
      <vt:lpstr>Aptos</vt:lpstr>
      <vt:lpstr>Wingdings</vt:lpstr>
      <vt:lpstr>Arial</vt:lpstr>
      <vt:lpstr>Calibri</vt:lpstr>
      <vt:lpstr>Consolas</vt:lpstr>
      <vt:lpstr>Roboto Mono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Multi-bit bus</vt:lpstr>
      <vt:lpstr>Working with buses: Example</vt:lpstr>
      <vt:lpstr>Working with buses: Example</vt:lpstr>
      <vt:lpstr>Working with individual bits within buses</vt:lpstr>
      <vt:lpstr>Working with individual bits within buses</vt:lpstr>
      <vt:lpstr>PowerPoint 演示文稿</vt:lpstr>
      <vt:lpstr>信号切片</vt:lpstr>
      <vt:lpstr>信号切片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李 尚鹏</cp:lastModifiedBy>
  <cp:revision>10</cp:revision>
  <dcterms:modified xsi:type="dcterms:W3CDTF">2026-10-26T11:06:35Z</dcterms:modified>
</cp:coreProperties>
</file>