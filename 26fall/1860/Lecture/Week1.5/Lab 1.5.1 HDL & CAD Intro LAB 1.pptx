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4" r:id="rId1"/>
  </p:sldMasterIdLst>
  <p:notesMasterIdLst>
    <p:notesMasterId r:id="rId33"/>
  </p:notesMasterIdLst>
  <p:sldIdLst>
    <p:sldId id="256" r:id="rId2"/>
    <p:sldId id="1922" r:id="rId3"/>
    <p:sldId id="1923" r:id="rId4"/>
    <p:sldId id="1907" r:id="rId5"/>
    <p:sldId id="257" r:id="rId6"/>
    <p:sldId id="258" r:id="rId7"/>
    <p:sldId id="1930" r:id="rId8"/>
    <p:sldId id="259" r:id="rId9"/>
    <p:sldId id="1931" r:id="rId10"/>
    <p:sldId id="260" r:id="rId11"/>
    <p:sldId id="261" r:id="rId12"/>
    <p:sldId id="1933" r:id="rId13"/>
    <p:sldId id="1924" r:id="rId14"/>
    <p:sldId id="271" r:id="rId15"/>
    <p:sldId id="264" r:id="rId16"/>
    <p:sldId id="1929" r:id="rId17"/>
    <p:sldId id="272" r:id="rId18"/>
    <p:sldId id="278" r:id="rId19"/>
    <p:sldId id="273" r:id="rId20"/>
    <p:sldId id="1932" r:id="rId21"/>
    <p:sldId id="1925" r:id="rId22"/>
    <p:sldId id="274" r:id="rId23"/>
    <p:sldId id="1926" r:id="rId24"/>
    <p:sldId id="275" r:id="rId25"/>
    <p:sldId id="276" r:id="rId26"/>
    <p:sldId id="277" r:id="rId27"/>
    <p:sldId id="1919" r:id="rId28"/>
    <p:sldId id="1927" r:id="rId29"/>
    <p:sldId id="1928" r:id="rId30"/>
    <p:sldId id="268" r:id="rId31"/>
    <p:sldId id="1918" r:id="rId32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Consolas" panose="020B0609020204030204" pitchFamily="49" charset="0"/>
      <p:regular r:id="rId38"/>
      <p:bold r:id="rId39"/>
      <p:italic r:id="rId40"/>
      <p:boldItalic r:id="rId41"/>
    </p:embeddedFont>
    <p:embeddedFont>
      <p:font typeface="Roboto Mono" panose="00000009000000000000" pitchFamily="49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尚鹏" initials="李尚" lastIdx="1" clrIdx="0">
    <p:extLst>
      <p:ext uri="{19B8F6BF-5375-455C-9EA6-DF929625EA0E}">
        <p15:presenceInfo xmlns:p15="http://schemas.microsoft.com/office/powerpoint/2012/main" userId="a58ab4c969cbaa6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ro Soares Indrusiak" userId="4b6e7eae-3d9e-4469-942b-7b636975df11" providerId="ADAL" clId="{1A74EE0D-D411-4AE7-B325-456336358738}"/>
    <pc:docChg chg="undo custSel modSld">
      <pc:chgData name="Leandro Soares Indrusiak" userId="4b6e7eae-3d9e-4469-942b-7b636975df11" providerId="ADAL" clId="{1A74EE0D-D411-4AE7-B325-456336358738}" dt="2026-10-19T12:23:33.589" v="6" actId="6549"/>
      <pc:docMkLst>
        <pc:docMk/>
      </pc:docMkLst>
      <pc:sldChg chg="addSp delSp modSp mod">
        <pc:chgData name="Leandro Soares Indrusiak" userId="4b6e7eae-3d9e-4469-942b-7b636975df11" providerId="ADAL" clId="{1A74EE0D-D411-4AE7-B325-456336358738}" dt="2026-10-19T12:21:22.421" v="5" actId="1076"/>
        <pc:sldMkLst>
          <pc:docMk/>
          <pc:sldMk cId="3372986364" sldId="1924"/>
        </pc:sldMkLst>
        <pc:spChg chg="add del">
          <ac:chgData name="Leandro Soares Indrusiak" userId="4b6e7eae-3d9e-4469-942b-7b636975df11" providerId="ADAL" clId="{1A74EE0D-D411-4AE7-B325-456336358738}" dt="2026-10-19T12:20:42.644" v="1" actId="22"/>
          <ac:spMkLst>
            <pc:docMk/>
            <pc:sldMk cId="3372986364" sldId="1924"/>
            <ac:spMk id="6" creationId="{1C57AD0F-A5E6-9741-3EB9-32CB6877F9BD}"/>
          </ac:spMkLst>
        </pc:spChg>
        <pc:picChg chg="add mod">
          <ac:chgData name="Leandro Soares Indrusiak" userId="4b6e7eae-3d9e-4469-942b-7b636975df11" providerId="ADAL" clId="{1A74EE0D-D411-4AE7-B325-456336358738}" dt="2026-10-19T12:21:22.421" v="5" actId="1076"/>
          <ac:picMkLst>
            <pc:docMk/>
            <pc:sldMk cId="3372986364" sldId="1924"/>
            <ac:picMk id="8" creationId="{BC0B774D-6813-982E-B4C4-BA2B477E7FEC}"/>
          </ac:picMkLst>
        </pc:picChg>
      </pc:sldChg>
      <pc:sldChg chg="modSp mod">
        <pc:chgData name="Leandro Soares Indrusiak" userId="4b6e7eae-3d9e-4469-942b-7b636975df11" providerId="ADAL" clId="{1A74EE0D-D411-4AE7-B325-456336358738}" dt="2026-10-19T12:23:33.589" v="6" actId="6549"/>
        <pc:sldMkLst>
          <pc:docMk/>
          <pc:sldMk cId="805129172" sldId="1929"/>
        </pc:sldMkLst>
        <pc:spChg chg="mod">
          <ac:chgData name="Leandro Soares Indrusiak" userId="4b6e7eae-3d9e-4469-942b-7b636975df11" providerId="ADAL" clId="{1A74EE0D-D411-4AE7-B325-456336358738}" dt="2026-10-19T12:23:33.589" v="6" actId="6549"/>
          <ac:spMkLst>
            <pc:docMk/>
            <pc:sldMk cId="805129172" sldId="1929"/>
            <ac:spMk id="2" creationId="{4D0B4B44-A694-92C0-5694-0B47E51E10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48103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DB65BC7-036D-7C45-5924-04E3D30B1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>
            <a:extLst>
              <a:ext uri="{FF2B5EF4-FFF2-40B4-BE49-F238E27FC236}">
                <a16:creationId xmlns:a16="http://schemas.microsoft.com/office/drawing/2014/main" id="{F2CC9EF8-9DD3-093D-8685-14CA7ED8DC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>
            <a:extLst>
              <a:ext uri="{FF2B5EF4-FFF2-40B4-BE49-F238E27FC236}">
                <a16:creationId xmlns:a16="http://schemas.microsoft.com/office/drawing/2014/main" id="{7C187447-89F1-CC69-4546-FED91DDF67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222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6475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04CF1C7A-4D24-A2C7-BAC2-ECBB6FF9C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>
            <a:extLst>
              <a:ext uri="{FF2B5EF4-FFF2-40B4-BE49-F238E27FC236}">
                <a16:creationId xmlns:a16="http://schemas.microsoft.com/office/drawing/2014/main" id="{AFDB469F-4910-DB1C-4BE0-5A5CFA27C5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Shape 178">
            <a:extLst>
              <a:ext uri="{FF2B5EF4-FFF2-40B4-BE49-F238E27FC236}">
                <a16:creationId xmlns:a16="http://schemas.microsoft.com/office/drawing/2014/main" id="{921C7B52-A9E2-00B2-185C-FCB2585A12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1371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174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Shape 1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86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7844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5821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2 Images">
  <p:cSld name="Text + 2 Images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>
            <a:spLocks noGrp="1"/>
          </p:cNvSpPr>
          <p:nvPr>
            <p:ph type="pic" idx="2"/>
          </p:nvPr>
        </p:nvSpPr>
        <p:spPr>
          <a:xfrm>
            <a:off x="4600575" y="1321594"/>
            <a:ext cx="4132200" cy="16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Shape 10"/>
          <p:cNvSpPr>
            <a:spLocks noGrp="1"/>
          </p:cNvSpPr>
          <p:nvPr>
            <p:ph type="pic" idx="3"/>
          </p:nvPr>
        </p:nvSpPr>
        <p:spPr>
          <a:xfrm>
            <a:off x="4600575" y="3161110"/>
            <a:ext cx="4132200" cy="17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39725" y="1321594"/>
            <a:ext cx="3972000" cy="3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4"/>
          </p:nvPr>
        </p:nvSpPr>
        <p:spPr>
          <a:xfrm>
            <a:off x="403225" y="377428"/>
            <a:ext cx="58197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339725" y="1831181"/>
            <a:ext cx="7526400" cy="30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 Text">
  <p:cSld name="All 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39725" y="1321594"/>
            <a:ext cx="7559700" cy="3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2"/>
          </p:nvPr>
        </p:nvSpPr>
        <p:spPr>
          <a:xfrm>
            <a:off x="403225" y="377428"/>
            <a:ext cx="58197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1 Image">
  <p:cSld name="Text + 1 Imag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39725" y="1321594"/>
            <a:ext cx="3972000" cy="3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pic" idx="2"/>
          </p:nvPr>
        </p:nvSpPr>
        <p:spPr>
          <a:xfrm>
            <a:off x="4600575" y="1321594"/>
            <a:ext cx="4132200" cy="3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3"/>
          </p:nvPr>
        </p:nvSpPr>
        <p:spPr>
          <a:xfrm>
            <a:off x="403225" y="377428"/>
            <a:ext cx="58197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 Image">
  <p:cSld name="All Imag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>
            <a:spLocks noGrp="1"/>
          </p:cNvSpPr>
          <p:nvPr>
            <p:ph type="pic" idx="2"/>
          </p:nvPr>
        </p:nvSpPr>
        <p:spPr>
          <a:xfrm>
            <a:off x="403225" y="1321594"/>
            <a:ext cx="8329500" cy="3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03225" y="377428"/>
            <a:ext cx="58197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Points">
  <p:cSld name="Text + Poin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/>
          <p:nvPr/>
        </p:nvSpPr>
        <p:spPr>
          <a:xfrm>
            <a:off x="4583584" y="1313155"/>
            <a:ext cx="1907700" cy="14307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2419" y="17567"/>
                </a:moveTo>
                <a:cubicBezTo>
                  <a:pt x="125847" y="41002"/>
                  <a:pt x="125847" y="78985"/>
                  <a:pt x="102419" y="102419"/>
                </a:cubicBezTo>
                <a:cubicBezTo>
                  <a:pt x="78985" y="125847"/>
                  <a:pt x="41002" y="125847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0C0C0C">
              <a:alpha val="80784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5704828" y="2374030"/>
            <a:ext cx="1906500" cy="14307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2419" y="17567"/>
                </a:moveTo>
                <a:cubicBezTo>
                  <a:pt x="125847" y="41002"/>
                  <a:pt x="125847" y="78985"/>
                  <a:pt x="102419" y="102419"/>
                </a:cubicBezTo>
                <a:cubicBezTo>
                  <a:pt x="78985" y="125847"/>
                  <a:pt x="41002" y="125847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757070">
              <a:alpha val="80784"/>
            </a:srgb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Shape 33"/>
          <p:cNvSpPr/>
          <p:nvPr/>
        </p:nvSpPr>
        <p:spPr>
          <a:xfrm>
            <a:off x="6825787" y="3447812"/>
            <a:ext cx="1907700" cy="1430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2419" y="17567"/>
                </a:moveTo>
                <a:cubicBezTo>
                  <a:pt x="125847" y="41002"/>
                  <a:pt x="125847" y="78985"/>
                  <a:pt x="102419" y="102419"/>
                </a:cubicBezTo>
                <a:cubicBezTo>
                  <a:pt x="78985" y="125847"/>
                  <a:pt x="41002" y="125847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D0CECE">
              <a:alpha val="80784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339725" y="1321594"/>
            <a:ext cx="3972000" cy="3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2"/>
          </p:nvPr>
        </p:nvSpPr>
        <p:spPr>
          <a:xfrm>
            <a:off x="403225" y="377428"/>
            <a:ext cx="58197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3"/>
          </p:nvPr>
        </p:nvSpPr>
        <p:spPr>
          <a:xfrm>
            <a:off x="4796725" y="1795866"/>
            <a:ext cx="14961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4"/>
          </p:nvPr>
        </p:nvSpPr>
        <p:spPr>
          <a:xfrm>
            <a:off x="5910079" y="2880185"/>
            <a:ext cx="14961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5"/>
          </p:nvPr>
        </p:nvSpPr>
        <p:spPr>
          <a:xfrm>
            <a:off x="7031568" y="3975750"/>
            <a:ext cx="14961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Blank 2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3">
  <p:cSld name="Blank 3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4">
  <p:cSld name="Blank 4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5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6">
  <p:cSld name="Blank 6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7">
  <p:cSld name="Blank 7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8">
  <p:cSld name="Blank 8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9">
  <p:cSld name="Blank 9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/>
            </a:lvl1pPr>
            <a:lvl2pPr lvl="1" rtl="0">
              <a:spcBef>
                <a:spcPts val="0"/>
              </a:spcBef>
              <a:buNone/>
              <a:defRPr/>
            </a:lvl2pPr>
            <a:lvl3pPr lvl="2" rtl="0">
              <a:spcBef>
                <a:spcPts val="0"/>
              </a:spcBef>
              <a:buNone/>
              <a:defRPr/>
            </a:lvl3pPr>
            <a:lvl4pPr lvl="3" rtl="0">
              <a:spcBef>
                <a:spcPts val="0"/>
              </a:spcBef>
              <a:buNone/>
              <a:defRPr/>
            </a:lvl4pPr>
            <a:lvl5pPr lvl="4" rtl="0">
              <a:spcBef>
                <a:spcPts val="0"/>
              </a:spcBef>
              <a:buNone/>
              <a:defRPr/>
            </a:lvl5pPr>
            <a:lvl6pPr lvl="5" rtl="0">
              <a:spcBef>
                <a:spcPts val="0"/>
              </a:spcBef>
              <a:buNone/>
              <a:defRPr/>
            </a:lvl6pPr>
            <a:lvl7pPr lvl="6" rtl="0">
              <a:spcBef>
                <a:spcPts val="0"/>
              </a:spcBef>
              <a:buNone/>
              <a:defRPr/>
            </a:lvl7pPr>
            <a:lvl8pPr lvl="7" rtl="0">
              <a:spcBef>
                <a:spcPts val="0"/>
              </a:spcBef>
              <a:buNone/>
              <a:defRPr/>
            </a:lvl8pPr>
            <a:lvl9pPr lvl="8" rtl="0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10/26/2026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" y="1348740"/>
            <a:ext cx="7886700" cy="3322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0022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 6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0" y="0"/>
            <a:ext cx="9144000" cy="48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lvl="1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2pPr>
            <a:lvl3pPr lvl="2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3pPr>
            <a:lvl4pPr lvl="3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4pPr>
            <a:lvl5pPr lvl="4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5pPr>
            <a:lvl6pPr lvl="5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6pPr>
            <a:lvl7pPr lvl="6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7pPr>
            <a:lvl8pPr lvl="7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8pPr>
            <a:lvl9pPr lvl="8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6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dPj4XNby9iuAs-47U9k3xtYy9hJ-ET0T/view" TargetMode="Externa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curid=664222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rive.google.com/file/d/1dPj4XNby9iuAs-47U9k3xtYy9hJ-ET0T/view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8.emf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and2tetris.github.io/web-ide/chi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666666"/>
                </a:solidFill>
              </a:rPr>
              <a:t>COMP1860: Building Our Digital World Computer Systems &amp; Architecture</a:t>
            </a:r>
            <a:endParaRPr sz="3600">
              <a:solidFill>
                <a:srgbClr val="666666"/>
              </a:solidFill>
            </a:endParaRPr>
          </a:p>
        </p:txBody>
      </p:sp>
      <p:sp>
        <p:nvSpPr>
          <p:cNvPr id="67" name="Shape 67"/>
          <p:cNvSpPr txBox="1"/>
          <p:nvPr/>
        </p:nvSpPr>
        <p:spPr>
          <a:xfrm>
            <a:off x="277450" y="2830875"/>
            <a:ext cx="8520600" cy="11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2800">
                <a:solidFill>
                  <a:srgbClr val="666666"/>
                </a:solidFill>
              </a:rPr>
              <a:t>S1.W5.L1 Hardware Description Language</a:t>
            </a:r>
            <a:endParaRPr lang="en-US" sz="2800">
              <a:solidFill>
                <a:srgbClr val="666666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666666"/>
                </a:solidFill>
              </a:rPr>
              <a:t>&amp; Computer Aided Design LAB 1</a:t>
            </a:r>
            <a:endParaRPr sz="2800">
              <a:solidFill>
                <a:srgbClr val="666666"/>
              </a:solidFill>
            </a:endParaRPr>
          </a:p>
        </p:txBody>
      </p:sp>
      <p:sp>
        <p:nvSpPr>
          <p:cNvPr id="69" name="Shape 69"/>
          <p:cNvSpPr txBox="1"/>
          <p:nvPr/>
        </p:nvSpPr>
        <p:spPr>
          <a:xfrm>
            <a:off x="7507675" y="4714300"/>
            <a:ext cx="15198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82870-0C4A-010E-A508-17DB005A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D8038A-4B4E-4FDE-88A3-E894F843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2</a:t>
            </a:fld>
            <a:endParaRPr lang="en-FI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20711D-C0C1-1E6C-6C31-D879DEA0EC3A}"/>
              </a:ext>
            </a:extLst>
          </p:cNvPr>
          <p:cNvSpPr txBox="1"/>
          <p:nvPr/>
        </p:nvSpPr>
        <p:spPr>
          <a:xfrm>
            <a:off x="352235" y="276495"/>
            <a:ext cx="3759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Learning Outcomes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97D06-B38C-C793-DF76-81D494BE6D9C}"/>
              </a:ext>
            </a:extLst>
          </p:cNvPr>
          <p:cNvSpPr txBox="1"/>
          <p:nvPr/>
        </p:nvSpPr>
        <p:spPr>
          <a:xfrm>
            <a:off x="476545" y="1266605"/>
            <a:ext cx="84609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Analyse</a:t>
            </a:r>
            <a:r>
              <a:rPr lang="en-US" sz="2400" dirty="0"/>
              <a:t> and design a combinational logic circuit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Utilize a hardware simulator to design, test, and analyze the behavior of a digital circuit.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Implement and debug a combinational logic circuits using HDL.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7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2FD2E-7CB8-D672-DB56-86199687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4C0CC6-8565-8369-306D-D722B5931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3</a:t>
            </a:fld>
            <a:endParaRPr lang="en-FI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8000C-B6BB-B788-95CD-1F6EEAA225AC}"/>
              </a:ext>
            </a:extLst>
          </p:cNvPr>
          <p:cNvSpPr txBox="1"/>
          <p:nvPr/>
        </p:nvSpPr>
        <p:spPr>
          <a:xfrm>
            <a:off x="251520" y="469075"/>
            <a:ext cx="1802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Text Book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D275F-02DB-D409-4754-D54FCC1E8396}"/>
              </a:ext>
            </a:extLst>
          </p:cNvPr>
          <p:cNvSpPr txBox="1"/>
          <p:nvPr/>
        </p:nvSpPr>
        <p:spPr>
          <a:xfrm>
            <a:off x="386534" y="1348740"/>
            <a:ext cx="652572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r>
              <a:rPr lang="en-US" sz="2400" dirty="0" err="1"/>
              <a:t>Nand2Tetris</a:t>
            </a:r>
            <a:r>
              <a:rPr lang="en-US" sz="2400" dirty="0"/>
              <a:t> HDL Guide / Documentation: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r>
              <a:rPr lang="en-US" sz="2400" i="1" dirty="0">
                <a:hlinkClick r:id="rId2"/>
              </a:rPr>
              <a:t>The Elements of Computing Systems</a:t>
            </a:r>
            <a:r>
              <a:rPr lang="en-US" sz="2400" dirty="0">
                <a:hlinkClick r:id="rId2"/>
              </a:rPr>
              <a:t> / Appendix 2: HDL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0950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6CDC-9C07-2465-3E56-369139B5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B36577-2A8C-019C-55C5-9ADB86613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4</a:t>
            </a:fld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5847E-5E84-1F4A-8BDD-CDCB0F6B9BA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lvl="0" indent="-317500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800" dirty="0"/>
              <a:t>Introduce Computer Aided Design (CAD) and Hardware Description Language (HDL)</a:t>
            </a:r>
          </a:p>
          <a:p>
            <a:pPr marL="457200" lvl="0" indent="-3175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800" dirty="0"/>
              <a:t>Introduce a hardware simulator</a:t>
            </a:r>
          </a:p>
          <a:p>
            <a:pPr marL="457200" lvl="0" indent="-3175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800" dirty="0"/>
              <a:t>Learn how to write HDL files</a:t>
            </a:r>
          </a:p>
          <a:p>
            <a:pPr marL="457200" lvl="0" indent="-3175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800" dirty="0"/>
              <a:t>Learn how to run simulations of simple logic circuits</a:t>
            </a:r>
            <a:endParaRPr lang="en-US" sz="1800" dirty="0"/>
          </a:p>
          <a:p>
            <a:pPr marL="457200" lvl="0" indent="-3175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 dirty="0"/>
              <a:t>Start building the chips for the Hack computer</a:t>
            </a:r>
          </a:p>
          <a:p>
            <a:pPr marL="457200" lvl="0" indent="-3175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C4EDA5-FADC-2A2D-4F1E-95E36AEB4EA0}"/>
              </a:ext>
            </a:extLst>
          </p:cNvPr>
          <p:cNvSpPr txBox="1"/>
          <p:nvPr/>
        </p:nvSpPr>
        <p:spPr>
          <a:xfrm>
            <a:off x="341530" y="321500"/>
            <a:ext cx="1683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8555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body" idx="2"/>
          </p:nvPr>
        </p:nvSpPr>
        <p:spPr>
          <a:xfrm>
            <a:off x="403225" y="377428"/>
            <a:ext cx="5819700" cy="6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CAD	</a:t>
            </a:r>
            <a:endParaRPr/>
          </a:p>
        </p:txBody>
      </p:sp>
      <p:sp>
        <p:nvSpPr>
          <p:cNvPr id="75" name="Shape 75"/>
          <p:cNvSpPr txBox="1"/>
          <p:nvPr/>
        </p:nvSpPr>
        <p:spPr>
          <a:xfrm>
            <a:off x="417775" y="1095825"/>
            <a:ext cx="8478900" cy="3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600" u="sng" dirty="0"/>
              <a:t>C</a:t>
            </a:r>
            <a:r>
              <a:rPr lang="en-GB" sz="1600" dirty="0"/>
              <a:t>omputer </a:t>
            </a:r>
            <a:r>
              <a:rPr lang="en-GB" sz="1600" u="sng" dirty="0"/>
              <a:t>A</a:t>
            </a:r>
            <a:r>
              <a:rPr lang="en-GB" sz="1600" dirty="0"/>
              <a:t>ided </a:t>
            </a:r>
            <a:r>
              <a:rPr lang="en-GB" sz="1600" u="sng" dirty="0"/>
              <a:t>D</a:t>
            </a:r>
            <a:r>
              <a:rPr lang="en-GB" sz="1600" dirty="0"/>
              <a:t>esign (CAD) refers to the process of design and testing of systems using computers</a:t>
            </a:r>
            <a:endParaRPr sz="1600" dirty="0"/>
          </a:p>
          <a:p>
            <a:pPr marL="457200" lvl="0" indent="-317500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600" dirty="0">
                <a:solidFill>
                  <a:schemeClr val="accent2"/>
                </a:solidFill>
              </a:rPr>
              <a:t>CAD may automate some of the design and testing process</a:t>
            </a:r>
            <a:endParaRPr sz="1600" dirty="0">
              <a:solidFill>
                <a:schemeClr val="accent2"/>
              </a:solidFill>
            </a:endParaRPr>
          </a:p>
          <a:p>
            <a:pPr marL="457200" lvl="0" indent="-317500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600" dirty="0">
                <a:solidFill>
                  <a:schemeClr val="accent2"/>
                </a:solidFill>
              </a:rPr>
              <a:t>Helps to ensure that the design conforms to a specification</a:t>
            </a:r>
            <a:endParaRPr sz="1600" dirty="0">
              <a:solidFill>
                <a:schemeClr val="accent2"/>
              </a:solidFill>
            </a:endParaRPr>
          </a:p>
          <a:p>
            <a:pPr marL="457200" lvl="0" indent="-317500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600" dirty="0">
                <a:solidFill>
                  <a:schemeClr val="accent2"/>
                </a:solidFill>
              </a:rPr>
              <a:t>Encourages reuse of common components</a:t>
            </a:r>
            <a:endParaRPr sz="1600" dirty="0">
              <a:solidFill>
                <a:schemeClr val="accent2"/>
              </a:solidFill>
            </a:endParaRPr>
          </a:p>
          <a:p>
            <a:pPr marL="457200" lvl="0" indent="-31750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sz="1600" dirty="0"/>
              <a:t>Often supports </a:t>
            </a:r>
            <a:r>
              <a:rPr lang="en-GB" sz="1600" dirty="0">
                <a:solidFill>
                  <a:schemeClr val="accent2"/>
                </a:solidFill>
              </a:rPr>
              <a:t>simulations</a:t>
            </a:r>
            <a:endParaRPr sz="1600" dirty="0">
              <a:solidFill>
                <a:schemeClr val="accent2"/>
              </a:solidFill>
            </a:endParaRPr>
          </a:p>
        </p:txBody>
      </p:sp>
      <p:sp>
        <p:nvSpPr>
          <p:cNvPr id="76" name="Shape 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body" idx="2"/>
          </p:nvPr>
        </p:nvSpPr>
        <p:spPr>
          <a:xfrm>
            <a:off x="403225" y="377428"/>
            <a:ext cx="5819700" cy="6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Hardware Description Language	</a:t>
            </a: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417775" y="1095825"/>
            <a:ext cx="8478900" cy="3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>
              <a:lnSpc>
                <a:spcPct val="115000"/>
              </a:lnSpc>
              <a:spcBef>
                <a:spcPts val="1000"/>
              </a:spcBef>
              <a:buSzPts val="1400"/>
              <a:buChar char="●"/>
            </a:pPr>
            <a:r>
              <a:rPr lang="en-GB" u="sng" dirty="0"/>
              <a:t>H</a:t>
            </a:r>
            <a:r>
              <a:rPr lang="en-GB" dirty="0"/>
              <a:t>ardware </a:t>
            </a:r>
            <a:r>
              <a:rPr lang="en-GB" u="sng" dirty="0"/>
              <a:t>D</a:t>
            </a:r>
            <a:r>
              <a:rPr lang="en-GB" dirty="0"/>
              <a:t>escription </a:t>
            </a:r>
            <a:r>
              <a:rPr lang="en-GB" u="sng" dirty="0"/>
              <a:t>L</a:t>
            </a:r>
            <a:r>
              <a:rPr lang="en-GB" dirty="0"/>
              <a:t>anguage (HDL) is </a:t>
            </a:r>
            <a:r>
              <a:rPr lang="en-GB" dirty="0">
                <a:solidFill>
                  <a:schemeClr val="accent2"/>
                </a:solidFill>
              </a:rPr>
              <a:t>a language used to specify</a:t>
            </a:r>
            <a:r>
              <a:rPr lang="zh-CN" altLang="en-US" dirty="0">
                <a:solidFill>
                  <a:schemeClr val="accent2"/>
                </a:solidFill>
              </a:rPr>
              <a:t>（指定）</a:t>
            </a:r>
            <a:r>
              <a:rPr lang="en-GB" dirty="0">
                <a:solidFill>
                  <a:schemeClr val="accent2"/>
                </a:solidFill>
              </a:rPr>
              <a:t> the structure or behaviour of a digital circuit</a:t>
            </a:r>
            <a:endParaRPr dirty="0">
              <a:solidFill>
                <a:schemeClr val="accent2"/>
              </a:solidFill>
            </a:endParaRPr>
          </a:p>
          <a:p>
            <a:pPr marL="457200" indent="-317500">
              <a:lnSpc>
                <a:spcPct val="115000"/>
              </a:lnSpc>
              <a:spcBef>
                <a:spcPts val="1000"/>
              </a:spcBef>
              <a:buSzPts val="1400"/>
              <a:buFont typeface="Arial"/>
              <a:buChar char="●"/>
            </a:pPr>
            <a:r>
              <a:rPr lang="en-GB" dirty="0"/>
              <a:t>HDL specification can be simulated</a:t>
            </a:r>
            <a:r>
              <a:rPr lang="zh-CN" altLang="en-US" dirty="0"/>
              <a:t>（模拟）</a:t>
            </a:r>
            <a:r>
              <a:rPr lang="en-GB" dirty="0"/>
              <a:t>, and the specified circuit can then be evaluated</a:t>
            </a:r>
            <a:r>
              <a:rPr lang="zh-CN" altLang="en-US" dirty="0"/>
              <a:t>（评估）</a:t>
            </a:r>
            <a:r>
              <a:rPr lang="en-GB" dirty="0"/>
              <a:t> against a range of tests to ensure compliance to a specification</a:t>
            </a:r>
            <a:r>
              <a:rPr lang="zh-CN" altLang="en-US" dirty="0"/>
              <a:t>（符合规范）</a:t>
            </a:r>
            <a:endParaRPr dirty="0"/>
          </a:p>
          <a:p>
            <a:pPr marL="457200" lvl="0" indent="-317500">
              <a:lnSpc>
                <a:spcPct val="115000"/>
              </a:lnSpc>
              <a:spcBef>
                <a:spcPts val="1000"/>
              </a:spcBef>
              <a:buSzPts val="1400"/>
              <a:buChar char="●"/>
            </a:pPr>
            <a:r>
              <a:rPr lang="en-GB" dirty="0"/>
              <a:t>HDL can often be synthesised onto(</a:t>
            </a:r>
            <a:r>
              <a:rPr lang="zh-CN" altLang="en-US" dirty="0"/>
              <a:t>合成到</a:t>
            </a:r>
            <a:r>
              <a:rPr lang="en-GB" dirty="0"/>
              <a:t>) a Field Programmable Gate Array (</a:t>
            </a:r>
            <a:r>
              <a:rPr lang="en-GB" dirty="0">
                <a:solidFill>
                  <a:schemeClr val="accent2"/>
                </a:solidFill>
              </a:rPr>
              <a:t>FPGA</a:t>
            </a:r>
            <a:r>
              <a:rPr lang="en-GB" dirty="0"/>
              <a:t>) or a dedicated</a:t>
            </a:r>
            <a:r>
              <a:rPr lang="zh-CN" altLang="en-US" dirty="0"/>
              <a:t>（专用）</a:t>
            </a:r>
            <a:r>
              <a:rPr lang="en-GB" dirty="0"/>
              <a:t> </a:t>
            </a:r>
            <a:r>
              <a:rPr lang="en-GB" dirty="0">
                <a:solidFill>
                  <a:schemeClr val="accent2"/>
                </a:solidFill>
              </a:rPr>
              <a:t>integrated circuit </a:t>
            </a:r>
            <a:r>
              <a:rPr lang="en-GB" dirty="0"/>
              <a:t>(e.g. fabricated on a silicon die)</a:t>
            </a:r>
            <a:endParaRPr dirty="0"/>
          </a:p>
        </p:txBody>
      </p:sp>
      <p:sp>
        <p:nvSpPr>
          <p:cNvPr id="83" name="Shape 83"/>
          <p:cNvSpPr txBox="1"/>
          <p:nvPr/>
        </p:nvSpPr>
        <p:spPr>
          <a:xfrm>
            <a:off x="445175" y="4780500"/>
            <a:ext cx="80886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By Altera Corporation - Altera Corporation, CC BY 3.0, </a:t>
            </a:r>
            <a:r>
              <a:rPr lang="en-GB" sz="800" u="sng">
                <a:solidFill>
                  <a:schemeClr val="hlink"/>
                </a:solidFill>
                <a:hlinkClick r:id="rId3"/>
              </a:rPr>
              <a:t>https://commons.wikimedia.org/w/index.php?curid=6642224</a:t>
            </a:r>
            <a:endParaRPr sz="80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CC BY-SA 3.0, https://commons.wikimedia.org/w/index.php?curid=1340494</a:t>
            </a:r>
            <a:endParaRPr sz="800"/>
          </a:p>
        </p:txBody>
      </p:sp>
      <p:pic>
        <p:nvPicPr>
          <p:cNvPr id="84" name="Shape 84" descr="Altera_StratixIVGX_FPG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6675" y="3357043"/>
            <a:ext cx="2005950" cy="134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Shape 85" descr="Diopsis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1575" y="3357050"/>
            <a:ext cx="1407985" cy="134127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Shape 8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7D8277E1-FCC1-FD6C-E2D4-05AA87384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>
            <a:extLst>
              <a:ext uri="{FF2B5EF4-FFF2-40B4-BE49-F238E27FC236}">
                <a16:creationId xmlns:a16="http://schemas.microsoft.com/office/drawing/2014/main" id="{8E302DCD-50D4-7FA7-830E-4DAA3B2C894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03225" y="377428"/>
            <a:ext cx="5819700" cy="6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Hardware Description Language	</a:t>
            </a:r>
            <a:endParaRPr/>
          </a:p>
        </p:txBody>
      </p:sp>
      <p:sp>
        <p:nvSpPr>
          <p:cNvPr id="82" name="Shape 82">
            <a:extLst>
              <a:ext uri="{FF2B5EF4-FFF2-40B4-BE49-F238E27FC236}">
                <a16:creationId xmlns:a16="http://schemas.microsoft.com/office/drawing/2014/main" id="{11696882-F145-08DA-8A9C-4DD57A69E1EB}"/>
              </a:ext>
            </a:extLst>
          </p:cNvPr>
          <p:cNvSpPr txBox="1"/>
          <p:nvPr/>
        </p:nvSpPr>
        <p:spPr>
          <a:xfrm>
            <a:off x="417775" y="1095825"/>
            <a:ext cx="8478900" cy="3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17500">
              <a:lnSpc>
                <a:spcPct val="115000"/>
              </a:lnSpc>
              <a:spcBef>
                <a:spcPts val="1000"/>
              </a:spcBef>
              <a:buSzPts val="1400"/>
              <a:buFont typeface="Arial"/>
              <a:buChar char="●"/>
            </a:pPr>
            <a:r>
              <a:rPr lang="en-GB" dirty="0"/>
              <a:t>Hardware Description Languages are widely used in industry and have evolved over the past four decades</a:t>
            </a:r>
          </a:p>
          <a:p>
            <a:pPr marL="457200" indent="-317500">
              <a:lnSpc>
                <a:spcPct val="115000"/>
              </a:lnSpc>
              <a:spcBef>
                <a:spcPts val="1000"/>
              </a:spcBef>
              <a:buSzPts val="1400"/>
              <a:buFont typeface="Arial"/>
              <a:buChar char="●"/>
            </a:pPr>
            <a:r>
              <a:rPr lang="en-GB" dirty="0"/>
              <a:t>Commonly used HDLs include </a:t>
            </a:r>
            <a:r>
              <a:rPr lang="en-GB" dirty="0">
                <a:solidFill>
                  <a:schemeClr val="accent2"/>
                </a:solidFill>
              </a:rPr>
              <a:t>VHDL, Verilog, </a:t>
            </a:r>
            <a:r>
              <a:rPr lang="en-GB" dirty="0" err="1">
                <a:solidFill>
                  <a:schemeClr val="accent2"/>
                </a:solidFill>
              </a:rPr>
              <a:t>SystemVerilog</a:t>
            </a:r>
            <a:r>
              <a:rPr lang="en-GB" dirty="0">
                <a:solidFill>
                  <a:schemeClr val="accent2"/>
                </a:solidFill>
              </a:rPr>
              <a:t>, </a:t>
            </a:r>
            <a:r>
              <a:rPr lang="en-GB" dirty="0" err="1">
                <a:solidFill>
                  <a:schemeClr val="accent2"/>
                </a:solidFill>
              </a:rPr>
              <a:t>SystemC</a:t>
            </a:r>
            <a:endParaRPr lang="en-GB" dirty="0">
              <a:solidFill>
                <a:schemeClr val="accent2"/>
              </a:solidFill>
            </a:endParaRPr>
          </a:p>
          <a:p>
            <a:pPr marL="457200" lvl="3" indent="-317500">
              <a:lnSpc>
                <a:spcPct val="115000"/>
              </a:lnSpc>
              <a:spcBef>
                <a:spcPts val="1000"/>
              </a:spcBef>
              <a:buSzPts val="1400"/>
              <a:buFont typeface="Arial"/>
              <a:buChar char="●"/>
            </a:pPr>
            <a:endParaRPr lang="en-GB" dirty="0"/>
          </a:p>
          <a:p>
            <a:pPr marL="457200" lvl="3" indent="-317500">
              <a:lnSpc>
                <a:spcPct val="115000"/>
              </a:lnSpc>
              <a:spcBef>
                <a:spcPts val="1000"/>
              </a:spcBef>
              <a:buSzPts val="1400"/>
              <a:buFont typeface="Arial"/>
              <a:buChar char="●"/>
            </a:pPr>
            <a:endParaRPr lang="en-GB" dirty="0"/>
          </a:p>
          <a:p>
            <a:pPr marL="457200" lvl="3" indent="-317500">
              <a:lnSpc>
                <a:spcPct val="115000"/>
              </a:lnSpc>
              <a:spcBef>
                <a:spcPts val="1000"/>
              </a:spcBef>
              <a:buSzPts val="1400"/>
              <a:buFont typeface="Arial"/>
              <a:buChar char="●"/>
            </a:pPr>
            <a:endParaRPr lang="en-GB" dirty="0"/>
          </a:p>
          <a:p>
            <a:pPr marL="457200" lvl="3" indent="-317500">
              <a:lnSpc>
                <a:spcPct val="115000"/>
              </a:lnSpc>
              <a:spcBef>
                <a:spcPts val="1000"/>
              </a:spcBef>
              <a:buSzPts val="1400"/>
              <a:buFont typeface="Arial"/>
              <a:buChar char="●"/>
            </a:pPr>
            <a:endParaRPr lang="en-GB" dirty="0"/>
          </a:p>
          <a:p>
            <a:pPr marL="457200" lvl="3" indent="-317500">
              <a:lnSpc>
                <a:spcPct val="115000"/>
              </a:lnSpc>
              <a:spcBef>
                <a:spcPts val="1000"/>
              </a:spcBef>
              <a:buSzPts val="1400"/>
              <a:buFont typeface="Arial"/>
              <a:buChar char="●"/>
            </a:pPr>
            <a:endParaRPr lang="en-GB" dirty="0"/>
          </a:p>
          <a:p>
            <a:pPr marL="457200" lvl="3" indent="-317500">
              <a:lnSpc>
                <a:spcPct val="115000"/>
              </a:lnSpc>
              <a:spcBef>
                <a:spcPts val="1000"/>
              </a:spcBef>
              <a:buSzPts val="1400"/>
              <a:buFont typeface="Arial"/>
              <a:buChar char="●"/>
            </a:pPr>
            <a:r>
              <a:rPr lang="en-GB" dirty="0"/>
              <a:t>Throughout this module, we will use a didactic language which we will refer simply as Hardware Description Language, or HDL</a:t>
            </a:r>
          </a:p>
          <a:p>
            <a:pPr marL="139700" lvl="3">
              <a:lnSpc>
                <a:spcPct val="115000"/>
              </a:lnSpc>
              <a:spcBef>
                <a:spcPts val="1000"/>
              </a:spcBef>
              <a:buSzPts val="1400"/>
            </a:pPr>
            <a:endParaRPr dirty="0"/>
          </a:p>
        </p:txBody>
      </p:sp>
      <p:sp>
        <p:nvSpPr>
          <p:cNvPr id="86" name="Shape 86">
            <a:extLst>
              <a:ext uri="{FF2B5EF4-FFF2-40B4-BE49-F238E27FC236}">
                <a16:creationId xmlns:a16="http://schemas.microsoft.com/office/drawing/2014/main" id="{2E2D0A6F-637E-9B97-3F0E-1CDDC29C17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5CDC19-9498-CA44-89EB-2B7CAB23C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709" y="2426277"/>
            <a:ext cx="1165555" cy="14716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8CC077-F467-C8EC-08BC-734FEC476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937" y="2426277"/>
            <a:ext cx="993521" cy="1471660"/>
          </a:xfrm>
          <a:prstGeom prst="rect">
            <a:avLst/>
          </a:prstGeom>
        </p:spPr>
      </p:pic>
      <p:pic>
        <p:nvPicPr>
          <p:cNvPr id="5" name="Picture 4" descr="Lightbox view of the cover for Introduction to Logic Circuits &amp; Logic Design with Verilog">
            <a:extLst>
              <a:ext uri="{FF2B5EF4-FFF2-40B4-BE49-F238E27FC236}">
                <a16:creationId xmlns:a16="http://schemas.microsoft.com/office/drawing/2014/main" id="{3AF9FCE0-9651-6040-E009-574E55F8BF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921" y="2426277"/>
            <a:ext cx="1035798" cy="1471660"/>
          </a:xfrm>
          <a:prstGeom prst="rect">
            <a:avLst/>
          </a:prstGeom>
        </p:spPr>
      </p:pic>
      <p:pic>
        <p:nvPicPr>
          <p:cNvPr id="6" name="Picture 5" descr="System Design with SystemC™: Amazon.co.uk: Grötker, Thorsten, Liao, Stan,  Martin, Grant, Swan, Stuart: 9781441952851: Books">
            <a:extLst>
              <a:ext uri="{FF2B5EF4-FFF2-40B4-BE49-F238E27FC236}">
                <a16:creationId xmlns:a16="http://schemas.microsoft.com/office/drawing/2014/main" id="{109AB54E-C81E-A9D2-395F-038782C930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351" y="2426277"/>
            <a:ext cx="968352" cy="147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824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2"/>
          </p:nvPr>
        </p:nvSpPr>
        <p:spPr>
          <a:xfrm>
            <a:off x="403225" y="377428"/>
            <a:ext cx="5819700" cy="6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Hardware Description Language	</a:t>
            </a:r>
            <a:endParaRPr/>
          </a:p>
        </p:txBody>
      </p:sp>
      <p:sp>
        <p:nvSpPr>
          <p:cNvPr id="92" name="Shape 92"/>
          <p:cNvSpPr txBox="1"/>
          <p:nvPr/>
        </p:nvSpPr>
        <p:spPr>
          <a:xfrm>
            <a:off x="409242" y="770478"/>
            <a:ext cx="4253100" cy="3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>
              <a:lnSpc>
                <a:spcPct val="150000"/>
              </a:lnSpc>
              <a:spcBef>
                <a:spcPts val="1000"/>
              </a:spcBef>
              <a:buSzPts val="1400"/>
              <a:buChar char="●"/>
            </a:pPr>
            <a:r>
              <a:rPr lang="en-GB" dirty="0"/>
              <a:t>HDL models can define the internal structure of a circuit and typically </a:t>
            </a:r>
            <a:r>
              <a:rPr lang="en-GB" dirty="0">
                <a:solidFill>
                  <a:schemeClr val="accent2"/>
                </a:solidFill>
              </a:rPr>
              <a:t>consist of 2 parts</a:t>
            </a:r>
            <a:endParaRPr dirty="0">
              <a:solidFill>
                <a:schemeClr val="accent2"/>
              </a:solidFill>
            </a:endParaRPr>
          </a:p>
          <a:p>
            <a:pPr marL="914400" lvl="1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 </a:t>
            </a:r>
            <a:r>
              <a:rPr lang="en-GB" i="1" dirty="0">
                <a:solidFill>
                  <a:schemeClr val="accent2"/>
                </a:solidFill>
              </a:rPr>
              <a:t>header</a:t>
            </a:r>
            <a:r>
              <a:rPr lang="en-GB" dirty="0"/>
              <a:t> section - </a:t>
            </a:r>
            <a:r>
              <a:rPr lang="en-GB" dirty="0">
                <a:solidFill>
                  <a:schemeClr val="accent2"/>
                </a:solidFill>
              </a:rPr>
              <a:t>defining the interface of the circuit</a:t>
            </a:r>
            <a:endParaRPr dirty="0">
              <a:solidFill>
                <a:schemeClr val="accent2"/>
              </a:solidFill>
            </a:endParaRPr>
          </a:p>
          <a:p>
            <a:pPr marL="914400" lvl="1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 </a:t>
            </a:r>
            <a:r>
              <a:rPr lang="en-GB" i="1" dirty="0">
                <a:solidFill>
                  <a:schemeClr val="accent2"/>
                </a:solidFill>
              </a:rPr>
              <a:t>parts</a:t>
            </a:r>
            <a:r>
              <a:rPr lang="en-GB" dirty="0"/>
              <a:t> section - </a:t>
            </a:r>
            <a:r>
              <a:rPr lang="en-GB" dirty="0">
                <a:solidFill>
                  <a:schemeClr val="accent2"/>
                </a:solidFill>
              </a:rPr>
              <a:t>defining the names and internal topology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93" name="Shape 93"/>
          <p:cNvSpPr txBox="1"/>
          <p:nvPr/>
        </p:nvSpPr>
        <p:spPr>
          <a:xfrm>
            <a:off x="5196562" y="1129216"/>
            <a:ext cx="3424500" cy="3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/**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Xor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gate.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*/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CHIP 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Xor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IN a, b;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OUT 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PARTS: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And (a=a, b=b, out=x);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Or (a=a, b=b, out=y);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Not (in=x, out=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notx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And (a=y, b=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notx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out=out);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94" name="Shape 94"/>
          <p:cNvGrpSpPr/>
          <p:nvPr/>
        </p:nvGrpSpPr>
        <p:grpSpPr>
          <a:xfrm>
            <a:off x="5508104" y="2178570"/>
            <a:ext cx="3597380" cy="533508"/>
            <a:chOff x="5753050" y="2171717"/>
            <a:chExt cx="3176642" cy="533508"/>
          </a:xfrm>
        </p:grpSpPr>
        <p:sp>
          <p:nvSpPr>
            <p:cNvPr id="95" name="Shape 95"/>
            <p:cNvSpPr/>
            <p:nvPr/>
          </p:nvSpPr>
          <p:spPr>
            <a:xfrm>
              <a:off x="5753050" y="2314925"/>
              <a:ext cx="1260300" cy="390300"/>
            </a:xfrm>
            <a:prstGeom prst="rect">
              <a:avLst/>
            </a:prstGeom>
            <a:noFill/>
            <a:ln w="952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Shape 96"/>
            <p:cNvSpPr txBox="1"/>
            <p:nvPr/>
          </p:nvSpPr>
          <p:spPr>
            <a:xfrm>
              <a:off x="7381692" y="2171717"/>
              <a:ext cx="1548000" cy="5246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Header </a:t>
              </a:r>
              <a:br>
                <a:rPr lang="en-GB" dirty="0"/>
              </a:br>
              <a:r>
                <a:rPr lang="zh-CN" altLang="en-US" dirty="0"/>
                <a:t>定义芯片外引脚</a:t>
              </a:r>
              <a:endParaRPr dirty="0"/>
            </a:p>
          </p:txBody>
        </p:sp>
      </p:grpSp>
      <p:grpSp>
        <p:nvGrpSpPr>
          <p:cNvPr id="97" name="Shape 97"/>
          <p:cNvGrpSpPr/>
          <p:nvPr/>
        </p:nvGrpSpPr>
        <p:grpSpPr>
          <a:xfrm>
            <a:off x="5548078" y="3038189"/>
            <a:ext cx="3328943" cy="1041928"/>
            <a:chOff x="5782666" y="3034050"/>
            <a:chExt cx="3328943" cy="1041928"/>
          </a:xfrm>
        </p:grpSpPr>
        <p:sp>
          <p:nvSpPr>
            <p:cNvPr id="98" name="Shape 98"/>
            <p:cNvSpPr/>
            <p:nvPr/>
          </p:nvSpPr>
          <p:spPr>
            <a:xfrm>
              <a:off x="5814700" y="3034050"/>
              <a:ext cx="2657400" cy="767100"/>
            </a:xfrm>
            <a:prstGeom prst="rect">
              <a:avLst/>
            </a:prstGeom>
            <a:noFill/>
            <a:ln w="952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Shape 99"/>
            <p:cNvSpPr txBox="1"/>
            <p:nvPr/>
          </p:nvSpPr>
          <p:spPr>
            <a:xfrm>
              <a:off x="5782666" y="3754078"/>
              <a:ext cx="3328943" cy="32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Parts</a:t>
              </a:r>
              <a:r>
                <a:rPr lang="zh-CN" altLang="en-US" dirty="0"/>
                <a:t>：定义芯片内元器件和其输入输出</a:t>
              </a:r>
              <a:endParaRPr dirty="0"/>
            </a:p>
          </p:txBody>
        </p:sp>
      </p:grpSp>
      <p:sp>
        <p:nvSpPr>
          <p:cNvPr id="100" name="Shape 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189DFD-34D0-AB52-6AEC-53AB512C3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25" y="3077283"/>
            <a:ext cx="3493700" cy="1917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9F6F61-6254-8C53-1BFA-AD358ED57C1B}"/>
              </a:ext>
            </a:extLst>
          </p:cNvPr>
          <p:cNvSpPr txBox="1"/>
          <p:nvPr/>
        </p:nvSpPr>
        <p:spPr>
          <a:xfrm>
            <a:off x="4162758" y="4105293"/>
            <a:ext cx="45720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r>
              <a:rPr lang="en-US" sz="1600"/>
              <a:t>Nand2Tetris HDL Guide / Documentation: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r>
              <a:rPr lang="en-US" sz="1400" i="1">
                <a:hlinkClick r:id="rId4"/>
              </a:rPr>
              <a:t>The Elements of Computing Systems</a:t>
            </a:r>
            <a:r>
              <a:rPr lang="en-US" sz="1400">
                <a:hlinkClick r:id="rId4"/>
              </a:rPr>
              <a:t> / Appendix 2: HDL</a:t>
            </a:r>
            <a:endParaRPr 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0B6629-613B-F251-6EE4-D7D85FD27C06}"/>
              </a:ext>
            </a:extLst>
          </p:cNvPr>
          <p:cNvSpPr/>
          <p:nvPr/>
        </p:nvSpPr>
        <p:spPr>
          <a:xfrm>
            <a:off x="1314867" y="3644251"/>
            <a:ext cx="2015685" cy="13074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4B3F00-F918-358B-6545-C1D023D5C491}"/>
              </a:ext>
            </a:extLst>
          </p:cNvPr>
          <p:cNvSpPr txBox="1"/>
          <p:nvPr/>
        </p:nvSpPr>
        <p:spPr>
          <a:xfrm>
            <a:off x="3213662" y="304605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芯片内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BD04C11-10F8-71FF-3D8C-D755FDDC051F}"/>
              </a:ext>
            </a:extLst>
          </p:cNvPr>
          <p:cNvCxnSpPr/>
          <p:nvPr/>
        </p:nvCxnSpPr>
        <p:spPr>
          <a:xfrm flipH="1">
            <a:off x="2876689" y="3421739"/>
            <a:ext cx="453863" cy="383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7ECFCFE-237D-C59B-81D8-82922959C4AD}"/>
              </a:ext>
            </a:extLst>
          </p:cNvPr>
          <p:cNvCxnSpPr/>
          <p:nvPr/>
        </p:nvCxnSpPr>
        <p:spPr>
          <a:xfrm flipH="1">
            <a:off x="6935327" y="2516928"/>
            <a:ext cx="386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B5D10FC-B66D-8108-FF3A-1012BB349FEA}"/>
              </a:ext>
            </a:extLst>
          </p:cNvPr>
          <p:cNvCxnSpPr/>
          <p:nvPr/>
        </p:nvCxnSpPr>
        <p:spPr>
          <a:xfrm flipH="1" flipV="1">
            <a:off x="7915901" y="3421739"/>
            <a:ext cx="640883" cy="336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83559AA-FCDA-A1CD-F4A9-0A9B4A278837}"/>
              </a:ext>
            </a:extLst>
          </p:cNvPr>
          <p:cNvCxnSpPr/>
          <p:nvPr/>
        </p:nvCxnSpPr>
        <p:spPr>
          <a:xfrm flipH="1" flipV="1">
            <a:off x="1855498" y="2716502"/>
            <a:ext cx="1955614" cy="1141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2E23901-5DF8-1F1E-E03F-3EFB57342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375" y="1094663"/>
            <a:ext cx="8183551" cy="3844432"/>
          </a:xfrm>
        </p:spPr>
        <p:txBody>
          <a:bodyPr/>
          <a:lstStyle/>
          <a:p>
            <a:pPr marL="0" lvl="0" indent="0">
              <a:spcBef>
                <a:spcPts val="0"/>
              </a:spcBef>
              <a:buSzPts val="1100"/>
            </a:pP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/**</a:t>
            </a:r>
          </a:p>
          <a:p>
            <a:pPr marL="0" lvl="0" indent="0">
              <a:spcBef>
                <a:spcPts val="0"/>
              </a:spcBef>
              <a:buSzPts val="1100"/>
            </a:pP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注释</a:t>
            </a:r>
            <a:endParaRPr lang="en-US" altLang="zh-CN" sz="1600" dirty="0">
              <a:solidFill>
                <a:schemeClr val="accent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</a:pP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 */</a:t>
            </a:r>
          </a:p>
          <a:p>
            <a:pPr marL="0" lvl="0" indent="0">
              <a:spcBef>
                <a:spcPts val="0"/>
              </a:spcBef>
              <a:buSzPts val="1100"/>
            </a:pP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CHIP </a:t>
            </a:r>
            <a:r>
              <a:rPr lang="zh-CN" altLang="en-US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芯片名</a:t>
            </a: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</a:p>
          <a:p>
            <a:pPr marL="0" lvl="0" indent="0">
              <a:spcBef>
                <a:spcPts val="0"/>
              </a:spcBef>
              <a:buSzPts val="1100"/>
            </a:pP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IN a, b;   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zh-CN" altLang="en-US" sz="1600" dirty="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芯片外输入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引脚（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pin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）</a:t>
            </a:r>
            <a:endParaRPr lang="en-US" altLang="zh-CN" sz="1600" dirty="0">
              <a:solidFill>
                <a:schemeClr val="accent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0"/>
              </a:spcBef>
              <a:buSzPts val="1100"/>
            </a:pP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OUT </a:t>
            </a:r>
            <a:r>
              <a:rPr lang="en-US" altLang="zh-CN" sz="1600" dirty="0" err="1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;   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zh-CN" altLang="en-US" sz="1600" dirty="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芯片外输出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引脚（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pin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）</a:t>
            </a:r>
            <a:endParaRPr lang="en-US" altLang="zh-CN" sz="1600" dirty="0">
              <a:solidFill>
                <a:schemeClr val="accent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buSzPts val="1100"/>
            </a:pPr>
            <a:endParaRPr lang="en-US" altLang="zh-CN" sz="16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buSzPts val="1100"/>
            </a:pP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PARTS:     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 定义</a:t>
            </a:r>
            <a:r>
              <a:rPr lang="zh-CN" altLang="en-US" sz="1600" dirty="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芯片内的元器件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和元器件输入</a:t>
            </a:r>
            <a:endParaRPr lang="en-US" altLang="zh-CN" sz="1600" dirty="0">
              <a:solidFill>
                <a:schemeClr val="accent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buSzPts val="1100"/>
            </a:pP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And (a=a, b=b, out=x);   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 引入一个</a:t>
            </a:r>
            <a:r>
              <a:rPr lang="en-US" altLang="zh-CN" sz="1600" dirty="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 gate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和它的输入输出引脚</a:t>
            </a:r>
            <a:endParaRPr lang="en-US" altLang="zh-CN" sz="1600" dirty="0">
              <a:solidFill>
                <a:schemeClr val="accent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buSzPts val="1100"/>
            </a:pP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Or (a=a, b=b, out=y);    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 引入一个</a:t>
            </a:r>
            <a:r>
              <a:rPr lang="en-US" altLang="zh-CN" sz="1600" dirty="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Or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 gate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和它的输入输出引脚</a:t>
            </a:r>
            <a:endParaRPr lang="en-US" altLang="zh-CN" sz="1600" dirty="0">
              <a:solidFill>
                <a:schemeClr val="accent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0"/>
              </a:spcBef>
              <a:buSzPts val="1100"/>
            </a:pP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Not (in=x, out=</a:t>
            </a:r>
            <a:r>
              <a:rPr lang="en-US" altLang="zh-CN" sz="16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notx</a:t>
            </a: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);    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 引入一个</a:t>
            </a:r>
            <a:r>
              <a:rPr lang="en-US" altLang="zh-CN" sz="1600" dirty="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Not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 gate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和它的输入输出引脚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</a:p>
          <a:p>
            <a:pPr marL="0" indent="0">
              <a:spcBef>
                <a:spcPts val="0"/>
              </a:spcBef>
              <a:buSzPts val="1100"/>
            </a:pP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altLang="zh-CN" sz="1600" dirty="0" err="1">
                <a:solidFill>
                  <a:srgbClr val="434343"/>
                </a:solidFill>
                <a:latin typeface="Roboto Mono"/>
                <a:ea typeface="Roboto Mono"/>
                <a:sym typeface="Roboto Mono"/>
              </a:rPr>
              <a:t>MyHalfAdd</a:t>
            </a: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sym typeface="Roboto Mono"/>
              </a:rPr>
              <a:t>(</a:t>
            </a: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a=a, b=b, s=s, c=c) 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sym typeface="Roboto Mono"/>
              </a:rPr>
              <a:t>// 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sym typeface="Roboto Mono"/>
              </a:rPr>
              <a:t>引入自己的半加器芯片</a:t>
            </a:r>
            <a:endParaRPr lang="en-US" altLang="zh-CN" sz="1600" dirty="0">
              <a:solidFill>
                <a:schemeClr val="accent6"/>
              </a:solidFill>
              <a:latin typeface="Roboto Mono"/>
              <a:ea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buSzPts val="1100"/>
            </a:pP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And (a=y, b=</a:t>
            </a:r>
            <a:r>
              <a:rPr lang="en-US" altLang="zh-CN" sz="16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notx</a:t>
            </a: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out=</a:t>
            </a:r>
            <a:r>
              <a:rPr lang="en-US" altLang="zh-CN" sz="1600" dirty="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); 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芯片内的最终输出要和芯片外的输出对应</a:t>
            </a:r>
            <a:endParaRPr lang="en-US" altLang="zh-CN" sz="1600" dirty="0">
              <a:solidFill>
                <a:schemeClr val="accent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buSzPts val="1100"/>
            </a:pPr>
            <a:r>
              <a:rPr lang="en-US" altLang="zh-CN" sz="16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  <a:p>
            <a:pPr marL="0" lvl="0" indent="0">
              <a:spcBef>
                <a:spcPts val="0"/>
              </a:spcBef>
              <a:buSzPts val="1100"/>
            </a:pPr>
            <a:endParaRPr lang="en-US" altLang="zh-CN" sz="16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buSzPts val="1100"/>
            </a:pP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 常见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gate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模拟器都已经内置，自己写的芯片</a:t>
            </a:r>
            <a:r>
              <a:rPr lang="en-US" altLang="zh-CN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HDL</a:t>
            </a:r>
            <a:r>
              <a:rPr lang="zh-CN" altLang="en-US" sz="1600" dirty="0">
                <a:solidFill>
                  <a:schemeClr val="accent6"/>
                </a:solidFill>
                <a:latin typeface="Roboto Mono"/>
                <a:ea typeface="Roboto Mono"/>
                <a:cs typeface="Roboto Mono"/>
                <a:sym typeface="Roboto Mono"/>
              </a:rPr>
              <a:t>文件可放同目录下，用文件名引用</a:t>
            </a:r>
            <a:endParaRPr lang="en-US" altLang="zh-CN" sz="1600" dirty="0">
              <a:solidFill>
                <a:schemeClr val="accent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428B01-1CF7-E2E7-4B82-156EA92DF5E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altLang="zh-CN" dirty="0"/>
              <a:t>HDL</a:t>
            </a:r>
            <a:r>
              <a:rPr lang="zh-CN" altLang="en-US" dirty="0"/>
              <a:t>文件格式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F86D98-3542-C437-DDB4-BD4B94EE66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330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2"/>
          </p:nvPr>
        </p:nvSpPr>
        <p:spPr>
          <a:xfrm>
            <a:off x="403225" y="377428"/>
            <a:ext cx="5819700" cy="6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chip in HDL	</a:t>
            </a:r>
            <a:endParaRPr/>
          </a:p>
        </p:txBody>
      </p:sp>
      <p:sp>
        <p:nvSpPr>
          <p:cNvPr id="106" name="Shape 106"/>
          <p:cNvSpPr txBox="1"/>
          <p:nvPr/>
        </p:nvSpPr>
        <p:spPr>
          <a:xfrm>
            <a:off x="399816" y="955709"/>
            <a:ext cx="4687481" cy="29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dirty="0">
                <a:solidFill>
                  <a:schemeClr val="accent2"/>
                </a:solidFill>
              </a:rPr>
              <a:t>Each chip is defined in a separate text file</a:t>
            </a:r>
            <a:endParaRPr dirty="0">
              <a:solidFill>
                <a:schemeClr val="accent2"/>
              </a:solidFill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dirty="0">
                <a:solidFill>
                  <a:schemeClr val="accent2"/>
                </a:solidFill>
              </a:rPr>
              <a:t>A chip called </a:t>
            </a:r>
            <a:r>
              <a:rPr lang="en-GB" dirty="0" err="1">
                <a:solidFill>
                  <a:schemeClr val="accent2"/>
                </a:solidFill>
              </a:rPr>
              <a:t>Xxx</a:t>
            </a:r>
            <a:r>
              <a:rPr lang="en-GB" dirty="0">
                <a:solidFill>
                  <a:schemeClr val="accent2"/>
                </a:solidFill>
              </a:rPr>
              <a:t> is defined in a file called </a:t>
            </a:r>
            <a:r>
              <a:rPr lang="en-GB" dirty="0" err="1">
                <a:solidFill>
                  <a:schemeClr val="accent2"/>
                </a:solidFill>
              </a:rPr>
              <a:t>Xxx.hdl</a:t>
            </a:r>
            <a:r>
              <a:rPr lang="en-GB" dirty="0">
                <a:solidFill>
                  <a:schemeClr val="accent2"/>
                </a:solidFill>
              </a:rPr>
              <a:t> (</a:t>
            </a:r>
            <a:r>
              <a:rPr lang="zh-CN" altLang="en-US" dirty="0"/>
              <a:t>大小写敏感</a:t>
            </a:r>
            <a:r>
              <a:rPr lang="en-GB" dirty="0"/>
              <a:t>!!)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dirty="0">
                <a:solidFill>
                  <a:schemeClr val="accent2"/>
                </a:solidFill>
              </a:rPr>
              <a:t>Keywords are capitalised</a:t>
            </a:r>
            <a:r>
              <a:rPr lang="zh-CN" altLang="en-US" dirty="0"/>
              <a:t>（大写）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dirty="0">
                <a:solidFill>
                  <a:schemeClr val="accent2"/>
                </a:solidFill>
              </a:rPr>
              <a:t>Identifier</a:t>
            </a:r>
            <a:r>
              <a:rPr lang="en-GB" dirty="0"/>
              <a:t> name may be any sequence of letters and digits </a:t>
            </a:r>
            <a:r>
              <a:rPr lang="en-GB" dirty="0">
                <a:solidFill>
                  <a:schemeClr val="accent2"/>
                </a:solidFill>
              </a:rPr>
              <a:t>not starting with a digit </a:t>
            </a:r>
            <a:r>
              <a:rPr lang="en-GB" b="1" dirty="0"/>
              <a:t>(no underscores)</a:t>
            </a:r>
          </a:p>
          <a:p>
            <a:pPr marL="457200" marR="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Whitespace has no meaning</a:t>
            </a:r>
            <a:r>
              <a:rPr lang="zh-CN" altLang="en-US" dirty="0"/>
              <a:t>（空格没有意义）</a:t>
            </a:r>
            <a:endParaRPr dirty="0"/>
          </a:p>
          <a:p>
            <a:pPr marL="457200" lvl="0" indent="-317500">
              <a:lnSpc>
                <a:spcPct val="115000"/>
              </a:lnSpc>
              <a:spcBef>
                <a:spcPts val="1000"/>
              </a:spcBef>
              <a:buSzPts val="1400"/>
              <a:buChar char="●"/>
            </a:pPr>
            <a:r>
              <a:rPr lang="en-GB" dirty="0">
                <a:solidFill>
                  <a:schemeClr val="accent2"/>
                </a:solidFill>
              </a:rPr>
              <a:t>Lines end with semicolons</a:t>
            </a:r>
            <a:r>
              <a:rPr lang="zh-CN" altLang="en-US" dirty="0"/>
              <a:t>（行末用；结束）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Comments are provided in a variety of way</a:t>
            </a:r>
            <a:endParaRPr dirty="0"/>
          </a:p>
        </p:txBody>
      </p:sp>
      <p:sp>
        <p:nvSpPr>
          <p:cNvPr id="107" name="Shape 107"/>
          <p:cNvSpPr txBox="1"/>
          <p:nvPr/>
        </p:nvSpPr>
        <p:spPr>
          <a:xfrm>
            <a:off x="837729" y="4151925"/>
            <a:ext cx="2965500" cy="7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//  Comments to end of line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/* Comment until closing */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/** API documentation */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8" name="Shape 108"/>
          <p:cNvSpPr txBox="1"/>
          <p:nvPr/>
        </p:nvSpPr>
        <p:spPr>
          <a:xfrm>
            <a:off x="5348975" y="1143750"/>
            <a:ext cx="3424500" cy="3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/**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Xor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gate.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*/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CHIP 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Xor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IN  a, b;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OUT 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PARTS: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And (a=a, b=b, out=x);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Or (a=a, b=b, out=y);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Not (in=x, out=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notx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And (a=y, b=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notx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out=out);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9" name="Shape 109"/>
          <p:cNvSpPr/>
          <p:nvPr/>
        </p:nvSpPr>
        <p:spPr>
          <a:xfrm>
            <a:off x="5419482" y="1931400"/>
            <a:ext cx="404100" cy="1986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Shape 110"/>
          <p:cNvSpPr/>
          <p:nvPr/>
        </p:nvSpPr>
        <p:spPr>
          <a:xfrm>
            <a:off x="5797855" y="2346059"/>
            <a:ext cx="205500" cy="1575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Shape 111"/>
          <p:cNvSpPr/>
          <p:nvPr/>
        </p:nvSpPr>
        <p:spPr>
          <a:xfrm>
            <a:off x="5773600" y="2530704"/>
            <a:ext cx="287700" cy="1575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/>
          <p:nvPr/>
        </p:nvSpPr>
        <p:spPr>
          <a:xfrm>
            <a:off x="5791258" y="2852855"/>
            <a:ext cx="506700" cy="1986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Shape 113"/>
          <p:cNvSpPr txBox="1"/>
          <p:nvPr/>
        </p:nvSpPr>
        <p:spPr>
          <a:xfrm>
            <a:off x="6468725" y="4366175"/>
            <a:ext cx="1185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err="1"/>
              <a:t>Xor.hdl</a:t>
            </a:r>
            <a:endParaRPr/>
          </a:p>
        </p:txBody>
      </p:sp>
      <p:sp>
        <p:nvSpPr>
          <p:cNvPr id="114" name="Shape 114"/>
          <p:cNvSpPr/>
          <p:nvPr/>
        </p:nvSpPr>
        <p:spPr>
          <a:xfrm>
            <a:off x="6156381" y="2356050"/>
            <a:ext cx="440844" cy="1575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115"/>
          <p:cNvSpPr/>
          <p:nvPr/>
        </p:nvSpPr>
        <p:spPr>
          <a:xfrm>
            <a:off x="6156381" y="2547850"/>
            <a:ext cx="328800" cy="1575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Shape 116"/>
          <p:cNvSpPr/>
          <p:nvPr/>
        </p:nvSpPr>
        <p:spPr>
          <a:xfrm>
            <a:off x="5834059" y="1936208"/>
            <a:ext cx="275191" cy="1986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Shape 117"/>
          <p:cNvSpPr/>
          <p:nvPr/>
        </p:nvSpPr>
        <p:spPr>
          <a:xfrm>
            <a:off x="6165442" y="3059765"/>
            <a:ext cx="1556908" cy="192169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/>
          <p:nvPr/>
        </p:nvSpPr>
        <p:spPr>
          <a:xfrm>
            <a:off x="6093413" y="3271700"/>
            <a:ext cx="1556907" cy="145213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Shape 119"/>
          <p:cNvSpPr/>
          <p:nvPr/>
        </p:nvSpPr>
        <p:spPr>
          <a:xfrm>
            <a:off x="6165442" y="3443393"/>
            <a:ext cx="1484878" cy="166716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Shape 120"/>
          <p:cNvSpPr/>
          <p:nvPr/>
        </p:nvSpPr>
        <p:spPr>
          <a:xfrm>
            <a:off x="6173442" y="3599768"/>
            <a:ext cx="2038307" cy="192169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/>
          <p:nvPr/>
        </p:nvSpPr>
        <p:spPr>
          <a:xfrm>
            <a:off x="5386700" y="1203598"/>
            <a:ext cx="1445100" cy="62100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Shape 122"/>
          <p:cNvSpPr/>
          <p:nvPr/>
        </p:nvSpPr>
        <p:spPr>
          <a:xfrm>
            <a:off x="5779848" y="3077099"/>
            <a:ext cx="323103" cy="1575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Shape 123"/>
          <p:cNvSpPr/>
          <p:nvPr/>
        </p:nvSpPr>
        <p:spPr>
          <a:xfrm>
            <a:off x="5773600" y="3255872"/>
            <a:ext cx="260400" cy="1575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/>
          <p:nvPr/>
        </p:nvSpPr>
        <p:spPr>
          <a:xfrm>
            <a:off x="5773560" y="3434776"/>
            <a:ext cx="265024" cy="1575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Shape 125"/>
          <p:cNvSpPr/>
          <p:nvPr/>
        </p:nvSpPr>
        <p:spPr>
          <a:xfrm>
            <a:off x="5773542" y="3619123"/>
            <a:ext cx="301408" cy="1575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Shape 126"/>
          <p:cNvSpPr/>
          <p:nvPr/>
        </p:nvSpPr>
        <p:spPr>
          <a:xfrm>
            <a:off x="5571500" y="4756475"/>
            <a:ext cx="739800" cy="1986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Identifiers</a:t>
            </a:r>
            <a:endParaRPr sz="900"/>
          </a:p>
        </p:txBody>
      </p:sp>
      <p:sp>
        <p:nvSpPr>
          <p:cNvPr id="127" name="Shape 127"/>
          <p:cNvSpPr/>
          <p:nvPr/>
        </p:nvSpPr>
        <p:spPr>
          <a:xfrm>
            <a:off x="6516525" y="4756475"/>
            <a:ext cx="739800" cy="1986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Keywords</a:t>
            </a:r>
            <a:endParaRPr sz="900"/>
          </a:p>
        </p:txBody>
      </p:sp>
      <p:sp>
        <p:nvSpPr>
          <p:cNvPr id="128" name="Shape 128"/>
          <p:cNvSpPr/>
          <p:nvPr/>
        </p:nvSpPr>
        <p:spPr>
          <a:xfrm>
            <a:off x="7410450" y="4756475"/>
            <a:ext cx="801300" cy="1986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Comments</a:t>
            </a:r>
            <a:endParaRPr sz="900"/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C62C1849-8F6B-D967-16D5-DCCB91AC5A7D}"/>
              </a:ext>
            </a:extLst>
          </p:cNvPr>
          <p:cNvCxnSpPr/>
          <p:nvPr/>
        </p:nvCxnSpPr>
        <p:spPr>
          <a:xfrm flipH="1">
            <a:off x="6831800" y="1388286"/>
            <a:ext cx="890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AAD424F5-25D3-7C0A-1392-C62B49C8D59E}"/>
              </a:ext>
            </a:extLst>
          </p:cNvPr>
          <p:cNvSpPr txBox="1"/>
          <p:nvPr/>
        </p:nvSpPr>
        <p:spPr>
          <a:xfrm>
            <a:off x="7811100" y="1235955"/>
            <a:ext cx="1025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注释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EF881AE-9D3A-4E92-C457-40976116ADB2}"/>
              </a:ext>
            </a:extLst>
          </p:cNvPr>
          <p:cNvCxnSpPr/>
          <p:nvPr/>
        </p:nvCxnSpPr>
        <p:spPr>
          <a:xfrm flipV="1">
            <a:off x="5199399" y="2242616"/>
            <a:ext cx="372101" cy="709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DB99457-196D-664E-BBDB-873CCE666C6C}"/>
              </a:ext>
            </a:extLst>
          </p:cNvPr>
          <p:cNvCxnSpPr/>
          <p:nvPr/>
        </p:nvCxnSpPr>
        <p:spPr>
          <a:xfrm flipV="1">
            <a:off x="5166026" y="2434800"/>
            <a:ext cx="607516" cy="517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9F54226-DC30-5DE7-370E-3E9BB8CB76C0}"/>
              </a:ext>
            </a:extLst>
          </p:cNvPr>
          <p:cNvCxnSpPr>
            <a:cxnSpLocks/>
          </p:cNvCxnSpPr>
          <p:nvPr/>
        </p:nvCxnSpPr>
        <p:spPr>
          <a:xfrm flipV="1">
            <a:off x="5199399" y="2609454"/>
            <a:ext cx="574143" cy="334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0C1CF30-DA06-632C-1B1C-4709FF5442A1}"/>
              </a:ext>
            </a:extLst>
          </p:cNvPr>
          <p:cNvCxnSpPr>
            <a:cxnSpLocks/>
          </p:cNvCxnSpPr>
          <p:nvPr/>
        </p:nvCxnSpPr>
        <p:spPr>
          <a:xfrm>
            <a:off x="5199399" y="2952155"/>
            <a:ext cx="574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636E58D-56A0-B457-434B-12F3235E148A}"/>
              </a:ext>
            </a:extLst>
          </p:cNvPr>
          <p:cNvSpPr txBox="1"/>
          <p:nvPr/>
        </p:nvSpPr>
        <p:spPr>
          <a:xfrm>
            <a:off x="4780740" y="293012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关键字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1C9E4EF-4E5F-69F0-0449-2F5D4488441E}"/>
              </a:ext>
            </a:extLst>
          </p:cNvPr>
          <p:cNvCxnSpPr>
            <a:cxnSpLocks/>
          </p:cNvCxnSpPr>
          <p:nvPr/>
        </p:nvCxnSpPr>
        <p:spPr>
          <a:xfrm flipV="1">
            <a:off x="1141497" y="1828800"/>
            <a:ext cx="3897972" cy="1579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Shape 134"/>
          <p:cNvSpPr txBox="1">
            <a:spLocks noGrp="1"/>
          </p:cNvSpPr>
          <p:nvPr>
            <p:ph type="body" idx="2"/>
          </p:nvPr>
        </p:nvSpPr>
        <p:spPr>
          <a:xfrm>
            <a:off x="403225" y="377428"/>
            <a:ext cx="5819700" cy="6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a chip in HDL	</a:t>
            </a:r>
            <a:endParaRPr/>
          </a:p>
        </p:txBody>
      </p:sp>
      <p:sp>
        <p:nvSpPr>
          <p:cNvPr id="135" name="Shape 135"/>
          <p:cNvSpPr txBox="1"/>
          <p:nvPr/>
        </p:nvSpPr>
        <p:spPr>
          <a:xfrm>
            <a:off x="417775" y="1095825"/>
            <a:ext cx="4253100" cy="29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>
              <a:lnSpc>
                <a:spcPct val="115000"/>
              </a:lnSpc>
              <a:spcBef>
                <a:spcPts val="1000"/>
              </a:spcBef>
              <a:buSzPts val="1400"/>
              <a:buChar char="●"/>
            </a:pPr>
            <a:r>
              <a:rPr lang="en-GB" dirty="0"/>
              <a:t>Internal chip parts</a:t>
            </a:r>
            <a:r>
              <a:rPr lang="zh-CN" altLang="en-US" dirty="0"/>
              <a:t>（内部芯片部件）</a:t>
            </a:r>
            <a:endParaRPr dirty="0"/>
          </a:p>
          <a:p>
            <a:pPr marL="914400" marR="0" lvl="1" indent="-2857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Roboto Mono"/>
              <a:buChar char="○"/>
            </a:pPr>
            <a:r>
              <a:rPr lang="en-GB" sz="900" dirty="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parts pin name = chips pin name</a:t>
            </a:r>
            <a:endParaRPr sz="900" dirty="0">
              <a:solidFill>
                <a:schemeClr val="accen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>
              <a:lnSpc>
                <a:spcPct val="115000"/>
              </a:lnSpc>
              <a:spcBef>
                <a:spcPts val="1000"/>
              </a:spcBef>
              <a:buSzPts val="1400"/>
              <a:buChar char="●"/>
            </a:pPr>
            <a:r>
              <a:rPr lang="en-GB" dirty="0"/>
              <a:t>Internal pins</a:t>
            </a:r>
            <a:r>
              <a:rPr lang="zh-CN" altLang="en-US" dirty="0"/>
              <a:t>（内部引脚）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solidFill>
                  <a:schemeClr val="accent2"/>
                </a:solidFill>
              </a:rPr>
              <a:t>Visible only within the chip</a:t>
            </a:r>
            <a:r>
              <a:rPr lang="zh-CN" altLang="en-US" dirty="0">
                <a:solidFill>
                  <a:schemeClr val="accent2"/>
                </a:solidFill>
              </a:rPr>
              <a:t>（芯片内可见）</a:t>
            </a:r>
            <a:endParaRPr dirty="0">
              <a:solidFill>
                <a:schemeClr val="accent2"/>
              </a:solidFill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solidFill>
                  <a:schemeClr val="accent2"/>
                </a:solidFill>
              </a:rPr>
              <a:t>No need to define them</a:t>
            </a:r>
            <a:r>
              <a:rPr lang="en-GB" dirty="0"/>
              <a:t>, they are generated when required</a:t>
            </a:r>
            <a:endParaRPr dirty="0"/>
          </a:p>
        </p:txBody>
      </p:sp>
      <p:sp>
        <p:nvSpPr>
          <p:cNvPr id="136" name="Shape 136"/>
          <p:cNvSpPr txBox="1"/>
          <p:nvPr/>
        </p:nvSpPr>
        <p:spPr>
          <a:xfrm>
            <a:off x="5348975" y="1143750"/>
            <a:ext cx="3424500" cy="3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/**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Xor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gate.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*/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CHIP 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Xor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IN a, b;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OUT 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PARTS: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And (a=a, b=b, out=x);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Or (a=a, b=b, out=y);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Not (in=x, out=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notx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And (a=y, b=</a:t>
            </a:r>
            <a:r>
              <a:rPr lang="en-GB" sz="1200" dirty="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notx</a:t>
            </a: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out=out);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7" name="Shape 137"/>
          <p:cNvSpPr txBox="1"/>
          <p:nvPr/>
        </p:nvSpPr>
        <p:spPr>
          <a:xfrm>
            <a:off x="6468725" y="4366175"/>
            <a:ext cx="1185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Xor.hdl</a:t>
            </a:r>
            <a:endParaRPr/>
          </a:p>
        </p:txBody>
      </p:sp>
      <p:sp>
        <p:nvSpPr>
          <p:cNvPr id="138" name="Shape 138"/>
          <p:cNvSpPr/>
          <p:nvPr/>
        </p:nvSpPr>
        <p:spPr>
          <a:xfrm>
            <a:off x="5850613" y="4756475"/>
            <a:ext cx="739800" cy="198600"/>
          </a:xfrm>
          <a:prstGeom prst="rect">
            <a:avLst/>
          </a:prstGeom>
          <a:noFill/>
          <a:ln w="9525" cap="flat" cmpd="sng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Part pin</a:t>
            </a:r>
            <a:endParaRPr sz="900"/>
          </a:p>
        </p:txBody>
      </p:sp>
      <p:sp>
        <p:nvSpPr>
          <p:cNvPr id="139" name="Shape 139"/>
          <p:cNvSpPr/>
          <p:nvPr/>
        </p:nvSpPr>
        <p:spPr>
          <a:xfrm>
            <a:off x="7370938" y="4756475"/>
            <a:ext cx="900900" cy="19860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Internal pins</a:t>
            </a:r>
            <a:endParaRPr sz="900"/>
          </a:p>
        </p:txBody>
      </p:sp>
      <p:sp>
        <p:nvSpPr>
          <p:cNvPr id="140" name="Shape 140"/>
          <p:cNvSpPr/>
          <p:nvPr/>
        </p:nvSpPr>
        <p:spPr>
          <a:xfrm>
            <a:off x="6439441" y="3280252"/>
            <a:ext cx="123300" cy="14370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Shape 141"/>
          <p:cNvSpPr/>
          <p:nvPr/>
        </p:nvSpPr>
        <p:spPr>
          <a:xfrm>
            <a:off x="6535767" y="3643146"/>
            <a:ext cx="123300" cy="14370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Shape 142"/>
          <p:cNvSpPr/>
          <p:nvPr/>
        </p:nvSpPr>
        <p:spPr>
          <a:xfrm>
            <a:off x="7176155" y="3632599"/>
            <a:ext cx="391981" cy="143056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Shape 146"/>
          <p:cNvSpPr/>
          <p:nvPr/>
        </p:nvSpPr>
        <p:spPr>
          <a:xfrm>
            <a:off x="6255232" y="3272660"/>
            <a:ext cx="123300" cy="151292"/>
          </a:xfrm>
          <a:prstGeom prst="rect">
            <a:avLst/>
          </a:prstGeom>
          <a:noFill/>
          <a:ln w="9525" cap="flat" cmpd="sng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Shape 147"/>
          <p:cNvSpPr/>
          <p:nvPr/>
        </p:nvSpPr>
        <p:spPr>
          <a:xfrm>
            <a:off x="6717582" y="3272664"/>
            <a:ext cx="123300" cy="143700"/>
          </a:xfrm>
          <a:prstGeom prst="rect">
            <a:avLst/>
          </a:prstGeom>
          <a:noFill/>
          <a:ln w="9525" cap="flat" cmpd="sng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Shape 152"/>
          <p:cNvSpPr/>
          <p:nvPr/>
        </p:nvSpPr>
        <p:spPr>
          <a:xfrm>
            <a:off x="6276164" y="3628991"/>
            <a:ext cx="185326" cy="160702"/>
          </a:xfrm>
          <a:prstGeom prst="rect">
            <a:avLst/>
          </a:prstGeom>
          <a:noFill/>
          <a:ln w="9525" cap="flat" cmpd="sng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Shape 154"/>
          <p:cNvSpPr/>
          <p:nvPr/>
        </p:nvSpPr>
        <p:spPr>
          <a:xfrm>
            <a:off x="6807621" y="3639669"/>
            <a:ext cx="284584" cy="143056"/>
          </a:xfrm>
          <a:prstGeom prst="rect">
            <a:avLst/>
          </a:prstGeom>
          <a:noFill/>
          <a:ln w="9525" cap="flat" cmpd="sng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Shape 155"/>
          <p:cNvSpPr/>
          <p:nvPr/>
        </p:nvSpPr>
        <p:spPr>
          <a:xfrm>
            <a:off x="7179932" y="3274928"/>
            <a:ext cx="278733" cy="139012"/>
          </a:xfrm>
          <a:prstGeom prst="rect">
            <a:avLst/>
          </a:prstGeom>
          <a:noFill/>
          <a:ln w="9525" cap="flat" cmpd="sng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Shape 1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sp>
        <p:nvSpPr>
          <p:cNvPr id="26" name="Shape 140"/>
          <p:cNvSpPr/>
          <p:nvPr/>
        </p:nvSpPr>
        <p:spPr>
          <a:xfrm>
            <a:off x="6904883" y="3272664"/>
            <a:ext cx="123300" cy="14370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Shape 140"/>
          <p:cNvSpPr/>
          <p:nvPr/>
        </p:nvSpPr>
        <p:spPr>
          <a:xfrm>
            <a:off x="7537683" y="3264763"/>
            <a:ext cx="123300" cy="14370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Shape 140"/>
          <p:cNvSpPr/>
          <p:nvPr/>
        </p:nvSpPr>
        <p:spPr>
          <a:xfrm>
            <a:off x="6352480" y="3462564"/>
            <a:ext cx="123300" cy="14370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Shape 146"/>
          <p:cNvSpPr/>
          <p:nvPr/>
        </p:nvSpPr>
        <p:spPr>
          <a:xfrm>
            <a:off x="6158712" y="3468422"/>
            <a:ext cx="119858" cy="134591"/>
          </a:xfrm>
          <a:prstGeom prst="rect">
            <a:avLst/>
          </a:prstGeom>
          <a:noFill/>
          <a:ln w="9525" cap="flat" cmpd="sng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Shape 147"/>
          <p:cNvSpPr/>
          <p:nvPr/>
        </p:nvSpPr>
        <p:spPr>
          <a:xfrm>
            <a:off x="6617620" y="3468422"/>
            <a:ext cx="123300" cy="143700"/>
          </a:xfrm>
          <a:prstGeom prst="rect">
            <a:avLst/>
          </a:prstGeom>
          <a:noFill/>
          <a:ln w="9525" cap="flat" cmpd="sng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Shape 155"/>
          <p:cNvSpPr/>
          <p:nvPr/>
        </p:nvSpPr>
        <p:spPr>
          <a:xfrm>
            <a:off x="7092205" y="3462855"/>
            <a:ext cx="278733" cy="139012"/>
          </a:xfrm>
          <a:prstGeom prst="rect">
            <a:avLst/>
          </a:prstGeom>
          <a:noFill/>
          <a:ln w="9525" cap="flat" cmpd="sng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Shape 140"/>
          <p:cNvSpPr/>
          <p:nvPr/>
        </p:nvSpPr>
        <p:spPr>
          <a:xfrm>
            <a:off x="6814830" y="3462564"/>
            <a:ext cx="123300" cy="14370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Shape 140"/>
          <p:cNvSpPr/>
          <p:nvPr/>
        </p:nvSpPr>
        <p:spPr>
          <a:xfrm>
            <a:off x="7444836" y="3454420"/>
            <a:ext cx="123300" cy="14370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Shape 140"/>
          <p:cNvSpPr/>
          <p:nvPr/>
        </p:nvSpPr>
        <p:spPr>
          <a:xfrm>
            <a:off x="6429493" y="3823213"/>
            <a:ext cx="123300" cy="14370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Shape 146"/>
          <p:cNvSpPr/>
          <p:nvPr/>
        </p:nvSpPr>
        <p:spPr>
          <a:xfrm>
            <a:off x="6261350" y="3823213"/>
            <a:ext cx="123300" cy="143700"/>
          </a:xfrm>
          <a:prstGeom prst="rect">
            <a:avLst/>
          </a:prstGeom>
          <a:noFill/>
          <a:ln w="9525" cap="flat" cmpd="sng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Shape 147"/>
          <p:cNvSpPr/>
          <p:nvPr/>
        </p:nvSpPr>
        <p:spPr>
          <a:xfrm>
            <a:off x="6690069" y="3820526"/>
            <a:ext cx="159261" cy="143700"/>
          </a:xfrm>
          <a:prstGeom prst="rect">
            <a:avLst/>
          </a:prstGeom>
          <a:noFill/>
          <a:ln w="9525" cap="flat" cmpd="sng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Shape 155"/>
          <p:cNvSpPr/>
          <p:nvPr/>
        </p:nvSpPr>
        <p:spPr>
          <a:xfrm>
            <a:off x="7458665" y="3835444"/>
            <a:ext cx="288710" cy="139012"/>
          </a:xfrm>
          <a:prstGeom prst="rect">
            <a:avLst/>
          </a:prstGeom>
          <a:noFill/>
          <a:ln w="9525" cap="flat" cmpd="sng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Shape 140"/>
          <p:cNvSpPr/>
          <p:nvPr/>
        </p:nvSpPr>
        <p:spPr>
          <a:xfrm>
            <a:off x="6931018" y="3820526"/>
            <a:ext cx="373278" cy="15393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Shape 140"/>
          <p:cNvSpPr/>
          <p:nvPr/>
        </p:nvSpPr>
        <p:spPr>
          <a:xfrm>
            <a:off x="7839771" y="3830756"/>
            <a:ext cx="296267" cy="14370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A6708E-2E53-FB4E-0B37-1D6FFB02F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62" y="3037800"/>
            <a:ext cx="3493700" cy="19172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87FF67B-032C-968B-9483-77D9F9D3A9A6}"/>
              </a:ext>
            </a:extLst>
          </p:cNvPr>
          <p:cNvSpPr/>
          <p:nvPr/>
        </p:nvSpPr>
        <p:spPr>
          <a:xfrm>
            <a:off x="1141497" y="3598120"/>
            <a:ext cx="2015685" cy="13074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989443-242B-F1DE-AEBB-B0E890B05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469" y="1072168"/>
            <a:ext cx="3301200" cy="1011178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DFF2B56-77FD-5A9E-E013-6E1C856861CA}"/>
              </a:ext>
            </a:extLst>
          </p:cNvPr>
          <p:cNvCxnSpPr/>
          <p:nvPr/>
        </p:nvCxnSpPr>
        <p:spPr>
          <a:xfrm flipV="1">
            <a:off x="3657600" y="1948940"/>
            <a:ext cx="1381869" cy="2417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1">
            <a:extLst>
              <a:ext uri="{FF2B5EF4-FFF2-40B4-BE49-F238E27FC236}">
                <a16:creationId xmlns:a16="http://schemas.microsoft.com/office/drawing/2014/main" id="{BF92B811-CA8F-5C75-CB84-29EBA369B3A2}"/>
              </a:ext>
            </a:extLst>
          </p:cNvPr>
          <p:cNvSpPr txBox="1">
            <a:spLocks/>
          </p:cNvSpPr>
          <p:nvPr/>
        </p:nvSpPr>
        <p:spPr>
          <a:xfrm>
            <a:off x="4405726" y="998428"/>
            <a:ext cx="4066001" cy="383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28600" indent="0"/>
            <a:r>
              <a:rPr lang="en-US" altLang="zh-CN" sz="1600" dirty="0"/>
              <a:t>4. </a:t>
            </a:r>
            <a:r>
              <a:rPr lang="zh-CN" altLang="en-US" sz="1600" dirty="0"/>
              <a:t>在</a:t>
            </a:r>
            <a:r>
              <a:rPr lang="en-US" altLang="zh-CN" sz="1600" dirty="0"/>
              <a:t>Parts:</a:t>
            </a:r>
            <a:r>
              <a:rPr lang="zh-CN" altLang="en-US" sz="1600" dirty="0"/>
              <a:t>里面实现逻辑表达式</a:t>
            </a:r>
            <a:endParaRPr lang="en-US" altLang="zh-CN" sz="1600" dirty="0"/>
          </a:p>
          <a:p>
            <a:pPr marL="228600" indent="0"/>
            <a:endParaRPr lang="en-US" altLang="zh-CN" sz="1600" dirty="0"/>
          </a:p>
          <a:p>
            <a:pPr marL="228600" indent="0"/>
            <a:endParaRPr lang="en-US" altLang="zh-CN" sz="1600" dirty="0"/>
          </a:p>
          <a:p>
            <a:pPr marL="228600" indent="0"/>
            <a:endParaRPr lang="en-US" altLang="zh-CN" sz="1600" dirty="0"/>
          </a:p>
          <a:p>
            <a:pPr marL="228600" indent="0"/>
            <a:r>
              <a:rPr lang="en-US" altLang="zh-CN" sz="1600" dirty="0"/>
              <a:t>5. </a:t>
            </a:r>
            <a:r>
              <a:rPr lang="zh-CN" altLang="en-US" sz="1600" dirty="0"/>
              <a:t>编写</a:t>
            </a:r>
            <a:r>
              <a:rPr lang="en-US" altLang="zh-CN" sz="1600" dirty="0"/>
              <a:t>script</a:t>
            </a:r>
            <a:r>
              <a:rPr lang="zh-CN" altLang="en-US" sz="1600" dirty="0"/>
              <a:t>，测试真值表</a:t>
            </a:r>
            <a:endParaRPr lang="en-US" altLang="zh-CN" sz="1600" dirty="0"/>
          </a:p>
          <a:p>
            <a:pPr marL="571500" indent="-342900">
              <a:buFont typeface="Arial"/>
              <a:buAutoNum type="arabicPeriod" startAt="3"/>
            </a:pPr>
            <a:endParaRPr lang="en-US" altLang="zh-CN" sz="1600" dirty="0"/>
          </a:p>
          <a:p>
            <a:pPr marL="228600" indent="0"/>
            <a:endParaRPr lang="zh-CN" altLang="en-US" sz="1600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D33C116-BF9C-3B05-DEA8-098579A81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725" y="998428"/>
            <a:ext cx="4066001" cy="3835566"/>
          </a:xfrm>
        </p:spPr>
        <p:txBody>
          <a:bodyPr/>
          <a:lstStyle/>
          <a:p>
            <a:pPr marL="742950" indent="-514350">
              <a:buAutoNum type="arabicPeriod"/>
            </a:pPr>
            <a:r>
              <a:rPr lang="zh-CN" altLang="en-US" sz="1600" dirty="0"/>
              <a:t>定义</a:t>
            </a:r>
            <a:r>
              <a:rPr lang="en-US" altLang="zh-CN" sz="1600" dirty="0"/>
              <a:t>chip</a:t>
            </a:r>
            <a:r>
              <a:rPr lang="zh-CN" altLang="en-US" sz="1600" dirty="0"/>
              <a:t>外部的</a:t>
            </a:r>
            <a:r>
              <a:rPr lang="en-US" altLang="zh-CN" sz="1600" dirty="0"/>
              <a:t>input</a:t>
            </a:r>
            <a:r>
              <a:rPr lang="zh-CN" altLang="en-US" sz="1600" dirty="0"/>
              <a:t>和</a:t>
            </a:r>
            <a:r>
              <a:rPr lang="en-US" altLang="zh-CN" sz="1600" dirty="0"/>
              <a:t>output</a:t>
            </a:r>
            <a:r>
              <a:rPr lang="zh-CN" altLang="en-US" sz="1600" dirty="0"/>
              <a:t>引脚</a:t>
            </a:r>
            <a:endParaRPr lang="en-US" altLang="zh-CN" sz="1600" dirty="0"/>
          </a:p>
          <a:p>
            <a:pPr marL="742950" indent="-514350">
              <a:buAutoNum type="arabicPeriod"/>
            </a:pPr>
            <a:endParaRPr lang="en-US" altLang="zh-CN" sz="1600" dirty="0"/>
          </a:p>
          <a:p>
            <a:pPr marL="742950" indent="-514350">
              <a:buAutoNum type="arabicPeriod"/>
            </a:pPr>
            <a:endParaRPr lang="en-US" altLang="zh-CN" sz="1600" dirty="0"/>
          </a:p>
          <a:p>
            <a:pPr marL="742950" indent="-514350">
              <a:buAutoNum type="arabicPeriod"/>
            </a:pPr>
            <a:r>
              <a:rPr lang="zh-CN" altLang="en-US" sz="1600" dirty="0"/>
              <a:t>写出</a:t>
            </a:r>
            <a:r>
              <a:rPr lang="en-US" altLang="zh-CN" sz="1600" dirty="0"/>
              <a:t>Chip</a:t>
            </a:r>
            <a:r>
              <a:rPr lang="zh-CN" altLang="en-US" sz="1600" dirty="0"/>
              <a:t>的真值表、</a:t>
            </a:r>
            <a:r>
              <a:rPr lang="en-US" altLang="zh-CN" sz="1600" dirty="0"/>
              <a:t>DNF/CNF</a:t>
            </a:r>
          </a:p>
          <a:p>
            <a:pPr marL="742950" indent="-514350">
              <a:buAutoNum type="arabicPeriod"/>
            </a:pPr>
            <a:endParaRPr lang="en-US" altLang="zh-CN" sz="1600" dirty="0"/>
          </a:p>
          <a:p>
            <a:pPr marL="742950" indent="-514350">
              <a:buAutoNum type="arabicPeriod"/>
            </a:pPr>
            <a:endParaRPr lang="en-US" altLang="zh-CN" sz="1600" dirty="0"/>
          </a:p>
          <a:p>
            <a:pPr marL="742950" indent="-514350">
              <a:buAutoNum type="arabicPeriod"/>
            </a:pPr>
            <a:endParaRPr lang="en-US" altLang="zh-CN" sz="1600" dirty="0"/>
          </a:p>
          <a:p>
            <a:pPr marL="742950" indent="-514350">
              <a:buAutoNum type="arabicPeriod"/>
            </a:pPr>
            <a:endParaRPr lang="en-US" altLang="zh-CN" sz="1600" dirty="0"/>
          </a:p>
          <a:p>
            <a:pPr marL="571500" indent="-342900">
              <a:buAutoNum type="arabicPeriod" startAt="3"/>
            </a:pPr>
            <a:r>
              <a:rPr lang="zh-CN" altLang="en-US" sz="1600" dirty="0"/>
              <a:t>用</a:t>
            </a:r>
            <a:r>
              <a:rPr lang="en-US" altLang="zh-CN" sz="1600" dirty="0" err="1"/>
              <a:t>Kmap</a:t>
            </a:r>
            <a:r>
              <a:rPr lang="zh-CN" altLang="en-US" sz="1600" dirty="0"/>
              <a:t>化简逻辑表达式（选</a:t>
            </a:r>
            <a:r>
              <a:rPr lang="en-US" altLang="zh-CN" sz="1600" dirty="0"/>
              <a:t>DNF</a:t>
            </a:r>
            <a:r>
              <a:rPr lang="zh-CN" altLang="en-US" sz="1600" dirty="0"/>
              <a:t>还是</a:t>
            </a:r>
            <a:r>
              <a:rPr lang="en-US" altLang="zh-CN" sz="1600" dirty="0"/>
              <a:t>CNF</a:t>
            </a:r>
            <a:r>
              <a:rPr lang="zh-CN" altLang="en-US" sz="1600" dirty="0"/>
              <a:t>，主要看哪个更简单）</a:t>
            </a:r>
            <a:endParaRPr lang="en-US" altLang="zh-CN" sz="1600" dirty="0"/>
          </a:p>
          <a:p>
            <a:pPr marL="228600" indent="0"/>
            <a:endParaRPr lang="en-US" altLang="zh-CN" sz="1600" dirty="0"/>
          </a:p>
          <a:p>
            <a:pPr marL="228600" indent="0"/>
            <a:endParaRPr lang="zh-CN" altLang="en-US" sz="16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F4FC8A-E15E-5FF9-45E1-2909A4B5E08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/>
                </a:solidFill>
              </a:rPr>
              <a:t>如何设计一个</a:t>
            </a:r>
            <a:r>
              <a:rPr lang="en-US" altLang="zh-CN" dirty="0">
                <a:solidFill>
                  <a:schemeClr val="accent2"/>
                </a:solidFill>
              </a:rPr>
              <a:t>Chip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14BF04-8F9D-006E-2338-2998F82BC6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12</a:t>
            </a:fld>
            <a:endParaRPr lang="en-GB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6FCF889-9342-1DD5-AE4A-ECF570A31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301" y="1484250"/>
            <a:ext cx="1079479" cy="63202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17DA9AA-4251-40E6-8E2C-A6E5953DD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773" y="2521636"/>
            <a:ext cx="3301200" cy="1011178"/>
          </a:xfrm>
          <a:prstGeom prst="rect">
            <a:avLst/>
          </a:prstGeom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F7B1FD39-DE4B-48B6-E2A8-72D7B067A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5726" y="1420724"/>
            <a:ext cx="2097425" cy="11510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4FEBFD4-515A-9070-B341-B40BF7789B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3145" y="2965551"/>
            <a:ext cx="2153795" cy="19811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A0A8BE1-46D4-658B-A71C-785A5CC196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151" y="1544561"/>
            <a:ext cx="2522107" cy="90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360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FFD849DB-2FE9-AE45-FF35-1B5429F7C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>
            <a:extLst>
              <a:ext uri="{FF2B5EF4-FFF2-40B4-BE49-F238E27FC236}">
                <a16:creationId xmlns:a16="http://schemas.microsoft.com/office/drawing/2014/main" id="{3445DD83-1565-3DD1-6D76-17844ABFB93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92543" y="297311"/>
            <a:ext cx="5819700" cy="6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/>
              <a:t>Hardware Simulator</a:t>
            </a:r>
            <a:endParaRPr dirty="0"/>
          </a:p>
        </p:txBody>
      </p:sp>
      <p:sp>
        <p:nvSpPr>
          <p:cNvPr id="183" name="Shape 183">
            <a:extLst>
              <a:ext uri="{FF2B5EF4-FFF2-40B4-BE49-F238E27FC236}">
                <a16:creationId xmlns:a16="http://schemas.microsoft.com/office/drawing/2014/main" id="{DA79F285-2C0E-B3E8-81E3-38F5CD2E66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56784-8302-B021-FB93-ED9E2E20A4EC}"/>
              </a:ext>
            </a:extLst>
          </p:cNvPr>
          <p:cNvSpPr txBox="1"/>
          <p:nvPr/>
        </p:nvSpPr>
        <p:spPr>
          <a:xfrm>
            <a:off x="393071" y="1445927"/>
            <a:ext cx="80243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your web Browser </a:t>
            </a:r>
            <a:r>
              <a:rPr lang="en-GB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goto</a:t>
            </a:r>
            <a:r>
              <a:rPr lang="en-GB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20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https://nand2tetris.github.io/web-ide/chip/</a:t>
            </a:r>
            <a:r>
              <a:rPr lang="en-GB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launch the</a:t>
            </a:r>
            <a:r>
              <a:rPr lang="en-GB" sz="2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20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new Integrated Development Environment for Nand2Tetris.</a:t>
            </a:r>
            <a:endParaRPr lang="en-GB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20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en-GB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766D0B-2283-09BE-EA0A-6DEC50256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389" y="2234653"/>
            <a:ext cx="4783645" cy="26884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658F68-806D-D0B4-728E-F0EB14F1D8D6}"/>
              </a:ext>
            </a:extLst>
          </p:cNvPr>
          <p:cNvSpPr txBox="1"/>
          <p:nvPr/>
        </p:nvSpPr>
        <p:spPr>
          <a:xfrm>
            <a:off x="395243" y="1070895"/>
            <a:ext cx="726392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aseline="0" dirty="0">
                <a:latin typeface="Calibri"/>
              </a:rPr>
              <a:t>(Works in Chrome or Edge not </a:t>
            </a:r>
            <a:r>
              <a:rPr lang="en-GB" sz="2400" baseline="0" dirty="0" err="1">
                <a:latin typeface="Calibri"/>
              </a:rPr>
              <a:t>FireFox</a:t>
            </a:r>
            <a:r>
              <a:rPr lang="en-GB" sz="2400" baseline="0" dirty="0">
                <a:latin typeface="Calibri"/>
              </a:rPr>
              <a:t>)</a:t>
            </a:r>
            <a:r>
              <a:rPr sz="2400" dirty="0">
                <a:latin typeface="Calibri"/>
                <a:ea typeface="Calibri"/>
                <a:cs typeface="Calibri"/>
              </a:rPr>
              <a:t>​</a:t>
            </a:r>
            <a:endParaRPr lang="en-GB" sz="2400" dirty="0"/>
          </a:p>
          <a:p>
            <a:pPr algn="ctr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0B774D-6813-982E-B4C4-BA2B477E7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9695" y="2748514"/>
            <a:ext cx="1887682" cy="18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986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40B6F2-107C-3BB3-B127-A2A120695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4" y="1082889"/>
            <a:ext cx="6766891" cy="378411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F0B22-DA89-8401-1936-A78087905F7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Interactive 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9AE52-5477-85F1-DA29-3016D99EF1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14</a:t>
            </a:fld>
            <a:endParaRPr lang="en-GB"/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FF4FDDF9-BB86-4A67-22FA-A7225D0246F2}"/>
              </a:ext>
            </a:extLst>
          </p:cNvPr>
          <p:cNvSpPr/>
          <p:nvPr/>
        </p:nvSpPr>
        <p:spPr>
          <a:xfrm>
            <a:off x="2541043" y="2856706"/>
            <a:ext cx="1004485" cy="427611"/>
          </a:xfrm>
          <a:prstGeom prst="wedgeRoundRectCallout">
            <a:avLst>
              <a:gd name="adj1" fmla="val -39596"/>
              <a:gd name="adj2" fmla="val -96024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tlCol="0" anchor="ctr" anchorCtr="0"/>
          <a:lstStyle/>
          <a:p>
            <a:pPr algn="ctr">
              <a:buSzPct val="100000"/>
            </a:pPr>
            <a:r>
              <a:rPr lang="en-US" sz="1400">
                <a:solidFill>
                  <a:srgbClr val="000000"/>
                </a:solidFill>
                <a:latin typeface="Times New Roman"/>
                <a:cs typeface="Times New Roman"/>
              </a:rPr>
              <a:t>HDL code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173A4E-82FE-F857-EAAF-E9F0CA629B12}"/>
              </a:ext>
            </a:extLst>
          </p:cNvPr>
          <p:cNvGrpSpPr/>
          <p:nvPr/>
        </p:nvGrpSpPr>
        <p:grpSpPr>
          <a:xfrm>
            <a:off x="3581142" y="1589820"/>
            <a:ext cx="2156484" cy="1209819"/>
            <a:chOff x="653582" y="2331246"/>
            <a:chExt cx="2259453" cy="1435620"/>
          </a:xfrm>
        </p:grpSpPr>
        <p:sp>
          <p:nvSpPr>
            <p:cNvPr id="10" name="Rounded Rectangular Callout 9">
              <a:extLst>
                <a:ext uri="{FF2B5EF4-FFF2-40B4-BE49-F238E27FC236}">
                  <a16:creationId xmlns:a16="http://schemas.microsoft.com/office/drawing/2014/main" id="{996935EE-324E-3D13-5741-7420928E4B2D}"/>
                </a:ext>
              </a:extLst>
            </p:cNvPr>
            <p:cNvSpPr/>
            <p:nvPr/>
          </p:nvSpPr>
          <p:spPr>
            <a:xfrm>
              <a:off x="653582" y="3176868"/>
              <a:ext cx="1243992" cy="589998"/>
            </a:xfrm>
            <a:prstGeom prst="wedgeRoundRectCallout">
              <a:avLst>
                <a:gd name="adj1" fmla="val 98993"/>
                <a:gd name="adj2" fmla="val -135767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tlCol="0" anchor="ctr" anchorCtr="0"/>
            <a:lstStyle/>
            <a:p>
              <a:pPr algn="ctr">
                <a:buSzPct val="100000"/>
              </a:pPr>
              <a:r>
                <a:rPr lang="en-US" sz="1400">
                  <a:solidFill>
                    <a:srgbClr val="000000"/>
                  </a:solidFill>
                  <a:latin typeface="Times New Roman"/>
                  <a:cs typeface="Times New Roman"/>
                </a:rPr>
                <a:t>2. manipulate</a:t>
              </a:r>
            </a:p>
            <a:p>
              <a:pPr algn="ctr">
                <a:buSzPct val="100000"/>
              </a:pPr>
              <a:r>
                <a:rPr lang="en-US" sz="1400">
                  <a:solidFill>
                    <a:srgbClr val="000000"/>
                  </a:solidFill>
                  <a:latin typeface="Times New Roman"/>
                  <a:cs typeface="Times New Roman"/>
                </a:rPr>
                <a:t>input pins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0FDB6C-75DA-B582-F8DE-03C3CD502567}"/>
                </a:ext>
              </a:extLst>
            </p:cNvPr>
            <p:cNvSpPr/>
            <p:nvPr/>
          </p:nvSpPr>
          <p:spPr>
            <a:xfrm>
              <a:off x="2460809" y="2331246"/>
              <a:ext cx="452226" cy="619436"/>
            </a:xfrm>
            <a:prstGeom prst="ellipse">
              <a:avLst/>
            </a:prstGeom>
            <a:noFill/>
            <a:ln w="25400"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algn="r" defTabSz="914400" rtl="1" eaLnBrk="1" latinLnBrk="0" hangingPunct="1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0D24C0-C18B-C8B4-F70D-17F6A596C80D}"/>
              </a:ext>
            </a:extLst>
          </p:cNvPr>
          <p:cNvGrpSpPr/>
          <p:nvPr/>
        </p:nvGrpSpPr>
        <p:grpSpPr>
          <a:xfrm>
            <a:off x="5253740" y="2111829"/>
            <a:ext cx="1872633" cy="811910"/>
            <a:chOff x="4269684" y="2498073"/>
            <a:chExt cx="2002048" cy="998618"/>
          </a:xfrm>
        </p:grpSpPr>
        <p:sp>
          <p:nvSpPr>
            <p:cNvPr id="13" name="Rounded Rectangular Callout 12">
              <a:extLst>
                <a:ext uri="{FF2B5EF4-FFF2-40B4-BE49-F238E27FC236}">
                  <a16:creationId xmlns:a16="http://schemas.microsoft.com/office/drawing/2014/main" id="{229D1DD8-DE2A-C466-A952-CF6B4FB947BA}"/>
                </a:ext>
              </a:extLst>
            </p:cNvPr>
            <p:cNvSpPr/>
            <p:nvPr/>
          </p:nvSpPr>
          <p:spPr>
            <a:xfrm>
              <a:off x="5119077" y="2916410"/>
              <a:ext cx="1152655" cy="580281"/>
            </a:xfrm>
            <a:prstGeom prst="wedgeRoundRectCallout">
              <a:avLst>
                <a:gd name="adj1" fmla="val -83758"/>
                <a:gd name="adj2" fmla="val -63010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tlCol="0" anchor="ctr" anchorCtr="0"/>
            <a:lstStyle/>
            <a:p>
              <a:pPr algn="ctr">
                <a:buSzPct val="100000"/>
              </a:pPr>
              <a:r>
                <a:rPr lang="en-US" sz="1400">
                  <a:solidFill>
                    <a:srgbClr val="000000"/>
                  </a:solidFill>
                  <a:latin typeface="Times New Roman"/>
                  <a:cs typeface="Times New Roman"/>
                </a:rPr>
                <a:t>4. inspect</a:t>
              </a:r>
              <a:br>
                <a:rPr lang="en-US" sz="1400">
                  <a:solidFill>
                    <a:srgbClr val="000000"/>
                  </a:solidFill>
                  <a:latin typeface="Times New Roman"/>
                  <a:cs typeface="Times New Roman"/>
                </a:rPr>
              </a:br>
              <a:r>
                <a:rPr lang="en-US" sz="1400">
                  <a:solidFill>
                    <a:srgbClr val="000000"/>
                  </a:solidFill>
                  <a:latin typeface="Times New Roman"/>
                  <a:cs typeface="Times New Roman"/>
                </a:rPr>
                <a:t>output pins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7099C12-7A38-F028-83FE-EC4555BF05D3}"/>
                </a:ext>
              </a:extLst>
            </p:cNvPr>
            <p:cNvSpPr/>
            <p:nvPr/>
          </p:nvSpPr>
          <p:spPr>
            <a:xfrm>
              <a:off x="4269684" y="2498073"/>
              <a:ext cx="502785" cy="424350"/>
            </a:xfrm>
            <a:prstGeom prst="ellipse">
              <a:avLst/>
            </a:prstGeom>
            <a:noFill/>
            <a:ln w="25400"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algn="r" defTabSz="914400" rtl="1" eaLnBrk="1" latinLnBrk="0" hangingPunct="1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E84F538-4DA2-A55E-CF1D-00EF8AB5D95E}"/>
              </a:ext>
            </a:extLst>
          </p:cNvPr>
          <p:cNvGrpSpPr/>
          <p:nvPr/>
        </p:nvGrpSpPr>
        <p:grpSpPr>
          <a:xfrm>
            <a:off x="5249987" y="2485551"/>
            <a:ext cx="1937441" cy="1163757"/>
            <a:chOff x="4292274" y="4484550"/>
            <a:chExt cx="2096362" cy="1748839"/>
          </a:xfrm>
        </p:grpSpPr>
        <p:sp>
          <p:nvSpPr>
            <p:cNvPr id="16" name="Rounded Rectangular Callout 15">
              <a:extLst>
                <a:ext uri="{FF2B5EF4-FFF2-40B4-BE49-F238E27FC236}">
                  <a16:creationId xmlns:a16="http://schemas.microsoft.com/office/drawing/2014/main" id="{3B66D0C0-AE5C-BA4E-4DA0-EBF47707F207}"/>
                </a:ext>
              </a:extLst>
            </p:cNvPr>
            <p:cNvSpPr/>
            <p:nvPr/>
          </p:nvSpPr>
          <p:spPr>
            <a:xfrm>
              <a:off x="5155993" y="5706969"/>
              <a:ext cx="1232643" cy="526420"/>
            </a:xfrm>
            <a:prstGeom prst="wedgeRoundRectCallout">
              <a:avLst>
                <a:gd name="adj1" fmla="val -90791"/>
                <a:gd name="adj2" fmla="val -125751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tlCol="0" anchor="ctr" anchorCtr="0"/>
            <a:lstStyle/>
            <a:p>
              <a:pPr algn="ctr">
                <a:buSzPct val="100000"/>
              </a:pPr>
              <a:r>
                <a:rPr lang="en-US" sz="1400">
                  <a:solidFill>
                    <a:srgbClr val="000000"/>
                  </a:solidFill>
                  <a:latin typeface="Times New Roman"/>
                  <a:cs typeface="Times New Roman"/>
                </a:rPr>
                <a:t>5. inspect</a:t>
              </a:r>
              <a:br>
                <a:rPr lang="en-US" sz="1400">
                  <a:solidFill>
                    <a:srgbClr val="000000"/>
                  </a:solidFill>
                  <a:latin typeface="Times New Roman"/>
                  <a:cs typeface="Times New Roman"/>
                </a:rPr>
              </a:br>
              <a:r>
                <a:rPr lang="en-US" sz="1400">
                  <a:solidFill>
                    <a:srgbClr val="000000"/>
                  </a:solidFill>
                  <a:latin typeface="Times New Roman"/>
                  <a:cs typeface="Times New Roman"/>
                </a:rPr>
                <a:t>internal pins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A2F6CCF-4979-AFF1-F09E-8C7AF874FEB2}"/>
                </a:ext>
              </a:extLst>
            </p:cNvPr>
            <p:cNvSpPr/>
            <p:nvPr/>
          </p:nvSpPr>
          <p:spPr>
            <a:xfrm>
              <a:off x="4292274" y="4484550"/>
              <a:ext cx="527638" cy="832985"/>
            </a:xfrm>
            <a:prstGeom prst="ellipse">
              <a:avLst/>
            </a:prstGeom>
            <a:noFill/>
            <a:ln w="25400"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algn="r" defTabSz="914400" rtl="1" eaLnBrk="1" latinLnBrk="0" hangingPunct="1"/>
              <a:endParaRPr lang="en-US"/>
            </a:p>
          </p:txBody>
        </p:sp>
      </p:grpSp>
      <p:sp>
        <p:nvSpPr>
          <p:cNvPr id="18" name="Rounded Rectangular Callout 17">
            <a:extLst>
              <a:ext uri="{FF2B5EF4-FFF2-40B4-BE49-F238E27FC236}">
                <a16:creationId xmlns:a16="http://schemas.microsoft.com/office/drawing/2014/main" id="{44ED9033-9F2E-5D6A-793D-137CB354F0C8}"/>
              </a:ext>
            </a:extLst>
          </p:cNvPr>
          <p:cNvSpPr/>
          <p:nvPr/>
        </p:nvSpPr>
        <p:spPr>
          <a:xfrm>
            <a:off x="6222925" y="1801234"/>
            <a:ext cx="1583461" cy="522008"/>
          </a:xfrm>
          <a:prstGeom prst="wedgeRoundRectCallout">
            <a:avLst>
              <a:gd name="adj1" fmla="val -29340"/>
              <a:gd name="adj2" fmla="val -107904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46800" rtlCol="0" anchor="t" anchorCtr="0"/>
          <a:lstStyle/>
          <a:p>
            <a:pPr algn="ctr">
              <a:spcBef>
                <a:spcPts val="1200"/>
              </a:spcBef>
              <a:buSzPct val="100000"/>
            </a:pPr>
            <a:r>
              <a:rPr lang="en-US" sz="1400">
                <a:solidFill>
                  <a:srgbClr val="000000"/>
                </a:solidFill>
                <a:latin typeface="Times New Roman"/>
                <a:cs typeface="Times New Roman"/>
              </a:rPr>
              <a:t>3. evaluate the chip logic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813BA65-9436-942C-257E-8E1CDF3C3FDB}"/>
              </a:ext>
            </a:extLst>
          </p:cNvPr>
          <p:cNvSpPr/>
          <p:nvPr/>
        </p:nvSpPr>
        <p:spPr>
          <a:xfrm>
            <a:off x="6392365" y="1294814"/>
            <a:ext cx="372142" cy="427612"/>
          </a:xfrm>
          <a:prstGeom prst="ellipse">
            <a:avLst/>
          </a:prstGeom>
          <a:noFill/>
          <a:ln w="25400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algn="l" defTabSz="914400" rtl="0" eaLnBrk="1" latinLnBrk="0" hangingPunct="1"/>
            <a:endParaRPr lang="en-US"/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3DCAD4E5-7028-CC8A-C64E-0B560FF17CF8}"/>
              </a:ext>
            </a:extLst>
          </p:cNvPr>
          <p:cNvSpPr/>
          <p:nvPr/>
        </p:nvSpPr>
        <p:spPr>
          <a:xfrm>
            <a:off x="2940971" y="1631909"/>
            <a:ext cx="1219416" cy="427612"/>
          </a:xfrm>
          <a:prstGeom prst="wedgeRoundRectCallout">
            <a:avLst>
              <a:gd name="adj1" fmla="val 114744"/>
              <a:gd name="adj2" fmla="val -82649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tlCol="0" anchor="ctr" anchorCtr="0"/>
          <a:lstStyle/>
          <a:p>
            <a:pPr>
              <a:buSzPct val="100000"/>
            </a:pPr>
            <a:r>
              <a:rPr lang="en-US" sz="1400">
                <a:solidFill>
                  <a:srgbClr val="000000"/>
                </a:solidFill>
                <a:latin typeface="Times New Roman"/>
                <a:cs typeface="Times New Roman"/>
              </a:rPr>
              <a:t>1. Load an HDL program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E8E7507-7A32-CE2F-5C7A-F8CE1E5E240B}"/>
              </a:ext>
            </a:extLst>
          </p:cNvPr>
          <p:cNvSpPr/>
          <p:nvPr/>
        </p:nvSpPr>
        <p:spPr>
          <a:xfrm>
            <a:off x="4738677" y="1319708"/>
            <a:ext cx="396187" cy="372879"/>
          </a:xfrm>
          <a:prstGeom prst="ellipse">
            <a:avLst/>
          </a:prstGeom>
          <a:noFill/>
          <a:ln w="25400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algn="l" defTabSz="914400" rtl="0" eaLnBrk="1" latinLnBrk="0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5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body" idx="2"/>
          </p:nvPr>
        </p:nvSpPr>
        <p:spPr>
          <a:xfrm>
            <a:off x="403225" y="377428"/>
            <a:ext cx="5819700" cy="6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Hardware Simulator</a:t>
            </a:r>
            <a:endParaRPr/>
          </a:p>
        </p:txBody>
      </p:sp>
      <p:sp>
        <p:nvSpPr>
          <p:cNvPr id="183" name="Shape 1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E841A-8989-F683-6694-32AB3CF23AB0}"/>
              </a:ext>
            </a:extLst>
          </p:cNvPr>
          <p:cNvSpPr txBox="1"/>
          <p:nvPr/>
        </p:nvSpPr>
        <p:spPr>
          <a:xfrm>
            <a:off x="403225" y="1125200"/>
            <a:ext cx="4572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默认情况下，此设置仅允许您处理与本书相关的项目，但我们可以更改此设置，以允许我们也处理自己的项目。</a:t>
            </a:r>
            <a:endParaRPr lang="en-GB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4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GB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4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do this </a:t>
            </a:r>
            <a:endParaRPr lang="en-GB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Click settings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Click Select projects folder and select or create the folder wish to store your projects in.</a:t>
            </a:r>
            <a:r>
              <a:rPr lang="zh-CN" altLang="en-US" dirty="0"/>
              <a:t>这应该是您下载</a:t>
            </a:r>
            <a:r>
              <a:rPr lang="en-US" altLang="zh-CN" dirty="0"/>
              <a:t>COMP1860</a:t>
            </a:r>
            <a:r>
              <a:rPr lang="zh-CN" altLang="en-US" dirty="0"/>
              <a:t>第一学期文件的文件夹</a:t>
            </a: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Close Settings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不幸的是，您不能在模拟器中从头开始创建新文件，文件必须已经存在于您的文件夹中</a:t>
            </a: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GB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zh-CN" altLang="en-US" dirty="0"/>
              <a:t>要直接打开</a:t>
            </a:r>
            <a:r>
              <a:rPr lang="en-US" altLang="zh-CN" dirty="0"/>
              <a:t>HDL</a:t>
            </a:r>
            <a:r>
              <a:rPr lang="zh-CN" altLang="en-US" dirty="0"/>
              <a:t>文件，您现在可以选择文件夹符号</a:t>
            </a:r>
            <a:r>
              <a:rPr lang="en-GB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17ECB1-44EB-166C-CBCA-DAAB6BB70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487" y="1356615"/>
            <a:ext cx="3113692" cy="323182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D7F1DD7-B0F2-1979-C723-643026BCFD8F}"/>
              </a:ext>
            </a:extLst>
          </p:cNvPr>
          <p:cNvSpPr/>
          <p:nvPr/>
        </p:nvSpPr>
        <p:spPr>
          <a:xfrm>
            <a:off x="6147175" y="2391730"/>
            <a:ext cx="2004004" cy="31503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99C4C2A7-2731-C67F-776B-3150BAB58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1663" y="2092159"/>
            <a:ext cx="4191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0B4B44-A694-92C0-5694-0B47E51E1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724" y="1321594"/>
            <a:ext cx="8217059" cy="3512400"/>
          </a:xfrm>
        </p:spPr>
        <p:txBody>
          <a:bodyPr/>
          <a:lstStyle/>
          <a:p>
            <a:pPr marL="228600" indent="0"/>
            <a:r>
              <a:rPr lang="en-US" sz="2000" dirty="0">
                <a:solidFill>
                  <a:schemeClr val="accent2"/>
                </a:solidFill>
              </a:rPr>
              <a:t>You can obtain the files you need from Minerva, under Learning Resources.</a:t>
            </a:r>
          </a:p>
          <a:p>
            <a:pPr marL="228600" indent="0"/>
            <a:r>
              <a:rPr lang="en-US" sz="2000" dirty="0">
                <a:solidFill>
                  <a:schemeClr val="accent2"/>
                </a:solidFill>
              </a:rPr>
              <a:t>The files required for each week can be found in the folder for that week</a:t>
            </a:r>
            <a:r>
              <a:rPr lang="en-US" sz="2000" dirty="0"/>
              <a:t>.</a:t>
            </a:r>
          </a:p>
          <a:p>
            <a:pPr marL="228600" indent="0"/>
            <a:endParaRPr lang="en-US" sz="2000" dirty="0"/>
          </a:p>
          <a:p>
            <a:pPr marL="228600" indent="0"/>
            <a:r>
              <a:rPr lang="en-US" sz="2000" dirty="0"/>
              <a:t>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767FA-08BF-ACF4-5CDC-010D20FF944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Obtaining the COMP1860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DDA52-61C1-39C7-4B57-AA74EB9C86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129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E3CE02-4D35-D9C2-70F1-19DFB9FA0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23" y="911690"/>
            <a:ext cx="7559700" cy="3512400"/>
          </a:xfrm>
        </p:spPr>
        <p:txBody>
          <a:bodyPr/>
          <a:lstStyle/>
          <a:p>
            <a:pPr marL="228600" indent="0"/>
            <a:r>
              <a:rPr lang="en-US" sz="2000" dirty="0"/>
              <a:t>Create an HDL file for the following circuit.</a:t>
            </a:r>
          </a:p>
          <a:p>
            <a:pPr marL="228600" indent="0"/>
            <a:endParaRPr lang="en-US" sz="2000" dirty="0"/>
          </a:p>
          <a:p>
            <a:pPr marL="228600" indent="0"/>
            <a:endParaRPr lang="en-US" sz="1200" dirty="0"/>
          </a:p>
          <a:p>
            <a:pPr marL="228600" indent="0"/>
            <a:endParaRPr lang="en-US" sz="1200" dirty="0"/>
          </a:p>
          <a:p>
            <a:pPr marL="228600" indent="0"/>
            <a:r>
              <a:rPr lang="en-US" sz="2000" dirty="0"/>
              <a:t>The chip should be </a:t>
            </a:r>
            <a:r>
              <a:rPr lang="en-US" sz="2000" dirty="0">
                <a:solidFill>
                  <a:schemeClr val="accent2"/>
                </a:solidFill>
              </a:rPr>
              <a:t>called </a:t>
            </a:r>
            <a:r>
              <a:rPr lang="en-US" sz="2000" b="1" i="1" dirty="0">
                <a:solidFill>
                  <a:schemeClr val="accent2"/>
                </a:solidFill>
              </a:rPr>
              <a:t>first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/>
              <a:t>and therefore the </a:t>
            </a:r>
            <a:r>
              <a:rPr lang="en-US" sz="2000" dirty="0">
                <a:solidFill>
                  <a:schemeClr val="accent2"/>
                </a:solidFill>
              </a:rPr>
              <a:t>filename </a:t>
            </a:r>
            <a:r>
              <a:rPr lang="en-US" sz="2000" b="1" dirty="0">
                <a:solidFill>
                  <a:schemeClr val="accent2"/>
                </a:solidFill>
              </a:rPr>
              <a:t>must </a:t>
            </a:r>
            <a:r>
              <a:rPr lang="en-US" sz="2000" dirty="0">
                <a:solidFill>
                  <a:schemeClr val="accent2"/>
                </a:solidFill>
              </a:rPr>
              <a:t>be </a:t>
            </a:r>
            <a:r>
              <a:rPr lang="en-US" sz="2000" b="1" i="1" dirty="0" err="1">
                <a:solidFill>
                  <a:schemeClr val="accent2"/>
                </a:solidFill>
              </a:rPr>
              <a:t>first.hdl</a:t>
            </a:r>
            <a:r>
              <a:rPr lang="en-US" sz="2000" b="1" i="1" dirty="0"/>
              <a:t>. </a:t>
            </a:r>
            <a:r>
              <a:rPr lang="en-US" sz="2000" dirty="0"/>
              <a:t>We have provided an empty file for you with the correct name. </a:t>
            </a:r>
            <a:r>
              <a:rPr lang="en-US" sz="2000" b="1" dirty="0"/>
              <a:t>The case of the letters matters. </a:t>
            </a:r>
            <a:r>
              <a:rPr lang="en-US" sz="2000" b="1" dirty="0">
                <a:solidFill>
                  <a:schemeClr val="accent2"/>
                </a:solidFill>
              </a:rPr>
              <a:t>The filename and chip name must match exactly</a:t>
            </a:r>
            <a:r>
              <a:rPr lang="en-US" sz="2000" b="1" dirty="0"/>
              <a:t>.</a:t>
            </a:r>
          </a:p>
          <a:p>
            <a:pPr marL="228600" indent="0"/>
            <a:r>
              <a:rPr lang="en-US" sz="2000" dirty="0"/>
              <a:t>Click on the folder symbol to open the file </a:t>
            </a:r>
            <a:r>
              <a:rPr lang="en-US" sz="2000" b="1" dirty="0" err="1"/>
              <a:t>first.hdl</a:t>
            </a:r>
            <a:r>
              <a:rPr lang="en-US" sz="2000" b="1" dirty="0"/>
              <a:t> </a:t>
            </a:r>
            <a:r>
              <a:rPr lang="en-US" sz="2000" dirty="0"/>
              <a:t>and then add the contents for your HDL in the HDL window in the simulator.</a:t>
            </a:r>
            <a:endParaRPr lang="en-US" sz="2000" b="1" dirty="0"/>
          </a:p>
          <a:p>
            <a:pPr marL="228600" indent="0"/>
            <a:r>
              <a:rPr lang="en-US" sz="1600" dirty="0"/>
              <a:t>If you prefer, you can also create and edit files in a text editor such as Visual Studio Code.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34781-8C08-2D36-C0B9-B5845E0F708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Your turn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576A6-545A-6176-5982-D04D83D092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E9F899-FB6D-6FFB-C3E7-9057A4522D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68" t="11341" r="25981" b="78500"/>
          <a:stretch>
            <a:fillRect/>
          </a:stretch>
        </p:blipFill>
        <p:spPr>
          <a:xfrm>
            <a:off x="1242770" y="1266605"/>
            <a:ext cx="3555395" cy="105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23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BFD2A-E416-9675-1934-555098367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456D7E-13C8-F692-749E-03A3030E5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773" y="998428"/>
            <a:ext cx="6644050" cy="3878372"/>
          </a:xfrm>
        </p:spPr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zh-CN" altLang="en-US" sz="1800" dirty="0"/>
              <a:t>一旦你创建了</a:t>
            </a:r>
            <a:r>
              <a:rPr lang="en-US" altLang="zh-CN" sz="1800" dirty="0"/>
              <a:t>HDL</a:t>
            </a:r>
            <a:r>
              <a:rPr lang="zh-CN" altLang="en-US" sz="1800" dirty="0"/>
              <a:t>代码，我们需要测试你的芯片是否在模拟中工作。</a:t>
            </a:r>
            <a:endParaRPr lang="en-US" altLang="zh-CN" sz="1800" dirty="0"/>
          </a:p>
          <a:p>
            <a:pPr marL="228600" indent="0"/>
            <a:endParaRPr lang="zh-CN" altLang="en-US" sz="180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zh-CN" altLang="en-US" sz="1800" dirty="0"/>
              <a:t>将你的第一个</a:t>
            </a:r>
            <a:r>
              <a:rPr lang="en-US" altLang="zh-CN" sz="1800" dirty="0"/>
              <a:t>.</a:t>
            </a:r>
            <a:r>
              <a:rPr lang="en-US" altLang="zh-CN" sz="1800" dirty="0" err="1"/>
              <a:t>hdl</a:t>
            </a:r>
            <a:r>
              <a:rPr lang="zh-CN" altLang="en-US" sz="1800" dirty="0"/>
              <a:t>代码加载到模拟器中，看看它是否为不同的输入值产生了预期的输出</a:t>
            </a:r>
            <a:endParaRPr lang="en-US" altLang="zh-CN" sz="1800" dirty="0"/>
          </a:p>
          <a:p>
            <a:pPr marL="685800" indent="-457200">
              <a:buFont typeface="Arial" panose="020B0604020202020204" pitchFamily="34" charset="0"/>
              <a:buChar char="•"/>
            </a:pPr>
            <a:endParaRPr lang="zh-CN" altLang="en-US" sz="180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zh-CN" altLang="en-US" sz="1800" dirty="0"/>
              <a:t>您可以单击输入引脚的值，在</a:t>
            </a:r>
            <a:r>
              <a:rPr lang="en-US" altLang="zh-CN" sz="1800" dirty="0"/>
              <a:t>0</a:t>
            </a:r>
            <a:r>
              <a:rPr lang="zh-CN" altLang="en-US" sz="1800" dirty="0"/>
              <a:t>和</a:t>
            </a:r>
            <a:r>
              <a:rPr lang="en-US" altLang="zh-CN" sz="1800" dirty="0"/>
              <a:t>1</a:t>
            </a:r>
            <a:r>
              <a:rPr lang="zh-CN" altLang="en-US" sz="1800" dirty="0"/>
              <a:t>之间切换它们的值，然后单击</a:t>
            </a:r>
            <a:r>
              <a:rPr lang="en-US" altLang="zh-CN" sz="1800" dirty="0"/>
              <a:t>Eval</a:t>
            </a:r>
            <a:r>
              <a:rPr lang="zh-CN" altLang="en-US" sz="1800" dirty="0"/>
              <a:t>以获得输出。</a:t>
            </a:r>
            <a:endParaRPr lang="en-US" altLang="zh-CN" sz="1800" dirty="0"/>
          </a:p>
          <a:p>
            <a:pPr marL="685800" indent="-457200">
              <a:buFont typeface="Arial" panose="020B0604020202020204" pitchFamily="34" charset="0"/>
              <a:buChar char="•"/>
            </a:pPr>
            <a:endParaRPr lang="zh-CN" altLang="en-US" sz="1800" dirty="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zh-CN" altLang="en-US" sz="1800" dirty="0"/>
              <a:t>检查芯片是否为</a:t>
            </a:r>
            <a:r>
              <a:rPr lang="en-US" altLang="zh-CN" sz="1800" dirty="0"/>
              <a:t>A</a:t>
            </a:r>
            <a:r>
              <a:rPr lang="zh-CN" altLang="en-US" sz="1800" dirty="0"/>
              <a:t>和</a:t>
            </a:r>
            <a:r>
              <a:rPr lang="en-US" altLang="zh-CN" sz="1800" dirty="0"/>
              <a:t>B</a:t>
            </a:r>
            <a:r>
              <a:rPr lang="zh-CN" altLang="en-US" sz="1800" dirty="0"/>
              <a:t>的输入值的每种可能组合产生了正确的</a:t>
            </a:r>
            <a:r>
              <a:rPr lang="en-US" altLang="zh-CN" sz="1800" dirty="0"/>
              <a:t>O</a:t>
            </a:r>
            <a:r>
              <a:rPr lang="zh-CN" altLang="en-US" sz="1800" dirty="0"/>
              <a:t>值。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B988E-B898-B7D1-B370-B514A03DA98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Your turn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B1993-2928-04ED-FC00-0B97BBD1A5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18</a:t>
            </a:fld>
            <a:endParaRPr lang="en-GB"/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CC93A9F5-82DF-490F-7DC0-B0ED3081C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3585" y="2211710"/>
            <a:ext cx="1643655" cy="1575245"/>
          </a:xfrm>
          <a:prstGeom prst="rect">
            <a:avLst/>
          </a:prstGeom>
          <a:solidFill>
            <a:schemeClr val="bg1"/>
          </a:solidFill>
          <a:ln w="9525">
            <a:solidFill>
              <a:srgbClr val="293973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201600" tIns="144000" rIns="93600" bIns="144000"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just">
              <a:spcBef>
                <a:spcPct val="1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cs typeface="Consolas"/>
              </a:rPr>
              <a:t>| A | B | O |</a:t>
            </a:r>
          </a:p>
          <a:p>
            <a:pPr algn="just">
              <a:spcBef>
                <a:spcPct val="1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cs typeface="Consolas"/>
              </a:rPr>
              <a:t>| 0 | 0 | 1 |</a:t>
            </a:r>
          </a:p>
          <a:p>
            <a:pPr algn="just">
              <a:spcBef>
                <a:spcPct val="1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cs typeface="Consolas"/>
              </a:rPr>
              <a:t>| 0 | 1 | 0 |</a:t>
            </a:r>
          </a:p>
          <a:p>
            <a:pPr algn="just">
              <a:spcBef>
                <a:spcPct val="1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cs typeface="Consolas"/>
              </a:rPr>
              <a:t>| 1 | 0 | 0 |</a:t>
            </a:r>
          </a:p>
          <a:p>
            <a:pPr algn="just">
              <a:spcBef>
                <a:spcPct val="1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cs typeface="Consolas"/>
              </a:rPr>
              <a:t>| 1 | 1 | 1 |</a:t>
            </a:r>
          </a:p>
        </p:txBody>
      </p:sp>
    </p:spTree>
    <p:extLst>
      <p:ext uri="{BB962C8B-B14F-4D97-AF65-F5344CB8AC3E}">
        <p14:creationId xmlns:p14="http://schemas.microsoft.com/office/powerpoint/2010/main" val="441249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BD1A7-3628-8757-FAB9-CC58AA5342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19</a:t>
            </a:fld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AA6B68-BC81-E131-3A29-1302D6233C37}"/>
              </a:ext>
            </a:extLst>
          </p:cNvPr>
          <p:cNvSpPr txBox="1"/>
          <p:nvPr/>
        </p:nvSpPr>
        <p:spPr>
          <a:xfrm>
            <a:off x="6918960" y="38100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EB4117B-CCA0-4681-8814-44BB6EFE823C}"/>
              </a:ext>
            </a:extLst>
          </p:cNvPr>
          <p:cNvGrpSpPr/>
          <p:nvPr/>
        </p:nvGrpSpPr>
        <p:grpSpPr>
          <a:xfrm>
            <a:off x="4572000" y="3230199"/>
            <a:ext cx="3888416" cy="1898265"/>
            <a:chOff x="5378341" y="3577975"/>
            <a:chExt cx="3888416" cy="189826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FFDEA1F-D0C4-4EDA-3541-B9002BA8B96A}"/>
                </a:ext>
              </a:extLst>
            </p:cNvPr>
            <p:cNvGrpSpPr/>
            <p:nvPr/>
          </p:nvGrpSpPr>
          <p:grpSpPr>
            <a:xfrm>
              <a:off x="5378341" y="3577975"/>
              <a:ext cx="1764139" cy="1898265"/>
              <a:chOff x="9472821" y="1312295"/>
              <a:chExt cx="1764139" cy="1898265"/>
            </a:xfrm>
          </p:grpSpPr>
          <p:sp>
            <p:nvSpPr>
              <p:cNvPr id="25" name="Text Box 7">
                <a:extLst>
                  <a:ext uri="{FF2B5EF4-FFF2-40B4-BE49-F238E27FC236}">
                    <a16:creationId xmlns:a16="http://schemas.microsoft.com/office/drawing/2014/main" id="{539FCB6C-3562-EFEA-5586-7C46BCA794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26856" y="1627195"/>
                <a:ext cx="1710104" cy="158336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293973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201600" tIns="144000" rIns="93600" bIns="144000"/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a | b |out|</a:t>
                </a:r>
              </a:p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0 | 0 | 0 |</a:t>
                </a:r>
              </a:p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0 | 1 | 1 |</a:t>
                </a:r>
              </a:p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1 | 0 | 1 |</a:t>
                </a:r>
              </a:p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1 | 1 | 0 |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E021996-5C37-8D03-7DC7-D3907A8662E8}"/>
                  </a:ext>
                </a:extLst>
              </p:cNvPr>
              <p:cNvSpPr txBox="1"/>
              <p:nvPr/>
            </p:nvSpPr>
            <p:spPr>
              <a:xfrm>
                <a:off x="9472821" y="1312295"/>
                <a:ext cx="11404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>
                    <a:latin typeface="Consolas"/>
                    <a:cs typeface="Consolas"/>
                  </a:rPr>
                  <a:t>Xor.out</a:t>
                </a:r>
                <a:endParaRPr lang="en-US"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24" name="Rounded Rectangular Callout 23">
              <a:extLst>
                <a:ext uri="{FF2B5EF4-FFF2-40B4-BE49-F238E27FC236}">
                  <a16:creationId xmlns:a16="http://schemas.microsoft.com/office/drawing/2014/main" id="{74FE7DE9-2107-EF96-0487-6BF8AE68363E}"/>
                </a:ext>
              </a:extLst>
            </p:cNvPr>
            <p:cNvSpPr/>
            <p:nvPr/>
          </p:nvSpPr>
          <p:spPr>
            <a:xfrm>
              <a:off x="7265236" y="4314054"/>
              <a:ext cx="2001521" cy="1158240"/>
            </a:xfrm>
            <a:prstGeom prst="wedgeRoundRectCallout">
              <a:avLst>
                <a:gd name="adj1" fmla="val -94380"/>
                <a:gd name="adj2" fmla="val -27554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tlCol="0" anchor="t" anchorCtr="0"/>
            <a:lstStyle/>
            <a:p>
              <a:pPr>
                <a:buSzPct val="100000"/>
              </a:pPr>
              <a:r>
                <a:rPr lang="en-US" sz="1600" u="sng">
                  <a:solidFill>
                    <a:srgbClr val="000000"/>
                  </a:solidFill>
                  <a:latin typeface="Times New Roman"/>
                  <a:cs typeface="Times New Roman"/>
                </a:rPr>
                <a:t>Output File</a:t>
              </a:r>
              <a:r>
                <a:rPr lang="en-US" sz="1600">
                  <a:solidFill>
                    <a:srgbClr val="000000"/>
                  </a:solidFill>
                  <a:latin typeface="Times New Roman"/>
                  <a:cs typeface="Times New Roman"/>
                </a:rPr>
                <a:t>, created by the test script,</a:t>
              </a:r>
              <a:br>
                <a:rPr lang="en-US" sz="1600">
                  <a:solidFill>
                    <a:srgbClr val="000000"/>
                  </a:solidFill>
                  <a:latin typeface="Times New Roman"/>
                  <a:cs typeface="Times New Roman"/>
                </a:rPr>
              </a:br>
              <a:r>
                <a:rPr lang="en-US" sz="1600">
                  <a:solidFill>
                    <a:srgbClr val="000000"/>
                  </a:solidFill>
                  <a:latin typeface="Times New Roman"/>
                  <a:cs typeface="Times New Roman"/>
                </a:rPr>
                <a:t>as a side-effect of the simulation process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96B97B-30B2-7435-AF9F-E5F81C5F90D8}"/>
              </a:ext>
            </a:extLst>
          </p:cNvPr>
          <p:cNvGrpSpPr/>
          <p:nvPr/>
        </p:nvGrpSpPr>
        <p:grpSpPr>
          <a:xfrm>
            <a:off x="5032475" y="920474"/>
            <a:ext cx="3997529" cy="2373944"/>
            <a:chOff x="5408821" y="997335"/>
            <a:chExt cx="3997529" cy="2373944"/>
          </a:xfrm>
        </p:grpSpPr>
        <p:sp>
          <p:nvSpPr>
            <p:cNvPr id="28" name="Text Box 7">
              <a:extLst>
                <a:ext uri="{FF2B5EF4-FFF2-40B4-BE49-F238E27FC236}">
                  <a16:creationId xmlns:a16="http://schemas.microsoft.com/office/drawing/2014/main" id="{B5213162-6671-B654-7AD3-7B1BC8946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2216" y="1332555"/>
              <a:ext cx="3510914" cy="20387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293973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1600" tIns="144000" rIns="93600" bIns="144000"/>
            <a:lstStyle>
              <a:lvl1pPr marL="342900" indent="-3429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latin typeface="Consolas"/>
                  <a:cs typeface="Consolas"/>
                </a:rPr>
                <a:t>load </a:t>
              </a:r>
              <a:r>
                <a:rPr lang="en-US" sz="1400" dirty="0" err="1">
                  <a:latin typeface="Consolas"/>
                  <a:cs typeface="Consolas"/>
                </a:rPr>
                <a:t>Xor.hdl</a:t>
              </a:r>
              <a:r>
                <a:rPr lang="en-US" sz="1400" dirty="0">
                  <a:latin typeface="Consolas"/>
                  <a:cs typeface="Consolas"/>
                </a:rPr>
                <a:t>,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solidFill>
                    <a:srgbClr val="A70000"/>
                  </a:solidFill>
                  <a:latin typeface="Consolas"/>
                  <a:cs typeface="Consolas"/>
                </a:rPr>
                <a:t>output-file </a:t>
              </a:r>
              <a:r>
                <a:rPr lang="en-US" sz="1400" dirty="0" err="1">
                  <a:solidFill>
                    <a:srgbClr val="A70000"/>
                  </a:solidFill>
                  <a:latin typeface="Consolas"/>
                  <a:cs typeface="Consolas"/>
                </a:rPr>
                <a:t>Xor.out</a:t>
              </a:r>
              <a:r>
                <a:rPr lang="en-US" sz="1400" dirty="0">
                  <a:solidFill>
                    <a:srgbClr val="A70000"/>
                  </a:solidFill>
                  <a:latin typeface="Consolas"/>
                  <a:cs typeface="Consolas"/>
                </a:rPr>
                <a:t>,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solidFill>
                    <a:srgbClr val="A70000"/>
                  </a:solidFill>
                  <a:latin typeface="Consolas"/>
                  <a:cs typeface="Consolas"/>
                </a:rPr>
                <a:t>output-list a b out;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set a 0, set b 0, eval, </a:t>
              </a:r>
              <a:r>
                <a:rPr lang="en-US" sz="1400" dirty="0">
                  <a:solidFill>
                    <a:srgbClr val="A70000"/>
                  </a:solidFill>
                  <a:latin typeface="Consolas"/>
                  <a:cs typeface="Consolas"/>
                </a:rPr>
                <a:t>output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;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set a 0, set b 1, eval, </a:t>
              </a:r>
              <a:r>
                <a:rPr lang="en-US" sz="1400" dirty="0">
                  <a:solidFill>
                    <a:srgbClr val="A70000"/>
                  </a:solidFill>
                  <a:latin typeface="Consolas"/>
                  <a:cs typeface="Consolas"/>
                </a:rPr>
                <a:t>output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;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set a 1, set b 0, eval, </a:t>
              </a:r>
              <a:r>
                <a:rPr lang="en-US" sz="1400" dirty="0">
                  <a:solidFill>
                    <a:srgbClr val="A70000"/>
                  </a:solidFill>
                  <a:latin typeface="Consolas"/>
                  <a:cs typeface="Consolas"/>
                </a:rPr>
                <a:t>output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;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set a 1, set b 1, eval, </a:t>
              </a:r>
              <a:r>
                <a:rPr lang="en-US" sz="1400" dirty="0">
                  <a:solidFill>
                    <a:srgbClr val="A70000"/>
                  </a:solidFill>
                  <a:latin typeface="Consolas"/>
                  <a:cs typeface="Consolas"/>
                </a:rPr>
                <a:t>output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;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4906091-AF37-99CA-736D-8FDFC22A4DE7}"/>
                </a:ext>
              </a:extLst>
            </p:cNvPr>
            <p:cNvSpPr txBox="1"/>
            <p:nvPr/>
          </p:nvSpPr>
          <p:spPr>
            <a:xfrm>
              <a:off x="5408821" y="997335"/>
              <a:ext cx="11404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latin typeface="Consolas"/>
                  <a:cs typeface="Consolas"/>
                </a:rPr>
                <a:t>Xor.tst</a:t>
              </a:r>
              <a:endParaRPr lang="en-US" dirty="0">
                <a:latin typeface="Times New Roman"/>
                <a:cs typeface="Times New Roman"/>
              </a:endParaRPr>
            </a:p>
          </p:txBody>
        </p:sp>
        <p:sp>
          <p:nvSpPr>
            <p:cNvPr id="30" name="Rounded Rectangular Callout 29">
              <a:extLst>
                <a:ext uri="{FF2B5EF4-FFF2-40B4-BE49-F238E27FC236}">
                  <a16:creationId xmlns:a16="http://schemas.microsoft.com/office/drawing/2014/main" id="{52E197D2-E05E-7851-85E5-44A3F44AB5E1}"/>
                </a:ext>
              </a:extLst>
            </p:cNvPr>
            <p:cNvSpPr/>
            <p:nvPr/>
          </p:nvSpPr>
          <p:spPr>
            <a:xfrm>
              <a:off x="8459910" y="1478481"/>
              <a:ext cx="946440" cy="605033"/>
            </a:xfrm>
            <a:prstGeom prst="wedgeRoundRectCallout">
              <a:avLst>
                <a:gd name="adj1" fmla="val -109230"/>
                <a:gd name="adj2" fmla="val 10140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tlCol="0" anchor="t" anchorCtr="0"/>
            <a:lstStyle/>
            <a:p>
              <a:pPr algn="ctr">
                <a:buSzPct val="100000"/>
              </a:pPr>
              <a:r>
                <a:rPr lang="en-US" sz="1600" dirty="0">
                  <a:solidFill>
                    <a:srgbClr val="000000"/>
                  </a:solidFill>
                  <a:latin typeface="Times New Roman"/>
                  <a:cs typeface="Times New Roman"/>
                </a:rPr>
                <a:t>test</a:t>
              </a:r>
            </a:p>
            <a:p>
              <a:pPr algn="ctr">
                <a:buSzPct val="100000"/>
              </a:pPr>
              <a:r>
                <a:rPr lang="en-US" sz="1600" dirty="0">
                  <a:solidFill>
                    <a:srgbClr val="000000"/>
                  </a:solidFill>
                  <a:latin typeface="Times New Roman"/>
                  <a:cs typeface="Times New Roman"/>
                </a:rPr>
                <a:t>script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4D681D6-8877-0FE6-671E-A9363FF463F8}"/>
              </a:ext>
            </a:extLst>
          </p:cNvPr>
          <p:cNvGrpSpPr/>
          <p:nvPr/>
        </p:nvGrpSpPr>
        <p:grpSpPr>
          <a:xfrm>
            <a:off x="243186" y="944742"/>
            <a:ext cx="4208041" cy="2799933"/>
            <a:chOff x="633989" y="942553"/>
            <a:chExt cx="4279604" cy="284754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673075E-A127-5955-5EB6-971A886DF323}"/>
                </a:ext>
              </a:extLst>
            </p:cNvPr>
            <p:cNvSpPr txBox="1"/>
            <p:nvPr/>
          </p:nvSpPr>
          <p:spPr>
            <a:xfrm>
              <a:off x="633989" y="942553"/>
              <a:ext cx="18731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Consolas"/>
                  <a:cs typeface="Consolas"/>
                </a:rPr>
                <a:t>Xor.hdl</a:t>
              </a:r>
              <a:endParaRPr lang="en-US">
                <a:latin typeface="Times New Roman"/>
                <a:cs typeface="Times New Roman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D4E43F1-C74D-28D4-43AD-36F1A4E68EC8}"/>
                </a:ext>
              </a:extLst>
            </p:cNvPr>
            <p:cNvSpPr txBox="1"/>
            <p:nvPr/>
          </p:nvSpPr>
          <p:spPr>
            <a:xfrm>
              <a:off x="710462" y="1295413"/>
              <a:ext cx="4203131" cy="24946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293973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1600" tIns="50400" rIns="93600" bIns="144000"/>
            <a:lstStyle>
              <a:defPPr>
                <a:defRPr lang="en-US"/>
              </a:defPPr>
              <a:lvl1pPr marL="342900" indent="-342900"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  <a:defRPr sz="1300">
                  <a:solidFill>
                    <a:srgbClr val="008000"/>
                  </a:solidFill>
                  <a:latin typeface="Consolas"/>
                  <a:ea typeface="ＭＳ Ｐゴシック" charset="0"/>
                  <a:cs typeface="Consolas"/>
                </a:defRPr>
              </a:lvl1pPr>
              <a:lvl2pPr marL="742950" indent="-285750">
                <a:defRPr sz="2400"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</a:rPr>
                <a:t>CHIP </a:t>
              </a:r>
              <a:r>
                <a:rPr lang="en-US" dirty="0" err="1">
                  <a:solidFill>
                    <a:schemeClr val="tx1"/>
                  </a:solidFill>
                </a:rPr>
                <a:t>Xor</a:t>
              </a:r>
              <a:r>
                <a:rPr lang="en-US" dirty="0">
                  <a:solidFill>
                    <a:schemeClr val="tx1"/>
                  </a:solidFill>
                </a:rPr>
                <a:t> {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    IN a, b;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    OUT </a:t>
              </a:r>
              <a:r>
                <a:rPr lang="en-US" dirty="0" err="1">
                  <a:solidFill>
                    <a:schemeClr val="tx1"/>
                  </a:solidFill>
                </a:rPr>
                <a:t>out</a:t>
              </a:r>
              <a:r>
                <a:rPr lang="en-US" dirty="0">
                  <a:solidFill>
                    <a:schemeClr val="tx1"/>
                  </a:solidFill>
                </a:rPr>
                <a:t>;</a:t>
              </a:r>
            </a:p>
            <a:p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dirty="0">
                  <a:solidFill>
                    <a:schemeClr val="tx1"/>
                  </a:solidFill>
                </a:rPr>
                <a:t>    PARTS: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    Not (in=a, out=nota);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    Not (in=b, out=</a:t>
              </a:r>
              <a:r>
                <a:rPr lang="en-US" dirty="0" err="1">
                  <a:solidFill>
                    <a:schemeClr val="tx1"/>
                  </a:solidFill>
                </a:rPr>
                <a:t>notb</a:t>
              </a:r>
              <a:r>
                <a:rPr lang="en-US" dirty="0">
                  <a:solidFill>
                    <a:schemeClr val="tx1"/>
                  </a:solidFill>
                </a:rPr>
                <a:t>);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    And (a=a, b=</a:t>
              </a:r>
              <a:r>
                <a:rPr lang="en-US" dirty="0" err="1">
                  <a:solidFill>
                    <a:schemeClr val="tx1"/>
                  </a:solidFill>
                </a:rPr>
                <a:t>notb</a:t>
              </a:r>
              <a:r>
                <a:rPr lang="en-US" dirty="0">
                  <a:solidFill>
                    <a:schemeClr val="tx1"/>
                  </a:solidFill>
                </a:rPr>
                <a:t>, out=</a:t>
              </a:r>
              <a:r>
                <a:rPr lang="en-US" dirty="0" err="1">
                  <a:solidFill>
                    <a:schemeClr val="tx1"/>
                  </a:solidFill>
                </a:rPr>
                <a:t>aAndNotb</a:t>
              </a:r>
              <a:r>
                <a:rPr lang="en-US" dirty="0">
                  <a:solidFill>
                    <a:schemeClr val="tx1"/>
                  </a:solidFill>
                </a:rPr>
                <a:t>);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    And (a=nota, b=b, out=</a:t>
              </a:r>
              <a:r>
                <a:rPr lang="en-US" dirty="0" err="1">
                  <a:solidFill>
                    <a:schemeClr val="tx1"/>
                  </a:solidFill>
                </a:rPr>
                <a:t>notaAndb</a:t>
              </a:r>
              <a:r>
                <a:rPr lang="en-US" dirty="0">
                  <a:solidFill>
                    <a:schemeClr val="tx1"/>
                  </a:solidFill>
                </a:rPr>
                <a:t>);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    Or  (a=</a:t>
              </a:r>
              <a:r>
                <a:rPr lang="en-US" dirty="0" err="1">
                  <a:solidFill>
                    <a:schemeClr val="tx1"/>
                  </a:solidFill>
                </a:rPr>
                <a:t>aAndNotb</a:t>
              </a:r>
              <a:r>
                <a:rPr lang="en-US" dirty="0">
                  <a:solidFill>
                    <a:schemeClr val="tx1"/>
                  </a:solidFill>
                </a:rPr>
                <a:t>, b=</a:t>
              </a:r>
              <a:r>
                <a:rPr lang="en-US" dirty="0" err="1">
                  <a:solidFill>
                    <a:schemeClr val="tx1"/>
                  </a:solidFill>
                </a:rPr>
                <a:t>notaAndb</a:t>
              </a:r>
              <a:r>
                <a:rPr lang="en-US" dirty="0">
                  <a:solidFill>
                    <a:schemeClr val="tx1"/>
                  </a:solidFill>
                </a:rPr>
                <a:t>, out=out);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D870B8D-E1C1-46E2-BC35-8732D5B6CC7E}"/>
              </a:ext>
            </a:extLst>
          </p:cNvPr>
          <p:cNvSpPr txBox="1"/>
          <p:nvPr/>
        </p:nvSpPr>
        <p:spPr>
          <a:xfrm>
            <a:off x="254730" y="452735"/>
            <a:ext cx="3009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Script-based Testing</a:t>
            </a:r>
          </a:p>
        </p:txBody>
      </p:sp>
    </p:spTree>
    <p:extLst>
      <p:ext uri="{BB962C8B-B14F-4D97-AF65-F5344CB8AC3E}">
        <p14:creationId xmlns:p14="http://schemas.microsoft.com/office/powerpoint/2010/main" val="986698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687710E-D038-2694-4280-C1B71DB86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F08268-656C-C107-2443-221E3017149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Times New Roman"/>
                <a:cs typeface="Times New Roman"/>
              </a:rPr>
              <a:t>Script file format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1BEC66-DDAF-DA57-6A39-DF786D1E9B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20</a:t>
            </a:fld>
            <a:endParaRPr lang="en-GB"/>
          </a:p>
        </p:txBody>
      </p:sp>
      <p:grpSp>
        <p:nvGrpSpPr>
          <p:cNvPr id="5" name="Group 26">
            <a:extLst>
              <a:ext uri="{FF2B5EF4-FFF2-40B4-BE49-F238E27FC236}">
                <a16:creationId xmlns:a16="http://schemas.microsoft.com/office/drawing/2014/main" id="{2E074D3E-E71F-60EA-D04D-B5FFD378C566}"/>
              </a:ext>
            </a:extLst>
          </p:cNvPr>
          <p:cNvGrpSpPr/>
          <p:nvPr/>
        </p:nvGrpSpPr>
        <p:grpSpPr>
          <a:xfrm>
            <a:off x="467150" y="1092153"/>
            <a:ext cx="8416548" cy="3837139"/>
            <a:chOff x="5389332" y="927026"/>
            <a:chExt cx="3510914" cy="2830963"/>
          </a:xfrm>
        </p:grpSpPr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E4F5D2A4-32DA-978B-5D6D-2C1CF316D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9332" y="1166612"/>
              <a:ext cx="3510914" cy="25913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293973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1600" tIns="144000" rIns="93600" bIns="144000"/>
            <a:lstStyle>
              <a:lvl1pPr marL="342900" indent="-3429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altLang="zh-CN" sz="1400" dirty="0">
                  <a:solidFill>
                    <a:schemeClr val="accent6"/>
                  </a:solidFill>
                  <a:latin typeface="Consolas"/>
                  <a:cs typeface="Consolas"/>
                </a:rPr>
                <a:t>// 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  <a:cs typeface="Consolas"/>
                </a:rPr>
                <a:t>注意 </a:t>
              </a:r>
              <a:r>
                <a:rPr lang="en-US" altLang="zh-CN" sz="1400" dirty="0" err="1">
                  <a:solidFill>
                    <a:schemeClr val="accent6"/>
                  </a:solidFill>
                  <a:latin typeface="Consolas"/>
                  <a:cs typeface="Consolas"/>
                </a:rPr>
                <a:t>load,output</a:t>
              </a:r>
              <a:r>
                <a:rPr lang="en-US" altLang="zh-CN" sz="1400" dirty="0">
                  <a:solidFill>
                    <a:schemeClr val="accent6"/>
                  </a:solidFill>
                  <a:latin typeface="Consolas"/>
                  <a:cs typeface="Consolas"/>
                </a:rPr>
                <a:t>-</a:t>
              </a:r>
              <a:r>
                <a:rPr lang="en-US" altLang="zh-CN" sz="1400" dirty="0" err="1">
                  <a:solidFill>
                    <a:schemeClr val="accent6"/>
                  </a:solidFill>
                  <a:latin typeface="Consolas"/>
                  <a:cs typeface="Consolas"/>
                </a:rPr>
                <a:t>file,output</a:t>
              </a:r>
              <a:r>
                <a:rPr lang="en-US" altLang="zh-CN" sz="1400" dirty="0">
                  <a:solidFill>
                    <a:schemeClr val="accent6"/>
                  </a:solidFill>
                  <a:latin typeface="Consolas"/>
                  <a:cs typeface="Consolas"/>
                </a:rPr>
                <a:t>-list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  <a:cs typeface="Consolas"/>
                </a:rPr>
                <a:t>是一个完整的句子，中间用，隔开，最后加上</a:t>
              </a:r>
              <a:r>
                <a:rPr lang="en-US" altLang="zh-CN" sz="1400" dirty="0">
                  <a:solidFill>
                    <a:schemeClr val="accent6"/>
                  </a:solidFill>
                  <a:latin typeface="Consolas"/>
                  <a:cs typeface="Consolas"/>
                </a:rPr>
                <a:t>;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  <a:cs typeface="Consolas"/>
                </a:rPr>
                <a:t>表示句子结束。 </a:t>
              </a:r>
              <a:endParaRPr lang="en-US" altLang="zh-CN" sz="1400" dirty="0">
                <a:solidFill>
                  <a:schemeClr val="accent6"/>
                </a:solidFill>
                <a:latin typeface="Consolas"/>
                <a:cs typeface="Consolas"/>
              </a:endParaRP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solidFill>
                    <a:srgbClr val="A70000"/>
                  </a:solidFill>
                  <a:latin typeface="Consolas"/>
                </a:rPr>
                <a:t>load</a:t>
              </a:r>
              <a:r>
                <a:rPr lang="en-US" sz="1400" dirty="0">
                  <a:latin typeface="Consolas"/>
                  <a:cs typeface="Consolas"/>
                </a:rPr>
                <a:t> </a:t>
              </a:r>
              <a:r>
                <a:rPr lang="en-US" sz="1400" dirty="0" err="1">
                  <a:latin typeface="Consolas"/>
                  <a:cs typeface="Consolas"/>
                </a:rPr>
                <a:t>Xor.hdl</a:t>
              </a:r>
              <a:r>
                <a:rPr lang="en-US" sz="1400" dirty="0">
                  <a:latin typeface="Consolas"/>
                  <a:cs typeface="Consolas"/>
                </a:rPr>
                <a:t>,                       </a:t>
              </a:r>
              <a:r>
                <a:rPr lang="en-US" sz="1400" dirty="0">
                  <a:solidFill>
                    <a:schemeClr val="accent6"/>
                  </a:solidFill>
                  <a:latin typeface="Consolas"/>
                  <a:cs typeface="Consolas"/>
                </a:rPr>
                <a:t>// 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  <a:cs typeface="Consolas"/>
                </a:rPr>
                <a:t>加载</a:t>
              </a:r>
              <a:r>
                <a:rPr lang="en-US" altLang="zh-CN" sz="1400" dirty="0" err="1">
                  <a:solidFill>
                    <a:schemeClr val="accent6"/>
                  </a:solidFill>
                  <a:latin typeface="Consolas"/>
                  <a:cs typeface="Consolas"/>
                </a:rPr>
                <a:t>hdl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  <a:cs typeface="Consolas"/>
                </a:rPr>
                <a:t>文件</a:t>
              </a:r>
              <a:endParaRPr lang="en-US" sz="1400" dirty="0">
                <a:solidFill>
                  <a:schemeClr val="accent6"/>
                </a:solidFill>
                <a:latin typeface="Consolas"/>
                <a:cs typeface="Consolas"/>
              </a:endParaRP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solidFill>
                    <a:srgbClr val="A70000"/>
                  </a:solidFill>
                  <a:latin typeface="Consolas"/>
                  <a:cs typeface="Consolas"/>
                </a:rPr>
                <a:t>output-file </a:t>
              </a:r>
              <a:r>
                <a:rPr lang="en-US" sz="1400" dirty="0" err="1">
                  <a:latin typeface="Consolas"/>
                </a:rPr>
                <a:t>Xor.out</a:t>
              </a:r>
              <a:r>
                <a:rPr lang="en-US" sz="1400" dirty="0">
                  <a:latin typeface="Consolas"/>
                </a:rPr>
                <a:t>,                </a:t>
              </a:r>
              <a:r>
                <a:rPr lang="en-US" sz="1400" dirty="0">
                  <a:solidFill>
                    <a:schemeClr val="accent6"/>
                  </a:solidFill>
                  <a:latin typeface="Consolas"/>
                  <a:cs typeface="Consolas"/>
                </a:rPr>
                <a:t>//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  <a:cs typeface="Consolas"/>
                </a:rPr>
                <a:t> 设置</a:t>
              </a:r>
              <a:r>
                <a:rPr lang="en-US" altLang="zh-CN" sz="1400" dirty="0" err="1">
                  <a:solidFill>
                    <a:schemeClr val="accent6"/>
                  </a:solidFill>
                  <a:latin typeface="Consolas"/>
                  <a:cs typeface="Consolas"/>
                </a:rPr>
                <a:t>hdl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  <a:cs typeface="Consolas"/>
                </a:rPr>
                <a:t>真值表输出文件</a:t>
              </a:r>
              <a:r>
                <a:rPr lang="en-US" sz="1400" dirty="0">
                  <a:solidFill>
                    <a:schemeClr val="accent6"/>
                  </a:solidFill>
                  <a:latin typeface="Consolas"/>
                  <a:cs typeface="Consolas"/>
                </a:rPr>
                <a:t>     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solidFill>
                    <a:srgbClr val="A70000"/>
                  </a:solidFill>
                  <a:latin typeface="Consolas"/>
                  <a:cs typeface="Consolas"/>
                </a:rPr>
                <a:t>output-list </a:t>
              </a:r>
              <a:r>
                <a:rPr lang="en-US" sz="1400" dirty="0">
                  <a:latin typeface="Consolas"/>
                </a:rPr>
                <a:t>a b out;                </a:t>
              </a:r>
              <a:r>
                <a:rPr lang="en-US" sz="1400" dirty="0">
                  <a:solidFill>
                    <a:schemeClr val="accent6"/>
                  </a:solidFill>
                  <a:latin typeface="Consolas"/>
                </a:rPr>
                <a:t>//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</a:rPr>
                <a:t> 设置</a:t>
              </a:r>
              <a:r>
                <a:rPr lang="en-US" altLang="zh-CN" sz="1400" dirty="0" err="1">
                  <a:solidFill>
                    <a:schemeClr val="accent6"/>
                  </a:solidFill>
                  <a:latin typeface="Consolas"/>
                </a:rPr>
                <a:t>hdl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</a:rPr>
                <a:t>真值表的列</a:t>
              </a:r>
              <a:endParaRPr lang="en-US" altLang="zh-CN" sz="1400" dirty="0">
                <a:solidFill>
                  <a:schemeClr val="accent6"/>
                </a:solidFill>
                <a:latin typeface="Consolas"/>
              </a:endParaRP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endParaRPr lang="en-US" sz="1400" dirty="0">
                <a:solidFill>
                  <a:schemeClr val="accent6"/>
                </a:solidFill>
                <a:latin typeface="Consolas"/>
              </a:endParaRP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solidFill>
                    <a:schemeClr val="accent6"/>
                  </a:solidFill>
                  <a:latin typeface="Consolas"/>
                </a:rPr>
                <a:t>//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</a:rPr>
                <a:t> 下面是按真值表的行，逐行测试。</a:t>
              </a:r>
              <a:endParaRPr lang="en-US" altLang="zh-CN" sz="1400" dirty="0">
                <a:solidFill>
                  <a:schemeClr val="accent6"/>
                </a:solidFill>
                <a:latin typeface="Consolas"/>
              </a:endParaRP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altLang="zh-CN" sz="1400" dirty="0">
                  <a:solidFill>
                    <a:schemeClr val="accent6"/>
                  </a:solidFill>
                  <a:latin typeface="Consolas"/>
                </a:rPr>
                <a:t>//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</a:rPr>
                <a:t> </a:t>
              </a:r>
              <a:r>
                <a:rPr lang="en-US" altLang="zh-CN" sz="1400" dirty="0">
                  <a:solidFill>
                    <a:schemeClr val="accent6"/>
                  </a:solidFill>
                  <a:latin typeface="Consolas"/>
                </a:rPr>
                <a:t>set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</a:rPr>
                <a:t>设置输入信号</a:t>
              </a:r>
              <a:r>
                <a:rPr lang="en-US" altLang="zh-CN" sz="1400" dirty="0">
                  <a:solidFill>
                    <a:schemeClr val="accent6"/>
                  </a:solidFill>
                  <a:latin typeface="Consolas"/>
                </a:rPr>
                <a:t>0/1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</a:rPr>
                <a:t>；</a:t>
              </a:r>
              <a:r>
                <a:rPr lang="en-US" altLang="zh-CN" sz="1400" dirty="0">
                  <a:solidFill>
                    <a:schemeClr val="accent6"/>
                  </a:solidFill>
                  <a:latin typeface="Consolas"/>
                </a:rPr>
                <a:t>eval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</a:rPr>
                <a:t>按输入执行逻辑，得到结果；</a:t>
              </a:r>
              <a:r>
                <a:rPr lang="en-US" altLang="zh-CN" sz="1400" dirty="0">
                  <a:solidFill>
                    <a:schemeClr val="accent6"/>
                  </a:solidFill>
                  <a:latin typeface="Consolas"/>
                </a:rPr>
                <a:t>output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</a:rPr>
                <a:t>输出文件</a:t>
              </a:r>
              <a:endParaRPr lang="en-US" altLang="zh-CN" sz="1400" dirty="0">
                <a:solidFill>
                  <a:schemeClr val="accent6"/>
                </a:solidFill>
                <a:latin typeface="Consolas"/>
              </a:endParaRP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altLang="zh-CN" sz="1400" dirty="0">
                  <a:solidFill>
                    <a:schemeClr val="accent6"/>
                  </a:solidFill>
                  <a:latin typeface="Consolas"/>
                  <a:cs typeface="Consolas"/>
                </a:rPr>
                <a:t>// 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  <a:cs typeface="Consolas"/>
                </a:rPr>
                <a:t>注意 </a:t>
              </a:r>
              <a:r>
                <a:rPr lang="en-US" altLang="zh-CN" sz="1400" dirty="0" err="1">
                  <a:solidFill>
                    <a:schemeClr val="accent6"/>
                  </a:solidFill>
                  <a:latin typeface="Consolas"/>
                  <a:cs typeface="Consolas"/>
                </a:rPr>
                <a:t>set,set,eval,output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  <a:cs typeface="Consolas"/>
                </a:rPr>
                <a:t>是一个完整的句子，中间用，隔开，最后加上</a:t>
              </a:r>
              <a:r>
                <a:rPr lang="en-US" altLang="zh-CN" sz="1400" dirty="0">
                  <a:solidFill>
                    <a:schemeClr val="accent6"/>
                  </a:solidFill>
                  <a:latin typeface="Consolas"/>
                  <a:cs typeface="Consolas"/>
                </a:rPr>
                <a:t>;</a:t>
              </a:r>
              <a:r>
                <a:rPr lang="zh-CN" altLang="en-US" sz="1400" dirty="0">
                  <a:solidFill>
                    <a:schemeClr val="accent6"/>
                  </a:solidFill>
                  <a:latin typeface="Consolas"/>
                  <a:cs typeface="Consolas"/>
                </a:rPr>
                <a:t>表示句子结束。 </a:t>
              </a:r>
              <a:endParaRPr lang="en-US" altLang="zh-CN" sz="1400" dirty="0">
                <a:solidFill>
                  <a:schemeClr val="accent6"/>
                </a:solidFill>
                <a:latin typeface="Consolas"/>
                <a:cs typeface="Consolas"/>
              </a:endParaRP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solidFill>
                    <a:srgbClr val="A70000"/>
                  </a:solidFill>
                  <a:latin typeface="Consolas"/>
                </a:rPr>
                <a:t>set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 a 0, </a:t>
              </a:r>
              <a:r>
                <a:rPr lang="en-US" sz="1400" dirty="0">
                  <a:solidFill>
                    <a:srgbClr val="A70000"/>
                  </a:solidFill>
                  <a:latin typeface="Consolas"/>
                </a:rPr>
                <a:t>set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 b 0, </a:t>
              </a:r>
              <a:r>
                <a:rPr lang="en-US" sz="1400" dirty="0">
                  <a:solidFill>
                    <a:srgbClr val="A70000"/>
                  </a:solidFill>
                  <a:latin typeface="Consolas"/>
                </a:rPr>
                <a:t>eval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, </a:t>
              </a:r>
              <a:r>
                <a:rPr lang="en-US" sz="1400" dirty="0">
                  <a:solidFill>
                    <a:srgbClr val="A70000"/>
                  </a:solidFill>
                  <a:latin typeface="Consolas"/>
                  <a:cs typeface="Consolas"/>
                </a:rPr>
                <a:t>output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;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set a 0, set b 1, eval, </a:t>
              </a:r>
              <a:r>
                <a:rPr lang="en-US" sz="1400" dirty="0">
                  <a:solidFill>
                    <a:srgbClr val="A70000"/>
                  </a:solidFill>
                  <a:latin typeface="Consolas"/>
                  <a:cs typeface="Consolas"/>
                </a:rPr>
                <a:t>output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;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set a 1, set b 0, eval, </a:t>
              </a:r>
              <a:r>
                <a:rPr lang="en-US" sz="1400" dirty="0">
                  <a:solidFill>
                    <a:srgbClr val="A70000"/>
                  </a:solidFill>
                  <a:latin typeface="Consolas"/>
                  <a:cs typeface="Consolas"/>
                </a:rPr>
                <a:t>output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;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set a 1, set b 1, eval, </a:t>
              </a:r>
              <a:r>
                <a:rPr lang="en-US" sz="1400" dirty="0">
                  <a:solidFill>
                    <a:srgbClr val="A70000"/>
                  </a:solidFill>
                  <a:latin typeface="Consolas"/>
                  <a:cs typeface="Consolas"/>
                </a:rPr>
                <a:t>output</a:t>
              </a:r>
              <a:r>
                <a:rPr lang="en-US" sz="1400" dirty="0">
                  <a:solidFill>
                    <a:srgbClr val="000000"/>
                  </a:solidFill>
                  <a:latin typeface="Consolas"/>
                  <a:cs typeface="Consolas"/>
                </a:rPr>
                <a:t>;</a:t>
              </a:r>
            </a:p>
          </p:txBody>
        </p:sp>
        <p:sp>
          <p:nvSpPr>
            <p:cNvPr id="7" name="TextBox 28">
              <a:extLst>
                <a:ext uri="{FF2B5EF4-FFF2-40B4-BE49-F238E27FC236}">
                  <a16:creationId xmlns:a16="http://schemas.microsoft.com/office/drawing/2014/main" id="{F457B8DC-CE37-4F87-9CC6-2CEB6C5037E1}"/>
                </a:ext>
              </a:extLst>
            </p:cNvPr>
            <p:cNvSpPr txBox="1"/>
            <p:nvPr/>
          </p:nvSpPr>
          <p:spPr>
            <a:xfrm>
              <a:off x="5389332" y="927026"/>
              <a:ext cx="11404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latin typeface="Consolas"/>
                  <a:cs typeface="Consolas"/>
                </a:rPr>
                <a:t>Xor.tst</a:t>
              </a:r>
              <a:endParaRPr lang="en-US" dirty="0">
                <a:latin typeface="Times New Roman"/>
                <a:cs typeface="Times New Roman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55FE6FB-A7F8-69F1-A1AB-08D8ED7666EC}"/>
              </a:ext>
            </a:extLst>
          </p:cNvPr>
          <p:cNvSpPr txBox="1"/>
          <p:nvPr/>
        </p:nvSpPr>
        <p:spPr>
          <a:xfrm>
            <a:off x="4034864" y="4526217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</a:rPr>
              <a:t>数是</a:t>
            </a:r>
            <a:r>
              <a:rPr lang="en-US" altLang="zh-CN" dirty="0">
                <a:solidFill>
                  <a:schemeClr val="accent6"/>
                </a:solidFill>
              </a:rPr>
              <a:t>10</a:t>
            </a:r>
            <a:r>
              <a:rPr lang="zh-CN" altLang="en-US" dirty="0">
                <a:solidFill>
                  <a:schemeClr val="accent6"/>
                </a:solidFill>
              </a:rPr>
              <a:t>进制数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FD57647-D529-127A-C940-1BAB4B96A15F}"/>
              </a:ext>
            </a:extLst>
          </p:cNvPr>
          <p:cNvCxnSpPr>
            <a:cxnSpLocks/>
          </p:cNvCxnSpPr>
          <p:nvPr/>
        </p:nvCxnSpPr>
        <p:spPr>
          <a:xfrm flipH="1" flipV="1">
            <a:off x="2246688" y="4365604"/>
            <a:ext cx="1869920" cy="384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F002B93-BF54-B5EC-574F-0B166B46358D}"/>
              </a:ext>
            </a:extLst>
          </p:cNvPr>
          <p:cNvCxnSpPr/>
          <p:nvPr/>
        </p:nvCxnSpPr>
        <p:spPr>
          <a:xfrm flipH="1" flipV="1">
            <a:off x="1371600" y="4468091"/>
            <a:ext cx="2663264" cy="281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16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EE97C-B7FC-6014-BEAF-C6CF143FA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DED00A-BC50-33BC-B024-EBB4D4BC1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84" y="1082889"/>
            <a:ext cx="6766891" cy="37841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C4133-0965-83C8-D622-9A77628CFF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21</a:t>
            </a:fld>
            <a:endParaRPr lang="en-GB"/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CF1657D0-08B9-1AA9-E0E4-D31490333B10}"/>
              </a:ext>
            </a:extLst>
          </p:cNvPr>
          <p:cNvSpPr/>
          <p:nvPr/>
        </p:nvSpPr>
        <p:spPr>
          <a:xfrm>
            <a:off x="2749379" y="1993422"/>
            <a:ext cx="722661" cy="482546"/>
          </a:xfrm>
          <a:prstGeom prst="wedgeRoundRectCallout">
            <a:avLst>
              <a:gd name="adj1" fmla="val -99910"/>
              <a:gd name="adj2" fmla="val -34157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tlCol="0" anchor="ctr" anchorCtr="0"/>
          <a:lstStyle/>
          <a:p>
            <a:pPr algn="ctr">
              <a:buSzPct val="100000"/>
            </a:pPr>
            <a:r>
              <a:rPr lang="en-US" sz="1600">
                <a:solidFill>
                  <a:srgbClr val="000000"/>
                </a:solidFill>
                <a:latin typeface="Times New Roman"/>
                <a:cs typeface="Times New Roman"/>
              </a:rPr>
              <a:t>HDL code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6B0C35B8-9890-87B3-0538-ACA896475C3A}"/>
              </a:ext>
            </a:extLst>
          </p:cNvPr>
          <p:cNvSpPr/>
          <p:nvPr/>
        </p:nvSpPr>
        <p:spPr>
          <a:xfrm>
            <a:off x="1871700" y="4060611"/>
            <a:ext cx="967808" cy="467499"/>
          </a:xfrm>
          <a:prstGeom prst="wedgeRoundRectCallout">
            <a:avLst>
              <a:gd name="adj1" fmla="val -120555"/>
              <a:gd name="adj2" fmla="val -166701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tlCol="0" anchor="ctr" anchorCtr="0"/>
          <a:lstStyle/>
          <a:p>
            <a:pPr>
              <a:buSzPct val="100000"/>
            </a:pPr>
            <a:r>
              <a:rPr lang="en-US" sz="1400">
                <a:solidFill>
                  <a:srgbClr val="000000"/>
                </a:solidFill>
                <a:latin typeface="Times New Roman"/>
                <a:cs typeface="Times New Roman"/>
              </a:rPr>
              <a:t>1. Load a test script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FAB24AC-394F-955B-2DCC-D3DA53B1BB05}"/>
              </a:ext>
            </a:extLst>
          </p:cNvPr>
          <p:cNvSpPr/>
          <p:nvPr/>
        </p:nvSpPr>
        <p:spPr>
          <a:xfrm>
            <a:off x="1016605" y="3315882"/>
            <a:ext cx="296240" cy="336819"/>
          </a:xfrm>
          <a:prstGeom prst="ellipse">
            <a:avLst/>
          </a:prstGeom>
          <a:noFill/>
          <a:ln w="25400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algn="l" defTabSz="914400" rtl="0" eaLnBrk="1" latinLnBrk="0" hangingPunct="1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992F85-8616-E697-F12B-BF2179CBB784}"/>
              </a:ext>
            </a:extLst>
          </p:cNvPr>
          <p:cNvSpPr txBox="1"/>
          <p:nvPr/>
        </p:nvSpPr>
        <p:spPr>
          <a:xfrm>
            <a:off x="254730" y="452735"/>
            <a:ext cx="3009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Script-based Testing</a:t>
            </a:r>
          </a:p>
        </p:txBody>
      </p:sp>
    </p:spTree>
    <p:extLst>
      <p:ext uri="{BB962C8B-B14F-4D97-AF65-F5344CB8AC3E}">
        <p14:creationId xmlns:p14="http://schemas.microsoft.com/office/powerpoint/2010/main" val="3454262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0FBA7F-8D7E-C448-B33F-F7920F4C8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14" y="1016028"/>
            <a:ext cx="6800181" cy="38066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8A72D-7A9A-747A-3165-92DB6B04BF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22</a:t>
            </a:fld>
            <a:endParaRPr lang="en-GB"/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9FEFDE70-2B63-0D87-B42D-5892D8FA9BB7}"/>
              </a:ext>
            </a:extLst>
          </p:cNvPr>
          <p:cNvSpPr/>
          <p:nvPr/>
        </p:nvSpPr>
        <p:spPr>
          <a:xfrm>
            <a:off x="2749379" y="1993422"/>
            <a:ext cx="722661" cy="482546"/>
          </a:xfrm>
          <a:prstGeom prst="wedgeRoundRectCallout">
            <a:avLst>
              <a:gd name="adj1" fmla="val -99910"/>
              <a:gd name="adj2" fmla="val -34157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tlCol="0" anchor="ctr" anchorCtr="0"/>
          <a:lstStyle/>
          <a:p>
            <a:pPr algn="ctr">
              <a:buSzPct val="100000"/>
            </a:pPr>
            <a:r>
              <a:rPr lang="en-US" sz="1600">
                <a:solidFill>
                  <a:srgbClr val="000000"/>
                </a:solidFill>
                <a:latin typeface="Times New Roman"/>
                <a:cs typeface="Times New Roman"/>
              </a:rPr>
              <a:t>HDL code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A4C3459E-C944-EAFE-4AD9-58E8B7099C32}"/>
              </a:ext>
            </a:extLst>
          </p:cNvPr>
          <p:cNvSpPr/>
          <p:nvPr/>
        </p:nvSpPr>
        <p:spPr>
          <a:xfrm>
            <a:off x="4207450" y="4127471"/>
            <a:ext cx="729100" cy="622379"/>
          </a:xfrm>
          <a:prstGeom prst="wedgeRoundRectCallout">
            <a:avLst>
              <a:gd name="adj1" fmla="val -386186"/>
              <a:gd name="adj2" fmla="val -35237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tlCol="0" anchor="t" anchorCtr="0"/>
          <a:lstStyle/>
          <a:p>
            <a:pPr algn="ctr">
              <a:buSzPct val="100000"/>
            </a:pPr>
            <a:r>
              <a:rPr lang="en-US" sz="1600">
                <a:solidFill>
                  <a:srgbClr val="000000"/>
                </a:solidFill>
                <a:latin typeface="Times New Roman"/>
                <a:cs typeface="Times New Roman"/>
              </a:rPr>
              <a:t>test script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0714A0-D570-0BE0-415A-8B9B32608818}"/>
              </a:ext>
            </a:extLst>
          </p:cNvPr>
          <p:cNvGrpSpPr/>
          <p:nvPr/>
        </p:nvGrpSpPr>
        <p:grpSpPr>
          <a:xfrm>
            <a:off x="1718227" y="3348309"/>
            <a:ext cx="1983989" cy="843621"/>
            <a:chOff x="6201725" y="1252382"/>
            <a:chExt cx="2503853" cy="1064674"/>
          </a:xfrm>
        </p:grpSpPr>
        <p:sp>
          <p:nvSpPr>
            <p:cNvPr id="9" name="Rounded Rectangular Callout 8">
              <a:extLst>
                <a:ext uri="{FF2B5EF4-FFF2-40B4-BE49-F238E27FC236}">
                  <a16:creationId xmlns:a16="http://schemas.microsoft.com/office/drawing/2014/main" id="{F0848787-0B67-4E91-4591-9E77E84A8BA7}"/>
                </a:ext>
              </a:extLst>
            </p:cNvPr>
            <p:cNvSpPr/>
            <p:nvPr/>
          </p:nvSpPr>
          <p:spPr>
            <a:xfrm>
              <a:off x="7321919" y="1645789"/>
              <a:ext cx="1383659" cy="671267"/>
            </a:xfrm>
            <a:prstGeom prst="wedgeRoundRectCallout">
              <a:avLst>
                <a:gd name="adj1" fmla="val -81696"/>
                <a:gd name="adj2" fmla="val -61107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tlCol="0" anchor="t" anchorCtr="0"/>
            <a:lstStyle/>
            <a:p>
              <a:pPr algn="ctr">
                <a:buSzPct val="100000"/>
              </a:pPr>
              <a:r>
                <a:rPr lang="en-US" sz="1600" dirty="0">
                  <a:solidFill>
                    <a:srgbClr val="000000"/>
                  </a:solidFill>
                  <a:latin typeface="Times New Roman"/>
                  <a:cs typeface="Times New Roman"/>
                </a:rPr>
                <a:t>inspect the output file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EC2405E-1B5D-2541-2B72-A5B3F578D57F}"/>
                </a:ext>
              </a:extLst>
            </p:cNvPr>
            <p:cNvSpPr/>
            <p:nvPr/>
          </p:nvSpPr>
          <p:spPr>
            <a:xfrm>
              <a:off x="6201725" y="1252382"/>
              <a:ext cx="920146" cy="503641"/>
            </a:xfrm>
            <a:prstGeom prst="ellipse">
              <a:avLst/>
            </a:prstGeom>
            <a:noFill/>
            <a:ln w="25400"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algn="r" defTabSz="914400" rtl="1" eaLnBrk="1" latinLnBrk="0" hangingPunct="1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344DA1-517D-A286-5203-19894233176B}"/>
              </a:ext>
            </a:extLst>
          </p:cNvPr>
          <p:cNvGrpSpPr/>
          <p:nvPr/>
        </p:nvGrpSpPr>
        <p:grpSpPr>
          <a:xfrm>
            <a:off x="688115" y="3216792"/>
            <a:ext cx="3835450" cy="784859"/>
            <a:chOff x="1508277" y="1291299"/>
            <a:chExt cx="4840450" cy="990514"/>
          </a:xfrm>
        </p:grpSpPr>
        <p:sp>
          <p:nvSpPr>
            <p:cNvPr id="12" name="Rounded Rectangular Callout 11">
              <a:extLst>
                <a:ext uri="{FF2B5EF4-FFF2-40B4-BE49-F238E27FC236}">
                  <a16:creationId xmlns:a16="http://schemas.microsoft.com/office/drawing/2014/main" id="{6A4916FC-31CB-CE56-4401-14946A3581B2}"/>
                </a:ext>
              </a:extLst>
            </p:cNvPr>
            <p:cNvSpPr/>
            <p:nvPr/>
          </p:nvSpPr>
          <p:spPr>
            <a:xfrm>
              <a:off x="3812706" y="1910194"/>
              <a:ext cx="2536021" cy="371619"/>
            </a:xfrm>
            <a:prstGeom prst="wedgeRoundRectCallout">
              <a:avLst>
                <a:gd name="adj1" fmla="val -134637"/>
                <a:gd name="adj2" fmla="val -148489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0" rtlCol="0" anchor="ctr" anchorCtr="0"/>
            <a:lstStyle/>
            <a:p>
              <a:pPr algn="ctr">
                <a:buSzPct val="100000"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cs typeface="Times New Roman"/>
                </a:rPr>
                <a:t>2. Run</a:t>
              </a:r>
              <a:r>
                <a:rPr lang="en-US" dirty="0">
                  <a:solidFill>
                    <a:srgbClr val="000000"/>
                  </a:solidFill>
                  <a:latin typeface="Times New Roman"/>
                  <a:cs typeface="Times New Roman"/>
                </a:rPr>
                <a:t> </a:t>
              </a:r>
              <a:r>
                <a:rPr lang="en-US" sz="1400" dirty="0">
                  <a:solidFill>
                    <a:srgbClr val="000000"/>
                  </a:solidFill>
                  <a:latin typeface="Times New Roman"/>
                  <a:cs typeface="Times New Roman"/>
                </a:rPr>
                <a:t>script step by step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69843D0-62AD-D892-129D-DFF836218524}"/>
                </a:ext>
              </a:extLst>
            </p:cNvPr>
            <p:cNvSpPr/>
            <p:nvPr/>
          </p:nvSpPr>
          <p:spPr>
            <a:xfrm>
              <a:off x="1508277" y="1291299"/>
              <a:ext cx="365510" cy="425074"/>
            </a:xfrm>
            <a:prstGeom prst="ellipse">
              <a:avLst/>
            </a:prstGeom>
            <a:noFill/>
            <a:ln w="25400"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algn="r" defTabSz="914400" rtl="1" eaLnBrk="1" latinLnBrk="0" hangingPunct="1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7D21755-29B7-165C-5D74-C19149006EA9}"/>
              </a:ext>
            </a:extLst>
          </p:cNvPr>
          <p:cNvSpPr txBox="1"/>
          <p:nvPr/>
        </p:nvSpPr>
        <p:spPr>
          <a:xfrm>
            <a:off x="254730" y="452735"/>
            <a:ext cx="3009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Script-based Testing</a:t>
            </a:r>
          </a:p>
        </p:txBody>
      </p:sp>
    </p:spTree>
    <p:extLst>
      <p:ext uri="{BB962C8B-B14F-4D97-AF65-F5344CB8AC3E}">
        <p14:creationId xmlns:p14="http://schemas.microsoft.com/office/powerpoint/2010/main" val="33962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3B5E3-DFDE-D810-7BB6-405ABD75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48BB2F-A46A-B14C-18E7-5531FD17F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25" y="1041580"/>
            <a:ext cx="6840760" cy="381642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B28B9-4BA4-BE95-28C8-F30A1E19C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23</a:t>
            </a:fld>
            <a:endParaRPr lang="en-GB"/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C75E18B0-0967-2272-2622-4F6BB60E4C94}"/>
              </a:ext>
            </a:extLst>
          </p:cNvPr>
          <p:cNvSpPr/>
          <p:nvPr/>
        </p:nvSpPr>
        <p:spPr>
          <a:xfrm>
            <a:off x="2749379" y="1993422"/>
            <a:ext cx="722661" cy="482546"/>
          </a:xfrm>
          <a:prstGeom prst="wedgeRoundRectCallout">
            <a:avLst>
              <a:gd name="adj1" fmla="val -99910"/>
              <a:gd name="adj2" fmla="val -34157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tlCol="0" anchor="ctr" anchorCtr="0"/>
          <a:lstStyle/>
          <a:p>
            <a:pPr algn="ctr">
              <a:buSzPct val="100000"/>
            </a:pPr>
            <a:r>
              <a:rPr lang="en-US" sz="1600">
                <a:solidFill>
                  <a:srgbClr val="000000"/>
                </a:solidFill>
                <a:latin typeface="Times New Roman"/>
                <a:cs typeface="Times New Roman"/>
              </a:rPr>
              <a:t>HDL code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36E4E724-4451-A70E-09C1-1DB4934DD700}"/>
              </a:ext>
            </a:extLst>
          </p:cNvPr>
          <p:cNvSpPr/>
          <p:nvPr/>
        </p:nvSpPr>
        <p:spPr>
          <a:xfrm>
            <a:off x="3000680" y="3937190"/>
            <a:ext cx="985310" cy="622379"/>
          </a:xfrm>
          <a:prstGeom prst="wedgeRoundRectCallout">
            <a:avLst>
              <a:gd name="adj1" fmla="val -191987"/>
              <a:gd name="adj2" fmla="val -33877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tlCol="0" anchor="t" anchorCtr="0"/>
          <a:lstStyle/>
          <a:p>
            <a:pPr algn="ctr">
              <a:buSzPct val="100000"/>
            </a:pPr>
            <a:r>
              <a:rPr lang="en-US" sz="1600">
                <a:solidFill>
                  <a:srgbClr val="000000"/>
                </a:solidFill>
                <a:latin typeface="Times New Roman"/>
                <a:cs typeface="Times New Roman"/>
              </a:rPr>
              <a:t>Output file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8E6BEA-AD7A-8F4E-9C4A-C27DCA2E91AE}"/>
              </a:ext>
            </a:extLst>
          </p:cNvPr>
          <p:cNvSpPr txBox="1"/>
          <p:nvPr/>
        </p:nvSpPr>
        <p:spPr>
          <a:xfrm>
            <a:off x="254730" y="452735"/>
            <a:ext cx="3009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Script-based Testing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FC4F82C-4CC1-7973-8A30-3FB11F4FC641}"/>
              </a:ext>
            </a:extLst>
          </p:cNvPr>
          <p:cNvGrpSpPr/>
          <p:nvPr/>
        </p:nvGrpSpPr>
        <p:grpSpPr>
          <a:xfrm>
            <a:off x="6512560" y="2573622"/>
            <a:ext cx="1764139" cy="1898265"/>
            <a:chOff x="9472821" y="1312295"/>
            <a:chExt cx="1764139" cy="189826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C18503B-64F5-293C-F57F-0397D1D194E2}"/>
                </a:ext>
              </a:extLst>
            </p:cNvPr>
            <p:cNvSpPr txBox="1"/>
            <p:nvPr/>
          </p:nvSpPr>
          <p:spPr>
            <a:xfrm>
              <a:off x="9472821" y="1312295"/>
              <a:ext cx="11404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Consolas"/>
                  <a:cs typeface="Consolas"/>
                </a:rPr>
                <a:t>Xor.out</a:t>
              </a:r>
              <a:endParaRPr lang="en-US">
                <a:latin typeface="Times New Roman"/>
                <a:cs typeface="Times New Roman"/>
              </a:endParaRPr>
            </a:p>
          </p:txBody>
        </p:sp>
        <p:sp>
          <p:nvSpPr>
            <p:cNvPr id="21" name="Text Box 7">
              <a:extLst>
                <a:ext uri="{FF2B5EF4-FFF2-40B4-BE49-F238E27FC236}">
                  <a16:creationId xmlns:a16="http://schemas.microsoft.com/office/drawing/2014/main" id="{A9B445E3-645D-1BD6-D732-29808A506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6856" y="1627195"/>
              <a:ext cx="1710104" cy="15833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293973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1600" tIns="144000" rIns="93600" bIns="144000"/>
            <a:lstStyle>
              <a:lvl1pPr marL="342900" indent="-3429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a | b |out|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0 | 0 | 0 |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0 | 1 | 1 |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1 | 0 | 1 |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1 | 1 | 0 |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3403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B0CD-7497-8573-739E-6156E4AA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0A2ECA-07BC-60A1-BDB9-073C2AC1A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725" y="1321594"/>
            <a:ext cx="6752555" cy="3512400"/>
          </a:xfrm>
        </p:spPr>
        <p:txBody>
          <a:bodyPr/>
          <a:lstStyle/>
          <a:p>
            <a:pPr marL="685800" indent="-457200">
              <a:buFont typeface="+mj-lt"/>
              <a:buAutoNum type="arabicPeriod"/>
            </a:pPr>
            <a:endParaRPr lang="zh-CN" altLang="en-US" sz="2000" dirty="0"/>
          </a:p>
          <a:p>
            <a:pPr marL="685800" indent="-457200">
              <a:buFont typeface="+mj-lt"/>
              <a:buAutoNum type="arabicPeriod"/>
            </a:pPr>
            <a:r>
              <a:rPr lang="zh-CN" altLang="en-US" sz="1400" dirty="0"/>
              <a:t>在文本编辑器（文本编辑，</a:t>
            </a:r>
            <a:r>
              <a:rPr lang="en-US" altLang="zh-CN" sz="1400" dirty="0"/>
              <a:t>VS</a:t>
            </a:r>
            <a:r>
              <a:rPr lang="zh-CN" altLang="en-US" sz="1400" dirty="0"/>
              <a:t>代码）中为您的第一个芯片（</a:t>
            </a:r>
            <a:r>
              <a:rPr lang="en-US" altLang="zh-CN" sz="1400" dirty="0" err="1"/>
              <a:t>first.tst</a:t>
            </a:r>
            <a:r>
              <a:rPr lang="zh-CN" altLang="en-US" sz="1400" dirty="0"/>
              <a:t>）创建测试脚本</a:t>
            </a:r>
          </a:p>
          <a:p>
            <a:pPr marL="685800" indent="-457200">
              <a:buFont typeface="+mj-lt"/>
              <a:buAutoNum type="arabicPeriod"/>
            </a:pPr>
            <a:endParaRPr lang="zh-CN" altLang="en-US" sz="1400" dirty="0"/>
          </a:p>
          <a:p>
            <a:pPr marL="685800" indent="-457200">
              <a:buFont typeface="+mj-lt"/>
              <a:buAutoNum type="arabicPeriod"/>
            </a:pPr>
            <a:r>
              <a:rPr lang="zh-CN" altLang="en-US" sz="1400" dirty="0"/>
              <a:t>然后将脚本加载到模拟器中。（您需要刷新浏览器，以便文件显示在列表中。）</a:t>
            </a:r>
          </a:p>
          <a:p>
            <a:pPr marL="685800" indent="-457200">
              <a:buFont typeface="+mj-lt"/>
              <a:buAutoNum type="arabicPeriod"/>
            </a:pPr>
            <a:endParaRPr lang="zh-CN" altLang="en-US" sz="1400" dirty="0"/>
          </a:p>
          <a:p>
            <a:pPr marL="685800" indent="-457200">
              <a:buFont typeface="+mj-lt"/>
              <a:buAutoNum type="arabicPeriod"/>
            </a:pPr>
            <a:r>
              <a:rPr lang="zh-CN" altLang="en-US" sz="1400" dirty="0"/>
              <a:t>在模拟器中运行测试脚本，查看它是否产生预期的输出</a:t>
            </a:r>
            <a:endParaRPr lang="en-US" sz="14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A22AE-C936-7ADB-CB7D-C3E94AA55D8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Your turn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31D07-EB0F-23FB-3CA0-1A47A960A4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24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7C92BF6-5372-54C1-6F68-39FACC9B8D84}"/>
              </a:ext>
            </a:extLst>
          </p:cNvPr>
          <p:cNvGrpSpPr/>
          <p:nvPr/>
        </p:nvGrpSpPr>
        <p:grpSpPr>
          <a:xfrm>
            <a:off x="7109096" y="2481740"/>
            <a:ext cx="1695592" cy="1888530"/>
            <a:chOff x="5043060" y="3984375"/>
            <a:chExt cx="1753980" cy="1898265"/>
          </a:xfrm>
        </p:grpSpPr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FE95EA6A-295D-BDAC-A154-092422E36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6785" y="4299275"/>
              <a:ext cx="1700255" cy="15833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293973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1600" tIns="144000" rIns="93600" bIns="144000"/>
            <a:lstStyle>
              <a:lvl1pPr marL="342900" indent="-3429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A | B | O |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0 | 0 | 1 |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0 | 1 | 0 |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1 | 0 | 0 |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1 | 1 | 1 |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0BF6CB0-D06A-6641-7165-3AAF049BDDF9}"/>
                </a:ext>
              </a:extLst>
            </p:cNvPr>
            <p:cNvSpPr txBox="1"/>
            <p:nvPr/>
          </p:nvSpPr>
          <p:spPr>
            <a:xfrm>
              <a:off x="5043060" y="3984375"/>
              <a:ext cx="1256978" cy="340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err="1">
                  <a:latin typeface="Consolas"/>
                  <a:cs typeface="Consolas"/>
                </a:rPr>
                <a:t>first.out</a:t>
              </a:r>
              <a:endParaRPr lang="en-US">
                <a:latin typeface="Times New Roman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543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41A9C-1A26-384C-2CAA-1F6E3973D0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25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3F4790-92A5-C4E3-90A0-7BA45179C01A}"/>
              </a:ext>
            </a:extLst>
          </p:cNvPr>
          <p:cNvSpPr txBox="1">
            <a:spLocks/>
          </p:cNvSpPr>
          <p:nvPr/>
        </p:nvSpPr>
        <p:spPr>
          <a:xfrm>
            <a:off x="279933" y="1108779"/>
            <a:ext cx="4346207" cy="2170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zh-CN" altLang="en-US" sz="1400" b="1" u="sng" dirty="0"/>
              <a:t>使用比较文件逻辑进行模拟 </a:t>
            </a:r>
            <a:endParaRPr lang="en-US" altLang="zh-CN" sz="1400" b="1" u="sng" dirty="0"/>
          </a:p>
          <a:p>
            <a:pPr marL="0" indent="0"/>
            <a:endParaRPr lang="en-US" altLang="zh-CN" sz="1400" dirty="0"/>
          </a:p>
          <a:p>
            <a:pPr marL="0" indent="0"/>
            <a:r>
              <a:rPr lang="zh-CN" altLang="en-US" sz="1400" dirty="0"/>
              <a:t>当执行每个输出命令时，将输出的行与比较文件中的相应行进行比较</a:t>
            </a:r>
          </a:p>
          <a:p>
            <a:pPr marL="0" indent="0"/>
            <a:endParaRPr lang="zh-CN" altLang="en-US" sz="1400" dirty="0"/>
          </a:p>
          <a:p>
            <a:pPr marL="0" indent="0"/>
            <a:r>
              <a:rPr lang="zh-CN" altLang="en-US" sz="1400" dirty="0"/>
              <a:t>如果两条线不相同，模拟器会抛出比较错误。</a:t>
            </a:r>
          </a:p>
          <a:p>
            <a:pPr marL="0" indent="0"/>
            <a:endParaRPr lang="zh-CN" altLang="en-US" sz="1400" dirty="0"/>
          </a:p>
          <a:p>
            <a:pPr marL="0" indent="0"/>
            <a:r>
              <a:rPr lang="zh-CN" altLang="en-US" sz="1400" dirty="0"/>
              <a:t>请注意，每列中的空格也必须匹配！</a:t>
            </a:r>
            <a:endParaRPr lang="en-US" sz="1400" dirty="0"/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CACA5F33-9FBE-A48C-BCB6-509858D2A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0364" y="1276403"/>
            <a:ext cx="3428469" cy="1835407"/>
          </a:xfrm>
          <a:prstGeom prst="rect">
            <a:avLst/>
          </a:prstGeom>
          <a:solidFill>
            <a:schemeClr val="bg1"/>
          </a:solidFill>
          <a:ln w="9525">
            <a:solidFill>
              <a:srgbClr val="293973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201600" tIns="144000" rIns="93600" bIns="144000"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just">
              <a:spcBef>
                <a:spcPct val="1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load </a:t>
            </a:r>
            <a:r>
              <a:rPr lang="en-US" sz="1200" dirty="0" err="1">
                <a:solidFill>
                  <a:srgbClr val="000000"/>
                </a:solidFill>
                <a:latin typeface="Consolas"/>
                <a:cs typeface="Consolas"/>
              </a:rPr>
              <a:t>Xor.hdl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,</a:t>
            </a:r>
          </a:p>
          <a:p>
            <a:pPr algn="just">
              <a:spcBef>
                <a:spcPct val="1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output-file </a:t>
            </a:r>
            <a:r>
              <a:rPr lang="en-US" sz="1200" dirty="0" err="1">
                <a:solidFill>
                  <a:srgbClr val="000000"/>
                </a:solidFill>
                <a:latin typeface="Consolas"/>
                <a:cs typeface="Consolas"/>
              </a:rPr>
              <a:t>Xor.out</a:t>
            </a: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,</a:t>
            </a:r>
          </a:p>
          <a:p>
            <a:pPr algn="just">
              <a:spcBef>
                <a:spcPct val="15000"/>
              </a:spcBef>
              <a:buClr>
                <a:srgbClr val="006600"/>
              </a:buClr>
              <a:buSzPct val="85000"/>
            </a:pPr>
            <a:r>
              <a:rPr lang="en-US" sz="1200" b="1" dirty="0">
                <a:solidFill>
                  <a:srgbClr val="A50021"/>
                </a:solidFill>
                <a:latin typeface="Consolas"/>
                <a:cs typeface="Consolas"/>
              </a:rPr>
              <a:t>compare-to </a:t>
            </a:r>
            <a:r>
              <a:rPr lang="en-US" sz="1200" b="1" dirty="0" err="1">
                <a:solidFill>
                  <a:srgbClr val="A50021"/>
                </a:solidFill>
                <a:latin typeface="Consolas"/>
                <a:cs typeface="Consolas"/>
              </a:rPr>
              <a:t>Xor.cmp</a:t>
            </a:r>
            <a:r>
              <a:rPr lang="en-US" sz="1200" dirty="0">
                <a:solidFill>
                  <a:srgbClr val="A50021"/>
                </a:solidFill>
                <a:latin typeface="Consolas"/>
                <a:cs typeface="Consolas"/>
              </a:rPr>
              <a:t>,</a:t>
            </a:r>
          </a:p>
          <a:p>
            <a:pPr algn="just">
              <a:spcBef>
                <a:spcPct val="1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output-list a b out;</a:t>
            </a:r>
          </a:p>
          <a:p>
            <a:pPr algn="just">
              <a:spcBef>
                <a:spcPct val="1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set a 0, set b 0, eval, output;</a:t>
            </a:r>
          </a:p>
          <a:p>
            <a:pPr algn="just">
              <a:spcBef>
                <a:spcPct val="1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set a 0, set b 1, eval, output;</a:t>
            </a:r>
          </a:p>
          <a:p>
            <a:pPr algn="just">
              <a:spcBef>
                <a:spcPct val="1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set a 1, set b 0, eval, output;</a:t>
            </a:r>
          </a:p>
          <a:p>
            <a:pPr algn="just">
              <a:spcBef>
                <a:spcPct val="15000"/>
              </a:spcBef>
              <a:buClr>
                <a:srgbClr val="006600"/>
              </a:buClr>
              <a:buSzPct val="85000"/>
              <a:buFont typeface="Wingdings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  <a:cs typeface="Consolas"/>
              </a:rPr>
              <a:t>set a 1, set b 1, eval, output;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19FDF1-B981-462C-F264-B6776C36CFD2}"/>
              </a:ext>
            </a:extLst>
          </p:cNvPr>
          <p:cNvSpPr txBox="1"/>
          <p:nvPr/>
        </p:nvSpPr>
        <p:spPr>
          <a:xfrm>
            <a:off x="4896969" y="941183"/>
            <a:ext cx="1140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onsolas"/>
                <a:cs typeface="Consolas"/>
              </a:rPr>
              <a:t>Xor.tst</a:t>
            </a:r>
            <a:endParaRPr lang="en-US">
              <a:latin typeface="Times New Roman"/>
              <a:cs typeface="Times New Roman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8812F3-A22A-AB51-6747-554915C074A8}"/>
              </a:ext>
            </a:extLst>
          </p:cNvPr>
          <p:cNvGrpSpPr/>
          <p:nvPr/>
        </p:nvGrpSpPr>
        <p:grpSpPr>
          <a:xfrm>
            <a:off x="4434851" y="3111810"/>
            <a:ext cx="1753979" cy="1940836"/>
            <a:chOff x="5043061" y="3941804"/>
            <a:chExt cx="1753979" cy="194083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772E4EF-568F-598E-C483-E642708935C1}"/>
                </a:ext>
              </a:extLst>
            </p:cNvPr>
            <p:cNvGrpSpPr/>
            <p:nvPr/>
          </p:nvGrpSpPr>
          <p:grpSpPr>
            <a:xfrm>
              <a:off x="5043061" y="3984375"/>
              <a:ext cx="1753979" cy="1898265"/>
              <a:chOff x="9472821" y="1312295"/>
              <a:chExt cx="1764139" cy="1898265"/>
            </a:xfrm>
          </p:grpSpPr>
          <p:sp>
            <p:nvSpPr>
              <p:cNvPr id="13" name="Text Box 7">
                <a:extLst>
                  <a:ext uri="{FF2B5EF4-FFF2-40B4-BE49-F238E27FC236}">
                    <a16:creationId xmlns:a16="http://schemas.microsoft.com/office/drawing/2014/main" id="{B14BF7BE-6372-113D-3829-B6F6397A2F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26856" y="1627195"/>
                <a:ext cx="1710104" cy="158336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293973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201600" tIns="144000" rIns="93600" bIns="144000"/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a | b |out|</a:t>
                </a:r>
              </a:p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0 | 0 | 0 |</a:t>
                </a:r>
              </a:p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0 | 1 | 1 |</a:t>
                </a:r>
              </a:p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1 | 0 | 1 |</a:t>
                </a:r>
              </a:p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1 | 1 | 0 |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7151989-D0A9-A53D-3625-E4845A356489}"/>
                  </a:ext>
                </a:extLst>
              </p:cNvPr>
              <p:cNvSpPr txBox="1"/>
              <p:nvPr/>
            </p:nvSpPr>
            <p:spPr>
              <a:xfrm>
                <a:off x="9472821" y="1312295"/>
                <a:ext cx="11404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>
                    <a:latin typeface="Consolas"/>
                    <a:cs typeface="Consolas"/>
                  </a:rPr>
                  <a:t>Xor.out</a:t>
                </a:r>
                <a:endParaRPr lang="en-US"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F38396AE-513A-4A22-155E-296CA77E2AD0}"/>
                </a:ext>
              </a:extLst>
            </p:cNvPr>
            <p:cNvSpPr/>
            <p:nvPr/>
          </p:nvSpPr>
          <p:spPr>
            <a:xfrm rot="5400000">
              <a:off x="6053960" y="3925410"/>
              <a:ext cx="419362" cy="452150"/>
            </a:xfrm>
            <a:prstGeom prst="rightArrow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08000" rIns="0" rtlCol="0" anchor="ctr"/>
            <a:lstStyle/>
            <a:p>
              <a:pPr algn="ctr">
                <a:lnSpc>
                  <a:spcPts val="1620"/>
                </a:lnSpc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834F62-9379-8592-1144-EF615DEC6423}"/>
              </a:ext>
            </a:extLst>
          </p:cNvPr>
          <p:cNvGrpSpPr/>
          <p:nvPr/>
        </p:nvGrpSpPr>
        <p:grpSpPr>
          <a:xfrm>
            <a:off x="6127436" y="3153405"/>
            <a:ext cx="2449517" cy="1898265"/>
            <a:chOff x="6440483" y="3964055"/>
            <a:chExt cx="2449517" cy="189826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75328FB-1791-61AB-5869-025DE7242328}"/>
                </a:ext>
              </a:extLst>
            </p:cNvPr>
            <p:cNvGrpSpPr/>
            <p:nvPr/>
          </p:nvGrpSpPr>
          <p:grpSpPr>
            <a:xfrm>
              <a:off x="7237621" y="3964055"/>
              <a:ext cx="1652379" cy="1898265"/>
              <a:chOff x="9472821" y="1312295"/>
              <a:chExt cx="1764139" cy="1898265"/>
            </a:xfrm>
          </p:grpSpPr>
          <p:sp>
            <p:nvSpPr>
              <p:cNvPr id="18" name="Text Box 7">
                <a:extLst>
                  <a:ext uri="{FF2B5EF4-FFF2-40B4-BE49-F238E27FC236}">
                    <a16:creationId xmlns:a16="http://schemas.microsoft.com/office/drawing/2014/main" id="{775F7DEC-C44A-9C7A-248A-74142B09A1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26856" y="1627195"/>
                <a:ext cx="1710104" cy="158336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293973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201600" tIns="144000" rIns="93600" bIns="144000"/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a | b |out|</a:t>
                </a:r>
              </a:p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0 | 0 | 0 |</a:t>
                </a:r>
              </a:p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0 | 1 | 1 |</a:t>
                </a:r>
              </a:p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1 | 0 | 1 |</a:t>
                </a:r>
              </a:p>
              <a:p>
                <a:pPr algn="just">
                  <a:spcBef>
                    <a:spcPct val="15000"/>
                  </a:spcBef>
                  <a:buClr>
                    <a:srgbClr val="006600"/>
                  </a:buClr>
                  <a:buSzPct val="85000"/>
                  <a:buFont typeface="Wingdings" charset="0"/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Consolas"/>
                    <a:cs typeface="Consolas"/>
                  </a:rPr>
                  <a:t>| 1 | 1 | 0 |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FA7EF7-09B7-8F10-8AFF-ABB854A34A9F}"/>
                  </a:ext>
                </a:extLst>
              </p:cNvPr>
              <p:cNvSpPr txBox="1"/>
              <p:nvPr/>
            </p:nvSpPr>
            <p:spPr>
              <a:xfrm>
                <a:off x="9472821" y="1312295"/>
                <a:ext cx="11404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>
                    <a:latin typeface="Consolas"/>
                    <a:cs typeface="Consolas"/>
                  </a:rPr>
                  <a:t>Xor.cmp</a:t>
                </a:r>
                <a:endParaRPr lang="en-US"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17" name="Left-Right Arrow 25">
              <a:extLst>
                <a:ext uri="{FF2B5EF4-FFF2-40B4-BE49-F238E27FC236}">
                  <a16:creationId xmlns:a16="http://schemas.microsoft.com/office/drawing/2014/main" id="{E8A57CCB-3FED-541D-B6E1-995B3C09D1C0}"/>
                </a:ext>
              </a:extLst>
            </p:cNvPr>
            <p:cNvSpPr/>
            <p:nvPr/>
          </p:nvSpPr>
          <p:spPr>
            <a:xfrm>
              <a:off x="6440483" y="4680415"/>
              <a:ext cx="969908" cy="543262"/>
            </a:xfrm>
            <a:prstGeom prst="leftRightArrow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4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compare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DA03158-012E-2556-EA09-3C8EA378240F}"/>
              </a:ext>
            </a:extLst>
          </p:cNvPr>
          <p:cNvSpPr txBox="1"/>
          <p:nvPr/>
        </p:nvSpPr>
        <p:spPr>
          <a:xfrm>
            <a:off x="254730" y="452735"/>
            <a:ext cx="3009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Script-based Testing</a:t>
            </a:r>
          </a:p>
        </p:txBody>
      </p:sp>
    </p:spTree>
    <p:extLst>
      <p:ext uri="{BB962C8B-B14F-4D97-AF65-F5344CB8AC3E}">
        <p14:creationId xmlns:p14="http://schemas.microsoft.com/office/powerpoint/2010/main" val="277555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610C3-F1E6-8A31-2E83-C3BADEBF6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1B3AA8-5C6A-7A80-295B-84A94D6A0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624" y="1237451"/>
            <a:ext cx="7559700" cy="3512400"/>
          </a:xfrm>
        </p:spPr>
        <p:txBody>
          <a:bodyPr/>
          <a:lstStyle/>
          <a:p>
            <a:r>
              <a:rPr lang="en-US" sz="2000"/>
              <a:t>1) In a text editor create a compare file for your first chip.</a:t>
            </a:r>
          </a:p>
          <a:p>
            <a:r>
              <a:rPr lang="en-US" sz="2000"/>
              <a:t>It should look like the following.</a:t>
            </a:r>
          </a:p>
          <a:p>
            <a:endParaRPr lang="en-US" sz="2000"/>
          </a:p>
          <a:p>
            <a:r>
              <a:rPr lang="en-US" sz="2000"/>
              <a:t>2) Update your </a:t>
            </a:r>
            <a:r>
              <a:rPr lang="en-US" sz="2000" err="1"/>
              <a:t>first.tst</a:t>
            </a:r>
            <a:r>
              <a:rPr lang="en-US" sz="2000"/>
              <a:t> file to include a compare file.</a:t>
            </a:r>
          </a:p>
          <a:p>
            <a:endParaRPr lang="en-US" sz="2000"/>
          </a:p>
          <a:p>
            <a:r>
              <a:rPr lang="en-US" sz="2000"/>
              <a:t>3) Run your script in the simulator and check that all comparisons are passed.</a:t>
            </a:r>
          </a:p>
          <a:p>
            <a:endParaRPr lang="en-US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240CC-215E-C7DF-C7C5-6EA2C519FFE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1540" y="367474"/>
            <a:ext cx="5819700" cy="621000"/>
          </a:xfrm>
        </p:spPr>
        <p:txBody>
          <a:bodyPr/>
          <a:lstStyle/>
          <a:p>
            <a:r>
              <a:rPr lang="en-US"/>
              <a:t>Your turn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BDF45-E028-9440-BCAC-A41FB85BED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26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9413F8-FCDD-0EB1-74C8-901FB261656E}"/>
              </a:ext>
            </a:extLst>
          </p:cNvPr>
          <p:cNvGrpSpPr/>
          <p:nvPr/>
        </p:nvGrpSpPr>
        <p:grpSpPr>
          <a:xfrm>
            <a:off x="6936557" y="1401620"/>
            <a:ext cx="1740596" cy="1959040"/>
            <a:chOff x="4996506" y="3913502"/>
            <a:chExt cx="1800534" cy="1969138"/>
          </a:xfrm>
        </p:grpSpPr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9F617A6B-DC80-9B06-AA70-8949B3E8C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6785" y="4299275"/>
              <a:ext cx="1700255" cy="15833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293973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1600" tIns="144000" rIns="93600" bIns="144000"/>
            <a:lstStyle>
              <a:lvl1pPr marL="342900" indent="-3429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A | B | O |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0 | 0 | 1 |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0 | 1 | 0 |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1 | 0 | 0 |</a:t>
              </a:r>
            </a:p>
            <a:p>
              <a:pPr algn="just">
                <a:spcBef>
                  <a:spcPct val="15000"/>
                </a:spcBef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400">
                  <a:solidFill>
                    <a:srgbClr val="000000"/>
                  </a:solidFill>
                  <a:latin typeface="Consolas"/>
                  <a:cs typeface="Consolas"/>
                </a:rPr>
                <a:t>| 1 | 1 | 1 |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C5B9B9-285D-5DA9-D857-D26689108989}"/>
                </a:ext>
              </a:extLst>
            </p:cNvPr>
            <p:cNvSpPr txBox="1"/>
            <p:nvPr/>
          </p:nvSpPr>
          <p:spPr>
            <a:xfrm>
              <a:off x="4996506" y="3913502"/>
              <a:ext cx="1256980" cy="340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err="1">
                  <a:latin typeface="Consolas"/>
                  <a:cs typeface="Consolas"/>
                </a:rPr>
                <a:t>first.cmp</a:t>
              </a:r>
              <a:endParaRPr lang="en-US">
                <a:latin typeface="Times New Roman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63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4DE3AA-566A-1FDA-EE8B-63C75741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225" y="998428"/>
            <a:ext cx="7559700" cy="3512400"/>
          </a:xfrm>
        </p:spPr>
        <p:txBody>
          <a:bodyPr/>
          <a:lstStyle/>
          <a:p>
            <a:pPr marL="454025" indent="-225425">
              <a:buFont typeface="Arial" panose="020B0604020202020204" pitchFamily="34" charset="0"/>
              <a:buChar char="•"/>
            </a:pPr>
            <a:r>
              <a:rPr lang="en-US" sz="2400" dirty="0"/>
              <a:t>Now have a go at implementing the Half and Full Adders from Lecture 1.4.1.</a:t>
            </a:r>
          </a:p>
          <a:p>
            <a:pPr marL="954088" lvl="1" indent="-268288">
              <a:buFont typeface="Arial" panose="020B0604020202020204" pitchFamily="34" charset="0"/>
              <a:buChar char="•"/>
            </a:pPr>
            <a:r>
              <a:rPr lang="zh-CN" altLang="en-US" sz="1600" dirty="0"/>
              <a:t>我们为文件</a:t>
            </a:r>
            <a:r>
              <a:rPr lang="en-US" altLang="zh-CN" sz="1600" dirty="0" err="1"/>
              <a:t>HalfAdder.hdl</a:t>
            </a:r>
            <a:r>
              <a:rPr lang="zh-CN" altLang="en-US" sz="1600" dirty="0"/>
              <a:t>和</a:t>
            </a:r>
            <a:r>
              <a:rPr lang="en-US" altLang="zh-CN" sz="1600" dirty="0" err="1"/>
              <a:t>FullAdder.hdl</a:t>
            </a:r>
            <a:r>
              <a:rPr lang="zh-CN" altLang="en-US" sz="1600" dirty="0"/>
              <a:t>以及所需的测试和比较文件提供了一个模板。</a:t>
            </a:r>
            <a:endParaRPr lang="en-US" sz="1600" dirty="0"/>
          </a:p>
          <a:p>
            <a:pPr marL="954088" lvl="1" indent="-268288">
              <a:buFont typeface="Arial" panose="020B0604020202020204" pitchFamily="34" charset="0"/>
              <a:buChar char="•"/>
            </a:pPr>
            <a:r>
              <a:rPr lang="zh-CN" altLang="en-US" sz="1600" dirty="0"/>
              <a:t>提示：您可以使用您在其他</a:t>
            </a:r>
            <a:r>
              <a:rPr lang="en-US" sz="1600" dirty="0"/>
              <a:t>HDL</a:t>
            </a:r>
            <a:r>
              <a:rPr lang="zh-CN" altLang="en-US" sz="1600" dirty="0"/>
              <a:t>文件中创建的芯片。因此，一旦你创建了</a:t>
            </a:r>
            <a:r>
              <a:rPr lang="en-US" sz="1600" dirty="0" err="1"/>
              <a:t>HalfAdder.hdl</a:t>
            </a:r>
            <a:r>
              <a:rPr lang="en-US" sz="1600" dirty="0"/>
              <a:t>，</a:t>
            </a:r>
            <a:r>
              <a:rPr lang="zh-CN" altLang="en-US" sz="1600" dirty="0"/>
              <a:t>你就可以将该芯片包含在</a:t>
            </a:r>
            <a:r>
              <a:rPr lang="en-US" sz="1600" dirty="0" err="1"/>
              <a:t>FullAdder.hdl</a:t>
            </a:r>
            <a:r>
              <a:rPr lang="zh-CN" altLang="en-US" sz="1600" dirty="0"/>
              <a:t>文件中，而无需复制</a:t>
            </a:r>
            <a:r>
              <a:rPr lang="en-US" sz="1600" dirty="0" err="1"/>
              <a:t>hdl</a:t>
            </a:r>
            <a:r>
              <a:rPr lang="zh-CN" altLang="en-US" sz="1600" dirty="0"/>
              <a:t>（因为</a:t>
            </a:r>
            <a:r>
              <a:rPr lang="en-US" altLang="zh-CN" sz="1600" dirty="0" err="1"/>
              <a:t>HalfAdder</a:t>
            </a:r>
            <a:r>
              <a:rPr lang="en-US" altLang="zh-CN" sz="1600" dirty="0"/>
              <a:t> </a:t>
            </a:r>
            <a:r>
              <a:rPr lang="zh-CN" altLang="en-US" sz="1600" dirty="0"/>
              <a:t>的芯片名称和文件名一致，所以能找到）</a:t>
            </a:r>
            <a:endParaRPr lang="en-US" sz="1600" dirty="0"/>
          </a:p>
          <a:p>
            <a:pPr marL="685800" lvl="1" indent="0"/>
            <a:r>
              <a:rPr lang="en-US" b="1" dirty="0"/>
              <a:t>  </a:t>
            </a:r>
            <a:r>
              <a:rPr lang="en-US" dirty="0"/>
              <a:t>   Putting</a:t>
            </a:r>
          </a:p>
          <a:p>
            <a:pPr marL="685800" lvl="1" indent="0"/>
            <a:r>
              <a:rPr lang="en-US" i="1" dirty="0"/>
              <a:t>		</a:t>
            </a:r>
            <a:r>
              <a:rPr lang="en-US" i="1" dirty="0" err="1"/>
              <a:t>HalfAdder</a:t>
            </a:r>
            <a:r>
              <a:rPr lang="en-US" i="1" dirty="0"/>
              <a:t>(a=a, b=b, sum=</a:t>
            </a:r>
            <a:r>
              <a:rPr lang="en-US" i="1" dirty="0" err="1"/>
              <a:t>s1</a:t>
            </a:r>
            <a:r>
              <a:rPr lang="en-US" i="1" dirty="0"/>
              <a:t>, carry=</a:t>
            </a:r>
            <a:r>
              <a:rPr lang="en-US" i="1" dirty="0" err="1"/>
              <a:t>c1</a:t>
            </a:r>
            <a:r>
              <a:rPr lang="en-US" i="1" dirty="0"/>
              <a:t>);</a:t>
            </a:r>
          </a:p>
          <a:p>
            <a:pPr marL="685800" lvl="1" indent="0"/>
            <a:r>
              <a:rPr lang="en-US" i="1" dirty="0"/>
              <a:t>	</a:t>
            </a:r>
            <a:r>
              <a:rPr lang="en-US" dirty="0"/>
              <a:t>in your </a:t>
            </a:r>
            <a:r>
              <a:rPr lang="en-US" dirty="0" err="1"/>
              <a:t>FullAdder.hdl</a:t>
            </a:r>
            <a:r>
              <a:rPr lang="en-US" dirty="0"/>
              <a:t> will include a Half Adder with pin names </a:t>
            </a:r>
            <a:r>
              <a:rPr lang="en-US" i="1" dirty="0"/>
              <a:t>a</a:t>
            </a:r>
            <a:r>
              <a:rPr lang="en-US" dirty="0"/>
              <a:t> and 	</a:t>
            </a:r>
            <a:r>
              <a:rPr lang="en-US" i="1" dirty="0"/>
              <a:t>b</a:t>
            </a:r>
            <a:r>
              <a:rPr lang="en-US" dirty="0"/>
              <a:t> and output pin names </a:t>
            </a:r>
            <a:r>
              <a:rPr lang="en-US" i="1" dirty="0" err="1"/>
              <a:t>s1</a:t>
            </a:r>
            <a:r>
              <a:rPr lang="en-US" dirty="0"/>
              <a:t> and </a:t>
            </a:r>
            <a:r>
              <a:rPr lang="en-US" i="1" dirty="0" err="1"/>
              <a:t>c1</a:t>
            </a:r>
            <a:r>
              <a:rPr lang="en-US" dirty="0"/>
              <a:t>.</a:t>
            </a:r>
          </a:p>
          <a:p>
            <a:pPr marL="685800" lvl="1" indent="0"/>
            <a:endParaRPr lang="en-US" dirty="0"/>
          </a:p>
          <a:p>
            <a:pPr marL="954088" lvl="1" indent="-268288">
              <a:buFont typeface="Arial" panose="020B0604020202020204" pitchFamily="34" charset="0"/>
              <a:buChar char="•"/>
            </a:pPr>
            <a:r>
              <a:rPr lang="en-US" dirty="0"/>
              <a:t>Below is a reminder of the circuits. </a:t>
            </a:r>
          </a:p>
          <a:p>
            <a:pPr marL="911225" lvl="1" indent="-225425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A422C-0D80-0424-D521-E60252D4D72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Your turn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57D04-6380-7EEA-C700-E8422F9584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519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38D2-CCEB-B292-C6CD-7C90DC407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E23C14-6DD5-F7DB-EE33-AB8F385D1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724" y="1321594"/>
            <a:ext cx="4682325" cy="3512400"/>
          </a:xfrm>
        </p:spPr>
        <p:txBody>
          <a:bodyPr/>
          <a:lstStyle/>
          <a:p>
            <a:pPr marL="454025" indent="-225425">
              <a:buFont typeface="Arial" panose="020B0604020202020204" pitchFamily="34" charset="0"/>
              <a:buChar char="•"/>
            </a:pPr>
            <a:r>
              <a:rPr lang="en-US" sz="2400" b="1"/>
              <a:t>Half Adder (</a:t>
            </a:r>
            <a:r>
              <a:rPr lang="en-US" sz="2400" b="1" err="1"/>
              <a:t>HalfAdder.hdl</a:t>
            </a:r>
            <a:r>
              <a:rPr lang="en-US" sz="2400" b="1"/>
              <a:t>)</a:t>
            </a:r>
          </a:p>
          <a:p>
            <a:pPr marL="454025" indent="-225425">
              <a:buFont typeface="Arial" panose="020B0604020202020204" pitchFamily="34" charset="0"/>
              <a:buChar char="•"/>
            </a:pPr>
            <a:r>
              <a:rPr lang="en-US" sz="2000"/>
              <a:t>Note the case of the pin names used for the inputs and outputs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704C5-A476-C102-D164-0482DC5E368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Your turn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4C876-6A93-3910-31B2-69525ED988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28</a:t>
            </a:fld>
            <a:endParaRPr lang="en-GB"/>
          </a:p>
        </p:txBody>
      </p:sp>
      <p:pic>
        <p:nvPicPr>
          <p:cNvPr id="5" name="Content Placeholder 4" descr="Circuit diagram for 1-bit half adder">
            <a:extLst>
              <a:ext uri="{FF2B5EF4-FFF2-40B4-BE49-F238E27FC236}">
                <a16:creationId xmlns:a16="http://schemas.microsoft.com/office/drawing/2014/main" id="{315A8259-AF30-671E-9F8A-EC50E5EB0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156065"/>
            <a:ext cx="2507125" cy="16185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8794AD4D-27B6-3118-97DC-28F51417C0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7370368"/>
              </p:ext>
            </p:extLst>
          </p:nvPr>
        </p:nvGraphicFramePr>
        <p:xfrm>
          <a:off x="5142720" y="1960900"/>
          <a:ext cx="3414064" cy="12217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53516">
                  <a:extLst>
                    <a:ext uri="{9D8B030D-6E8A-4147-A177-3AD203B41FA5}">
                      <a16:colId xmlns:a16="http://schemas.microsoft.com/office/drawing/2014/main" val="176169457"/>
                    </a:ext>
                  </a:extLst>
                </a:gridCol>
                <a:gridCol w="853516">
                  <a:extLst>
                    <a:ext uri="{9D8B030D-6E8A-4147-A177-3AD203B41FA5}">
                      <a16:colId xmlns:a16="http://schemas.microsoft.com/office/drawing/2014/main" val="156802996"/>
                    </a:ext>
                  </a:extLst>
                </a:gridCol>
                <a:gridCol w="853516">
                  <a:extLst>
                    <a:ext uri="{9D8B030D-6E8A-4147-A177-3AD203B41FA5}">
                      <a16:colId xmlns:a16="http://schemas.microsoft.com/office/drawing/2014/main" val="2749299097"/>
                    </a:ext>
                  </a:extLst>
                </a:gridCol>
                <a:gridCol w="853516">
                  <a:extLst>
                    <a:ext uri="{9D8B030D-6E8A-4147-A177-3AD203B41FA5}">
                      <a16:colId xmlns:a16="http://schemas.microsoft.com/office/drawing/2014/main" val="126965062"/>
                    </a:ext>
                  </a:extLst>
                </a:gridCol>
              </a:tblGrid>
              <a:tr h="244340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a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b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sum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carry</a:t>
                      </a:r>
                    </a:p>
                  </a:txBody>
                  <a:tcPr marL="60248" marR="60248" marT="30124" marB="30124"/>
                </a:tc>
                <a:extLst>
                  <a:ext uri="{0D108BD9-81ED-4DB2-BD59-A6C34878D82A}">
                    <a16:rowId xmlns:a16="http://schemas.microsoft.com/office/drawing/2014/main" val="3799525933"/>
                  </a:ext>
                </a:extLst>
              </a:tr>
              <a:tr h="244340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60248" marR="60248" marT="30124" marB="30124"/>
                </a:tc>
                <a:extLst>
                  <a:ext uri="{0D108BD9-81ED-4DB2-BD59-A6C34878D82A}">
                    <a16:rowId xmlns:a16="http://schemas.microsoft.com/office/drawing/2014/main" val="1165040119"/>
                  </a:ext>
                </a:extLst>
              </a:tr>
              <a:tr h="244340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60248" marR="60248" marT="30124" marB="30124"/>
                </a:tc>
                <a:extLst>
                  <a:ext uri="{0D108BD9-81ED-4DB2-BD59-A6C34878D82A}">
                    <a16:rowId xmlns:a16="http://schemas.microsoft.com/office/drawing/2014/main" val="3078938068"/>
                  </a:ext>
                </a:extLst>
              </a:tr>
              <a:tr h="244340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60248" marR="60248" marT="30124" marB="30124"/>
                </a:tc>
                <a:extLst>
                  <a:ext uri="{0D108BD9-81ED-4DB2-BD59-A6C34878D82A}">
                    <a16:rowId xmlns:a16="http://schemas.microsoft.com/office/drawing/2014/main" val="1348968051"/>
                  </a:ext>
                </a:extLst>
              </a:tr>
              <a:tr h="244340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60248" marR="60248" marT="30124" marB="301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60248" marR="60248" marT="30124" marB="30124"/>
                </a:tc>
                <a:extLst>
                  <a:ext uri="{0D108BD9-81ED-4DB2-BD59-A6C34878D82A}">
                    <a16:rowId xmlns:a16="http://schemas.microsoft.com/office/drawing/2014/main" val="2507881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300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E5E22-A3B7-0039-9112-D8BF7C6E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13AA74-C70D-52CD-933C-26B2D07E0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725" y="1321594"/>
            <a:ext cx="4457300" cy="3512400"/>
          </a:xfrm>
        </p:spPr>
        <p:txBody>
          <a:bodyPr/>
          <a:lstStyle/>
          <a:p>
            <a:pPr marL="454025" indent="-225425">
              <a:buFont typeface="Arial" panose="020B0604020202020204" pitchFamily="34" charset="0"/>
              <a:buChar char="•"/>
            </a:pPr>
            <a:r>
              <a:rPr lang="en-US" sz="2400" b="1"/>
              <a:t>Full Adder (</a:t>
            </a:r>
            <a:r>
              <a:rPr lang="en-US" sz="2400" b="1" err="1"/>
              <a:t>FullAdder.hdl</a:t>
            </a:r>
            <a:r>
              <a:rPr lang="en-US" sz="2400" b="1"/>
              <a:t>)</a:t>
            </a:r>
          </a:p>
          <a:p>
            <a:pPr marL="454025" indent="-225425">
              <a:buFont typeface="Arial" panose="020B0604020202020204" pitchFamily="34" charset="0"/>
              <a:buChar char="•"/>
            </a:pPr>
            <a:r>
              <a:rPr lang="en-US" sz="2000"/>
              <a:t>Note the names and case used for the input and output pins in the 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CE22F-C590-365F-1193-E42CAC5B5A8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1540" y="425807"/>
            <a:ext cx="5819700" cy="621000"/>
          </a:xfrm>
        </p:spPr>
        <p:txBody>
          <a:bodyPr/>
          <a:lstStyle/>
          <a:p>
            <a:r>
              <a:rPr lang="en-US"/>
              <a:t>Your turn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C0D41-17F1-06A3-30F4-FDBCBF8923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29</a:t>
            </a:fld>
            <a:endParaRPr lang="en-GB"/>
          </a:p>
        </p:txBody>
      </p:sp>
      <p:graphicFrame>
        <p:nvGraphicFramePr>
          <p:cNvPr id="6" name="Content Placeholder 8">
            <a:extLst>
              <a:ext uri="{FF2B5EF4-FFF2-40B4-BE49-F238E27FC236}">
                <a16:creationId xmlns:a16="http://schemas.microsoft.com/office/drawing/2014/main" id="{BC908273-A5B5-B6AB-2B55-AE43999CB2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9848048"/>
              </p:ext>
            </p:extLst>
          </p:nvPr>
        </p:nvGraphicFramePr>
        <p:xfrm>
          <a:off x="4996936" y="1055912"/>
          <a:ext cx="3220470" cy="215740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44094">
                  <a:extLst>
                    <a:ext uri="{9D8B030D-6E8A-4147-A177-3AD203B41FA5}">
                      <a16:colId xmlns:a16="http://schemas.microsoft.com/office/drawing/2014/main" val="3714654940"/>
                    </a:ext>
                  </a:extLst>
                </a:gridCol>
                <a:gridCol w="644094">
                  <a:extLst>
                    <a:ext uri="{9D8B030D-6E8A-4147-A177-3AD203B41FA5}">
                      <a16:colId xmlns:a16="http://schemas.microsoft.com/office/drawing/2014/main" val="3314558278"/>
                    </a:ext>
                  </a:extLst>
                </a:gridCol>
                <a:gridCol w="644094">
                  <a:extLst>
                    <a:ext uri="{9D8B030D-6E8A-4147-A177-3AD203B41FA5}">
                      <a16:colId xmlns:a16="http://schemas.microsoft.com/office/drawing/2014/main" val="2558634172"/>
                    </a:ext>
                  </a:extLst>
                </a:gridCol>
                <a:gridCol w="644094">
                  <a:extLst>
                    <a:ext uri="{9D8B030D-6E8A-4147-A177-3AD203B41FA5}">
                      <a16:colId xmlns:a16="http://schemas.microsoft.com/office/drawing/2014/main" val="1161626246"/>
                    </a:ext>
                  </a:extLst>
                </a:gridCol>
                <a:gridCol w="644094">
                  <a:extLst>
                    <a:ext uri="{9D8B030D-6E8A-4147-A177-3AD203B41FA5}">
                      <a16:colId xmlns:a16="http://schemas.microsoft.com/office/drawing/2014/main" val="1939787915"/>
                    </a:ext>
                  </a:extLst>
                </a:gridCol>
              </a:tblGrid>
              <a:tr h="234045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a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b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c</a:t>
                      </a:r>
                      <a:endParaRPr lang="en-GB" sz="1200" baseline="-25000"/>
                    </a:p>
                  </a:txBody>
                  <a:tcPr marL="56832" marR="56832" marT="28416" marB="2841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sum</a:t>
                      </a:r>
                    </a:p>
                  </a:txBody>
                  <a:tcPr marL="56832" marR="56832" marT="28416" marB="2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carry</a:t>
                      </a:r>
                      <a:endParaRPr lang="en-GB" sz="1200" baseline="-25000"/>
                    </a:p>
                  </a:txBody>
                  <a:tcPr marL="56832" marR="56832" marT="28416" marB="28416"/>
                </a:tc>
                <a:extLst>
                  <a:ext uri="{0D108BD9-81ED-4DB2-BD59-A6C34878D82A}">
                    <a16:rowId xmlns:a16="http://schemas.microsoft.com/office/drawing/2014/main" val="2691521528"/>
                  </a:ext>
                </a:extLst>
              </a:tr>
              <a:tr h="234045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/>
                </a:tc>
                <a:extLst>
                  <a:ext uri="{0D108BD9-81ED-4DB2-BD59-A6C34878D82A}">
                    <a16:rowId xmlns:a16="http://schemas.microsoft.com/office/drawing/2014/main" val="2144952608"/>
                  </a:ext>
                </a:extLst>
              </a:tr>
              <a:tr h="234045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/>
                </a:tc>
                <a:extLst>
                  <a:ext uri="{0D108BD9-81ED-4DB2-BD59-A6C34878D82A}">
                    <a16:rowId xmlns:a16="http://schemas.microsoft.com/office/drawing/2014/main" val="4107134914"/>
                  </a:ext>
                </a:extLst>
              </a:tr>
              <a:tr h="234045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/>
                </a:tc>
                <a:extLst>
                  <a:ext uri="{0D108BD9-81ED-4DB2-BD59-A6C34878D82A}">
                    <a16:rowId xmlns:a16="http://schemas.microsoft.com/office/drawing/2014/main" val="416950639"/>
                  </a:ext>
                </a:extLst>
              </a:tr>
              <a:tr h="234045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/>
                </a:tc>
                <a:extLst>
                  <a:ext uri="{0D108BD9-81ED-4DB2-BD59-A6C34878D82A}">
                    <a16:rowId xmlns:a16="http://schemas.microsoft.com/office/drawing/2014/main" val="1564612352"/>
                  </a:ext>
                </a:extLst>
              </a:tr>
              <a:tr h="234045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/>
                </a:tc>
                <a:extLst>
                  <a:ext uri="{0D108BD9-81ED-4DB2-BD59-A6C34878D82A}">
                    <a16:rowId xmlns:a16="http://schemas.microsoft.com/office/drawing/2014/main" val="3183874507"/>
                  </a:ext>
                </a:extLst>
              </a:tr>
              <a:tr h="234045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/>
                </a:tc>
                <a:extLst>
                  <a:ext uri="{0D108BD9-81ED-4DB2-BD59-A6C34878D82A}">
                    <a16:rowId xmlns:a16="http://schemas.microsoft.com/office/drawing/2014/main" val="1196254657"/>
                  </a:ext>
                </a:extLst>
              </a:tr>
              <a:tr h="234045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0</a:t>
                      </a:r>
                    </a:p>
                  </a:txBody>
                  <a:tcPr marL="56832" marR="56832" marT="28416" marB="2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/>
                </a:tc>
                <a:extLst>
                  <a:ext uri="{0D108BD9-81ED-4DB2-BD59-A6C34878D82A}">
                    <a16:rowId xmlns:a16="http://schemas.microsoft.com/office/drawing/2014/main" val="1431407927"/>
                  </a:ext>
                </a:extLst>
              </a:tr>
              <a:tr h="234045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1</a:t>
                      </a:r>
                    </a:p>
                  </a:txBody>
                  <a:tcPr marL="56832" marR="56832" marT="28416" marB="28416"/>
                </a:tc>
                <a:extLst>
                  <a:ext uri="{0D108BD9-81ED-4DB2-BD59-A6C34878D82A}">
                    <a16:rowId xmlns:a16="http://schemas.microsoft.com/office/drawing/2014/main" val="1122599265"/>
                  </a:ext>
                </a:extLst>
              </a:tr>
            </a:tbl>
          </a:graphicData>
        </a:graphic>
      </p:graphicFrame>
      <p:pic>
        <p:nvPicPr>
          <p:cNvPr id="7" name="Content Placeholder 4" descr="A graph with lines and a white box&#10;&#10;AI-generated content may be incorrect.">
            <a:extLst>
              <a:ext uri="{FF2B5EF4-FFF2-40B4-BE49-F238E27FC236}">
                <a16:creationId xmlns:a16="http://schemas.microsoft.com/office/drawing/2014/main" id="{A9B39C65-C0BA-47FC-505E-2A4D7EF98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3363291"/>
            <a:ext cx="5892043" cy="1562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539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D761CE-FFCF-F471-5309-FAE94AA18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225" y="998428"/>
            <a:ext cx="7559700" cy="3512400"/>
          </a:xfrm>
        </p:spPr>
        <p:txBody>
          <a:bodyPr/>
          <a:lstStyle/>
          <a:p>
            <a:pPr marL="228600" indent="0"/>
            <a:r>
              <a:rPr lang="en-GB" sz="18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wo binary numbers, a and b, each of two digits, are represented as 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</a:t>
            </a:r>
            <a:r>
              <a:rPr lang="en-GB" sz="1800" baseline="-250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</a:t>
            </a:r>
            <a:r>
              <a:rPr lang="en-GB" sz="1800" dirty="0" err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­</a:t>
            </a:r>
            <a:r>
              <a:rPr lang="en-GB" sz="1800" baseline="-250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</a:t>
            </a:r>
            <a:r>
              <a:rPr lang="en-GB" sz="1800" baseline="-25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and 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</a:t>
            </a:r>
            <a:r>
              <a:rPr lang="en-GB" sz="1800" baseline="-250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</a:t>
            </a:r>
            <a:r>
              <a:rPr lang="en-GB" sz="1800" dirty="0" err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</a:t>
            </a:r>
            <a:r>
              <a:rPr lang="en-GB" sz="1800" baseline="-250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</a:t>
            </a:r>
            <a:r>
              <a:rPr lang="en-GB" sz="1800" baseline="-25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where 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</a:t>
            </a:r>
            <a:r>
              <a:rPr lang="en-GB" sz="1800" baseline="-250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</a:t>
            </a:r>
            <a:r>
              <a:rPr lang="en-GB" sz="1800" baseline="-250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and 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</a:t>
            </a:r>
            <a:r>
              <a:rPr lang="en-GB" sz="1800" baseline="-250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</a:t>
            </a:r>
            <a:r>
              <a:rPr lang="en-GB" sz="1800" baseline="-250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are Boolean variables which form the digits of the binary numbers.</a:t>
            </a:r>
          </a:p>
          <a:p>
            <a:pPr marL="228600" indent="0"/>
            <a:r>
              <a:rPr lang="en-GB" sz="1800" dirty="0">
                <a:effectLst/>
                <a:latin typeface="Cambria"/>
                <a:ea typeface="MS Mincho"/>
                <a:cs typeface="Times New Roman"/>
              </a:rPr>
              <a:t>Devise a combinatorial logic circuit, or circuits to provide outputs of X,Y, Z such that X=1 when a&gt;b, </a:t>
            </a:r>
            <a:r>
              <a:rPr lang="en-GB" sz="1800" dirty="0">
                <a:latin typeface="Cambria"/>
                <a:ea typeface="MS Mincho"/>
                <a:cs typeface="Times New Roman"/>
              </a:rPr>
              <a:t>Y</a:t>
            </a:r>
            <a:r>
              <a:rPr lang="en-GB" sz="1800" dirty="0">
                <a:effectLst/>
                <a:latin typeface="Cambria"/>
                <a:ea typeface="MS Mincho"/>
                <a:cs typeface="Times New Roman"/>
              </a:rPr>
              <a:t>=1 when </a:t>
            </a:r>
            <a:r>
              <a:rPr lang="en-GB" sz="1800" dirty="0">
                <a:effectLst/>
                <a:latin typeface="Cambria"/>
                <a:ea typeface="Cambria"/>
                <a:cs typeface="Times New Roman"/>
              </a:rPr>
              <a:t>a</a:t>
            </a:r>
            <a:r>
              <a:rPr lang="en-GB" sz="1800" dirty="0">
                <a:latin typeface="Cambria"/>
                <a:ea typeface="Cambria"/>
                <a:cs typeface="Times New Roman"/>
              </a:rPr>
              <a:t>&lt;b and </a:t>
            </a:r>
            <a:r>
              <a:rPr lang="en-GB" sz="1800" dirty="0">
                <a:effectLst/>
                <a:latin typeface="Cambria"/>
                <a:ea typeface="MS Mincho"/>
                <a:cs typeface="Times New Roman"/>
              </a:rPr>
              <a:t>Z=1 when </a:t>
            </a:r>
            <a:r>
              <a:rPr lang="en-GB" sz="1800" dirty="0">
                <a:latin typeface="Cambria"/>
                <a:ea typeface="MS Mincho"/>
                <a:cs typeface="Times New Roman"/>
              </a:rPr>
              <a:t>a=b</a:t>
            </a:r>
            <a:r>
              <a:rPr lang="en-GB" sz="1800" dirty="0">
                <a:effectLst/>
                <a:latin typeface="Cambria"/>
                <a:ea typeface="MS Mincho"/>
                <a:cs typeface="Times New Roman"/>
              </a:rPr>
              <a:t>.</a:t>
            </a:r>
          </a:p>
          <a:p>
            <a:pPr marL="571500" indent="-342900">
              <a:buFont typeface="+mj-lt"/>
              <a:buAutoNum type="arabicPeriod"/>
            </a:pP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Start by constructing the 3 truth tables for the outputs X,Y and Z with inputs 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a1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a0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b1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and 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b0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marL="571500" indent="-342900">
              <a:buFont typeface="+mj-lt"/>
              <a:buAutoNum type="arabicPeriod"/>
            </a:pP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Derive(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推导</a:t>
            </a:r>
            <a:r>
              <a:rPr lang="en-US" altLang="zh-CN" sz="18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the Boolean expressions for X,Y,Z from the truth table.</a:t>
            </a:r>
          </a:p>
          <a:p>
            <a:pPr marL="571500" indent="-342900">
              <a:buFont typeface="+mj-lt"/>
              <a:buAutoNum type="arabicPeriod"/>
            </a:pPr>
            <a:r>
              <a:rPr lang="zh-CN" altLang="en-US" sz="18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用</a:t>
            </a:r>
            <a:r>
              <a:rPr lang="en-US" altLang="zh-CN" sz="1800" dirty="0" err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Kmap</a:t>
            </a:r>
            <a:r>
              <a:rPr lang="zh-CN" altLang="en-US" sz="1800" dirty="0">
                <a:latin typeface="+mn-ea"/>
                <a:ea typeface="+mn-ea"/>
                <a:cs typeface="Times New Roman" panose="02020603050405020304" pitchFamily="18" charset="0"/>
              </a:rPr>
              <a:t>化简表达式</a:t>
            </a:r>
            <a:endParaRPr lang="en-GB" sz="18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1500" indent="-342900">
              <a:buFont typeface="+mj-lt"/>
              <a:buAutoNum type="arabicPeriod"/>
            </a:pP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Implement the circuits in HDL. We have provided a template, test and 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cmp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 for you, 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comparator.hdl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comparator.tst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and </a:t>
            </a:r>
            <a:r>
              <a:rPr lang="en-GB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comparator.cmp</a:t>
            </a:r>
            <a:r>
              <a:rPr lang="en-GB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AC7B3-C3AF-5236-1D23-4097D4F806E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Your turn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615C4-06E3-C51B-DBC8-2845231110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810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E4A6D-C941-94A6-63AB-9276A8AF9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EB2C6-A40B-2681-E7FF-9CA35B448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A95EFD-3FF1-4971-E71E-B38D55B1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31</a:t>
            </a:fld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3D173-36EC-8993-4EF4-DBCD263343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lvl="0" indent="-317500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Introduced </a:t>
            </a:r>
            <a:r>
              <a:rPr lang="en-GB" sz="1400"/>
              <a:t>Computer Aided Design (CAD) and Hardware Description Language (HDL)</a:t>
            </a:r>
          </a:p>
          <a:p>
            <a:pPr marL="457200" lvl="0" indent="-3175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Introduced a hardware simulator</a:t>
            </a:r>
          </a:p>
          <a:p>
            <a:pPr marL="457200" lvl="0" indent="-3175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Learnt how to write HDL files</a:t>
            </a:r>
          </a:p>
          <a:p>
            <a:pPr marL="457200" lvl="0" indent="-3175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Learnt how to run simulations of simple logic circuits</a:t>
            </a:r>
          </a:p>
          <a:p>
            <a:pPr marL="457200" lvl="0" indent="-3175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Implement the first two chips required for our HACK computer (</a:t>
            </a:r>
            <a:r>
              <a:rPr lang="en-GB" err="1"/>
              <a:t>HalfAdder</a:t>
            </a:r>
            <a:r>
              <a:rPr lang="en-GB"/>
              <a:t> and </a:t>
            </a:r>
            <a:r>
              <a:rPr lang="en-GB" err="1"/>
              <a:t>FullAdder</a:t>
            </a:r>
            <a:r>
              <a:rPr lang="en-GB"/>
              <a:t>)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45942-6B16-31BB-CED3-E419F32F23B8}"/>
              </a:ext>
            </a:extLst>
          </p:cNvPr>
          <p:cNvSpPr txBox="1"/>
          <p:nvPr/>
        </p:nvSpPr>
        <p:spPr>
          <a:xfrm>
            <a:off x="386535" y="591530"/>
            <a:ext cx="128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063378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E0A6F38-A5E7-EA4D-96B0-467E21BB3A37}">
  <we:reference id="3e0fcce7-415c-4081-926c-b4e449c650e4" version="1.1.0.2" store="EXCatalog" storeType="EXCatalog"/>
  <we:alternateReferences>
    <we:reference id="WA200004709" version="1.1.0.2" store="en-GB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2917</Words>
  <Application>Microsoft Office PowerPoint</Application>
  <PresentationFormat>全屏显示(16:9)</PresentationFormat>
  <Paragraphs>445</Paragraphs>
  <Slides>31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Times New Roman</vt:lpstr>
      <vt:lpstr>Cambria</vt:lpstr>
      <vt:lpstr>Aptos</vt:lpstr>
      <vt:lpstr>Wingdings</vt:lpstr>
      <vt:lpstr>Arial</vt:lpstr>
      <vt:lpstr>Consolas</vt:lpstr>
      <vt:lpstr>Calibri</vt:lpstr>
      <vt:lpstr>Roboto 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vcboy1</dc:creator>
  <cp:lastModifiedBy>李 尚鹏</cp:lastModifiedBy>
  <cp:revision>64</cp:revision>
  <dcterms:modified xsi:type="dcterms:W3CDTF">2026-10-26T11:28:46Z</dcterms:modified>
</cp:coreProperties>
</file>