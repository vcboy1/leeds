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0"/>
  </p:notesMasterIdLst>
  <p:sldIdLst>
    <p:sldId id="256" r:id="rId3"/>
    <p:sldId id="260" r:id="rId4"/>
    <p:sldId id="261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0EE8A2-DFC8-413A-929F-FC59F8F30C0F}" v="2" dt="2026-09-24T11:54:15.1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mes Dyer" userId="c78f284b-7e37-4191-b5a6-8e3806eb7037" providerId="ADAL" clId="{F60D56F0-411A-464A-9766-F9A63ABC936F}"/>
    <pc:docChg chg="addSld modSld">
      <pc:chgData name="James Dyer" userId="c78f284b-7e37-4191-b5a6-8e3806eb7037" providerId="ADAL" clId="{F60D56F0-411A-464A-9766-F9A63ABC936F}" dt="2026-09-24T11:55:00.392" v="119" actId="20577"/>
      <pc:docMkLst>
        <pc:docMk/>
      </pc:docMkLst>
      <pc:sldChg chg="modSp mod">
        <pc:chgData name="James Dyer" userId="c78f284b-7e37-4191-b5a6-8e3806eb7037" providerId="ADAL" clId="{F60D56F0-411A-464A-9766-F9A63ABC936F}" dt="2026-09-24T11:54:26.375" v="89" actId="20577"/>
        <pc:sldMkLst>
          <pc:docMk/>
          <pc:sldMk cId="789552341" sldId="260"/>
        </pc:sldMkLst>
        <pc:spChg chg="mod">
          <ac:chgData name="James Dyer" userId="c78f284b-7e37-4191-b5a6-8e3806eb7037" providerId="ADAL" clId="{F60D56F0-411A-464A-9766-F9A63ABC936F}" dt="2026-09-24T11:54:26.375" v="89" actId="20577"/>
          <ac:spMkLst>
            <pc:docMk/>
            <pc:sldMk cId="789552341" sldId="260"/>
            <ac:spMk id="4" creationId="{F3A52A9C-9A07-F0FB-6FE6-9E6C39BB39E8}"/>
          </ac:spMkLst>
        </pc:spChg>
      </pc:sldChg>
      <pc:sldChg chg="modSp mod">
        <pc:chgData name="James Dyer" userId="c78f284b-7e37-4191-b5a6-8e3806eb7037" providerId="ADAL" clId="{F60D56F0-411A-464A-9766-F9A63ABC936F}" dt="2026-09-24T11:55:00.392" v="119" actId="20577"/>
        <pc:sldMkLst>
          <pc:docMk/>
          <pc:sldMk cId="2347338986" sldId="262"/>
        </pc:sldMkLst>
        <pc:spChg chg="mod">
          <ac:chgData name="James Dyer" userId="c78f284b-7e37-4191-b5a6-8e3806eb7037" providerId="ADAL" clId="{F60D56F0-411A-464A-9766-F9A63ABC936F}" dt="2026-09-24T11:55:00.392" v="119" actId="20577"/>
          <ac:spMkLst>
            <pc:docMk/>
            <pc:sldMk cId="2347338986" sldId="262"/>
            <ac:spMk id="3" creationId="{955F561D-EBD3-DEF2-A6B9-CE8B65383B25}"/>
          </ac:spMkLst>
        </pc:spChg>
      </pc:sldChg>
      <pc:sldChg chg="add">
        <pc:chgData name="James Dyer" userId="c78f284b-7e37-4191-b5a6-8e3806eb7037" providerId="ADAL" clId="{F60D56F0-411A-464A-9766-F9A63ABC936F}" dt="2026-09-24T11:51:54.863" v="0"/>
        <pc:sldMkLst>
          <pc:docMk/>
          <pc:sldMk cId="0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C1D268-81FF-4F48-AEFC-A4DC9DFE6E10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AF3F5C-F6D9-4512-AE65-F4E312FF23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9629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module climbs the abstraction stack. Semester 1: James Dyer covers data representation, Boolean algebra and digital circuits; Leandro Soares Indrusiak covers HDL, simulation, CPU architecture and instruction sets. Semester 2: Massimiliano Fasi covers assembly and virtual machines; Arash Bozorgchenani covers memory, I/O, interconnects and parallelism.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AA922-691F-DA18-9172-D91763E44E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C47E7B-C345-0ABC-48FF-DCE1D31E1C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3693E9-97EA-6D20-E69D-C6D070AB0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F5758-9E5B-4149-91B8-267E55E5CF63}" type="datetimeFigureOut">
              <a:rPr lang="en-GB" smtClean="0"/>
              <a:t>24/09/2026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2F22A-5D5A-6B95-C643-ACE88EC1C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5EC5F-7CD5-01B0-B49A-0B22D9B8D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A98D7-2E57-4305-8DC8-5B3BEAD4DC4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405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A3E2F-268A-B537-2FE7-3055528AD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F7031-94EE-132F-77D6-4891C9659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BEBEDA-985F-A6C3-E9BB-1A889D1EC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F5758-9E5B-4149-91B8-267E55E5CF63}" type="datetimeFigureOut">
              <a:rPr lang="en-GB" smtClean="0"/>
              <a:t>24/09/2026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243A9-B0F8-8702-54D5-105233445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7826EF-1F9B-7E76-EAC6-C523E9642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A98D7-2E57-4305-8DC8-5B3BEAD4DC4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60796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2E535-4585-E339-A3B5-916E81115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EFA2EA-0A4F-8AEB-861A-E43936C99F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0D875-FCDF-B51F-E262-9334078B4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F5758-9E5B-4149-91B8-267E55E5CF63}" type="datetimeFigureOut">
              <a:rPr lang="en-GB" smtClean="0"/>
              <a:t>24/09/2026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EBBCB-E5A2-11FA-0F71-C6BAF471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F5CA2-D830-D185-08D0-DF6C163D0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A98D7-2E57-4305-8DC8-5B3BEAD4DC4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17369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85449-6C38-887F-A5A7-776521866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CE2F3-5533-4C00-CB64-620814B5D3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EFC223-CC89-68A2-17B0-BFCA000E32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341F70-41EB-79C4-9B89-35CCA2D2A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F5758-9E5B-4149-91B8-267E55E5CF63}" type="datetimeFigureOut">
              <a:rPr lang="en-GB" smtClean="0"/>
              <a:t>24/09/2026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C0B2FA-84FC-363B-6F2E-BA83FAC41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DC05EE-DC61-9110-BDAE-23D1C3BD4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A98D7-2E57-4305-8DC8-5B3BEAD4DC4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08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3B2B0-20BC-25E8-1C97-33DA65097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309DE6-B00F-52E0-9134-140B9844A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54E1ED-A194-46C1-7106-E7B9E77A46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2CF182-9E5D-C02F-56EB-62F027EEF4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60C0E5-CF6C-D25C-465E-E5D2E99855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709BA5-D93D-C6FC-C233-E9764A3B8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F5758-9E5B-4149-91B8-267E55E5CF63}" type="datetimeFigureOut">
              <a:rPr lang="en-GB" smtClean="0"/>
              <a:t>24/09/2026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F17957-0D65-C1FA-4DA1-AF0BE8416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0D54F0-5FD1-76CD-21F9-A32394067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A98D7-2E57-4305-8DC8-5B3BEAD4DC4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4760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E0A97-9E38-086E-132F-AD1370A30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D72931-3F42-163C-FEF3-B28D4BA96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F5758-9E5B-4149-91B8-267E55E5CF63}" type="datetimeFigureOut">
              <a:rPr lang="en-GB" smtClean="0"/>
              <a:t>24/09/2026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114343-66C2-19D8-ED45-6607F514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1A3752-7126-9568-6E73-000CA9F02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A98D7-2E57-4305-8DC8-5B3BEAD4DC4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06159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B73057-73E3-42B7-C1E1-BACF00341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F5758-9E5B-4149-91B8-267E55E5CF63}" type="datetimeFigureOut">
              <a:rPr lang="en-GB" smtClean="0"/>
              <a:t>24/09/2026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CA2CF9-B90A-FA3B-2447-16FA45B8C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0EDE85-C120-8323-7380-43F60E71F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A98D7-2E57-4305-8DC8-5B3BEAD4DC4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86391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FE5CA-0176-F4E5-70B0-468080240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0D253-8B76-BE98-47A6-5219263C1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BA45B2-34D7-1724-398A-2B1BFFF5B1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1FF0DB-8DA8-0407-CE28-3714ADBC2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F5758-9E5B-4149-91B8-267E55E5CF63}" type="datetimeFigureOut">
              <a:rPr lang="en-GB" smtClean="0"/>
              <a:t>24/09/2026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3AB968-35E5-5853-F7C7-06655CAAE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338375-77B8-AB7A-AEFE-812556A11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A98D7-2E57-4305-8DC8-5B3BEAD4DC4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4902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F75D6-76FB-9048-98B1-EE25BBEA4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370FD9-6ADE-42FC-AAF7-68C8AA351B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993C05-AEF5-64D7-ED46-8C23AFABFA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612C1E-539A-B72F-DE20-20FA79BD4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F5758-9E5B-4149-91B8-267E55E5CF63}" type="datetimeFigureOut">
              <a:rPr lang="en-GB" smtClean="0"/>
              <a:t>24/09/2026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29EE82-9C77-2E1C-7D93-7A9B6434F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F7188-BF6D-756F-FDE0-18E9290A2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A98D7-2E57-4305-8DC8-5B3BEAD4DC4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8800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E04D3-77D0-E142-D240-5975A1730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F4EF5F-106E-C61B-97CD-FFBF61293D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97425-1792-235D-4A86-08756227F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F5758-9E5B-4149-91B8-267E55E5CF63}" type="datetimeFigureOut">
              <a:rPr lang="en-GB" smtClean="0"/>
              <a:t>24/09/2026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EF6F4-6513-0CCC-BF6D-65C34ADC6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C0B6C-0862-9FBE-4279-40C02E4C8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A98D7-2E57-4305-8DC8-5B3BEAD4DC4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1833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AD6654-A508-ABC7-E131-19B9C00047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933C7D-4895-3B3F-1A65-6C832688A3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F5518-244F-5308-0FE8-97536F88F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F5758-9E5B-4149-91B8-267E55E5CF63}" type="datetimeFigureOut">
              <a:rPr lang="en-GB" smtClean="0"/>
              <a:t>24/09/2026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9548D-0222-7160-0319-353FEB305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EF35B-D155-9215-627B-E6E18B45A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A98D7-2E57-4305-8DC8-5B3BEAD4DC4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81071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9448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0F73C4-BB29-071F-80D0-647E895D7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76563F-ABF6-5D0C-251E-6028927345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E415B-5945-64BA-C886-11039EEF9F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3F5758-9E5B-4149-91B8-267E55E5CF63}" type="datetimeFigureOut">
              <a:rPr lang="en-GB" smtClean="0"/>
              <a:t>24/09/2026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77280-3E49-4A81-D3D0-3DCCCECE3A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82B8F-77B1-8904-E875-079C6A561D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8A98D7-2E57-4305-8DC8-5B3BEAD4DC4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7557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8202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pn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12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3F775-9648-E883-996E-3B87CCFE39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10639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GB" dirty="0"/>
              <a:t>COMP1860 Building our Digital World: Computer Systems &amp;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A18AC5-9455-CC36-29EA-30C1E12011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16438"/>
            <a:ext cx="9144000" cy="1655762"/>
          </a:xfrm>
        </p:spPr>
        <p:txBody>
          <a:bodyPr/>
          <a:lstStyle/>
          <a:p>
            <a:r>
              <a:rPr lang="en-GB" dirty="0"/>
              <a:t>S1.W4.L3: Week 1-4 Summary</a:t>
            </a:r>
          </a:p>
          <a:p>
            <a:r>
              <a:rPr lang="en-GB" dirty="0"/>
              <a:t>Dr James Dyer</a:t>
            </a:r>
          </a:p>
        </p:txBody>
      </p:sp>
    </p:spTree>
    <p:extLst>
      <p:ext uri="{BB962C8B-B14F-4D97-AF65-F5344CB8AC3E}">
        <p14:creationId xmlns:p14="http://schemas.microsoft.com/office/powerpoint/2010/main" val="340163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87332-A986-FF7A-10AE-0937A7C6C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Week 1: 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B8A9F-050D-FD63-878D-12E0203A38D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Architecture &amp; Organisation</a:t>
            </a:r>
          </a:p>
          <a:p>
            <a:r>
              <a:rPr lang="en-GB" dirty="0"/>
              <a:t>Structure &amp; Function</a:t>
            </a:r>
          </a:p>
          <a:p>
            <a:pPr lvl="1"/>
            <a:r>
              <a:rPr lang="en-GB" dirty="0"/>
              <a:t>Hierarchical structure</a:t>
            </a:r>
          </a:p>
          <a:p>
            <a:pPr lvl="1"/>
            <a:r>
              <a:rPr lang="en-GB" dirty="0"/>
              <a:t>Structure of single core and multicore computers</a:t>
            </a:r>
          </a:p>
          <a:p>
            <a:pPr lvl="1"/>
            <a:r>
              <a:rPr lang="en-GB" dirty="0"/>
              <a:t>Principal functions of computer</a:t>
            </a:r>
          </a:p>
          <a:p>
            <a:r>
              <a:rPr lang="en-GB" dirty="0"/>
              <a:t>Principal components of computer</a:t>
            </a:r>
          </a:p>
          <a:p>
            <a:pPr lvl="1"/>
            <a:r>
              <a:rPr lang="en-GB" dirty="0"/>
              <a:t>Logic gates &amp; memory cells</a:t>
            </a:r>
          </a:p>
          <a:p>
            <a:pPr lvl="1"/>
            <a:r>
              <a:rPr lang="en-GB" dirty="0"/>
              <a:t>Moore’s Law</a:t>
            </a:r>
          </a:p>
          <a:p>
            <a:r>
              <a:rPr lang="en-GB" dirty="0"/>
              <a:t>Von Neuman &amp; Harvard architectures</a:t>
            </a:r>
          </a:p>
          <a:p>
            <a:pPr lvl="1"/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A52A9C-9A07-F0FB-6FE6-9E6C39BB39E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The following you should know about but will not be examined by me:</a:t>
            </a:r>
          </a:p>
          <a:p>
            <a:pPr lvl="1"/>
            <a:r>
              <a:rPr lang="en-GB" dirty="0"/>
              <a:t>System bus</a:t>
            </a:r>
          </a:p>
          <a:p>
            <a:pPr lvl="1"/>
            <a:r>
              <a:rPr lang="en-GB" dirty="0"/>
              <a:t>Instruction Sets</a:t>
            </a:r>
          </a:p>
          <a:p>
            <a:pPr lvl="2"/>
            <a:r>
              <a:rPr lang="en-GB" dirty="0"/>
              <a:t>CISC vs RISC</a:t>
            </a:r>
          </a:p>
          <a:p>
            <a:pPr lvl="1"/>
            <a:r>
              <a:rPr lang="en-GB" dirty="0"/>
              <a:t>Embedded Systems</a:t>
            </a:r>
          </a:p>
          <a:p>
            <a:pPr lvl="2"/>
            <a:r>
              <a:rPr lang="en-GB" dirty="0"/>
              <a:t>Types of embedded system IC (microcontroller, SoC, ASIC, DSP)</a:t>
            </a:r>
          </a:p>
          <a:p>
            <a:pPr lvl="1"/>
            <a:r>
              <a:rPr lang="en-GB" dirty="0"/>
              <a:t>OS</a:t>
            </a:r>
          </a:p>
          <a:p>
            <a:pPr lvl="1"/>
            <a:r>
              <a:rPr lang="en-GB" dirty="0"/>
              <a:t>Parallelism</a:t>
            </a:r>
          </a:p>
          <a:p>
            <a:pPr lvl="2"/>
            <a:r>
              <a:rPr lang="en-GB" dirty="0"/>
              <a:t>Revisited in more detail in S2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9552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38551-1B2C-3237-EE16-4621EA9A7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Week 2: 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297C8-EE4F-A115-663A-247FA06319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Binary arithmetic</a:t>
            </a:r>
          </a:p>
          <a:p>
            <a:r>
              <a:rPr lang="en-GB" dirty="0"/>
              <a:t>Conversion</a:t>
            </a:r>
          </a:p>
          <a:p>
            <a:pPr lvl="1"/>
            <a:r>
              <a:rPr lang="en-GB" dirty="0"/>
              <a:t>Decimal to binary</a:t>
            </a:r>
          </a:p>
          <a:p>
            <a:pPr lvl="1"/>
            <a:r>
              <a:rPr lang="en-GB" dirty="0"/>
              <a:t>Hexadecimal to binary</a:t>
            </a:r>
          </a:p>
          <a:p>
            <a:pPr lvl="1"/>
            <a:r>
              <a:rPr lang="en-GB" dirty="0"/>
              <a:t>And </a:t>
            </a:r>
            <a:r>
              <a:rPr lang="en-GB"/>
              <a:t>vice versa</a:t>
            </a:r>
            <a:endParaRPr lang="en-GB" dirty="0"/>
          </a:p>
          <a:p>
            <a:r>
              <a:rPr lang="en-GB" dirty="0"/>
              <a:t>Integer representations</a:t>
            </a:r>
          </a:p>
          <a:p>
            <a:pPr lvl="1"/>
            <a:r>
              <a:rPr lang="en-GB" dirty="0"/>
              <a:t>Unsigned</a:t>
            </a:r>
          </a:p>
          <a:p>
            <a:pPr lvl="1"/>
            <a:r>
              <a:rPr lang="en-GB" dirty="0"/>
              <a:t>Sign-magnitude</a:t>
            </a:r>
          </a:p>
          <a:p>
            <a:pPr lvl="1"/>
            <a:r>
              <a:rPr lang="en-GB" dirty="0"/>
              <a:t>Two’s complement</a:t>
            </a:r>
          </a:p>
          <a:p>
            <a:pPr lvl="2"/>
            <a:r>
              <a:rPr lang="en-GB" dirty="0"/>
              <a:t>Arithmetic</a:t>
            </a:r>
          </a:p>
          <a:p>
            <a:pPr lvl="1"/>
            <a:r>
              <a:rPr lang="en-GB" dirty="0"/>
              <a:t>BCD</a:t>
            </a:r>
          </a:p>
          <a:p>
            <a:pPr lvl="1"/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80D0658-0C1B-9D73-44B2-3964CDFD9D7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Fixed point representation</a:t>
            </a:r>
          </a:p>
          <a:p>
            <a:pPr lvl="1"/>
            <a:r>
              <a:rPr lang="en-GB" dirty="0" err="1"/>
              <a:t>Qm.n</a:t>
            </a:r>
            <a:r>
              <a:rPr lang="en-GB" dirty="0"/>
              <a:t> format</a:t>
            </a:r>
          </a:p>
          <a:p>
            <a:r>
              <a:rPr lang="en-GB" dirty="0"/>
              <a:t>Floating point representation</a:t>
            </a:r>
          </a:p>
          <a:p>
            <a:pPr lvl="1"/>
            <a:r>
              <a:rPr lang="en-GB" dirty="0"/>
              <a:t>IEEE754 half and single precision formats</a:t>
            </a:r>
          </a:p>
          <a:p>
            <a:r>
              <a:rPr lang="en-GB" dirty="0"/>
              <a:t>Byte order</a:t>
            </a:r>
          </a:p>
          <a:p>
            <a:pPr lvl="1"/>
            <a:r>
              <a:rPr lang="en-GB" dirty="0"/>
              <a:t>Big endian</a:t>
            </a:r>
          </a:p>
          <a:p>
            <a:pPr lvl="1"/>
            <a:r>
              <a:rPr lang="en-GB" dirty="0"/>
              <a:t>Little endian</a:t>
            </a:r>
          </a:p>
          <a:p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95618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E0E14-1FC0-408F-AD71-30E334A35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Week 3: 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F561D-EBD3-DEF2-A6B9-CE8B65383B2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Text Representation</a:t>
            </a:r>
          </a:p>
          <a:p>
            <a:pPr lvl="1"/>
            <a:r>
              <a:rPr lang="en-GB" dirty="0"/>
              <a:t>ASCII</a:t>
            </a:r>
          </a:p>
          <a:p>
            <a:pPr lvl="1"/>
            <a:r>
              <a:rPr lang="en-GB" dirty="0"/>
              <a:t>UTF-8</a:t>
            </a:r>
          </a:p>
          <a:p>
            <a:r>
              <a:rPr lang="en-GB" dirty="0"/>
              <a:t>Image Representation</a:t>
            </a:r>
          </a:p>
          <a:p>
            <a:pPr lvl="1"/>
            <a:r>
              <a:rPr lang="en-GB" dirty="0"/>
              <a:t>Pixel maps</a:t>
            </a:r>
          </a:p>
          <a:p>
            <a:pPr lvl="1"/>
            <a:r>
              <a:rPr lang="en-GB" dirty="0"/>
              <a:t>Colour models</a:t>
            </a:r>
          </a:p>
          <a:p>
            <a:r>
              <a:rPr lang="en-GB" dirty="0"/>
              <a:t>Other non-numeric</a:t>
            </a:r>
          </a:p>
          <a:p>
            <a:pPr lvl="1"/>
            <a:r>
              <a:rPr lang="en-GB" dirty="0"/>
              <a:t>Arrays, Strings (arrays of characters), Boolean</a:t>
            </a:r>
          </a:p>
          <a:p>
            <a:pPr lvl="1"/>
            <a:r>
              <a:rPr lang="en-GB" dirty="0"/>
              <a:t>Records</a:t>
            </a:r>
          </a:p>
          <a:p>
            <a:pPr lvl="2"/>
            <a:r>
              <a:rPr lang="en-GB" dirty="0"/>
              <a:t>Word/Byte alignment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C00C71-A7C7-FBD1-877E-B0A1B989693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Boolean Logic</a:t>
            </a:r>
          </a:p>
          <a:p>
            <a:pPr lvl="1"/>
            <a:r>
              <a:rPr lang="en-GB" dirty="0"/>
              <a:t>Logic operators</a:t>
            </a:r>
          </a:p>
          <a:p>
            <a:pPr lvl="1"/>
            <a:r>
              <a:rPr lang="en-GB" dirty="0"/>
              <a:t>Truth tables</a:t>
            </a:r>
          </a:p>
          <a:p>
            <a:pPr lvl="1"/>
            <a:r>
              <a:rPr lang="en-GB" dirty="0"/>
              <a:t>DNF/CNF</a:t>
            </a:r>
          </a:p>
          <a:p>
            <a:r>
              <a:rPr lang="en-GB" dirty="0"/>
              <a:t>Logic circuits</a:t>
            </a:r>
          </a:p>
        </p:txBody>
      </p:sp>
    </p:spTree>
    <p:extLst>
      <p:ext uri="{BB962C8B-B14F-4D97-AF65-F5344CB8AC3E}">
        <p14:creationId xmlns:p14="http://schemas.microsoft.com/office/powerpoint/2010/main" val="2347338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D0EBE-FB24-CFD8-D5A5-734EAC199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Week 4: 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F6D88-864D-E04B-9046-600AEA9D7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Combinational logic</a:t>
            </a:r>
          </a:p>
          <a:p>
            <a:pPr lvl="1"/>
            <a:r>
              <a:rPr lang="en-GB" dirty="0"/>
              <a:t>Multiplexer</a:t>
            </a:r>
          </a:p>
          <a:p>
            <a:pPr lvl="1"/>
            <a:r>
              <a:rPr lang="en-GB" dirty="0"/>
              <a:t>Decode</a:t>
            </a:r>
          </a:p>
          <a:p>
            <a:pPr lvl="1"/>
            <a:r>
              <a:rPr lang="en-GB" dirty="0"/>
              <a:t>Adder</a:t>
            </a:r>
          </a:p>
          <a:p>
            <a:r>
              <a:rPr lang="en-GB" dirty="0"/>
              <a:t>Boolean algebraic laws</a:t>
            </a:r>
          </a:p>
          <a:p>
            <a:r>
              <a:rPr lang="en-GB" dirty="0"/>
              <a:t>NAND gates</a:t>
            </a:r>
          </a:p>
          <a:p>
            <a:r>
              <a:rPr lang="en-GB" dirty="0"/>
              <a:t>Karnaugh maps</a:t>
            </a:r>
          </a:p>
        </p:txBody>
      </p:sp>
    </p:spTree>
    <p:extLst>
      <p:ext uri="{BB962C8B-B14F-4D97-AF65-F5344CB8AC3E}">
        <p14:creationId xmlns:p14="http://schemas.microsoft.com/office/powerpoint/2010/main" val="1308080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F15F8-9A67-CBE6-9F98-D92D159F9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you don’t need to remember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98836-7840-9230-2D90-A4A3C50DB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Dates</a:t>
            </a:r>
          </a:p>
          <a:p>
            <a:r>
              <a:rPr lang="en-GB" dirty="0"/>
              <a:t>Models of historical computers/chips</a:t>
            </a:r>
          </a:p>
          <a:p>
            <a:r>
              <a:rPr lang="en-GB" dirty="0"/>
              <a:t>UTF-8 bit formats</a:t>
            </a:r>
          </a:p>
          <a:p>
            <a:r>
              <a:rPr lang="en-GB" dirty="0"/>
              <a:t>Word/byte alignments of data types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6597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C2B3B"/>
              </a:gs>
              <a:gs pos="65000">
                <a:srgbClr val="0D1117"/>
              </a:gs>
            </a:gsLst>
            <a:path path="circle">
              <a:fillToRect l="85000" r="15000" b="100000"/>
            </a:path>
          </a:gra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2800" y="40640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200" normalizeH="0" baseline="0" noProof="0" dirty="0">
                <a:ln>
                  <a:noFill/>
                </a:ln>
                <a:solidFill>
                  <a:srgbClr val="3DDBD9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COMP1860 · MODULE OVERVIEW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812800" y="660400"/>
            <a:ext cx="9810750" cy="556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1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0" cap="none" spc="-50" normalizeH="0" baseline="0" noProof="0" dirty="0">
                <a:ln>
                  <a:noFill/>
                </a:ln>
                <a:solidFill>
                  <a:srgbClr val="F3F6F9"/>
                </a:solidFill>
                <a:effectLst/>
                <a:uLnTx/>
                <a:uFillTx/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Computer Systems &amp; Architecture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12800" y="1244600"/>
            <a:ext cx="981075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3ADB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Build a computer from the ground up — from logic gates to parallel architectures, one layer at a time.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15975" y="1730375"/>
            <a:ext cx="9823450" cy="946150"/>
          </a:xfrm>
          <a:prstGeom prst="roundRect">
            <a:avLst>
              <a:gd name="adj" fmla="val 13087"/>
            </a:avLst>
          </a:prstGeom>
          <a:gradFill rotWithShape="1">
            <a:gsLst>
              <a:gs pos="55000">
                <a:srgbClr val="161C24"/>
              </a:gs>
              <a:gs pos="100000">
                <a:srgbClr val="33280F"/>
              </a:gs>
            </a:gsLst>
            <a:lin ang="0" scaled="0"/>
          </a:gradFill>
          <a:ln w="6350">
            <a:solidFill>
              <a:srgbClr val="2A323D"/>
            </a:solidFill>
            <a:prstDash val="solid"/>
          </a:ln>
          <a:effectLst>
            <a:outerShdw blurRad="203200" dist="762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 0" descr="IBM Cell processor die showing SPEs and interconnect bus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9150" y="1727200"/>
            <a:ext cx="2413000" cy="9525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35350" y="1874341"/>
            <a:ext cx="483997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150" normalizeH="0" baseline="0" noProof="0" dirty="0">
                <a:ln>
                  <a:noFill/>
                </a:ln>
                <a:solidFill>
                  <a:srgbClr val="FFB547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LAYER 04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3435350" y="2082602"/>
            <a:ext cx="483997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Memory, I/O &amp; parallelism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435350" y="2346722"/>
            <a:ext cx="4839970" cy="211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3ADB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memory hierarchy · I/O · interconnects · parallel architectures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1" descr="Dr Arash Bozorgchenani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56600" y="1892300"/>
            <a:ext cx="622300" cy="622300"/>
          </a:xfrm>
          <a:prstGeom prst="ellipse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347075" y="1882775"/>
            <a:ext cx="641350" cy="641350"/>
          </a:xfrm>
          <a:prstGeom prst="ellipse">
            <a:avLst/>
          </a:prstGeom>
          <a:noFill/>
          <a:ln w="19050">
            <a:solidFill>
              <a:srgbClr val="FFB5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9"/>
          <p:cNvSpPr/>
          <p:nvPr/>
        </p:nvSpPr>
        <p:spPr>
          <a:xfrm>
            <a:off x="9124950" y="2012950"/>
            <a:ext cx="1384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Dr Arash Bozorgchenani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1323975" y="2797175"/>
            <a:ext cx="9315450" cy="946150"/>
          </a:xfrm>
          <a:prstGeom prst="roundRect">
            <a:avLst>
              <a:gd name="adj" fmla="val 13087"/>
            </a:avLst>
          </a:prstGeom>
          <a:gradFill rotWithShape="1">
            <a:gsLst>
              <a:gs pos="55000">
                <a:srgbClr val="161C24"/>
              </a:gs>
              <a:gs pos="100000">
                <a:srgbClr val="33280F"/>
              </a:gs>
            </a:gsLst>
            <a:lin ang="0" scaled="0"/>
          </a:gradFill>
          <a:ln w="6350">
            <a:solidFill>
              <a:srgbClr val="2A323D"/>
            </a:solidFill>
            <a:prstDash val="solid"/>
          </a:ln>
          <a:effectLst>
            <a:outerShdw blurRad="203200" dist="762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Image 2" descr="ARM assembly code listi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27150" y="2794000"/>
            <a:ext cx="2413000" cy="9525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943350" y="2941141"/>
            <a:ext cx="431673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150" normalizeH="0" baseline="0" noProof="0" dirty="0">
                <a:ln>
                  <a:noFill/>
                </a:ln>
                <a:solidFill>
                  <a:srgbClr val="FFB547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LAYER 03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3943350" y="3149402"/>
            <a:ext cx="431673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Assembly &amp; virtual machines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3943350" y="3413522"/>
            <a:ext cx="4316730" cy="211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3ADB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assembly language · virtual machines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Image 3" descr="Dr Massimiliano Fasi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356600" y="2959100"/>
            <a:ext cx="622300" cy="622300"/>
          </a:xfrm>
          <a:prstGeom prst="ellipse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8347075" y="2949575"/>
            <a:ext cx="641350" cy="641350"/>
          </a:xfrm>
          <a:prstGeom prst="ellipse">
            <a:avLst/>
          </a:prstGeom>
          <a:noFill/>
          <a:ln w="19050">
            <a:solidFill>
              <a:srgbClr val="FFB5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9124950" y="3079750"/>
            <a:ext cx="1384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Dr Massimiliano Fasi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6"/>
          <p:cNvSpPr/>
          <p:nvPr/>
        </p:nvSpPr>
        <p:spPr>
          <a:xfrm>
            <a:off x="1831975" y="3863975"/>
            <a:ext cx="8807450" cy="946150"/>
          </a:xfrm>
          <a:prstGeom prst="roundRect">
            <a:avLst>
              <a:gd name="adj" fmla="val 13087"/>
            </a:avLst>
          </a:prstGeom>
          <a:gradFill rotWithShape="1">
            <a:gsLst>
              <a:gs pos="55000">
                <a:srgbClr val="161C24"/>
              </a:gs>
              <a:gs pos="100000">
                <a:srgbClr val="12302F"/>
              </a:gs>
            </a:gsLst>
            <a:lin ang="0" scaled="0"/>
          </a:gradFill>
          <a:ln w="6350">
            <a:solidFill>
              <a:srgbClr val="2A323D"/>
            </a:solidFill>
            <a:prstDash val="solid"/>
          </a:ln>
          <a:effectLst>
            <a:outerShdw blurRad="203200" dist="762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Image 4" descr="Gate-level circuit schematic"/>
          <p:cNvPicPr>
            <a:picLocks noChangeAspect="1"/>
          </p:cNvPicPr>
          <p:nvPr/>
        </p:nvPicPr>
        <p:blipFill>
          <a:blip r:embed="rId7"/>
          <a:srcRect t="1053" b="1053"/>
          <a:stretch/>
        </p:blipFill>
        <p:spPr>
          <a:xfrm>
            <a:off x="1835150" y="3860800"/>
            <a:ext cx="1206500" cy="952500"/>
          </a:xfrm>
          <a:prstGeom prst="rect">
            <a:avLst/>
          </a:prstGeom>
        </p:spPr>
      </p:pic>
      <p:pic>
        <p:nvPicPr>
          <p:cNvPr id="24" name="Image 5" descr="Annotated CPU die photo"/>
          <p:cNvPicPr>
            <a:picLocks noChangeAspect="1"/>
          </p:cNvPicPr>
          <p:nvPr/>
        </p:nvPicPr>
        <p:blipFill>
          <a:blip r:embed="rId8"/>
          <a:srcRect t="1053" b="1053"/>
          <a:stretch/>
        </p:blipFill>
        <p:spPr>
          <a:xfrm>
            <a:off x="3041650" y="3860800"/>
            <a:ext cx="1206500" cy="9525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451350" y="3914973"/>
            <a:ext cx="379349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150" normalizeH="0" baseline="0" noProof="0" dirty="0">
                <a:ln>
                  <a:noFill/>
                </a:ln>
                <a:solidFill>
                  <a:srgbClr val="3DDBD9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LAYER 02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18"/>
          <p:cNvSpPr/>
          <p:nvPr/>
        </p:nvSpPr>
        <p:spPr>
          <a:xfrm>
            <a:off x="4451350" y="4123234"/>
            <a:ext cx="379349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Processor design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4451350" y="4387354"/>
            <a:ext cx="3793490" cy="397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3ADB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hardware description language · simulation · CPU architecture · instruction sets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8" name="Image 6" descr="Prof Leandro Soares Indrusiak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356600" y="4025900"/>
            <a:ext cx="622300" cy="622300"/>
          </a:xfrm>
          <a:prstGeom prst="ellipse">
            <a:avLst/>
          </a:prstGeom>
        </p:spPr>
      </p:pic>
      <p:sp>
        <p:nvSpPr>
          <p:cNvPr id="29" name="Shape 20"/>
          <p:cNvSpPr/>
          <p:nvPr/>
        </p:nvSpPr>
        <p:spPr>
          <a:xfrm>
            <a:off x="8347075" y="4016375"/>
            <a:ext cx="641350" cy="641350"/>
          </a:xfrm>
          <a:prstGeom prst="ellipse">
            <a:avLst/>
          </a:prstGeom>
          <a:noFill/>
          <a:ln w="19050">
            <a:solidFill>
              <a:srgbClr val="3DDBD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1"/>
          <p:cNvSpPr/>
          <p:nvPr/>
        </p:nvSpPr>
        <p:spPr>
          <a:xfrm>
            <a:off x="9124950" y="4146550"/>
            <a:ext cx="1384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Prof Leandro Soares Indrusiak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2"/>
          <p:cNvSpPr/>
          <p:nvPr/>
        </p:nvSpPr>
        <p:spPr>
          <a:xfrm>
            <a:off x="2339975" y="4930775"/>
            <a:ext cx="8299450" cy="946150"/>
          </a:xfrm>
          <a:prstGeom prst="roundRect">
            <a:avLst>
              <a:gd name="adj" fmla="val 13087"/>
            </a:avLst>
          </a:prstGeom>
          <a:gradFill rotWithShape="1">
            <a:gsLst>
              <a:gs pos="55000">
                <a:srgbClr val="161C24"/>
              </a:gs>
              <a:gs pos="100000">
                <a:srgbClr val="12302F"/>
              </a:gs>
            </a:gsLst>
            <a:lin ang="0" scaled="0"/>
          </a:gradFill>
          <a:ln w="6350">
            <a:solidFill>
              <a:srgbClr val="2A323D"/>
            </a:solidFill>
            <a:prstDash val="solid"/>
          </a:ln>
          <a:effectLst>
            <a:outerShdw blurRad="203200" dist="762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2" name="Image 7" descr="CMOS logic gate layout"/>
          <p:cNvPicPr>
            <a:picLocks noChangeAspect="1"/>
          </p:cNvPicPr>
          <p:nvPr/>
        </p:nvPicPr>
        <p:blipFill>
          <a:blip r:embed="rId10"/>
          <a:srcRect t="1053" b="1053"/>
          <a:stretch/>
        </p:blipFill>
        <p:spPr>
          <a:xfrm>
            <a:off x="2343150" y="4927600"/>
            <a:ext cx="1206500" cy="952500"/>
          </a:xfrm>
          <a:prstGeom prst="rect">
            <a:avLst/>
          </a:prstGeom>
        </p:spPr>
      </p:pic>
      <p:pic>
        <p:nvPicPr>
          <p:cNvPr id="33" name="Image 8" descr="SN7400 quad NAND gate chip"/>
          <p:cNvPicPr>
            <a:picLocks noChangeAspect="1"/>
          </p:cNvPicPr>
          <p:nvPr/>
        </p:nvPicPr>
        <p:blipFill>
          <a:blip r:embed="rId11"/>
          <a:srcRect t="1053" b="1053"/>
          <a:stretch/>
        </p:blipFill>
        <p:spPr>
          <a:xfrm>
            <a:off x="3549650" y="4927600"/>
            <a:ext cx="1206500" cy="95250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959350" y="4981773"/>
            <a:ext cx="327025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150" normalizeH="0" baseline="0" noProof="0" dirty="0">
                <a:ln>
                  <a:noFill/>
                </a:ln>
                <a:solidFill>
                  <a:srgbClr val="3DDBD9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LAYER 01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24"/>
          <p:cNvSpPr/>
          <p:nvPr/>
        </p:nvSpPr>
        <p:spPr>
          <a:xfrm>
            <a:off x="4959350" y="5190034"/>
            <a:ext cx="327025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Digital logic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25"/>
          <p:cNvSpPr/>
          <p:nvPr/>
        </p:nvSpPr>
        <p:spPr>
          <a:xfrm>
            <a:off x="4959350" y="5454154"/>
            <a:ext cx="3270250" cy="397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3ADBA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digital data representation · Boolean algebra · digital circuits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7" name="Image 9" descr="Dr James Dyer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356600" y="5092700"/>
            <a:ext cx="622300" cy="622300"/>
          </a:xfrm>
          <a:prstGeom prst="ellipse">
            <a:avLst/>
          </a:prstGeom>
        </p:spPr>
      </p:pic>
      <p:sp>
        <p:nvSpPr>
          <p:cNvPr id="38" name="Shape 26"/>
          <p:cNvSpPr/>
          <p:nvPr/>
        </p:nvSpPr>
        <p:spPr>
          <a:xfrm>
            <a:off x="8347075" y="5083175"/>
            <a:ext cx="641350" cy="641350"/>
          </a:xfrm>
          <a:prstGeom prst="ellipse">
            <a:avLst/>
          </a:prstGeom>
          <a:noFill/>
          <a:ln w="19050">
            <a:solidFill>
              <a:srgbClr val="3DDBD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27"/>
          <p:cNvSpPr/>
          <p:nvPr/>
        </p:nvSpPr>
        <p:spPr>
          <a:xfrm>
            <a:off x="9124950" y="5308600"/>
            <a:ext cx="13843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EF2F6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Dr James Dyer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28"/>
          <p:cNvSpPr/>
          <p:nvPr/>
        </p:nvSpPr>
        <p:spPr>
          <a:xfrm>
            <a:off x="10801350" y="1733550"/>
            <a:ext cx="571500" cy="2006600"/>
          </a:xfrm>
          <a:prstGeom prst="roundRect">
            <a:avLst>
              <a:gd name="adj" fmla="val 21111"/>
            </a:avLst>
          </a:prstGeom>
          <a:solidFill>
            <a:srgbClr val="2A2110"/>
          </a:solidFill>
          <a:ln w="12700">
            <a:solidFill>
              <a:srgbClr val="FFB5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29"/>
          <p:cNvSpPr/>
          <p:nvPr/>
        </p:nvSpPr>
        <p:spPr>
          <a:xfrm rot="16200000">
            <a:off x="10118725" y="2597150"/>
            <a:ext cx="196215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00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200" normalizeH="0" baseline="0" noProof="0" dirty="0">
                <a:ln>
                  <a:noFill/>
                </a:ln>
                <a:solidFill>
                  <a:srgbClr val="FFB547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SEMESTER 2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30"/>
          <p:cNvSpPr/>
          <p:nvPr/>
        </p:nvSpPr>
        <p:spPr>
          <a:xfrm>
            <a:off x="10801350" y="3867150"/>
            <a:ext cx="571500" cy="2006600"/>
          </a:xfrm>
          <a:prstGeom prst="roundRect">
            <a:avLst>
              <a:gd name="adj" fmla="val 21111"/>
            </a:avLst>
          </a:prstGeom>
          <a:solidFill>
            <a:srgbClr val="0F2928"/>
          </a:solidFill>
          <a:ln w="12700">
            <a:solidFill>
              <a:srgbClr val="3DDBD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31"/>
          <p:cNvSpPr/>
          <p:nvPr/>
        </p:nvSpPr>
        <p:spPr>
          <a:xfrm rot="16200000">
            <a:off x="10118725" y="4730750"/>
            <a:ext cx="196215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00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200" normalizeH="0" baseline="0" noProof="0" dirty="0">
                <a:ln>
                  <a:noFill/>
                </a:ln>
                <a:solidFill>
                  <a:srgbClr val="3DDBD9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SEMESTER 1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4" name="Image 10" descr="connector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901700" y="2933700"/>
            <a:ext cx="101600" cy="2997200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 rot="16200000">
            <a:off x="212725" y="4831705"/>
            <a:ext cx="196215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5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200" normalizeH="0" baseline="0" noProof="0" dirty="0">
                <a:ln>
                  <a:noFill/>
                </a:ln>
                <a:solidFill>
                  <a:srgbClr val="7D8794"/>
                </a:solidFill>
                <a:effectLst/>
                <a:uLnTx/>
                <a:uFillTx/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ABSTRACTION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33"/>
          <p:cNvSpPr/>
          <p:nvPr/>
        </p:nvSpPr>
        <p:spPr>
          <a:xfrm>
            <a:off x="812800" y="6350000"/>
            <a:ext cx="9679940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7D8794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Image credits: CPU die photo — Ken Shirriff; SN7400 chip — Texas Instruments (via Wikimedia Commons); Cell processor die — IBM; ARM assembly listing — The Eclectic Light Company.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1190</TotalTime>
  <Words>438</Words>
  <Application>Microsoft Office PowerPoint</Application>
  <PresentationFormat>Widescreen</PresentationFormat>
  <Paragraphs>95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Aptos</vt:lpstr>
      <vt:lpstr>Arial</vt:lpstr>
      <vt:lpstr>Calibri</vt:lpstr>
      <vt:lpstr>Calibri Light</vt:lpstr>
      <vt:lpstr>Inter</vt:lpstr>
      <vt:lpstr>JetBrains Mono</vt:lpstr>
      <vt:lpstr>Space Grotesk</vt:lpstr>
      <vt:lpstr>Office Theme</vt:lpstr>
      <vt:lpstr>1_Office Theme</vt:lpstr>
      <vt:lpstr>COMP1860 Building our Digital World: Computer Systems &amp; Architecture</vt:lpstr>
      <vt:lpstr>Week 1: Key Takeaways</vt:lpstr>
      <vt:lpstr>Week 2: Key Takeaways</vt:lpstr>
      <vt:lpstr>Week 3: Key Takeaways</vt:lpstr>
      <vt:lpstr>Week 4: Key Takeaways</vt:lpstr>
      <vt:lpstr>What you don’t need to remember</vt:lpstr>
      <vt:lpstr>PowerPoint Presentation</vt:lpstr>
    </vt:vector>
  </TitlesOfParts>
  <Company>University of Leeds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COMP1860 Building our Digital World: Computer Systems &amp; Architecture</dc:title>
  <dc:creator>James Dyer</dc:creator>
  <cp:lastModifiedBy>James Dyer</cp:lastModifiedBy>
  <cp:revision>7</cp:revision>
  <dcterms:created xsi:type="dcterms:W3CDTF">2024-10-04T09:23:31Z</dcterms:created>
  <dcterms:modified xsi:type="dcterms:W3CDTF">2026-09-24T11:55:04Z</dcterms:modified>
</cp:coreProperties>
</file>